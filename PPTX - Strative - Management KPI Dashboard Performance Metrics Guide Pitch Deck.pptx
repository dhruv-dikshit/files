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3FE7"/>
    <a:srgbClr val="8F46E9"/>
    <a:srgbClr val="B08AF6"/>
    <a:srgbClr val="AB7FEE"/>
    <a:srgbClr val="312941"/>
    <a:srgbClr val="B4A7C8"/>
    <a:srgbClr val="592196"/>
    <a:srgbClr val="8A3EE5"/>
    <a:srgbClr val="E1D7FD"/>
    <a:srgbClr val="7D2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33" d="100"/>
          <a:sy n="33" d="100"/>
        </p:scale>
        <p:origin x="19"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gradFill>
              <a:gsLst>
                <a:gs pos="100000">
                  <a:srgbClr val="FEFEFF"/>
                </a:gs>
                <a:gs pos="9000">
                  <a:srgbClr val="E2D9FD"/>
                </a:gs>
              </a:gsLst>
              <a:lin ang="5400000" scaled="1"/>
            </a:gradFill>
            <a:ln w="19050">
              <a:gradFill>
                <a:gsLst>
                  <a:gs pos="0">
                    <a:srgbClr val="DDD0FC"/>
                  </a:gs>
                  <a:gs pos="100000">
                    <a:srgbClr val="EEE5FF"/>
                  </a:gs>
                </a:gsLst>
                <a:lin ang="5400000" scaled="1"/>
              </a:gradFill>
            </a:ln>
            <a:effectLst/>
          </c:spPr>
          <c:invertIfNegative val="0"/>
          <c:dPt>
            <c:idx val="4"/>
            <c:invertIfNegative val="0"/>
            <c:bubble3D val="0"/>
            <c:spPr>
              <a:gradFill>
                <a:gsLst>
                  <a:gs pos="100000">
                    <a:srgbClr val="FDFBFF">
                      <a:lumMod val="98000"/>
                    </a:srgbClr>
                  </a:gs>
                  <a:gs pos="9000">
                    <a:srgbClr val="8F43E9"/>
                  </a:gs>
                </a:gsLst>
                <a:lin ang="5400000" scaled="1"/>
              </a:gradFill>
              <a:ln w="19050">
                <a:gradFill>
                  <a:gsLst>
                    <a:gs pos="0">
                      <a:srgbClr val="8D43E5"/>
                    </a:gs>
                    <a:gs pos="100000">
                      <a:srgbClr val="F5F0FF"/>
                    </a:gs>
                  </a:gsLst>
                  <a:lin ang="5400000" scaled="1"/>
                </a:gradFill>
              </a:ln>
              <a:effectLst/>
            </c:spPr>
            <c:extLst>
              <c:ext xmlns:c16="http://schemas.microsoft.com/office/drawing/2014/chart" uri="{C3380CC4-5D6E-409C-BE32-E72D297353CC}">
                <c16:uniqueId val="{00000004-27E0-4B40-98F2-847532A0D934}"/>
              </c:ext>
            </c:extLst>
          </c:dPt>
          <c:cat>
            <c:strRef>
              <c:f>Sheet1!$A$2:$A$7</c:f>
              <c:strCache>
                <c:ptCount val="6"/>
                <c:pt idx="0">
                  <c:v>January</c:v>
                </c:pt>
                <c:pt idx="1">
                  <c:v>February</c:v>
                </c:pt>
                <c:pt idx="2">
                  <c:v>March</c:v>
                </c:pt>
                <c:pt idx="3">
                  <c:v>April</c:v>
                </c:pt>
                <c:pt idx="4">
                  <c:v>May</c:v>
                </c:pt>
                <c:pt idx="5">
                  <c:v>June</c:v>
                </c:pt>
              </c:strCache>
            </c:strRef>
          </c:cat>
          <c:val>
            <c:numRef>
              <c:f>Sheet1!$B$2:$B$7</c:f>
              <c:numCache>
                <c:formatCode>0.00%</c:formatCode>
                <c:ptCount val="6"/>
                <c:pt idx="0" formatCode="0%">
                  <c:v>0.25</c:v>
                </c:pt>
                <c:pt idx="1">
                  <c:v>0.255</c:v>
                </c:pt>
                <c:pt idx="2">
                  <c:v>0.1</c:v>
                </c:pt>
                <c:pt idx="3">
                  <c:v>0.26700000000000002</c:v>
                </c:pt>
                <c:pt idx="4">
                  <c:v>0.308</c:v>
                </c:pt>
                <c:pt idx="5">
                  <c:v>0.26400000000000001</c:v>
                </c:pt>
              </c:numCache>
            </c:numRef>
          </c:val>
          <c:extLst>
            <c:ext xmlns:c16="http://schemas.microsoft.com/office/drawing/2014/chart" uri="{C3380CC4-5D6E-409C-BE32-E72D297353CC}">
              <c16:uniqueId val="{00000000-27E0-4B40-98F2-847532A0D934}"/>
            </c:ext>
          </c:extLst>
        </c:ser>
        <c:dLbls>
          <c:showLegendKey val="0"/>
          <c:showVal val="0"/>
          <c:showCatName val="0"/>
          <c:showSerName val="0"/>
          <c:showPercent val="0"/>
          <c:showBubbleSize val="0"/>
        </c:dLbls>
        <c:gapWidth val="87"/>
        <c:overlap val="-3"/>
        <c:axId val="558819999"/>
        <c:axId val="558824575"/>
      </c:barChart>
      <c:catAx>
        <c:axId val="558819999"/>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Inter" panose="02000503000000020004" pitchFamily="2" charset="0"/>
                <a:ea typeface="Inter" panose="02000503000000020004" pitchFamily="2" charset="0"/>
                <a:cs typeface="+mn-cs"/>
              </a:defRPr>
            </a:pPr>
            <a:endParaRPr lang="en-US"/>
          </a:p>
        </c:txPr>
        <c:crossAx val="558824575"/>
        <c:crosses val="autoZero"/>
        <c:auto val="1"/>
        <c:lblAlgn val="ctr"/>
        <c:lblOffset val="100"/>
        <c:noMultiLvlLbl val="0"/>
      </c:catAx>
      <c:valAx>
        <c:axId val="558824575"/>
        <c:scaling>
          <c:orientation val="minMax"/>
        </c:scaling>
        <c:delete val="1"/>
        <c:axPos val="l"/>
        <c:majorGridlines>
          <c:spPr>
            <a:ln w="9525" cap="flat" cmpd="sng" algn="ctr">
              <a:solidFill>
                <a:srgbClr val="FAF9FE"/>
              </a:solidFill>
              <a:round/>
            </a:ln>
            <a:effectLst/>
          </c:spPr>
        </c:majorGridlines>
        <c:numFmt formatCode="0%" sourceLinked="1"/>
        <c:majorTickMark val="none"/>
        <c:minorTickMark val="none"/>
        <c:tickLblPos val="nextTo"/>
        <c:crossAx val="5588199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gradFill flip="none" rotWithShape="1">
                <a:gsLst>
                  <a:gs pos="10000">
                    <a:srgbClr val="C4AAF9"/>
                  </a:gs>
                  <a:gs pos="100000">
                    <a:srgbClr val="8D41E8"/>
                  </a:gs>
                </a:gsLst>
                <a:lin ang="0" scaled="1"/>
                <a:tileRect/>
              </a:gradFill>
              <a:ln w="19050">
                <a:noFill/>
              </a:ln>
              <a:effectLst/>
            </c:spPr>
            <c:extLst>
              <c:ext xmlns:c16="http://schemas.microsoft.com/office/drawing/2014/chart" uri="{C3380CC4-5D6E-409C-BE32-E72D297353CC}">
                <c16:uniqueId val="{00000001-1608-4F5E-8AA8-6BC7A55086AB}"/>
              </c:ext>
            </c:extLst>
          </c:dPt>
          <c:dPt>
            <c:idx val="1"/>
            <c:bubble3D val="0"/>
            <c:spPr>
              <a:solidFill>
                <a:srgbClr val="E1D7FD"/>
              </a:solidFill>
              <a:ln w="19050">
                <a:noFill/>
              </a:ln>
              <a:effectLst/>
            </c:spPr>
            <c:extLst>
              <c:ext xmlns:c16="http://schemas.microsoft.com/office/drawing/2014/chart" uri="{C3380CC4-5D6E-409C-BE32-E72D297353CC}">
                <c16:uniqueId val="{00000003-1608-4F5E-8AA8-6BC7A55086AB}"/>
              </c:ext>
            </c:extLst>
          </c:dPt>
          <c:dPt>
            <c:idx val="2"/>
            <c:bubble3D val="0"/>
            <c:spPr>
              <a:noFill/>
              <a:ln w="19050">
                <a:noFill/>
              </a:ln>
              <a:effectLst/>
            </c:spPr>
            <c:extLst>
              <c:ext xmlns:c16="http://schemas.microsoft.com/office/drawing/2014/chart" uri="{C3380CC4-5D6E-409C-BE32-E72D297353CC}">
                <c16:uniqueId val="{00000005-1608-4F5E-8AA8-6BC7A55086AB}"/>
              </c:ext>
            </c:extLst>
          </c:dPt>
          <c:cat>
            <c:strRef>
              <c:f>Sheet1!$A$2:$A$4</c:f>
              <c:strCache>
                <c:ptCount val="3"/>
                <c:pt idx="0">
                  <c:v>1st Qtr</c:v>
                </c:pt>
                <c:pt idx="1">
                  <c:v>2nd Qtr</c:v>
                </c:pt>
                <c:pt idx="2">
                  <c:v>3rd Qtr</c:v>
                </c:pt>
              </c:strCache>
            </c:strRef>
          </c:cat>
          <c:val>
            <c:numRef>
              <c:f>Sheet1!$B$2:$B$4</c:f>
              <c:numCache>
                <c:formatCode>General</c:formatCode>
                <c:ptCount val="3"/>
                <c:pt idx="0">
                  <c:v>40</c:v>
                </c:pt>
                <c:pt idx="1">
                  <c:v>10</c:v>
                </c:pt>
                <c:pt idx="2">
                  <c:v>50</c:v>
                </c:pt>
              </c:numCache>
            </c:numRef>
          </c:val>
          <c:extLst>
            <c:ext xmlns:c16="http://schemas.microsoft.com/office/drawing/2014/chart" uri="{C3380CC4-5D6E-409C-BE32-E72D297353CC}">
              <c16:uniqueId val="{00000006-1608-4F5E-8AA8-6BC7A55086AB}"/>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6925B2"/>
              </a:solidFill>
              <a:ln w="19050">
                <a:noFill/>
              </a:ln>
              <a:effectLst/>
            </c:spPr>
            <c:extLst>
              <c:ext xmlns:c16="http://schemas.microsoft.com/office/drawing/2014/chart" uri="{C3380CC4-5D6E-409C-BE32-E72D297353CC}">
                <c16:uniqueId val="{00000001-C995-4B6C-BF94-DF9586656378}"/>
              </c:ext>
            </c:extLst>
          </c:dPt>
          <c:dPt>
            <c:idx val="1"/>
            <c:bubble3D val="0"/>
            <c:spPr>
              <a:solidFill>
                <a:srgbClr val="E1D7FD"/>
              </a:solidFill>
              <a:ln w="19050">
                <a:noFill/>
              </a:ln>
              <a:effectLst/>
            </c:spPr>
            <c:extLst>
              <c:ext xmlns:c16="http://schemas.microsoft.com/office/drawing/2014/chart" uri="{C3380CC4-5D6E-409C-BE32-E72D297353CC}">
                <c16:uniqueId val="{00000003-C995-4B6C-BF94-DF9586656378}"/>
              </c:ext>
            </c:extLst>
          </c:dPt>
          <c:dPt>
            <c:idx val="2"/>
            <c:bubble3D val="0"/>
            <c:spPr>
              <a:solidFill>
                <a:srgbClr val="B28EF7"/>
              </a:solidFill>
              <a:ln w="19050">
                <a:noFill/>
              </a:ln>
              <a:effectLst/>
            </c:spPr>
            <c:extLst>
              <c:ext xmlns:c16="http://schemas.microsoft.com/office/drawing/2014/chart" uri="{C3380CC4-5D6E-409C-BE32-E72D297353CC}">
                <c16:uniqueId val="{00000005-C995-4B6C-BF94-DF9586656378}"/>
              </c:ext>
            </c:extLst>
          </c:dPt>
          <c:cat>
            <c:strRef>
              <c:f>Sheet1!$A$2:$A$4</c:f>
              <c:strCache>
                <c:ptCount val="3"/>
                <c:pt idx="0">
                  <c:v>1st Qtr</c:v>
                </c:pt>
                <c:pt idx="1">
                  <c:v>2nd Qtr</c:v>
                </c:pt>
                <c:pt idx="2">
                  <c:v>3rd Qtr</c:v>
                </c:pt>
              </c:strCache>
            </c:strRef>
          </c:cat>
          <c:val>
            <c:numRef>
              <c:f>Sheet1!$B$2:$B$4</c:f>
              <c:numCache>
                <c:formatCode>0%</c:formatCode>
                <c:ptCount val="3"/>
                <c:pt idx="0">
                  <c:v>0.65</c:v>
                </c:pt>
                <c:pt idx="1">
                  <c:v>0.25</c:v>
                </c:pt>
                <c:pt idx="2">
                  <c:v>0.1</c:v>
                </c:pt>
              </c:numCache>
            </c:numRef>
          </c:val>
          <c:extLst>
            <c:ext xmlns:c16="http://schemas.microsoft.com/office/drawing/2014/chart" uri="{C3380CC4-5D6E-409C-BE32-E72D297353CC}">
              <c16:uniqueId val="{00000006-C995-4B6C-BF94-DF958665637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rgbClr val="B28EF7"/>
            </a:solidFill>
            <a:ln>
              <a:noFill/>
            </a:ln>
            <a:effectLst/>
          </c:spPr>
          <c:invertIfNegative val="0"/>
          <c:dPt>
            <c:idx val="1"/>
            <c:invertIfNegative val="0"/>
            <c:bubble3D val="0"/>
            <c:spPr>
              <a:solidFill>
                <a:srgbClr val="E1D7FD"/>
              </a:solidFill>
              <a:ln>
                <a:noFill/>
              </a:ln>
              <a:effectLst/>
            </c:spPr>
            <c:extLst>
              <c:ext xmlns:c16="http://schemas.microsoft.com/office/drawing/2014/chart" uri="{C3380CC4-5D6E-409C-BE32-E72D297353CC}">
                <c16:uniqueId val="{00000001-3CE7-463D-9E84-4BC83696169D}"/>
              </c:ext>
            </c:extLst>
          </c:dPt>
          <c:dPt>
            <c:idx val="2"/>
            <c:invertIfNegative val="0"/>
            <c:bubble3D val="0"/>
            <c:spPr>
              <a:solidFill>
                <a:srgbClr val="CBB7FB"/>
              </a:solidFill>
              <a:ln>
                <a:noFill/>
              </a:ln>
              <a:effectLst/>
            </c:spPr>
            <c:extLst>
              <c:ext xmlns:c16="http://schemas.microsoft.com/office/drawing/2014/chart" uri="{C3380CC4-5D6E-409C-BE32-E72D297353CC}">
                <c16:uniqueId val="{00000003-3CE7-463D-9E84-4BC83696169D}"/>
              </c:ext>
            </c:extLst>
          </c:dPt>
          <c:dPt>
            <c:idx val="3"/>
            <c:invertIfNegative val="0"/>
            <c:bubble3D val="0"/>
            <c:spPr>
              <a:solidFill>
                <a:srgbClr val="CBB7FB"/>
              </a:solidFill>
              <a:ln>
                <a:noFill/>
              </a:ln>
              <a:effectLst/>
            </c:spPr>
            <c:extLst>
              <c:ext xmlns:c16="http://schemas.microsoft.com/office/drawing/2014/chart" uri="{C3380CC4-5D6E-409C-BE32-E72D297353CC}">
                <c16:uniqueId val="{00000005-3CE7-463D-9E84-4BC83696169D}"/>
              </c:ext>
            </c:extLst>
          </c:dPt>
          <c:cat>
            <c:strRef>
              <c:f>Sheet1!$A$2:$A$6</c:f>
              <c:strCache>
                <c:ptCount val="5"/>
                <c:pt idx="0">
                  <c:v>Jordan F.</c:v>
                </c:pt>
                <c:pt idx="1">
                  <c:v>Taylor N.</c:v>
                </c:pt>
                <c:pt idx="2">
                  <c:v>Chris M.</c:v>
                </c:pt>
                <c:pt idx="3">
                  <c:v>Jamie L.</c:v>
                </c:pt>
                <c:pt idx="4">
                  <c:v>Alex R.</c:v>
                </c:pt>
              </c:strCache>
            </c:strRef>
          </c:cat>
          <c:val>
            <c:numRef>
              <c:f>Sheet1!$B$2:$B$6</c:f>
              <c:numCache>
                <c:formatCode>0%</c:formatCode>
                <c:ptCount val="5"/>
                <c:pt idx="0">
                  <c:v>1.08</c:v>
                </c:pt>
                <c:pt idx="1">
                  <c:v>0.74</c:v>
                </c:pt>
                <c:pt idx="2">
                  <c:v>0.89</c:v>
                </c:pt>
                <c:pt idx="3">
                  <c:v>0.98</c:v>
                </c:pt>
                <c:pt idx="4">
                  <c:v>1.1299999999999999</c:v>
                </c:pt>
              </c:numCache>
            </c:numRef>
          </c:val>
          <c:extLst>
            <c:ext xmlns:c16="http://schemas.microsoft.com/office/drawing/2014/chart" uri="{C3380CC4-5D6E-409C-BE32-E72D297353CC}">
              <c16:uniqueId val="{00000006-3CE7-463D-9E84-4BC83696169D}"/>
            </c:ext>
          </c:extLst>
        </c:ser>
        <c:dLbls>
          <c:showLegendKey val="0"/>
          <c:showVal val="0"/>
          <c:showCatName val="0"/>
          <c:showSerName val="0"/>
          <c:showPercent val="0"/>
          <c:showBubbleSize val="0"/>
        </c:dLbls>
        <c:gapWidth val="162"/>
        <c:axId val="1325606160"/>
        <c:axId val="1325605328"/>
      </c:barChart>
      <c:catAx>
        <c:axId val="1325606160"/>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Inter" panose="02000503000000020004" pitchFamily="2" charset="0"/>
                <a:ea typeface="Inter" panose="02000503000000020004" pitchFamily="2" charset="0"/>
                <a:cs typeface="+mn-cs"/>
              </a:defRPr>
            </a:pPr>
            <a:endParaRPr lang="en-US"/>
          </a:p>
        </c:txPr>
        <c:crossAx val="1325605328"/>
        <c:crosses val="autoZero"/>
        <c:auto val="1"/>
        <c:lblAlgn val="ctr"/>
        <c:lblOffset val="100"/>
        <c:noMultiLvlLbl val="0"/>
      </c:catAx>
      <c:valAx>
        <c:axId val="1325605328"/>
        <c:scaling>
          <c:orientation val="minMax"/>
        </c:scaling>
        <c:delete val="1"/>
        <c:axPos val="b"/>
        <c:numFmt formatCode="0%" sourceLinked="1"/>
        <c:majorTickMark val="none"/>
        <c:minorTickMark val="none"/>
        <c:tickLblPos val="nextTo"/>
        <c:crossAx val="13256061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CBB7FB"/>
            </a:solidFill>
            <a:ln w="19050">
              <a:noFill/>
            </a:ln>
            <a:effectLst/>
          </c:spPr>
          <c:invertIfNegative val="0"/>
          <c:dPt>
            <c:idx val="4"/>
            <c:invertIfNegative val="0"/>
            <c:bubble3D val="0"/>
            <c:spPr>
              <a:solidFill>
                <a:srgbClr val="8C3FE8"/>
              </a:solidFill>
              <a:ln w="19050">
                <a:noFill/>
              </a:ln>
              <a:effectLst/>
            </c:spPr>
            <c:extLst>
              <c:ext xmlns:c16="http://schemas.microsoft.com/office/drawing/2014/chart" uri="{C3380CC4-5D6E-409C-BE32-E72D297353CC}">
                <c16:uniqueId val="{00000001-A6D8-44FA-98BA-26C5EDC95684}"/>
              </c:ext>
            </c:extLst>
          </c:dPt>
          <c:cat>
            <c:strRef>
              <c:f>Sheet1!$A$2:$A$7</c:f>
              <c:strCache>
                <c:ptCount val="6"/>
                <c:pt idx="0">
                  <c:v>January</c:v>
                </c:pt>
                <c:pt idx="1">
                  <c:v>February</c:v>
                </c:pt>
                <c:pt idx="2">
                  <c:v>March</c:v>
                </c:pt>
                <c:pt idx="3">
                  <c:v>April</c:v>
                </c:pt>
                <c:pt idx="4">
                  <c:v>May</c:v>
                </c:pt>
                <c:pt idx="5">
                  <c:v>June</c:v>
                </c:pt>
              </c:strCache>
            </c:strRef>
          </c:cat>
          <c:val>
            <c:numRef>
              <c:f>Sheet1!$B$2:$B$7</c:f>
              <c:numCache>
                <c:formatCode>General</c:formatCode>
                <c:ptCount val="6"/>
                <c:pt idx="0">
                  <c:v>3.1</c:v>
                </c:pt>
                <c:pt idx="1">
                  <c:v>3.4</c:v>
                </c:pt>
                <c:pt idx="2">
                  <c:v>3.7</c:v>
                </c:pt>
                <c:pt idx="3">
                  <c:v>4</c:v>
                </c:pt>
                <c:pt idx="4">
                  <c:v>4.3</c:v>
                </c:pt>
                <c:pt idx="5">
                  <c:v>4.2</c:v>
                </c:pt>
              </c:numCache>
            </c:numRef>
          </c:val>
          <c:extLst>
            <c:ext xmlns:c16="http://schemas.microsoft.com/office/drawing/2014/chart" uri="{C3380CC4-5D6E-409C-BE32-E72D297353CC}">
              <c16:uniqueId val="{00000002-A6D8-44FA-98BA-26C5EDC95684}"/>
            </c:ext>
          </c:extLst>
        </c:ser>
        <c:dLbls>
          <c:showLegendKey val="0"/>
          <c:showVal val="0"/>
          <c:showCatName val="0"/>
          <c:showSerName val="0"/>
          <c:showPercent val="0"/>
          <c:showBubbleSize val="0"/>
        </c:dLbls>
        <c:gapWidth val="500"/>
        <c:overlap val="-62"/>
        <c:axId val="558819999"/>
        <c:axId val="558824575"/>
      </c:barChart>
      <c:catAx>
        <c:axId val="558819999"/>
        <c:scaling>
          <c:orientation val="minMax"/>
        </c:scaling>
        <c:delete val="1"/>
        <c:axPos val="b"/>
        <c:numFmt formatCode="General" sourceLinked="1"/>
        <c:majorTickMark val="none"/>
        <c:minorTickMark val="none"/>
        <c:tickLblPos val="nextTo"/>
        <c:crossAx val="558824575"/>
        <c:crosses val="autoZero"/>
        <c:auto val="1"/>
        <c:lblAlgn val="ctr"/>
        <c:lblOffset val="100"/>
        <c:noMultiLvlLbl val="0"/>
      </c:catAx>
      <c:valAx>
        <c:axId val="558824575"/>
        <c:scaling>
          <c:orientation val="minMax"/>
        </c:scaling>
        <c:delete val="1"/>
        <c:axPos val="l"/>
        <c:numFmt formatCode="General" sourceLinked="1"/>
        <c:majorTickMark val="none"/>
        <c:minorTickMark val="none"/>
        <c:tickLblPos val="nextTo"/>
        <c:crossAx val="5588199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rgbClr val="7D2DD4"/>
              </a:solidFill>
              <a:ln w="19050">
                <a:noFill/>
              </a:ln>
              <a:effectLst/>
            </c:spPr>
            <c:extLst>
              <c:ext xmlns:c16="http://schemas.microsoft.com/office/drawing/2014/chart" uri="{C3380CC4-5D6E-409C-BE32-E72D297353CC}">
                <c16:uniqueId val="{00000001-CA41-4A86-BAC4-F2F8BA7FA9BA}"/>
              </c:ext>
            </c:extLst>
          </c:dPt>
          <c:dPt>
            <c:idx val="1"/>
            <c:bubble3D val="0"/>
            <c:spPr>
              <a:solidFill>
                <a:srgbClr val="9559F1"/>
              </a:solidFill>
              <a:ln w="19050">
                <a:noFill/>
              </a:ln>
              <a:effectLst/>
            </c:spPr>
            <c:extLst>
              <c:ext xmlns:c16="http://schemas.microsoft.com/office/drawing/2014/chart" uri="{C3380CC4-5D6E-409C-BE32-E72D297353CC}">
                <c16:uniqueId val="{00000003-CA41-4A86-BAC4-F2F8BA7FA9BA}"/>
              </c:ext>
            </c:extLst>
          </c:dPt>
          <c:dPt>
            <c:idx val="2"/>
            <c:bubble3D val="0"/>
            <c:spPr>
              <a:solidFill>
                <a:srgbClr val="E1D7FD"/>
              </a:solidFill>
              <a:ln w="19050">
                <a:noFill/>
              </a:ln>
              <a:effectLst/>
            </c:spPr>
            <c:extLst>
              <c:ext xmlns:c16="http://schemas.microsoft.com/office/drawing/2014/chart" uri="{C3380CC4-5D6E-409C-BE32-E72D297353CC}">
                <c16:uniqueId val="{00000005-CA41-4A86-BAC4-F2F8BA7FA9BA}"/>
              </c:ext>
            </c:extLst>
          </c:dPt>
          <c:cat>
            <c:strRef>
              <c:f>Sheet1!$A$2:$A$4</c:f>
              <c:strCache>
                <c:ptCount val="3"/>
                <c:pt idx="0">
                  <c:v>1st Qtr</c:v>
                </c:pt>
                <c:pt idx="1">
                  <c:v>2nd Qtr</c:v>
                </c:pt>
                <c:pt idx="2">
                  <c:v>3rd Qtr</c:v>
                </c:pt>
              </c:strCache>
            </c:strRef>
          </c:cat>
          <c:val>
            <c:numRef>
              <c:f>Sheet1!$B$2:$B$4</c:f>
              <c:numCache>
                <c:formatCode>0%</c:formatCode>
                <c:ptCount val="3"/>
                <c:pt idx="0">
                  <c:v>0.45</c:v>
                </c:pt>
                <c:pt idx="1">
                  <c:v>0.35</c:v>
                </c:pt>
                <c:pt idx="2">
                  <c:v>0.15</c:v>
                </c:pt>
              </c:numCache>
            </c:numRef>
          </c:val>
          <c:extLst>
            <c:ext xmlns:c16="http://schemas.microsoft.com/office/drawing/2014/chart" uri="{C3380CC4-5D6E-409C-BE32-E72D297353CC}">
              <c16:uniqueId val="{00000006-CA41-4A86-BAC4-F2F8BA7FA9B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gradFill>
              <a:gsLst>
                <a:gs pos="100000">
                  <a:srgbClr val="8B3FE7">
                    <a:alpha val="0"/>
                  </a:srgbClr>
                </a:gs>
                <a:gs pos="0">
                  <a:srgbClr val="8B3FE7"/>
                </a:gs>
              </a:gsLst>
              <a:lin ang="5400000" scaled="1"/>
            </a:gradFill>
            <a:ln>
              <a:noFill/>
            </a:ln>
            <a:effectLst/>
          </c:spPr>
          <c:cat>
            <c:numRef>
              <c:f>Sheet1!$A$2:$A$6</c:f>
              <c:numCache>
                <c:formatCode>m/d/yyyy</c:formatCode>
                <c:ptCount val="5"/>
                <c:pt idx="0">
                  <c:v>37377</c:v>
                </c:pt>
                <c:pt idx="1">
                  <c:v>37408</c:v>
                </c:pt>
                <c:pt idx="2">
                  <c:v>37438</c:v>
                </c:pt>
                <c:pt idx="3">
                  <c:v>37469</c:v>
                </c:pt>
                <c:pt idx="4">
                  <c:v>37500</c:v>
                </c:pt>
              </c:numCache>
            </c:numRef>
          </c:cat>
          <c:val>
            <c:numRef>
              <c:f>Sheet1!$B$2:$B$6</c:f>
              <c:numCache>
                <c:formatCode>General</c:formatCode>
                <c:ptCount val="5"/>
                <c:pt idx="0">
                  <c:v>2</c:v>
                </c:pt>
                <c:pt idx="1">
                  <c:v>8</c:v>
                </c:pt>
                <c:pt idx="2">
                  <c:v>14</c:v>
                </c:pt>
                <c:pt idx="3">
                  <c:v>16</c:v>
                </c:pt>
                <c:pt idx="4">
                  <c:v>20</c:v>
                </c:pt>
              </c:numCache>
            </c:numRef>
          </c:val>
          <c:extLst>
            <c:ext xmlns:c16="http://schemas.microsoft.com/office/drawing/2014/chart" uri="{C3380CC4-5D6E-409C-BE32-E72D297353CC}">
              <c16:uniqueId val="{00000000-49D8-48B7-84CD-EB189AA12C87}"/>
            </c:ext>
          </c:extLst>
        </c:ser>
        <c:ser>
          <c:idx val="1"/>
          <c:order val="1"/>
          <c:tx>
            <c:strRef>
              <c:f>Sheet1!$C$1</c:f>
              <c:strCache>
                <c:ptCount val="1"/>
                <c:pt idx="0">
                  <c:v>Column1</c:v>
                </c:pt>
              </c:strCache>
            </c:strRef>
          </c:tx>
          <c:spPr>
            <a:solidFill>
              <a:schemeClr val="accent2"/>
            </a:solidFill>
            <a:ln>
              <a:noFill/>
            </a:ln>
            <a:effectLst/>
          </c:spPr>
          <c:cat>
            <c:numRef>
              <c:f>Sheet1!$A$2:$A$6</c:f>
              <c:numCache>
                <c:formatCode>m/d/yyyy</c:formatCode>
                <c:ptCount val="5"/>
                <c:pt idx="0">
                  <c:v>37377</c:v>
                </c:pt>
                <c:pt idx="1">
                  <c:v>37408</c:v>
                </c:pt>
                <c:pt idx="2">
                  <c:v>37438</c:v>
                </c:pt>
                <c:pt idx="3">
                  <c:v>37469</c:v>
                </c:pt>
                <c:pt idx="4">
                  <c:v>37500</c:v>
                </c:pt>
              </c:numCache>
            </c:numRef>
          </c:cat>
          <c:val>
            <c:numRef>
              <c:f>Sheet1!$C$2:$C$6</c:f>
              <c:numCache>
                <c:formatCode>General</c:formatCode>
                <c:ptCount val="5"/>
              </c:numCache>
            </c:numRef>
          </c:val>
          <c:extLst>
            <c:ext xmlns:c16="http://schemas.microsoft.com/office/drawing/2014/chart" uri="{C3380CC4-5D6E-409C-BE32-E72D297353CC}">
              <c16:uniqueId val="{00000001-49D8-48B7-84CD-EB189AA12C87}"/>
            </c:ext>
          </c:extLst>
        </c:ser>
        <c:dLbls>
          <c:showLegendKey val="0"/>
          <c:showVal val="0"/>
          <c:showCatName val="0"/>
          <c:showSerName val="0"/>
          <c:showPercent val="0"/>
          <c:showBubbleSize val="0"/>
        </c:dLbls>
        <c:axId val="996016128"/>
        <c:axId val="996032768"/>
      </c:areaChart>
      <c:dateAx>
        <c:axId val="996016128"/>
        <c:scaling>
          <c:orientation val="minMax"/>
        </c:scaling>
        <c:delete val="1"/>
        <c:axPos val="b"/>
        <c:numFmt formatCode="m/d/yyyy" sourceLinked="1"/>
        <c:majorTickMark val="out"/>
        <c:minorTickMark val="none"/>
        <c:tickLblPos val="nextTo"/>
        <c:crossAx val="996032768"/>
        <c:crosses val="autoZero"/>
        <c:auto val="1"/>
        <c:lblOffset val="100"/>
        <c:baseTimeUnit val="months"/>
      </c:dateAx>
      <c:valAx>
        <c:axId val="996032768"/>
        <c:scaling>
          <c:orientation val="minMax"/>
        </c:scaling>
        <c:delete val="1"/>
        <c:axPos val="l"/>
        <c:numFmt formatCode="General" sourceLinked="1"/>
        <c:majorTickMark val="none"/>
        <c:minorTickMark val="none"/>
        <c:tickLblPos val="nextTo"/>
        <c:crossAx val="996016128"/>
        <c:crosses val="autoZero"/>
        <c:crossBetween val="midCat"/>
      </c:valAx>
      <c:spPr>
        <a:noFill/>
        <a:ln w="25400">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gradFill>
              <a:gsLst>
                <a:gs pos="0">
                  <a:srgbClr val="8A3EE5"/>
                </a:gs>
                <a:gs pos="100000">
                  <a:srgbClr val="592196"/>
                </a:gs>
              </a:gsLst>
              <a:lin ang="5400000" scaled="1"/>
            </a:gradFill>
            <a:ln w="19050">
              <a:gradFill>
                <a:gsLst>
                  <a:gs pos="0">
                    <a:srgbClr val="B4A7C8"/>
                  </a:gs>
                  <a:gs pos="100000">
                    <a:srgbClr val="8B3FE7"/>
                  </a:gs>
                </a:gsLst>
                <a:lin ang="5400000" scaled="1"/>
              </a:gradFill>
            </a:ln>
            <a:effectLst/>
          </c:spPr>
          <c:invertIfNegative val="0"/>
          <c:dPt>
            <c:idx val="0"/>
            <c:invertIfNegative val="0"/>
            <c:bubble3D val="0"/>
            <c:spPr>
              <a:gradFill>
                <a:gsLst>
                  <a:gs pos="0">
                    <a:srgbClr val="B08AF6"/>
                  </a:gs>
                  <a:gs pos="100000">
                    <a:srgbClr val="8F46E9"/>
                  </a:gs>
                </a:gsLst>
                <a:lin ang="5400000" scaled="1"/>
              </a:gradFill>
              <a:ln w="19050">
                <a:gradFill>
                  <a:gsLst>
                    <a:gs pos="0">
                      <a:srgbClr val="B4A7C8"/>
                    </a:gs>
                    <a:gs pos="100000">
                      <a:srgbClr val="8B3FE7"/>
                    </a:gs>
                  </a:gsLst>
                  <a:lin ang="5400000" scaled="1"/>
                </a:gradFill>
              </a:ln>
              <a:effectLst/>
            </c:spPr>
            <c:extLst>
              <c:ext xmlns:c16="http://schemas.microsoft.com/office/drawing/2014/chart" uri="{C3380CC4-5D6E-409C-BE32-E72D297353CC}">
                <c16:uniqueId val="{00000004-4344-4D5D-A218-49DFA421460E}"/>
              </c:ext>
            </c:extLst>
          </c:dPt>
          <c:dPt>
            <c:idx val="4"/>
            <c:invertIfNegative val="0"/>
            <c:bubble3D val="0"/>
            <c:spPr>
              <a:gradFill>
                <a:gsLst>
                  <a:gs pos="0">
                    <a:srgbClr val="8A3EE5"/>
                  </a:gs>
                  <a:gs pos="100000">
                    <a:srgbClr val="592196"/>
                  </a:gs>
                </a:gsLst>
                <a:lin ang="5400000" scaled="1"/>
              </a:gradFill>
              <a:ln w="19050">
                <a:gradFill>
                  <a:gsLst>
                    <a:gs pos="0">
                      <a:srgbClr val="B4A7C8"/>
                    </a:gs>
                    <a:gs pos="100000">
                      <a:srgbClr val="8B3FE7"/>
                    </a:gs>
                  </a:gsLst>
                  <a:lin ang="5400000" scaled="1"/>
                </a:gradFill>
              </a:ln>
              <a:effectLst/>
            </c:spPr>
            <c:extLst>
              <c:ext xmlns:c16="http://schemas.microsoft.com/office/drawing/2014/chart" uri="{C3380CC4-5D6E-409C-BE32-E72D297353CC}">
                <c16:uniqueId val="{00000001-4344-4D5D-A218-49DFA421460E}"/>
              </c:ext>
            </c:extLst>
          </c:dPt>
          <c:cat>
            <c:strRef>
              <c:f>Sheet1!$A$2:$A$7</c:f>
              <c:strCache>
                <c:ptCount val="6"/>
                <c:pt idx="0">
                  <c:v>January</c:v>
                </c:pt>
                <c:pt idx="1">
                  <c:v>February</c:v>
                </c:pt>
                <c:pt idx="2">
                  <c:v>March</c:v>
                </c:pt>
                <c:pt idx="3">
                  <c:v>April</c:v>
                </c:pt>
                <c:pt idx="4">
                  <c:v>May</c:v>
                </c:pt>
                <c:pt idx="5">
                  <c:v>June</c:v>
                </c:pt>
              </c:strCache>
            </c:strRef>
          </c:cat>
          <c:val>
            <c:numRef>
              <c:f>Sheet1!$B$2:$B$7</c:f>
              <c:numCache>
                <c:formatCode>General</c:formatCode>
                <c:ptCount val="6"/>
                <c:pt idx="0">
                  <c:v>90</c:v>
                </c:pt>
                <c:pt idx="1">
                  <c:v>100</c:v>
                </c:pt>
                <c:pt idx="2">
                  <c:v>100</c:v>
                </c:pt>
                <c:pt idx="3">
                  <c:v>100</c:v>
                </c:pt>
                <c:pt idx="4">
                  <c:v>100</c:v>
                </c:pt>
                <c:pt idx="5">
                  <c:v>100</c:v>
                </c:pt>
              </c:numCache>
            </c:numRef>
          </c:val>
          <c:extLst>
            <c:ext xmlns:c16="http://schemas.microsoft.com/office/drawing/2014/chart" uri="{C3380CC4-5D6E-409C-BE32-E72D297353CC}">
              <c16:uniqueId val="{00000002-4344-4D5D-A218-49DFA421460E}"/>
            </c:ext>
          </c:extLst>
        </c:ser>
        <c:dLbls>
          <c:showLegendKey val="0"/>
          <c:showVal val="0"/>
          <c:showCatName val="0"/>
          <c:showSerName val="0"/>
          <c:showPercent val="0"/>
          <c:showBubbleSize val="0"/>
        </c:dLbls>
        <c:gapWidth val="87"/>
        <c:overlap val="-3"/>
        <c:axId val="558819999"/>
        <c:axId val="558824575"/>
      </c:barChart>
      <c:catAx>
        <c:axId val="558819999"/>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bg1">
                    <a:lumMod val="75000"/>
                  </a:schemeClr>
                </a:solidFill>
                <a:latin typeface="Inter" panose="02000503000000020004" pitchFamily="2" charset="0"/>
                <a:ea typeface="Inter" panose="02000503000000020004" pitchFamily="2" charset="0"/>
                <a:cs typeface="+mn-cs"/>
              </a:defRPr>
            </a:pPr>
            <a:endParaRPr lang="en-US"/>
          </a:p>
        </c:txPr>
        <c:crossAx val="558824575"/>
        <c:crosses val="autoZero"/>
        <c:auto val="1"/>
        <c:lblAlgn val="ctr"/>
        <c:lblOffset val="100"/>
        <c:noMultiLvlLbl val="0"/>
      </c:catAx>
      <c:valAx>
        <c:axId val="558824575"/>
        <c:scaling>
          <c:orientation val="minMax"/>
        </c:scaling>
        <c:delete val="1"/>
        <c:axPos val="l"/>
        <c:numFmt formatCode="General" sourceLinked="1"/>
        <c:majorTickMark val="none"/>
        <c:minorTickMark val="none"/>
        <c:tickLblPos val="nextTo"/>
        <c:crossAx val="5588199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175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4.svg"/><Relationship Id="rId21" Type="http://schemas.openxmlformats.org/officeDocument/2006/relationships/image" Target="../media/image19.png"/><Relationship Id="rId42" Type="http://schemas.openxmlformats.org/officeDocument/2006/relationships/image" Target="../media/image40.svg"/><Relationship Id="rId47" Type="http://schemas.openxmlformats.org/officeDocument/2006/relationships/image" Target="../media/image45.png"/><Relationship Id="rId63" Type="http://schemas.openxmlformats.org/officeDocument/2006/relationships/image" Target="../media/image61.png"/><Relationship Id="rId68" Type="http://schemas.openxmlformats.org/officeDocument/2006/relationships/image" Target="../media/image66.svg"/><Relationship Id="rId84" Type="http://schemas.openxmlformats.org/officeDocument/2006/relationships/image" Target="../media/image82.svg"/><Relationship Id="rId89" Type="http://schemas.openxmlformats.org/officeDocument/2006/relationships/image" Target="../media/image87.png"/><Relationship Id="rId112" Type="http://schemas.openxmlformats.org/officeDocument/2006/relationships/image" Target="../media/image110.svg"/><Relationship Id="rId16" Type="http://schemas.openxmlformats.org/officeDocument/2006/relationships/image" Target="../media/image14.svg"/><Relationship Id="rId107" Type="http://schemas.openxmlformats.org/officeDocument/2006/relationships/image" Target="../media/image105.png"/><Relationship Id="rId11" Type="http://schemas.openxmlformats.org/officeDocument/2006/relationships/image" Target="../media/image9.png"/><Relationship Id="rId32" Type="http://schemas.openxmlformats.org/officeDocument/2006/relationships/image" Target="../media/image30.svg"/><Relationship Id="rId37" Type="http://schemas.openxmlformats.org/officeDocument/2006/relationships/image" Target="../media/image35.png"/><Relationship Id="rId53" Type="http://schemas.openxmlformats.org/officeDocument/2006/relationships/image" Target="../media/image51.png"/><Relationship Id="rId58" Type="http://schemas.openxmlformats.org/officeDocument/2006/relationships/image" Target="../media/image56.svg"/><Relationship Id="rId74" Type="http://schemas.openxmlformats.org/officeDocument/2006/relationships/image" Target="../media/image72.svg"/><Relationship Id="rId79" Type="http://schemas.openxmlformats.org/officeDocument/2006/relationships/image" Target="../media/image77.png"/><Relationship Id="rId102" Type="http://schemas.openxmlformats.org/officeDocument/2006/relationships/image" Target="../media/image100.svg"/><Relationship Id="rId5" Type="http://schemas.openxmlformats.org/officeDocument/2006/relationships/image" Target="../media/image3.png"/><Relationship Id="rId90" Type="http://schemas.openxmlformats.org/officeDocument/2006/relationships/image" Target="../media/image88.svg"/><Relationship Id="rId95" Type="http://schemas.openxmlformats.org/officeDocument/2006/relationships/image" Target="../media/image93.png"/><Relationship Id="rId22" Type="http://schemas.openxmlformats.org/officeDocument/2006/relationships/image" Target="../media/image20.svg"/><Relationship Id="rId27" Type="http://schemas.openxmlformats.org/officeDocument/2006/relationships/image" Target="../media/image25.png"/><Relationship Id="rId43" Type="http://schemas.openxmlformats.org/officeDocument/2006/relationships/image" Target="../media/image41.png"/><Relationship Id="rId48" Type="http://schemas.openxmlformats.org/officeDocument/2006/relationships/image" Target="../media/image46.svg"/><Relationship Id="rId64" Type="http://schemas.openxmlformats.org/officeDocument/2006/relationships/image" Target="../media/image62.svg"/><Relationship Id="rId69" Type="http://schemas.openxmlformats.org/officeDocument/2006/relationships/image" Target="../media/image67.png"/><Relationship Id="rId113" Type="http://schemas.openxmlformats.org/officeDocument/2006/relationships/image" Target="../media/image111.png"/><Relationship Id="rId80" Type="http://schemas.openxmlformats.org/officeDocument/2006/relationships/image" Target="../media/image78.svg"/><Relationship Id="rId85" Type="http://schemas.openxmlformats.org/officeDocument/2006/relationships/image" Target="../media/image83.png"/><Relationship Id="rId12" Type="http://schemas.openxmlformats.org/officeDocument/2006/relationships/image" Target="../media/image10.svg"/><Relationship Id="rId17" Type="http://schemas.openxmlformats.org/officeDocument/2006/relationships/image" Target="../media/image15.png"/><Relationship Id="rId33" Type="http://schemas.openxmlformats.org/officeDocument/2006/relationships/image" Target="../media/image31.png"/><Relationship Id="rId38" Type="http://schemas.openxmlformats.org/officeDocument/2006/relationships/image" Target="../media/image36.svg"/><Relationship Id="rId59" Type="http://schemas.openxmlformats.org/officeDocument/2006/relationships/image" Target="../media/image57.png"/><Relationship Id="rId103" Type="http://schemas.openxmlformats.org/officeDocument/2006/relationships/image" Target="../media/image101.png"/><Relationship Id="rId108" Type="http://schemas.openxmlformats.org/officeDocument/2006/relationships/image" Target="../media/image106.svg"/><Relationship Id="rId54" Type="http://schemas.openxmlformats.org/officeDocument/2006/relationships/image" Target="../media/image52.svg"/><Relationship Id="rId70" Type="http://schemas.openxmlformats.org/officeDocument/2006/relationships/image" Target="../media/image68.svg"/><Relationship Id="rId75" Type="http://schemas.openxmlformats.org/officeDocument/2006/relationships/image" Target="../media/image73.png"/><Relationship Id="rId91" Type="http://schemas.openxmlformats.org/officeDocument/2006/relationships/image" Target="../media/image89.png"/><Relationship Id="rId96" Type="http://schemas.openxmlformats.org/officeDocument/2006/relationships/image" Target="../media/image94.svg"/><Relationship Id="rId1" Type="http://schemas.openxmlformats.org/officeDocument/2006/relationships/slideLayout" Target="../slideLayouts/slideLayout1.xml"/><Relationship Id="rId6" Type="http://schemas.openxmlformats.org/officeDocument/2006/relationships/image" Target="../media/image4.sv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4.svg"/><Relationship Id="rId49" Type="http://schemas.openxmlformats.org/officeDocument/2006/relationships/image" Target="../media/image47.png"/><Relationship Id="rId57" Type="http://schemas.openxmlformats.org/officeDocument/2006/relationships/image" Target="../media/image55.png"/><Relationship Id="rId106" Type="http://schemas.openxmlformats.org/officeDocument/2006/relationships/image" Target="../media/image104.svg"/><Relationship Id="rId114" Type="http://schemas.openxmlformats.org/officeDocument/2006/relationships/image" Target="../media/image112.svg"/><Relationship Id="rId10" Type="http://schemas.openxmlformats.org/officeDocument/2006/relationships/image" Target="../media/image8.svg"/><Relationship Id="rId31" Type="http://schemas.openxmlformats.org/officeDocument/2006/relationships/image" Target="../media/image29.png"/><Relationship Id="rId44" Type="http://schemas.openxmlformats.org/officeDocument/2006/relationships/image" Target="../media/image42.svg"/><Relationship Id="rId52" Type="http://schemas.openxmlformats.org/officeDocument/2006/relationships/image" Target="../media/image50.svg"/><Relationship Id="rId60" Type="http://schemas.openxmlformats.org/officeDocument/2006/relationships/image" Target="../media/image58.svg"/><Relationship Id="rId65" Type="http://schemas.openxmlformats.org/officeDocument/2006/relationships/image" Target="../media/image63.png"/><Relationship Id="rId73" Type="http://schemas.openxmlformats.org/officeDocument/2006/relationships/image" Target="../media/image71.png"/><Relationship Id="rId78" Type="http://schemas.openxmlformats.org/officeDocument/2006/relationships/image" Target="../media/image76.svg"/><Relationship Id="rId81" Type="http://schemas.openxmlformats.org/officeDocument/2006/relationships/image" Target="../media/image79.png"/><Relationship Id="rId86" Type="http://schemas.openxmlformats.org/officeDocument/2006/relationships/image" Target="../media/image84.svg"/><Relationship Id="rId94" Type="http://schemas.openxmlformats.org/officeDocument/2006/relationships/image" Target="../media/image92.svg"/><Relationship Id="rId99" Type="http://schemas.openxmlformats.org/officeDocument/2006/relationships/image" Target="../media/image97.png"/><Relationship Id="rId101" Type="http://schemas.openxmlformats.org/officeDocument/2006/relationships/image" Target="../media/image99.png"/><Relationship Id="rId4" Type="http://schemas.openxmlformats.org/officeDocument/2006/relationships/image" Target="../media/image2.svg"/><Relationship Id="rId9" Type="http://schemas.openxmlformats.org/officeDocument/2006/relationships/image" Target="../media/image7.png"/><Relationship Id="rId13" Type="http://schemas.openxmlformats.org/officeDocument/2006/relationships/image" Target="../media/image11.png"/><Relationship Id="rId18" Type="http://schemas.openxmlformats.org/officeDocument/2006/relationships/image" Target="../media/image16.svg"/><Relationship Id="rId39" Type="http://schemas.openxmlformats.org/officeDocument/2006/relationships/image" Target="../media/image37.png"/><Relationship Id="rId109" Type="http://schemas.openxmlformats.org/officeDocument/2006/relationships/image" Target="../media/image107.png"/><Relationship Id="rId34" Type="http://schemas.openxmlformats.org/officeDocument/2006/relationships/image" Target="../media/image32.svg"/><Relationship Id="rId50" Type="http://schemas.openxmlformats.org/officeDocument/2006/relationships/image" Target="../media/image48.svg"/><Relationship Id="rId55" Type="http://schemas.openxmlformats.org/officeDocument/2006/relationships/image" Target="../media/image53.png"/><Relationship Id="rId76" Type="http://schemas.openxmlformats.org/officeDocument/2006/relationships/image" Target="../media/image74.svg"/><Relationship Id="rId97" Type="http://schemas.openxmlformats.org/officeDocument/2006/relationships/image" Target="../media/image95.png"/><Relationship Id="rId104" Type="http://schemas.openxmlformats.org/officeDocument/2006/relationships/image" Target="../media/image102.svg"/><Relationship Id="rId7" Type="http://schemas.openxmlformats.org/officeDocument/2006/relationships/image" Target="../media/image5.png"/><Relationship Id="rId71" Type="http://schemas.openxmlformats.org/officeDocument/2006/relationships/image" Target="../media/image69.png"/><Relationship Id="rId92" Type="http://schemas.openxmlformats.org/officeDocument/2006/relationships/image" Target="../media/image90.svg"/><Relationship Id="rId2" Type="http://schemas.openxmlformats.org/officeDocument/2006/relationships/notesSlide" Target="../notesSlides/notesSlide1.xml"/><Relationship Id="rId29" Type="http://schemas.openxmlformats.org/officeDocument/2006/relationships/image" Target="../media/image27.png"/><Relationship Id="rId24" Type="http://schemas.openxmlformats.org/officeDocument/2006/relationships/image" Target="../media/image22.svg"/><Relationship Id="rId40" Type="http://schemas.openxmlformats.org/officeDocument/2006/relationships/image" Target="../media/image38.svg"/><Relationship Id="rId45" Type="http://schemas.openxmlformats.org/officeDocument/2006/relationships/image" Target="../media/image43.png"/><Relationship Id="rId66" Type="http://schemas.openxmlformats.org/officeDocument/2006/relationships/image" Target="../media/image64.svg"/><Relationship Id="rId87" Type="http://schemas.openxmlformats.org/officeDocument/2006/relationships/image" Target="../media/image85.png"/><Relationship Id="rId110" Type="http://schemas.openxmlformats.org/officeDocument/2006/relationships/image" Target="../media/image108.svg"/><Relationship Id="rId115" Type="http://schemas.openxmlformats.org/officeDocument/2006/relationships/image" Target="../media/image113.png"/><Relationship Id="rId61" Type="http://schemas.openxmlformats.org/officeDocument/2006/relationships/image" Target="../media/image59.png"/><Relationship Id="rId82" Type="http://schemas.openxmlformats.org/officeDocument/2006/relationships/image" Target="../media/image80.svg"/><Relationship Id="rId19" Type="http://schemas.openxmlformats.org/officeDocument/2006/relationships/image" Target="../media/image17.png"/><Relationship Id="rId14" Type="http://schemas.openxmlformats.org/officeDocument/2006/relationships/image" Target="../media/image12.svg"/><Relationship Id="rId30" Type="http://schemas.openxmlformats.org/officeDocument/2006/relationships/image" Target="../media/image28.svg"/><Relationship Id="rId35" Type="http://schemas.openxmlformats.org/officeDocument/2006/relationships/image" Target="../media/image33.png"/><Relationship Id="rId56" Type="http://schemas.openxmlformats.org/officeDocument/2006/relationships/image" Target="../media/image54.svg"/><Relationship Id="rId77" Type="http://schemas.openxmlformats.org/officeDocument/2006/relationships/image" Target="../media/image75.png"/><Relationship Id="rId100" Type="http://schemas.openxmlformats.org/officeDocument/2006/relationships/image" Target="../media/image98.svg"/><Relationship Id="rId105" Type="http://schemas.openxmlformats.org/officeDocument/2006/relationships/image" Target="../media/image103.png"/><Relationship Id="rId8" Type="http://schemas.openxmlformats.org/officeDocument/2006/relationships/image" Target="../media/image6.svg"/><Relationship Id="rId51" Type="http://schemas.openxmlformats.org/officeDocument/2006/relationships/image" Target="../media/image49.png"/><Relationship Id="rId72" Type="http://schemas.openxmlformats.org/officeDocument/2006/relationships/image" Target="../media/image70.svg"/><Relationship Id="rId93" Type="http://schemas.openxmlformats.org/officeDocument/2006/relationships/image" Target="../media/image91.png"/><Relationship Id="rId98" Type="http://schemas.openxmlformats.org/officeDocument/2006/relationships/image" Target="../media/image96.svg"/><Relationship Id="rId3" Type="http://schemas.openxmlformats.org/officeDocument/2006/relationships/image" Target="../media/image1.png"/><Relationship Id="rId25" Type="http://schemas.openxmlformats.org/officeDocument/2006/relationships/image" Target="../media/image23.png"/><Relationship Id="rId46" Type="http://schemas.openxmlformats.org/officeDocument/2006/relationships/image" Target="../media/image44.svg"/><Relationship Id="rId67" Type="http://schemas.openxmlformats.org/officeDocument/2006/relationships/image" Target="../media/image65.png"/><Relationship Id="rId116" Type="http://schemas.openxmlformats.org/officeDocument/2006/relationships/image" Target="../media/image114.svg"/><Relationship Id="rId20" Type="http://schemas.openxmlformats.org/officeDocument/2006/relationships/image" Target="../media/image18.svg"/><Relationship Id="rId41" Type="http://schemas.openxmlformats.org/officeDocument/2006/relationships/image" Target="../media/image39.png"/><Relationship Id="rId62" Type="http://schemas.openxmlformats.org/officeDocument/2006/relationships/image" Target="../media/image60.svg"/><Relationship Id="rId83" Type="http://schemas.openxmlformats.org/officeDocument/2006/relationships/image" Target="../media/image81.png"/><Relationship Id="rId88" Type="http://schemas.openxmlformats.org/officeDocument/2006/relationships/image" Target="../media/image86.svg"/><Relationship Id="rId111" Type="http://schemas.openxmlformats.org/officeDocument/2006/relationships/image" Target="../media/image109.png"/></Relationships>
</file>

<file path=ppt/slides/_rels/slide2.xml.rels><?xml version="1.0" encoding="UTF-8" standalone="yes"?>
<Relationships xmlns="http://schemas.openxmlformats.org/package/2006/relationships"><Relationship Id="rId8" Type="http://schemas.openxmlformats.org/officeDocument/2006/relationships/image" Target="../media/image120.svg"/><Relationship Id="rId13" Type="http://schemas.openxmlformats.org/officeDocument/2006/relationships/image" Target="../media/image125.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svg"/><Relationship Id="rId17" Type="http://schemas.openxmlformats.org/officeDocument/2006/relationships/image" Target="../media/image129.svg"/><Relationship Id="rId2" Type="http://schemas.openxmlformats.org/officeDocument/2006/relationships/notesSlide" Target="../notesSlides/notesSlide2.xml"/><Relationship Id="rId16" Type="http://schemas.openxmlformats.org/officeDocument/2006/relationships/image" Target="../media/image128.png"/><Relationship Id="rId1" Type="http://schemas.openxmlformats.org/officeDocument/2006/relationships/slideLayout" Target="../slideLayouts/slideLayout1.xml"/><Relationship Id="rId6" Type="http://schemas.openxmlformats.org/officeDocument/2006/relationships/image" Target="../media/image118.sv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svg"/><Relationship Id="rId10" Type="http://schemas.openxmlformats.org/officeDocument/2006/relationships/image" Target="../media/image122.svg"/><Relationship Id="rId4" Type="http://schemas.openxmlformats.org/officeDocument/2006/relationships/image" Target="../media/image116.svg"/><Relationship Id="rId9" Type="http://schemas.openxmlformats.org/officeDocument/2006/relationships/image" Target="../media/image121.png"/><Relationship Id="rId14" Type="http://schemas.openxmlformats.org/officeDocument/2006/relationships/image" Target="../media/image126.svg"/></Relationships>
</file>

<file path=ppt/slides/_rels/slide3.xml.rels><?xml version="1.0" encoding="UTF-8" standalone="yes"?>
<Relationships xmlns="http://schemas.openxmlformats.org/package/2006/relationships"><Relationship Id="rId8" Type="http://schemas.openxmlformats.org/officeDocument/2006/relationships/image" Target="../media/image135.svg"/><Relationship Id="rId13" Type="http://schemas.openxmlformats.org/officeDocument/2006/relationships/image" Target="../media/image140.svg"/><Relationship Id="rId3" Type="http://schemas.openxmlformats.org/officeDocument/2006/relationships/image" Target="../media/image130.png"/><Relationship Id="rId7" Type="http://schemas.openxmlformats.org/officeDocument/2006/relationships/image" Target="../media/image134.png"/><Relationship Id="rId12" Type="http://schemas.openxmlformats.org/officeDocument/2006/relationships/image" Target="../media/image139.svg"/><Relationship Id="rId17" Type="http://schemas.openxmlformats.org/officeDocument/2006/relationships/image" Target="../media/image144.svg"/><Relationship Id="rId2" Type="http://schemas.openxmlformats.org/officeDocument/2006/relationships/notesSlide" Target="../notesSlides/notesSlide3.xml"/><Relationship Id="rId16" Type="http://schemas.openxmlformats.org/officeDocument/2006/relationships/image" Target="../media/image143.png"/><Relationship Id="rId1" Type="http://schemas.openxmlformats.org/officeDocument/2006/relationships/slideLayout" Target="../slideLayouts/slideLayout1.xml"/><Relationship Id="rId6" Type="http://schemas.openxmlformats.org/officeDocument/2006/relationships/image" Target="../media/image133.svg"/><Relationship Id="rId11" Type="http://schemas.openxmlformats.org/officeDocument/2006/relationships/image" Target="../media/image138.svg"/><Relationship Id="rId5" Type="http://schemas.openxmlformats.org/officeDocument/2006/relationships/image" Target="../media/image132.png"/><Relationship Id="rId15" Type="http://schemas.openxmlformats.org/officeDocument/2006/relationships/image" Target="../media/image142.svg"/><Relationship Id="rId10" Type="http://schemas.openxmlformats.org/officeDocument/2006/relationships/image" Target="../media/image137.svg"/><Relationship Id="rId4" Type="http://schemas.openxmlformats.org/officeDocument/2006/relationships/image" Target="../media/image131.svg"/><Relationship Id="rId9" Type="http://schemas.openxmlformats.org/officeDocument/2006/relationships/image" Target="../media/image136.png"/><Relationship Id="rId14" Type="http://schemas.openxmlformats.org/officeDocument/2006/relationships/image" Target="../media/image141.png"/></Relationships>
</file>

<file path=ppt/slides/_rels/slide4.xml.rels><?xml version="1.0" encoding="UTF-8" standalone="yes"?>
<Relationships xmlns="http://schemas.openxmlformats.org/package/2006/relationships"><Relationship Id="rId8" Type="http://schemas.openxmlformats.org/officeDocument/2006/relationships/image" Target="../media/image150.svg"/><Relationship Id="rId13" Type="http://schemas.openxmlformats.org/officeDocument/2006/relationships/image" Target="../media/image155.sv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8.svg"/><Relationship Id="rId11" Type="http://schemas.openxmlformats.org/officeDocument/2006/relationships/image" Target="../media/image153.svg"/><Relationship Id="rId5" Type="http://schemas.openxmlformats.org/officeDocument/2006/relationships/image" Target="../media/image147.png"/><Relationship Id="rId10" Type="http://schemas.openxmlformats.org/officeDocument/2006/relationships/image" Target="../media/image152.svg"/><Relationship Id="rId4" Type="http://schemas.openxmlformats.org/officeDocument/2006/relationships/image" Target="../media/image146.svg"/><Relationship Id="rId9" Type="http://schemas.openxmlformats.org/officeDocument/2006/relationships/image" Target="../media/image151.png"/></Relationships>
</file>

<file path=ppt/slides/_rels/slide5.xml.rels><?xml version="1.0" encoding="UTF-8" standalone="yes"?>
<Relationships xmlns="http://schemas.openxmlformats.org/package/2006/relationships"><Relationship Id="rId8" Type="http://schemas.openxmlformats.org/officeDocument/2006/relationships/image" Target="../media/image161.svg"/><Relationship Id="rId13" Type="http://schemas.openxmlformats.org/officeDocument/2006/relationships/image" Target="../media/image166.png"/><Relationship Id="rId18" Type="http://schemas.openxmlformats.org/officeDocument/2006/relationships/image" Target="../media/image171.png"/><Relationship Id="rId26" Type="http://schemas.openxmlformats.org/officeDocument/2006/relationships/image" Target="../media/image179.png"/><Relationship Id="rId3" Type="http://schemas.openxmlformats.org/officeDocument/2006/relationships/image" Target="../media/image156.png"/><Relationship Id="rId21" Type="http://schemas.openxmlformats.org/officeDocument/2006/relationships/image" Target="../media/image174.png"/><Relationship Id="rId7" Type="http://schemas.openxmlformats.org/officeDocument/2006/relationships/image" Target="../media/image160.png"/><Relationship Id="rId12" Type="http://schemas.openxmlformats.org/officeDocument/2006/relationships/image" Target="../media/image165.svg"/><Relationship Id="rId17" Type="http://schemas.openxmlformats.org/officeDocument/2006/relationships/image" Target="../media/image170.svg"/><Relationship Id="rId25" Type="http://schemas.openxmlformats.org/officeDocument/2006/relationships/image" Target="../media/image178.svg"/><Relationship Id="rId2" Type="http://schemas.openxmlformats.org/officeDocument/2006/relationships/notesSlide" Target="../notesSlides/notesSlide5.xml"/><Relationship Id="rId16" Type="http://schemas.openxmlformats.org/officeDocument/2006/relationships/image" Target="../media/image169.svg"/><Relationship Id="rId20" Type="http://schemas.openxmlformats.org/officeDocument/2006/relationships/image" Target="../media/image173.svg"/><Relationship Id="rId1" Type="http://schemas.openxmlformats.org/officeDocument/2006/relationships/slideLayout" Target="../slideLayouts/slideLayout1.xml"/><Relationship Id="rId6" Type="http://schemas.openxmlformats.org/officeDocument/2006/relationships/image" Target="../media/image159.svg"/><Relationship Id="rId11" Type="http://schemas.openxmlformats.org/officeDocument/2006/relationships/image" Target="../media/image164.png"/><Relationship Id="rId24" Type="http://schemas.openxmlformats.org/officeDocument/2006/relationships/image" Target="../media/image177.png"/><Relationship Id="rId5" Type="http://schemas.openxmlformats.org/officeDocument/2006/relationships/image" Target="../media/image158.png"/><Relationship Id="rId15" Type="http://schemas.openxmlformats.org/officeDocument/2006/relationships/image" Target="../media/image168.png"/><Relationship Id="rId23" Type="http://schemas.openxmlformats.org/officeDocument/2006/relationships/image" Target="../media/image176.svg"/><Relationship Id="rId10" Type="http://schemas.openxmlformats.org/officeDocument/2006/relationships/image" Target="../media/image163.svg"/><Relationship Id="rId19" Type="http://schemas.openxmlformats.org/officeDocument/2006/relationships/image" Target="../media/image172.svg"/><Relationship Id="rId4" Type="http://schemas.openxmlformats.org/officeDocument/2006/relationships/image" Target="../media/image157.svg"/><Relationship Id="rId9" Type="http://schemas.openxmlformats.org/officeDocument/2006/relationships/image" Target="../media/image162.png"/><Relationship Id="rId14" Type="http://schemas.openxmlformats.org/officeDocument/2006/relationships/image" Target="../media/image167.svg"/><Relationship Id="rId22" Type="http://schemas.openxmlformats.org/officeDocument/2006/relationships/image" Target="../media/image175.svg"/><Relationship Id="rId27" Type="http://schemas.openxmlformats.org/officeDocument/2006/relationships/image" Target="../media/image180.svg"/></Relationships>
</file>

<file path=ppt/slides/_rels/slide6.xml.rels><?xml version="1.0" encoding="UTF-8" standalone="yes"?>
<Relationships xmlns="http://schemas.openxmlformats.org/package/2006/relationships"><Relationship Id="rId8" Type="http://schemas.openxmlformats.org/officeDocument/2006/relationships/image" Target="../media/image186.svg"/><Relationship Id="rId3" Type="http://schemas.openxmlformats.org/officeDocument/2006/relationships/image" Target="../media/image181.png"/><Relationship Id="rId7" Type="http://schemas.openxmlformats.org/officeDocument/2006/relationships/image" Target="../media/image18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4.svg"/><Relationship Id="rId5" Type="http://schemas.openxmlformats.org/officeDocument/2006/relationships/image" Target="../media/image183.png"/><Relationship Id="rId10" Type="http://schemas.openxmlformats.org/officeDocument/2006/relationships/image" Target="../media/image188.svg"/><Relationship Id="rId4" Type="http://schemas.openxmlformats.org/officeDocument/2006/relationships/image" Target="../media/image182.svg"/><Relationship Id="rId9" Type="http://schemas.openxmlformats.org/officeDocument/2006/relationships/image" Target="../media/image187.png"/></Relationships>
</file>

<file path=ppt/slides/_rels/slide7.xml.rels><?xml version="1.0" encoding="UTF-8" standalone="yes"?>
<Relationships xmlns="http://schemas.openxmlformats.org/package/2006/relationships"><Relationship Id="rId8" Type="http://schemas.openxmlformats.org/officeDocument/2006/relationships/image" Target="../media/image193.svg"/><Relationship Id="rId13" Type="http://schemas.openxmlformats.org/officeDocument/2006/relationships/image" Target="../media/image198.png"/><Relationship Id="rId18" Type="http://schemas.openxmlformats.org/officeDocument/2006/relationships/image" Target="../media/image203.svg"/><Relationship Id="rId3" Type="http://schemas.openxmlformats.org/officeDocument/2006/relationships/chart" Target="../charts/chart1.xml"/><Relationship Id="rId7" Type="http://schemas.openxmlformats.org/officeDocument/2006/relationships/image" Target="../media/image192.svg"/><Relationship Id="rId12" Type="http://schemas.openxmlformats.org/officeDocument/2006/relationships/image" Target="../media/image197.svg"/><Relationship Id="rId17" Type="http://schemas.openxmlformats.org/officeDocument/2006/relationships/image" Target="../media/image202.svg"/><Relationship Id="rId2" Type="http://schemas.openxmlformats.org/officeDocument/2006/relationships/notesSlide" Target="../notesSlides/notesSlide7.xml"/><Relationship Id="rId16" Type="http://schemas.openxmlformats.org/officeDocument/2006/relationships/image" Target="../media/image201.svg"/><Relationship Id="rId1" Type="http://schemas.openxmlformats.org/officeDocument/2006/relationships/slideLayout" Target="../slideLayouts/slideLayout1.xml"/><Relationship Id="rId6" Type="http://schemas.openxmlformats.org/officeDocument/2006/relationships/image" Target="../media/image191.png"/><Relationship Id="rId11" Type="http://schemas.openxmlformats.org/officeDocument/2006/relationships/image" Target="../media/image196.svg"/><Relationship Id="rId5" Type="http://schemas.openxmlformats.org/officeDocument/2006/relationships/image" Target="../media/image190.svg"/><Relationship Id="rId15" Type="http://schemas.openxmlformats.org/officeDocument/2006/relationships/image" Target="../media/image200.svg"/><Relationship Id="rId10" Type="http://schemas.openxmlformats.org/officeDocument/2006/relationships/image" Target="../media/image195.svg"/><Relationship Id="rId19" Type="http://schemas.openxmlformats.org/officeDocument/2006/relationships/image" Target="../media/image204.svg"/><Relationship Id="rId4" Type="http://schemas.openxmlformats.org/officeDocument/2006/relationships/image" Target="../media/image189.png"/><Relationship Id="rId9" Type="http://schemas.openxmlformats.org/officeDocument/2006/relationships/image" Target="../media/image194.svg"/><Relationship Id="rId14" Type="http://schemas.openxmlformats.org/officeDocument/2006/relationships/image" Target="../media/image199.svg"/></Relationships>
</file>

<file path=ppt/slides/_rels/slide8.xml.rels><?xml version="1.0" encoding="UTF-8" standalone="yes"?>
<Relationships xmlns="http://schemas.openxmlformats.org/package/2006/relationships"><Relationship Id="rId13" Type="http://schemas.openxmlformats.org/officeDocument/2006/relationships/image" Target="../media/image215.png"/><Relationship Id="rId18" Type="http://schemas.openxmlformats.org/officeDocument/2006/relationships/image" Target="../media/image220.png"/><Relationship Id="rId26" Type="http://schemas.openxmlformats.org/officeDocument/2006/relationships/image" Target="../media/image228.png"/><Relationship Id="rId39" Type="http://schemas.openxmlformats.org/officeDocument/2006/relationships/image" Target="../media/image239.svg"/><Relationship Id="rId21" Type="http://schemas.openxmlformats.org/officeDocument/2006/relationships/image" Target="../media/image223.svg"/><Relationship Id="rId34" Type="http://schemas.openxmlformats.org/officeDocument/2006/relationships/image" Target="../media/image234.png"/><Relationship Id="rId42" Type="http://schemas.openxmlformats.org/officeDocument/2006/relationships/image" Target="../media/image242.svg"/><Relationship Id="rId47" Type="http://schemas.openxmlformats.org/officeDocument/2006/relationships/image" Target="../media/image247.svg"/><Relationship Id="rId50" Type="http://schemas.openxmlformats.org/officeDocument/2006/relationships/image" Target="../media/image250.svg"/><Relationship Id="rId55" Type="http://schemas.openxmlformats.org/officeDocument/2006/relationships/image" Target="../media/image255.svg"/><Relationship Id="rId7" Type="http://schemas.openxmlformats.org/officeDocument/2006/relationships/image" Target="../media/image209.png"/><Relationship Id="rId2" Type="http://schemas.openxmlformats.org/officeDocument/2006/relationships/notesSlide" Target="../notesSlides/notesSlide8.xml"/><Relationship Id="rId16" Type="http://schemas.openxmlformats.org/officeDocument/2006/relationships/image" Target="../media/image218.png"/><Relationship Id="rId29" Type="http://schemas.openxmlformats.org/officeDocument/2006/relationships/image" Target="../media/image231.svg"/><Relationship Id="rId11" Type="http://schemas.openxmlformats.org/officeDocument/2006/relationships/image" Target="../media/image213.png"/><Relationship Id="rId24" Type="http://schemas.openxmlformats.org/officeDocument/2006/relationships/image" Target="../media/image226.png"/><Relationship Id="rId32" Type="http://schemas.openxmlformats.org/officeDocument/2006/relationships/image" Target="../media/image143.png"/><Relationship Id="rId37" Type="http://schemas.openxmlformats.org/officeDocument/2006/relationships/image" Target="../media/image237.svg"/><Relationship Id="rId40" Type="http://schemas.openxmlformats.org/officeDocument/2006/relationships/image" Target="../media/image240.svg"/><Relationship Id="rId45" Type="http://schemas.openxmlformats.org/officeDocument/2006/relationships/image" Target="../media/image245.svg"/><Relationship Id="rId53" Type="http://schemas.openxmlformats.org/officeDocument/2006/relationships/image" Target="../media/image253.svg"/><Relationship Id="rId58" Type="http://schemas.openxmlformats.org/officeDocument/2006/relationships/image" Target="../media/image142.svg"/><Relationship Id="rId5" Type="http://schemas.openxmlformats.org/officeDocument/2006/relationships/image" Target="../media/image207.png"/><Relationship Id="rId19" Type="http://schemas.openxmlformats.org/officeDocument/2006/relationships/image" Target="../media/image221.svg"/><Relationship Id="rId4" Type="http://schemas.openxmlformats.org/officeDocument/2006/relationships/image" Target="../media/image206.svg"/><Relationship Id="rId9" Type="http://schemas.openxmlformats.org/officeDocument/2006/relationships/image" Target="../media/image211.png"/><Relationship Id="rId14" Type="http://schemas.openxmlformats.org/officeDocument/2006/relationships/image" Target="../media/image216.svg"/><Relationship Id="rId22" Type="http://schemas.openxmlformats.org/officeDocument/2006/relationships/image" Target="../media/image224.png"/><Relationship Id="rId27" Type="http://schemas.openxmlformats.org/officeDocument/2006/relationships/image" Target="../media/image229.svg"/><Relationship Id="rId30" Type="http://schemas.openxmlformats.org/officeDocument/2006/relationships/image" Target="../media/image232.png"/><Relationship Id="rId35" Type="http://schemas.openxmlformats.org/officeDocument/2006/relationships/image" Target="../media/image235.svg"/><Relationship Id="rId43" Type="http://schemas.openxmlformats.org/officeDocument/2006/relationships/image" Target="../media/image243.png"/><Relationship Id="rId48" Type="http://schemas.openxmlformats.org/officeDocument/2006/relationships/image" Target="../media/image248.svg"/><Relationship Id="rId56" Type="http://schemas.openxmlformats.org/officeDocument/2006/relationships/image" Target="../media/image256.svg"/><Relationship Id="rId8" Type="http://schemas.openxmlformats.org/officeDocument/2006/relationships/image" Target="../media/image210.svg"/><Relationship Id="rId51" Type="http://schemas.openxmlformats.org/officeDocument/2006/relationships/image" Target="../media/image251.png"/><Relationship Id="rId3" Type="http://schemas.openxmlformats.org/officeDocument/2006/relationships/image" Target="../media/image205.png"/><Relationship Id="rId12" Type="http://schemas.openxmlformats.org/officeDocument/2006/relationships/image" Target="../media/image214.svg"/><Relationship Id="rId17" Type="http://schemas.openxmlformats.org/officeDocument/2006/relationships/image" Target="../media/image219.svg"/><Relationship Id="rId25" Type="http://schemas.openxmlformats.org/officeDocument/2006/relationships/image" Target="../media/image227.svg"/><Relationship Id="rId33" Type="http://schemas.openxmlformats.org/officeDocument/2006/relationships/image" Target="../media/image144.svg"/><Relationship Id="rId38" Type="http://schemas.openxmlformats.org/officeDocument/2006/relationships/image" Target="../media/image238.svg"/><Relationship Id="rId46" Type="http://schemas.openxmlformats.org/officeDocument/2006/relationships/image" Target="../media/image246.svg"/><Relationship Id="rId20" Type="http://schemas.openxmlformats.org/officeDocument/2006/relationships/image" Target="../media/image222.png"/><Relationship Id="rId41" Type="http://schemas.openxmlformats.org/officeDocument/2006/relationships/image" Target="../media/image241.svg"/><Relationship Id="rId54" Type="http://schemas.openxmlformats.org/officeDocument/2006/relationships/image" Target="../media/image254.png"/><Relationship Id="rId1" Type="http://schemas.openxmlformats.org/officeDocument/2006/relationships/slideLayout" Target="../slideLayouts/slideLayout1.xml"/><Relationship Id="rId6" Type="http://schemas.openxmlformats.org/officeDocument/2006/relationships/image" Target="../media/image208.svg"/><Relationship Id="rId15" Type="http://schemas.openxmlformats.org/officeDocument/2006/relationships/image" Target="../media/image217.svg"/><Relationship Id="rId23" Type="http://schemas.openxmlformats.org/officeDocument/2006/relationships/image" Target="../media/image225.svg"/><Relationship Id="rId28" Type="http://schemas.openxmlformats.org/officeDocument/2006/relationships/image" Target="../media/image230.png"/><Relationship Id="rId36" Type="http://schemas.openxmlformats.org/officeDocument/2006/relationships/image" Target="../media/image236.png"/><Relationship Id="rId49" Type="http://schemas.openxmlformats.org/officeDocument/2006/relationships/image" Target="../media/image249.png"/><Relationship Id="rId57" Type="http://schemas.openxmlformats.org/officeDocument/2006/relationships/image" Target="../media/image141.png"/><Relationship Id="rId10" Type="http://schemas.openxmlformats.org/officeDocument/2006/relationships/image" Target="../media/image212.svg"/><Relationship Id="rId31" Type="http://schemas.openxmlformats.org/officeDocument/2006/relationships/image" Target="../media/image233.svg"/><Relationship Id="rId44" Type="http://schemas.openxmlformats.org/officeDocument/2006/relationships/image" Target="../media/image244.svg"/><Relationship Id="rId52" Type="http://schemas.openxmlformats.org/officeDocument/2006/relationships/image" Target="../media/image252.svg"/></Relationships>
</file>

<file path=ppt/slides/_rels/slide9.xml.rels><?xml version="1.0" encoding="UTF-8" standalone="yes"?>
<Relationships xmlns="http://schemas.openxmlformats.org/package/2006/relationships"><Relationship Id="rId26" Type="http://schemas.openxmlformats.org/officeDocument/2006/relationships/image" Target="../media/image280.svg"/><Relationship Id="rId21" Type="http://schemas.openxmlformats.org/officeDocument/2006/relationships/image" Target="../media/image275.svg"/><Relationship Id="rId42" Type="http://schemas.openxmlformats.org/officeDocument/2006/relationships/image" Target="../media/image296.svg"/><Relationship Id="rId47" Type="http://schemas.openxmlformats.org/officeDocument/2006/relationships/image" Target="../media/image301.svg"/><Relationship Id="rId63" Type="http://schemas.openxmlformats.org/officeDocument/2006/relationships/image" Target="../media/image317.svg"/><Relationship Id="rId68" Type="http://schemas.openxmlformats.org/officeDocument/2006/relationships/image" Target="../media/image322.png"/><Relationship Id="rId2" Type="http://schemas.openxmlformats.org/officeDocument/2006/relationships/notesSlide" Target="../notesSlides/notesSlide9.xml"/><Relationship Id="rId16" Type="http://schemas.openxmlformats.org/officeDocument/2006/relationships/image" Target="../media/image270.svg"/><Relationship Id="rId29" Type="http://schemas.openxmlformats.org/officeDocument/2006/relationships/image" Target="../media/image283.svg"/><Relationship Id="rId11" Type="http://schemas.openxmlformats.org/officeDocument/2006/relationships/image" Target="../media/image265.png"/><Relationship Id="rId24" Type="http://schemas.openxmlformats.org/officeDocument/2006/relationships/image" Target="../media/image278.svg"/><Relationship Id="rId32" Type="http://schemas.openxmlformats.org/officeDocument/2006/relationships/image" Target="../media/image286.svg"/><Relationship Id="rId37" Type="http://schemas.openxmlformats.org/officeDocument/2006/relationships/image" Target="../media/image291.svg"/><Relationship Id="rId40" Type="http://schemas.openxmlformats.org/officeDocument/2006/relationships/image" Target="../media/image294.svg"/><Relationship Id="rId45" Type="http://schemas.openxmlformats.org/officeDocument/2006/relationships/image" Target="../media/image299.svg"/><Relationship Id="rId53" Type="http://schemas.openxmlformats.org/officeDocument/2006/relationships/image" Target="../media/image307.png"/><Relationship Id="rId58" Type="http://schemas.openxmlformats.org/officeDocument/2006/relationships/image" Target="../media/image312.png"/><Relationship Id="rId66" Type="http://schemas.openxmlformats.org/officeDocument/2006/relationships/image" Target="../media/image320.png"/><Relationship Id="rId74" Type="http://schemas.openxmlformats.org/officeDocument/2006/relationships/chart" Target="../charts/chart2.xml"/><Relationship Id="rId5" Type="http://schemas.openxmlformats.org/officeDocument/2006/relationships/image" Target="../media/image259.png"/><Relationship Id="rId61" Type="http://schemas.openxmlformats.org/officeDocument/2006/relationships/image" Target="../media/image315.svg"/><Relationship Id="rId19" Type="http://schemas.openxmlformats.org/officeDocument/2006/relationships/image" Target="../media/image273.svg"/><Relationship Id="rId14" Type="http://schemas.openxmlformats.org/officeDocument/2006/relationships/image" Target="../media/image268.svg"/><Relationship Id="rId22" Type="http://schemas.openxmlformats.org/officeDocument/2006/relationships/image" Target="../media/image276.svg"/><Relationship Id="rId27" Type="http://schemas.openxmlformats.org/officeDocument/2006/relationships/image" Target="../media/image281.svg"/><Relationship Id="rId30" Type="http://schemas.openxmlformats.org/officeDocument/2006/relationships/image" Target="../media/image284.svg"/><Relationship Id="rId35" Type="http://schemas.openxmlformats.org/officeDocument/2006/relationships/image" Target="../media/image289.svg"/><Relationship Id="rId43" Type="http://schemas.openxmlformats.org/officeDocument/2006/relationships/image" Target="../media/image297.svg"/><Relationship Id="rId48" Type="http://schemas.openxmlformats.org/officeDocument/2006/relationships/image" Target="../media/image302.svg"/><Relationship Id="rId56" Type="http://schemas.openxmlformats.org/officeDocument/2006/relationships/image" Target="../media/image310.svg"/><Relationship Id="rId64" Type="http://schemas.openxmlformats.org/officeDocument/2006/relationships/image" Target="../media/image318.png"/><Relationship Id="rId69" Type="http://schemas.openxmlformats.org/officeDocument/2006/relationships/image" Target="../media/image323.svg"/><Relationship Id="rId8" Type="http://schemas.openxmlformats.org/officeDocument/2006/relationships/image" Target="../media/image262.svg"/><Relationship Id="rId51" Type="http://schemas.openxmlformats.org/officeDocument/2006/relationships/image" Target="../media/image305.svg"/><Relationship Id="rId72" Type="http://schemas.openxmlformats.org/officeDocument/2006/relationships/image" Target="../media/image326.png"/><Relationship Id="rId3" Type="http://schemas.openxmlformats.org/officeDocument/2006/relationships/image" Target="../media/image257.png"/><Relationship Id="rId12" Type="http://schemas.openxmlformats.org/officeDocument/2006/relationships/image" Target="../media/image266.svg"/><Relationship Id="rId17" Type="http://schemas.openxmlformats.org/officeDocument/2006/relationships/image" Target="../media/image271.svg"/><Relationship Id="rId25" Type="http://schemas.openxmlformats.org/officeDocument/2006/relationships/image" Target="../media/image279.svg"/><Relationship Id="rId33" Type="http://schemas.openxmlformats.org/officeDocument/2006/relationships/image" Target="../media/image287.svg"/><Relationship Id="rId38" Type="http://schemas.openxmlformats.org/officeDocument/2006/relationships/image" Target="../media/image292.svg"/><Relationship Id="rId46" Type="http://schemas.openxmlformats.org/officeDocument/2006/relationships/image" Target="../media/image300.svg"/><Relationship Id="rId59" Type="http://schemas.openxmlformats.org/officeDocument/2006/relationships/image" Target="../media/image313.svg"/><Relationship Id="rId67" Type="http://schemas.openxmlformats.org/officeDocument/2006/relationships/image" Target="../media/image321.svg"/><Relationship Id="rId20" Type="http://schemas.openxmlformats.org/officeDocument/2006/relationships/image" Target="../media/image274.svg"/><Relationship Id="rId41" Type="http://schemas.openxmlformats.org/officeDocument/2006/relationships/image" Target="../media/image295.svg"/><Relationship Id="rId54" Type="http://schemas.openxmlformats.org/officeDocument/2006/relationships/image" Target="../media/image308.svg"/><Relationship Id="rId62" Type="http://schemas.openxmlformats.org/officeDocument/2006/relationships/image" Target="../media/image316.png"/><Relationship Id="rId70" Type="http://schemas.openxmlformats.org/officeDocument/2006/relationships/image" Target="../media/image324.png"/><Relationship Id="rId75" Type="http://schemas.openxmlformats.org/officeDocument/2006/relationships/chart" Target="../charts/chart3.xml"/><Relationship Id="rId1" Type="http://schemas.openxmlformats.org/officeDocument/2006/relationships/slideLayout" Target="../slideLayouts/slideLayout1.xml"/><Relationship Id="rId6" Type="http://schemas.openxmlformats.org/officeDocument/2006/relationships/image" Target="../media/image260.svg"/><Relationship Id="rId15" Type="http://schemas.openxmlformats.org/officeDocument/2006/relationships/image" Target="../media/image269.png"/><Relationship Id="rId23" Type="http://schemas.openxmlformats.org/officeDocument/2006/relationships/image" Target="../media/image277.svg"/><Relationship Id="rId28" Type="http://schemas.openxmlformats.org/officeDocument/2006/relationships/image" Target="../media/image282.svg"/><Relationship Id="rId36" Type="http://schemas.openxmlformats.org/officeDocument/2006/relationships/image" Target="../media/image290.svg"/><Relationship Id="rId49" Type="http://schemas.openxmlformats.org/officeDocument/2006/relationships/image" Target="../media/image303.svg"/><Relationship Id="rId57" Type="http://schemas.openxmlformats.org/officeDocument/2006/relationships/image" Target="../media/image311.svg"/><Relationship Id="rId10" Type="http://schemas.openxmlformats.org/officeDocument/2006/relationships/image" Target="../media/image264.svg"/><Relationship Id="rId31" Type="http://schemas.openxmlformats.org/officeDocument/2006/relationships/image" Target="../media/image285.svg"/><Relationship Id="rId44" Type="http://schemas.openxmlformats.org/officeDocument/2006/relationships/image" Target="../media/image298.svg"/><Relationship Id="rId52" Type="http://schemas.openxmlformats.org/officeDocument/2006/relationships/image" Target="../media/image306.svg"/><Relationship Id="rId60" Type="http://schemas.openxmlformats.org/officeDocument/2006/relationships/image" Target="../media/image314.png"/><Relationship Id="rId65" Type="http://schemas.openxmlformats.org/officeDocument/2006/relationships/image" Target="../media/image319.svg"/><Relationship Id="rId73" Type="http://schemas.openxmlformats.org/officeDocument/2006/relationships/image" Target="../media/image327.svg"/><Relationship Id="rId4" Type="http://schemas.openxmlformats.org/officeDocument/2006/relationships/image" Target="../media/image258.svg"/><Relationship Id="rId9" Type="http://schemas.openxmlformats.org/officeDocument/2006/relationships/image" Target="../media/image263.png"/><Relationship Id="rId13" Type="http://schemas.openxmlformats.org/officeDocument/2006/relationships/image" Target="../media/image267.png"/><Relationship Id="rId18" Type="http://schemas.openxmlformats.org/officeDocument/2006/relationships/image" Target="../media/image272.png"/><Relationship Id="rId39" Type="http://schemas.openxmlformats.org/officeDocument/2006/relationships/image" Target="../media/image293.svg"/><Relationship Id="rId34" Type="http://schemas.openxmlformats.org/officeDocument/2006/relationships/image" Target="../media/image288.svg"/><Relationship Id="rId50" Type="http://schemas.openxmlformats.org/officeDocument/2006/relationships/image" Target="../media/image304.svg"/><Relationship Id="rId55" Type="http://schemas.openxmlformats.org/officeDocument/2006/relationships/image" Target="../media/image309.png"/><Relationship Id="rId7" Type="http://schemas.openxmlformats.org/officeDocument/2006/relationships/image" Target="../media/image261.png"/><Relationship Id="rId71" Type="http://schemas.openxmlformats.org/officeDocument/2006/relationships/image" Target="../media/image325.svg"/></Relationships>
</file>

<file path=ppt/slides/_rels/slide10.xml.rels><?xml version="1.0" encoding="UTF-8" standalone="yes"?>
<Relationships xmlns="http://schemas.openxmlformats.org/package/2006/relationships"><Relationship Id="rId13" Type="http://schemas.openxmlformats.org/officeDocument/2006/relationships/image" Target="../media/image338.png"/><Relationship Id="rId18" Type="http://schemas.openxmlformats.org/officeDocument/2006/relationships/image" Target="../media/image343.svg"/><Relationship Id="rId26" Type="http://schemas.openxmlformats.org/officeDocument/2006/relationships/image" Target="../media/image351.svg"/><Relationship Id="rId39" Type="http://schemas.openxmlformats.org/officeDocument/2006/relationships/image" Target="../media/image362.png"/><Relationship Id="rId21" Type="http://schemas.openxmlformats.org/officeDocument/2006/relationships/image" Target="../media/image346.png"/><Relationship Id="rId34" Type="http://schemas.openxmlformats.org/officeDocument/2006/relationships/image" Target="../media/image357.svg"/><Relationship Id="rId7" Type="http://schemas.openxmlformats.org/officeDocument/2006/relationships/image" Target="../media/image332.png"/><Relationship Id="rId2" Type="http://schemas.openxmlformats.org/officeDocument/2006/relationships/notesSlide" Target="../notesSlides/notesSlide10.xml"/><Relationship Id="rId16" Type="http://schemas.openxmlformats.org/officeDocument/2006/relationships/image" Target="../media/image341.svg"/><Relationship Id="rId20" Type="http://schemas.openxmlformats.org/officeDocument/2006/relationships/image" Target="../media/image345.svg"/><Relationship Id="rId29" Type="http://schemas.openxmlformats.org/officeDocument/2006/relationships/image" Target="../media/image352.png"/><Relationship Id="rId41" Type="http://schemas.openxmlformats.org/officeDocument/2006/relationships/chart" Target="../charts/chart4.xml"/><Relationship Id="rId1" Type="http://schemas.openxmlformats.org/officeDocument/2006/relationships/slideLayout" Target="../slideLayouts/slideLayout1.xml"/><Relationship Id="rId6" Type="http://schemas.openxmlformats.org/officeDocument/2006/relationships/image" Target="../media/image331.svg"/><Relationship Id="rId11" Type="http://schemas.openxmlformats.org/officeDocument/2006/relationships/image" Target="../media/image336.png"/><Relationship Id="rId24" Type="http://schemas.openxmlformats.org/officeDocument/2006/relationships/image" Target="../media/image349.svg"/><Relationship Id="rId32" Type="http://schemas.openxmlformats.org/officeDocument/2006/relationships/image" Target="../media/image355.svg"/><Relationship Id="rId37" Type="http://schemas.openxmlformats.org/officeDocument/2006/relationships/image" Target="../media/image360.png"/><Relationship Id="rId40" Type="http://schemas.openxmlformats.org/officeDocument/2006/relationships/image" Target="../media/image363.svg"/><Relationship Id="rId5" Type="http://schemas.openxmlformats.org/officeDocument/2006/relationships/image" Target="../media/image330.png"/><Relationship Id="rId15" Type="http://schemas.openxmlformats.org/officeDocument/2006/relationships/image" Target="../media/image340.png"/><Relationship Id="rId23" Type="http://schemas.openxmlformats.org/officeDocument/2006/relationships/image" Target="../media/image348.svg"/><Relationship Id="rId28" Type="http://schemas.openxmlformats.org/officeDocument/2006/relationships/image" Target="../media/image144.svg"/><Relationship Id="rId36" Type="http://schemas.openxmlformats.org/officeDocument/2006/relationships/image" Target="../media/image359.svg"/><Relationship Id="rId10" Type="http://schemas.openxmlformats.org/officeDocument/2006/relationships/image" Target="../media/image335.svg"/><Relationship Id="rId19" Type="http://schemas.openxmlformats.org/officeDocument/2006/relationships/image" Target="../media/image344.png"/><Relationship Id="rId31" Type="http://schemas.openxmlformats.org/officeDocument/2006/relationships/image" Target="../media/image354.png"/><Relationship Id="rId4" Type="http://schemas.openxmlformats.org/officeDocument/2006/relationships/image" Target="../media/image329.svg"/><Relationship Id="rId9" Type="http://schemas.openxmlformats.org/officeDocument/2006/relationships/image" Target="../media/image334.png"/><Relationship Id="rId14" Type="http://schemas.openxmlformats.org/officeDocument/2006/relationships/image" Target="../media/image339.svg"/><Relationship Id="rId22" Type="http://schemas.openxmlformats.org/officeDocument/2006/relationships/image" Target="../media/image347.svg"/><Relationship Id="rId27" Type="http://schemas.openxmlformats.org/officeDocument/2006/relationships/image" Target="../media/image143.png"/><Relationship Id="rId30" Type="http://schemas.openxmlformats.org/officeDocument/2006/relationships/image" Target="../media/image353.svg"/><Relationship Id="rId35" Type="http://schemas.openxmlformats.org/officeDocument/2006/relationships/image" Target="../media/image358.png"/><Relationship Id="rId8" Type="http://schemas.openxmlformats.org/officeDocument/2006/relationships/image" Target="../media/image333.svg"/><Relationship Id="rId3" Type="http://schemas.openxmlformats.org/officeDocument/2006/relationships/image" Target="../media/image328.png"/><Relationship Id="rId12" Type="http://schemas.openxmlformats.org/officeDocument/2006/relationships/image" Target="../media/image337.svg"/><Relationship Id="rId17" Type="http://schemas.openxmlformats.org/officeDocument/2006/relationships/image" Target="../media/image342.png"/><Relationship Id="rId25" Type="http://schemas.openxmlformats.org/officeDocument/2006/relationships/image" Target="../media/image350.png"/><Relationship Id="rId33" Type="http://schemas.openxmlformats.org/officeDocument/2006/relationships/image" Target="../media/image356.png"/><Relationship Id="rId38" Type="http://schemas.openxmlformats.org/officeDocument/2006/relationships/image" Target="../media/image361.svg"/></Relationships>
</file>

<file path=ppt/slides/_rels/slide11.xml.rels><?xml version="1.0" encoding="UTF-8" standalone="yes"?>
<Relationships xmlns="http://schemas.openxmlformats.org/package/2006/relationships"><Relationship Id="rId8" Type="http://schemas.openxmlformats.org/officeDocument/2006/relationships/image" Target="../media/image368.png"/><Relationship Id="rId13" Type="http://schemas.openxmlformats.org/officeDocument/2006/relationships/image" Target="../media/image373.png"/><Relationship Id="rId3" Type="http://schemas.openxmlformats.org/officeDocument/2006/relationships/chart" Target="../charts/chart5.xml"/><Relationship Id="rId7" Type="http://schemas.openxmlformats.org/officeDocument/2006/relationships/image" Target="../media/image367.svg"/><Relationship Id="rId12" Type="http://schemas.openxmlformats.org/officeDocument/2006/relationships/image" Target="../media/image372.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66.png"/><Relationship Id="rId11" Type="http://schemas.openxmlformats.org/officeDocument/2006/relationships/image" Target="../media/image371.svg"/><Relationship Id="rId5" Type="http://schemas.openxmlformats.org/officeDocument/2006/relationships/image" Target="../media/image365.svg"/><Relationship Id="rId10" Type="http://schemas.openxmlformats.org/officeDocument/2006/relationships/image" Target="../media/image370.png"/><Relationship Id="rId4" Type="http://schemas.openxmlformats.org/officeDocument/2006/relationships/image" Target="../media/image364.png"/><Relationship Id="rId9" Type="http://schemas.openxmlformats.org/officeDocument/2006/relationships/image" Target="../media/image369.svg"/><Relationship Id="rId14" Type="http://schemas.openxmlformats.org/officeDocument/2006/relationships/image" Target="../media/image374.svg"/></Relationships>
</file>

<file path=ppt/slides/_rels/slide12.xml.rels><?xml version="1.0" encoding="UTF-8" standalone="yes"?>
<Relationships xmlns="http://schemas.openxmlformats.org/package/2006/relationships"><Relationship Id="rId13" Type="http://schemas.openxmlformats.org/officeDocument/2006/relationships/image" Target="../media/image213.png"/><Relationship Id="rId18" Type="http://schemas.openxmlformats.org/officeDocument/2006/relationships/image" Target="../media/image386.png"/><Relationship Id="rId26" Type="http://schemas.openxmlformats.org/officeDocument/2006/relationships/image" Target="../media/image394.png"/><Relationship Id="rId39" Type="http://schemas.openxmlformats.org/officeDocument/2006/relationships/chart" Target="../charts/chart6.xml"/><Relationship Id="rId21" Type="http://schemas.openxmlformats.org/officeDocument/2006/relationships/image" Target="../media/image389.svg"/><Relationship Id="rId34" Type="http://schemas.openxmlformats.org/officeDocument/2006/relationships/image" Target="../media/image402.svg"/><Relationship Id="rId7" Type="http://schemas.openxmlformats.org/officeDocument/2006/relationships/image" Target="../media/image379.png"/><Relationship Id="rId12" Type="http://schemas.openxmlformats.org/officeDocument/2006/relationships/image" Target="../media/image382.svg"/><Relationship Id="rId17" Type="http://schemas.openxmlformats.org/officeDocument/2006/relationships/image" Target="../media/image385.svg"/><Relationship Id="rId25" Type="http://schemas.openxmlformats.org/officeDocument/2006/relationships/image" Target="../media/image393.svg"/><Relationship Id="rId33" Type="http://schemas.openxmlformats.org/officeDocument/2006/relationships/image" Target="../media/image401.png"/><Relationship Id="rId38" Type="http://schemas.openxmlformats.org/officeDocument/2006/relationships/image" Target="../media/image216.svg"/><Relationship Id="rId2" Type="http://schemas.openxmlformats.org/officeDocument/2006/relationships/notesSlide" Target="../notesSlides/notesSlide12.xml"/><Relationship Id="rId16" Type="http://schemas.openxmlformats.org/officeDocument/2006/relationships/image" Target="../media/image384.svg"/><Relationship Id="rId20" Type="http://schemas.openxmlformats.org/officeDocument/2006/relationships/image" Target="../media/image388.png"/><Relationship Id="rId29" Type="http://schemas.openxmlformats.org/officeDocument/2006/relationships/image" Target="../media/image397.svg"/><Relationship Id="rId1" Type="http://schemas.openxmlformats.org/officeDocument/2006/relationships/slideLayout" Target="../slideLayouts/slideLayout1.xml"/><Relationship Id="rId6" Type="http://schemas.openxmlformats.org/officeDocument/2006/relationships/image" Target="../media/image378.svg"/><Relationship Id="rId11" Type="http://schemas.openxmlformats.org/officeDocument/2006/relationships/image" Target="../media/image211.png"/><Relationship Id="rId24" Type="http://schemas.openxmlformats.org/officeDocument/2006/relationships/image" Target="../media/image392.png"/><Relationship Id="rId32" Type="http://schemas.openxmlformats.org/officeDocument/2006/relationships/image" Target="../media/image400.svg"/><Relationship Id="rId37" Type="http://schemas.openxmlformats.org/officeDocument/2006/relationships/image" Target="../media/image215.png"/><Relationship Id="rId5" Type="http://schemas.openxmlformats.org/officeDocument/2006/relationships/image" Target="../media/image377.png"/><Relationship Id="rId15" Type="http://schemas.openxmlformats.org/officeDocument/2006/relationships/image" Target="../media/image383.png"/><Relationship Id="rId23" Type="http://schemas.openxmlformats.org/officeDocument/2006/relationships/image" Target="../media/image391.svg"/><Relationship Id="rId28" Type="http://schemas.openxmlformats.org/officeDocument/2006/relationships/image" Target="../media/image396.png"/><Relationship Id="rId36" Type="http://schemas.openxmlformats.org/officeDocument/2006/relationships/image" Target="../media/image404.svg"/><Relationship Id="rId10" Type="http://schemas.openxmlformats.org/officeDocument/2006/relationships/image" Target="../media/image381.svg"/><Relationship Id="rId19" Type="http://schemas.openxmlformats.org/officeDocument/2006/relationships/image" Target="../media/image387.svg"/><Relationship Id="rId31" Type="http://schemas.openxmlformats.org/officeDocument/2006/relationships/image" Target="../media/image399.svg"/><Relationship Id="rId4" Type="http://schemas.openxmlformats.org/officeDocument/2006/relationships/image" Target="../media/image376.svg"/><Relationship Id="rId9" Type="http://schemas.openxmlformats.org/officeDocument/2006/relationships/image" Target="../media/image205.png"/><Relationship Id="rId14" Type="http://schemas.openxmlformats.org/officeDocument/2006/relationships/image" Target="../media/image214.svg"/><Relationship Id="rId22" Type="http://schemas.openxmlformats.org/officeDocument/2006/relationships/image" Target="../media/image390.png"/><Relationship Id="rId27" Type="http://schemas.openxmlformats.org/officeDocument/2006/relationships/image" Target="../media/image395.svg"/><Relationship Id="rId30" Type="http://schemas.openxmlformats.org/officeDocument/2006/relationships/image" Target="../media/image398.png"/><Relationship Id="rId35" Type="http://schemas.openxmlformats.org/officeDocument/2006/relationships/image" Target="../media/image403.svg"/><Relationship Id="rId8" Type="http://schemas.openxmlformats.org/officeDocument/2006/relationships/image" Target="../media/image380.svg"/><Relationship Id="rId3" Type="http://schemas.openxmlformats.org/officeDocument/2006/relationships/image" Target="../media/image375.png"/></Relationships>
</file>

<file path=ppt/slides/_rels/slide13.xml.rels><?xml version="1.0" encoding="UTF-8" standalone="yes"?>
<Relationships xmlns="http://schemas.openxmlformats.org/package/2006/relationships"><Relationship Id="rId8" Type="http://schemas.openxmlformats.org/officeDocument/2006/relationships/image" Target="../media/image410.svg"/><Relationship Id="rId13" Type="http://schemas.openxmlformats.org/officeDocument/2006/relationships/image" Target="../media/image415.svg"/><Relationship Id="rId18" Type="http://schemas.openxmlformats.org/officeDocument/2006/relationships/image" Target="../media/image230.png"/><Relationship Id="rId26" Type="http://schemas.openxmlformats.org/officeDocument/2006/relationships/image" Target="../media/image144.svg"/><Relationship Id="rId3" Type="http://schemas.openxmlformats.org/officeDocument/2006/relationships/image" Target="../media/image405.png"/><Relationship Id="rId21" Type="http://schemas.openxmlformats.org/officeDocument/2006/relationships/image" Target="../media/image419.svg"/><Relationship Id="rId7" Type="http://schemas.openxmlformats.org/officeDocument/2006/relationships/image" Target="../media/image409.svg"/><Relationship Id="rId12" Type="http://schemas.openxmlformats.org/officeDocument/2006/relationships/image" Target="../media/image414.png"/><Relationship Id="rId17" Type="http://schemas.openxmlformats.org/officeDocument/2006/relationships/image" Target="../media/image417.svg"/><Relationship Id="rId25" Type="http://schemas.openxmlformats.org/officeDocument/2006/relationships/image" Target="../media/image143.png"/><Relationship Id="rId2" Type="http://schemas.openxmlformats.org/officeDocument/2006/relationships/notesSlide" Target="../notesSlides/notesSlide13.xml"/><Relationship Id="rId16" Type="http://schemas.openxmlformats.org/officeDocument/2006/relationships/image" Target="../media/image228.png"/><Relationship Id="rId20" Type="http://schemas.openxmlformats.org/officeDocument/2006/relationships/image" Target="../media/image232.png"/><Relationship Id="rId29" Type="http://schemas.openxmlformats.org/officeDocument/2006/relationships/image" Target="../media/image142.svg"/><Relationship Id="rId1" Type="http://schemas.openxmlformats.org/officeDocument/2006/relationships/slideLayout" Target="../slideLayouts/slideLayout1.xml"/><Relationship Id="rId6" Type="http://schemas.openxmlformats.org/officeDocument/2006/relationships/image" Target="../media/image408.svg"/><Relationship Id="rId11" Type="http://schemas.openxmlformats.org/officeDocument/2006/relationships/image" Target="../media/image413.svg"/><Relationship Id="rId24" Type="http://schemas.openxmlformats.org/officeDocument/2006/relationships/image" Target="../media/image422.svg"/><Relationship Id="rId5" Type="http://schemas.openxmlformats.org/officeDocument/2006/relationships/image" Target="../media/image407.png"/><Relationship Id="rId15" Type="http://schemas.openxmlformats.org/officeDocument/2006/relationships/image" Target="../media/image416.svg"/><Relationship Id="rId23" Type="http://schemas.openxmlformats.org/officeDocument/2006/relationships/image" Target="../media/image421.svg"/><Relationship Id="rId28" Type="http://schemas.openxmlformats.org/officeDocument/2006/relationships/image" Target="../media/image141.png"/><Relationship Id="rId10" Type="http://schemas.openxmlformats.org/officeDocument/2006/relationships/image" Target="../media/image412.svg"/><Relationship Id="rId19" Type="http://schemas.openxmlformats.org/officeDocument/2006/relationships/image" Target="../media/image418.svg"/><Relationship Id="rId31" Type="http://schemas.openxmlformats.org/officeDocument/2006/relationships/image" Target="../media/image425.svg"/><Relationship Id="rId4" Type="http://schemas.openxmlformats.org/officeDocument/2006/relationships/image" Target="../media/image406.svg"/><Relationship Id="rId9" Type="http://schemas.openxmlformats.org/officeDocument/2006/relationships/image" Target="../media/image411.svg"/><Relationship Id="rId14" Type="http://schemas.openxmlformats.org/officeDocument/2006/relationships/image" Target="../media/image226.png"/><Relationship Id="rId22" Type="http://schemas.openxmlformats.org/officeDocument/2006/relationships/image" Target="../media/image420.svg"/><Relationship Id="rId27" Type="http://schemas.openxmlformats.org/officeDocument/2006/relationships/image" Target="../media/image423.svg"/><Relationship Id="rId30" Type="http://schemas.openxmlformats.org/officeDocument/2006/relationships/image" Target="../media/image424.png"/></Relationships>
</file>

<file path=ppt/slides/_rels/slide14.xml.rels><?xml version="1.0" encoding="UTF-8" standalone="yes"?>
<Relationships xmlns="http://schemas.openxmlformats.org/package/2006/relationships"><Relationship Id="rId13" Type="http://schemas.openxmlformats.org/officeDocument/2006/relationships/image" Target="../media/image435.svg"/><Relationship Id="rId18" Type="http://schemas.openxmlformats.org/officeDocument/2006/relationships/chart" Target="../charts/chart8.xml"/><Relationship Id="rId26" Type="http://schemas.openxmlformats.org/officeDocument/2006/relationships/image" Target="../media/image447.png"/><Relationship Id="rId3" Type="http://schemas.openxmlformats.org/officeDocument/2006/relationships/image" Target="../media/image426.png"/><Relationship Id="rId21" Type="http://schemas.openxmlformats.org/officeDocument/2006/relationships/image" Target="../media/image442.svg"/><Relationship Id="rId34" Type="http://schemas.openxmlformats.org/officeDocument/2006/relationships/image" Target="../media/image455.svg"/><Relationship Id="rId7" Type="http://schemas.openxmlformats.org/officeDocument/2006/relationships/image" Target="../media/image430.png"/><Relationship Id="rId12" Type="http://schemas.openxmlformats.org/officeDocument/2006/relationships/image" Target="../media/image434.png"/><Relationship Id="rId17" Type="http://schemas.openxmlformats.org/officeDocument/2006/relationships/image" Target="../media/image439.svg"/><Relationship Id="rId25" Type="http://schemas.openxmlformats.org/officeDocument/2006/relationships/image" Target="../media/image446.svg"/><Relationship Id="rId33" Type="http://schemas.openxmlformats.org/officeDocument/2006/relationships/image" Target="../media/image454.svg"/><Relationship Id="rId2" Type="http://schemas.openxmlformats.org/officeDocument/2006/relationships/notesSlide" Target="../notesSlides/notesSlide14.xml"/><Relationship Id="rId16" Type="http://schemas.openxmlformats.org/officeDocument/2006/relationships/image" Target="../media/image438.png"/><Relationship Id="rId20" Type="http://schemas.openxmlformats.org/officeDocument/2006/relationships/image" Target="../media/image441.svg"/><Relationship Id="rId29" Type="http://schemas.openxmlformats.org/officeDocument/2006/relationships/image" Target="../media/image450.svg"/><Relationship Id="rId1" Type="http://schemas.openxmlformats.org/officeDocument/2006/relationships/slideLayout" Target="../slideLayouts/slideLayout1.xml"/><Relationship Id="rId6" Type="http://schemas.openxmlformats.org/officeDocument/2006/relationships/image" Target="../media/image429.svg"/><Relationship Id="rId11" Type="http://schemas.openxmlformats.org/officeDocument/2006/relationships/image" Target="../media/image433.svg"/><Relationship Id="rId24" Type="http://schemas.openxmlformats.org/officeDocument/2006/relationships/image" Target="../media/image445.svg"/><Relationship Id="rId32" Type="http://schemas.openxmlformats.org/officeDocument/2006/relationships/image" Target="../media/image453.svg"/><Relationship Id="rId5" Type="http://schemas.openxmlformats.org/officeDocument/2006/relationships/image" Target="../media/image428.png"/><Relationship Id="rId15" Type="http://schemas.openxmlformats.org/officeDocument/2006/relationships/image" Target="../media/image437.svg"/><Relationship Id="rId23" Type="http://schemas.openxmlformats.org/officeDocument/2006/relationships/image" Target="../media/image444.svg"/><Relationship Id="rId28" Type="http://schemas.openxmlformats.org/officeDocument/2006/relationships/image" Target="../media/image449.png"/><Relationship Id="rId10" Type="http://schemas.openxmlformats.org/officeDocument/2006/relationships/image" Target="../media/image432.png"/><Relationship Id="rId19" Type="http://schemas.openxmlformats.org/officeDocument/2006/relationships/image" Target="../media/image440.png"/><Relationship Id="rId31" Type="http://schemas.openxmlformats.org/officeDocument/2006/relationships/image" Target="../media/image452.svg"/><Relationship Id="rId4" Type="http://schemas.openxmlformats.org/officeDocument/2006/relationships/image" Target="../media/image427.svg"/><Relationship Id="rId9" Type="http://schemas.openxmlformats.org/officeDocument/2006/relationships/chart" Target="../charts/chart7.xml"/><Relationship Id="rId14" Type="http://schemas.openxmlformats.org/officeDocument/2006/relationships/image" Target="../media/image436.png"/><Relationship Id="rId22" Type="http://schemas.openxmlformats.org/officeDocument/2006/relationships/image" Target="../media/image443.svg"/><Relationship Id="rId27" Type="http://schemas.openxmlformats.org/officeDocument/2006/relationships/image" Target="../media/image448.svg"/><Relationship Id="rId30" Type="http://schemas.openxmlformats.org/officeDocument/2006/relationships/image" Target="../media/image451.png"/><Relationship Id="rId8" Type="http://schemas.openxmlformats.org/officeDocument/2006/relationships/image" Target="../media/image431.svg"/></Relationships>
</file>

<file path=ppt/slides/_rels/slide15.xml.rels><?xml version="1.0" encoding="UTF-8" standalone="yes"?>
<Relationships xmlns="http://schemas.openxmlformats.org/package/2006/relationships"><Relationship Id="rId13" Type="http://schemas.openxmlformats.org/officeDocument/2006/relationships/image" Target="../media/image465.svg"/><Relationship Id="rId18" Type="http://schemas.openxmlformats.org/officeDocument/2006/relationships/image" Target="../media/image470.svg"/><Relationship Id="rId26" Type="http://schemas.openxmlformats.org/officeDocument/2006/relationships/image" Target="../media/image478.svg"/><Relationship Id="rId39" Type="http://schemas.openxmlformats.org/officeDocument/2006/relationships/image" Target="../media/image491.svg"/><Relationship Id="rId21" Type="http://schemas.openxmlformats.org/officeDocument/2006/relationships/image" Target="../media/image473.png"/><Relationship Id="rId34" Type="http://schemas.openxmlformats.org/officeDocument/2006/relationships/image" Target="../media/image486.svg"/><Relationship Id="rId7" Type="http://schemas.openxmlformats.org/officeDocument/2006/relationships/image" Target="../media/image459.png"/><Relationship Id="rId12" Type="http://schemas.openxmlformats.org/officeDocument/2006/relationships/image" Target="../media/image464.svg"/><Relationship Id="rId17" Type="http://schemas.openxmlformats.org/officeDocument/2006/relationships/image" Target="../media/image469.png"/><Relationship Id="rId25" Type="http://schemas.openxmlformats.org/officeDocument/2006/relationships/image" Target="../media/image477.png"/><Relationship Id="rId33" Type="http://schemas.openxmlformats.org/officeDocument/2006/relationships/image" Target="../media/image485.svg"/><Relationship Id="rId38" Type="http://schemas.openxmlformats.org/officeDocument/2006/relationships/image" Target="../media/image490.png"/><Relationship Id="rId2" Type="http://schemas.openxmlformats.org/officeDocument/2006/relationships/notesSlide" Target="../notesSlides/notesSlide15.xml"/><Relationship Id="rId16" Type="http://schemas.openxmlformats.org/officeDocument/2006/relationships/image" Target="../media/image468.svg"/><Relationship Id="rId20" Type="http://schemas.openxmlformats.org/officeDocument/2006/relationships/image" Target="../media/image472.svg"/><Relationship Id="rId29" Type="http://schemas.openxmlformats.org/officeDocument/2006/relationships/image" Target="../media/image481.png"/><Relationship Id="rId1" Type="http://schemas.openxmlformats.org/officeDocument/2006/relationships/slideLayout" Target="../slideLayouts/slideLayout1.xml"/><Relationship Id="rId6" Type="http://schemas.openxmlformats.org/officeDocument/2006/relationships/image" Target="../media/image458.svg"/><Relationship Id="rId11" Type="http://schemas.openxmlformats.org/officeDocument/2006/relationships/image" Target="../media/image463.png"/><Relationship Id="rId24" Type="http://schemas.openxmlformats.org/officeDocument/2006/relationships/image" Target="../media/image476.svg"/><Relationship Id="rId32" Type="http://schemas.openxmlformats.org/officeDocument/2006/relationships/image" Target="../media/image484.png"/><Relationship Id="rId37" Type="http://schemas.openxmlformats.org/officeDocument/2006/relationships/image" Target="../media/image489.svg"/><Relationship Id="rId5" Type="http://schemas.openxmlformats.org/officeDocument/2006/relationships/image" Target="../media/image457.png"/><Relationship Id="rId15" Type="http://schemas.openxmlformats.org/officeDocument/2006/relationships/image" Target="../media/image467.svg"/><Relationship Id="rId23" Type="http://schemas.openxmlformats.org/officeDocument/2006/relationships/image" Target="../media/image475.png"/><Relationship Id="rId28" Type="http://schemas.openxmlformats.org/officeDocument/2006/relationships/image" Target="../media/image480.svg"/><Relationship Id="rId36" Type="http://schemas.openxmlformats.org/officeDocument/2006/relationships/image" Target="../media/image488.png"/><Relationship Id="rId10" Type="http://schemas.openxmlformats.org/officeDocument/2006/relationships/image" Target="../media/image462.svg"/><Relationship Id="rId19" Type="http://schemas.openxmlformats.org/officeDocument/2006/relationships/image" Target="../media/image471.png"/><Relationship Id="rId31" Type="http://schemas.openxmlformats.org/officeDocument/2006/relationships/image" Target="../media/image483.svg"/><Relationship Id="rId4" Type="http://schemas.openxmlformats.org/officeDocument/2006/relationships/image" Target="../media/image456.svg"/><Relationship Id="rId9" Type="http://schemas.openxmlformats.org/officeDocument/2006/relationships/image" Target="../media/image461.png"/><Relationship Id="rId14" Type="http://schemas.openxmlformats.org/officeDocument/2006/relationships/image" Target="../media/image466.png"/><Relationship Id="rId22" Type="http://schemas.openxmlformats.org/officeDocument/2006/relationships/image" Target="../media/image474.svg"/><Relationship Id="rId27" Type="http://schemas.openxmlformats.org/officeDocument/2006/relationships/image" Target="../media/image479.png"/><Relationship Id="rId30" Type="http://schemas.openxmlformats.org/officeDocument/2006/relationships/image" Target="../media/image482.svg"/><Relationship Id="rId35" Type="http://schemas.openxmlformats.org/officeDocument/2006/relationships/image" Target="../media/image487.svg"/><Relationship Id="rId8" Type="http://schemas.openxmlformats.org/officeDocument/2006/relationships/image" Target="../media/image460.svg"/><Relationship Id="rId3" Type="http://schemas.openxmlformats.org/officeDocument/2006/relationships/image" Target="../media/image364.png"/></Relationships>
</file>

<file path=ppt/slides/_rels/slide16.xml.rels><?xml version="1.0" encoding="UTF-8" standalone="yes"?>
<Relationships xmlns="http://schemas.openxmlformats.org/package/2006/relationships"><Relationship Id="rId13" Type="http://schemas.openxmlformats.org/officeDocument/2006/relationships/image" Target="../media/image502.png"/><Relationship Id="rId18" Type="http://schemas.openxmlformats.org/officeDocument/2006/relationships/image" Target="../media/image507.svg"/><Relationship Id="rId26" Type="http://schemas.openxmlformats.org/officeDocument/2006/relationships/image" Target="../media/image515.svg"/><Relationship Id="rId39" Type="http://schemas.openxmlformats.org/officeDocument/2006/relationships/image" Target="../media/image528.png"/><Relationship Id="rId21" Type="http://schemas.openxmlformats.org/officeDocument/2006/relationships/image" Target="../media/image510.png"/><Relationship Id="rId34" Type="http://schemas.openxmlformats.org/officeDocument/2006/relationships/image" Target="../media/image523.svg"/><Relationship Id="rId7" Type="http://schemas.openxmlformats.org/officeDocument/2006/relationships/image" Target="../media/image496.png"/><Relationship Id="rId12" Type="http://schemas.openxmlformats.org/officeDocument/2006/relationships/image" Target="../media/image501.svg"/><Relationship Id="rId17" Type="http://schemas.openxmlformats.org/officeDocument/2006/relationships/image" Target="../media/image506.png"/><Relationship Id="rId25" Type="http://schemas.openxmlformats.org/officeDocument/2006/relationships/image" Target="../media/image514.png"/><Relationship Id="rId33" Type="http://schemas.openxmlformats.org/officeDocument/2006/relationships/image" Target="../media/image522.png"/><Relationship Id="rId38" Type="http://schemas.openxmlformats.org/officeDocument/2006/relationships/image" Target="../media/image527.svg"/><Relationship Id="rId2" Type="http://schemas.openxmlformats.org/officeDocument/2006/relationships/notesSlide" Target="../notesSlides/notesSlide16.xml"/><Relationship Id="rId16" Type="http://schemas.openxmlformats.org/officeDocument/2006/relationships/image" Target="../media/image505.svg"/><Relationship Id="rId20" Type="http://schemas.openxmlformats.org/officeDocument/2006/relationships/image" Target="../media/image509.svg"/><Relationship Id="rId29" Type="http://schemas.openxmlformats.org/officeDocument/2006/relationships/image" Target="../media/image518.png"/><Relationship Id="rId1" Type="http://schemas.openxmlformats.org/officeDocument/2006/relationships/slideLayout" Target="../slideLayouts/slideLayout1.xml"/><Relationship Id="rId6" Type="http://schemas.openxmlformats.org/officeDocument/2006/relationships/image" Target="../media/image495.svg"/><Relationship Id="rId11" Type="http://schemas.openxmlformats.org/officeDocument/2006/relationships/image" Target="../media/image500.png"/><Relationship Id="rId24" Type="http://schemas.openxmlformats.org/officeDocument/2006/relationships/image" Target="../media/image513.svg"/><Relationship Id="rId32" Type="http://schemas.openxmlformats.org/officeDocument/2006/relationships/image" Target="../media/image521.svg"/><Relationship Id="rId37" Type="http://schemas.openxmlformats.org/officeDocument/2006/relationships/image" Target="../media/image526.png"/><Relationship Id="rId40" Type="http://schemas.openxmlformats.org/officeDocument/2006/relationships/image" Target="../media/image529.svg"/><Relationship Id="rId5" Type="http://schemas.openxmlformats.org/officeDocument/2006/relationships/image" Target="../media/image494.png"/><Relationship Id="rId15" Type="http://schemas.openxmlformats.org/officeDocument/2006/relationships/image" Target="../media/image504.png"/><Relationship Id="rId23" Type="http://schemas.openxmlformats.org/officeDocument/2006/relationships/image" Target="../media/image512.png"/><Relationship Id="rId28" Type="http://schemas.openxmlformats.org/officeDocument/2006/relationships/image" Target="../media/image517.svg"/><Relationship Id="rId36" Type="http://schemas.openxmlformats.org/officeDocument/2006/relationships/image" Target="../media/image525.svg"/><Relationship Id="rId10" Type="http://schemas.openxmlformats.org/officeDocument/2006/relationships/image" Target="../media/image499.svg"/><Relationship Id="rId19" Type="http://schemas.openxmlformats.org/officeDocument/2006/relationships/image" Target="../media/image508.png"/><Relationship Id="rId31" Type="http://schemas.openxmlformats.org/officeDocument/2006/relationships/image" Target="../media/image520.png"/><Relationship Id="rId4" Type="http://schemas.openxmlformats.org/officeDocument/2006/relationships/image" Target="../media/image493.svg"/><Relationship Id="rId9" Type="http://schemas.openxmlformats.org/officeDocument/2006/relationships/image" Target="../media/image498.png"/><Relationship Id="rId14" Type="http://schemas.openxmlformats.org/officeDocument/2006/relationships/image" Target="../media/image503.svg"/><Relationship Id="rId22" Type="http://schemas.openxmlformats.org/officeDocument/2006/relationships/image" Target="../media/image511.svg"/><Relationship Id="rId27" Type="http://schemas.openxmlformats.org/officeDocument/2006/relationships/image" Target="../media/image516.png"/><Relationship Id="rId30" Type="http://schemas.openxmlformats.org/officeDocument/2006/relationships/image" Target="../media/image519.svg"/><Relationship Id="rId35" Type="http://schemas.openxmlformats.org/officeDocument/2006/relationships/image" Target="../media/image524.png"/><Relationship Id="rId8" Type="http://schemas.openxmlformats.org/officeDocument/2006/relationships/image" Target="../media/image497.svg"/><Relationship Id="rId3" Type="http://schemas.openxmlformats.org/officeDocument/2006/relationships/image" Target="../media/image492.png"/></Relationships>
</file>

<file path=ppt/slides/_rels/slide17.xml.rels><?xml version="1.0" encoding="UTF-8" standalone="yes"?>
<Relationships xmlns="http://schemas.openxmlformats.org/package/2006/relationships"><Relationship Id="rId8" Type="http://schemas.openxmlformats.org/officeDocument/2006/relationships/image" Target="../media/image535.svg"/><Relationship Id="rId13" Type="http://schemas.openxmlformats.org/officeDocument/2006/relationships/image" Target="../media/image540.png"/><Relationship Id="rId18" Type="http://schemas.openxmlformats.org/officeDocument/2006/relationships/image" Target="../media/image545.svg"/><Relationship Id="rId26" Type="http://schemas.openxmlformats.org/officeDocument/2006/relationships/image" Target="../media/image553.svg"/><Relationship Id="rId3" Type="http://schemas.openxmlformats.org/officeDocument/2006/relationships/image" Target="../media/image530.png"/><Relationship Id="rId21" Type="http://schemas.openxmlformats.org/officeDocument/2006/relationships/image" Target="../media/image548.png"/><Relationship Id="rId7" Type="http://schemas.openxmlformats.org/officeDocument/2006/relationships/image" Target="../media/image534.png"/><Relationship Id="rId12" Type="http://schemas.openxmlformats.org/officeDocument/2006/relationships/image" Target="../media/image539.svg"/><Relationship Id="rId17" Type="http://schemas.openxmlformats.org/officeDocument/2006/relationships/image" Target="../media/image544.png"/><Relationship Id="rId25" Type="http://schemas.openxmlformats.org/officeDocument/2006/relationships/image" Target="../media/image552.png"/><Relationship Id="rId2" Type="http://schemas.openxmlformats.org/officeDocument/2006/relationships/notesSlide" Target="../notesSlides/notesSlide17.xml"/><Relationship Id="rId16" Type="http://schemas.openxmlformats.org/officeDocument/2006/relationships/image" Target="../media/image543.svg"/><Relationship Id="rId20" Type="http://schemas.openxmlformats.org/officeDocument/2006/relationships/image" Target="../media/image547.svg"/><Relationship Id="rId29" Type="http://schemas.openxmlformats.org/officeDocument/2006/relationships/image" Target="../media/image556.png"/><Relationship Id="rId1" Type="http://schemas.openxmlformats.org/officeDocument/2006/relationships/slideLayout" Target="../slideLayouts/slideLayout1.xml"/><Relationship Id="rId6" Type="http://schemas.openxmlformats.org/officeDocument/2006/relationships/image" Target="../media/image533.svg"/><Relationship Id="rId11" Type="http://schemas.openxmlformats.org/officeDocument/2006/relationships/image" Target="../media/image538.png"/><Relationship Id="rId24" Type="http://schemas.openxmlformats.org/officeDocument/2006/relationships/image" Target="../media/image551.svg"/><Relationship Id="rId5" Type="http://schemas.openxmlformats.org/officeDocument/2006/relationships/image" Target="../media/image532.png"/><Relationship Id="rId15" Type="http://schemas.openxmlformats.org/officeDocument/2006/relationships/image" Target="../media/image542.png"/><Relationship Id="rId23" Type="http://schemas.openxmlformats.org/officeDocument/2006/relationships/image" Target="../media/image550.png"/><Relationship Id="rId28" Type="http://schemas.openxmlformats.org/officeDocument/2006/relationships/image" Target="../media/image555.svg"/><Relationship Id="rId10" Type="http://schemas.openxmlformats.org/officeDocument/2006/relationships/image" Target="../media/image537.svg"/><Relationship Id="rId19" Type="http://schemas.openxmlformats.org/officeDocument/2006/relationships/image" Target="../media/image546.png"/><Relationship Id="rId4" Type="http://schemas.openxmlformats.org/officeDocument/2006/relationships/image" Target="../media/image531.svg"/><Relationship Id="rId9" Type="http://schemas.openxmlformats.org/officeDocument/2006/relationships/image" Target="../media/image536.png"/><Relationship Id="rId14" Type="http://schemas.openxmlformats.org/officeDocument/2006/relationships/image" Target="../media/image541.svg"/><Relationship Id="rId22" Type="http://schemas.openxmlformats.org/officeDocument/2006/relationships/image" Target="../media/image549.svg"/><Relationship Id="rId27" Type="http://schemas.openxmlformats.org/officeDocument/2006/relationships/image" Target="../media/image554.png"/><Relationship Id="rId30" Type="http://schemas.openxmlformats.org/officeDocument/2006/relationships/image" Target="../media/image557.svg"/></Relationships>
</file>

<file path=ppt/slides/_rels/slide18.xml.rels><?xml version="1.0" encoding="UTF-8" standalone="yes"?>
<Relationships xmlns="http://schemas.openxmlformats.org/package/2006/relationships"><Relationship Id="rId13" Type="http://schemas.openxmlformats.org/officeDocument/2006/relationships/image" Target="../media/image568.png"/><Relationship Id="rId18" Type="http://schemas.openxmlformats.org/officeDocument/2006/relationships/image" Target="../media/image573.svg"/><Relationship Id="rId26" Type="http://schemas.openxmlformats.org/officeDocument/2006/relationships/image" Target="../media/image581.svg"/><Relationship Id="rId3" Type="http://schemas.openxmlformats.org/officeDocument/2006/relationships/image" Target="../media/image558.png"/><Relationship Id="rId21" Type="http://schemas.openxmlformats.org/officeDocument/2006/relationships/image" Target="../media/image576.png"/><Relationship Id="rId34" Type="http://schemas.openxmlformats.org/officeDocument/2006/relationships/image" Target="../media/image589.svg"/><Relationship Id="rId7" Type="http://schemas.openxmlformats.org/officeDocument/2006/relationships/image" Target="../media/image562.png"/><Relationship Id="rId12" Type="http://schemas.openxmlformats.org/officeDocument/2006/relationships/image" Target="../media/image567.svg"/><Relationship Id="rId17" Type="http://schemas.openxmlformats.org/officeDocument/2006/relationships/image" Target="../media/image572.png"/><Relationship Id="rId25" Type="http://schemas.openxmlformats.org/officeDocument/2006/relationships/image" Target="../media/image580.png"/><Relationship Id="rId33" Type="http://schemas.openxmlformats.org/officeDocument/2006/relationships/image" Target="../media/image588.png"/><Relationship Id="rId2" Type="http://schemas.openxmlformats.org/officeDocument/2006/relationships/notesSlide" Target="../notesSlides/notesSlide18.xml"/><Relationship Id="rId16" Type="http://schemas.openxmlformats.org/officeDocument/2006/relationships/image" Target="../media/image571.svg"/><Relationship Id="rId20" Type="http://schemas.openxmlformats.org/officeDocument/2006/relationships/image" Target="../media/image575.svg"/><Relationship Id="rId29" Type="http://schemas.openxmlformats.org/officeDocument/2006/relationships/image" Target="../media/image584.png"/><Relationship Id="rId1" Type="http://schemas.openxmlformats.org/officeDocument/2006/relationships/slideLayout" Target="../slideLayouts/slideLayout1.xml"/><Relationship Id="rId6" Type="http://schemas.openxmlformats.org/officeDocument/2006/relationships/image" Target="../media/image561.svg"/><Relationship Id="rId11" Type="http://schemas.openxmlformats.org/officeDocument/2006/relationships/image" Target="../media/image566.png"/><Relationship Id="rId24" Type="http://schemas.openxmlformats.org/officeDocument/2006/relationships/image" Target="../media/image579.svg"/><Relationship Id="rId32" Type="http://schemas.openxmlformats.org/officeDocument/2006/relationships/image" Target="../media/image587.svg"/><Relationship Id="rId5" Type="http://schemas.openxmlformats.org/officeDocument/2006/relationships/image" Target="../media/image560.png"/><Relationship Id="rId15" Type="http://schemas.openxmlformats.org/officeDocument/2006/relationships/image" Target="../media/image570.png"/><Relationship Id="rId23" Type="http://schemas.openxmlformats.org/officeDocument/2006/relationships/image" Target="../media/image578.png"/><Relationship Id="rId28" Type="http://schemas.openxmlformats.org/officeDocument/2006/relationships/image" Target="../media/image583.svg"/><Relationship Id="rId10" Type="http://schemas.openxmlformats.org/officeDocument/2006/relationships/image" Target="../media/image565.svg"/><Relationship Id="rId19" Type="http://schemas.openxmlformats.org/officeDocument/2006/relationships/image" Target="../media/image574.png"/><Relationship Id="rId31" Type="http://schemas.openxmlformats.org/officeDocument/2006/relationships/image" Target="../media/image586.png"/><Relationship Id="rId4" Type="http://schemas.openxmlformats.org/officeDocument/2006/relationships/image" Target="../media/image559.svg"/><Relationship Id="rId9" Type="http://schemas.openxmlformats.org/officeDocument/2006/relationships/image" Target="../media/image564.png"/><Relationship Id="rId14" Type="http://schemas.openxmlformats.org/officeDocument/2006/relationships/image" Target="../media/image569.svg"/><Relationship Id="rId22" Type="http://schemas.openxmlformats.org/officeDocument/2006/relationships/image" Target="../media/image577.svg"/><Relationship Id="rId27" Type="http://schemas.openxmlformats.org/officeDocument/2006/relationships/image" Target="../media/image582.png"/><Relationship Id="rId30" Type="http://schemas.openxmlformats.org/officeDocument/2006/relationships/image" Target="../media/image585.svg"/><Relationship Id="rId8" Type="http://schemas.openxmlformats.org/officeDocument/2006/relationships/image" Target="../media/image563.svg"/></Relationships>
</file>

<file path=ppt/slides/_rels/slide19.xml.rels><?xml version="1.0" encoding="UTF-8" standalone="yes"?>
<Relationships xmlns="http://schemas.openxmlformats.org/package/2006/relationships"><Relationship Id="rId13" Type="http://schemas.openxmlformats.org/officeDocument/2006/relationships/image" Target="../media/image600.png"/><Relationship Id="rId18" Type="http://schemas.openxmlformats.org/officeDocument/2006/relationships/image" Target="../media/image605.png"/><Relationship Id="rId26" Type="http://schemas.openxmlformats.org/officeDocument/2006/relationships/image" Target="../media/image613.svg"/><Relationship Id="rId39" Type="http://schemas.openxmlformats.org/officeDocument/2006/relationships/image" Target="../media/image626.svg"/><Relationship Id="rId21" Type="http://schemas.openxmlformats.org/officeDocument/2006/relationships/image" Target="../media/image608.svg"/><Relationship Id="rId34" Type="http://schemas.openxmlformats.org/officeDocument/2006/relationships/image" Target="../media/image621.png"/><Relationship Id="rId42" Type="http://schemas.openxmlformats.org/officeDocument/2006/relationships/image" Target="../media/image629.png"/><Relationship Id="rId47" Type="http://schemas.openxmlformats.org/officeDocument/2006/relationships/image" Target="../media/image634.svg"/><Relationship Id="rId50" Type="http://schemas.openxmlformats.org/officeDocument/2006/relationships/image" Target="../media/image637.svg"/><Relationship Id="rId55" Type="http://schemas.openxmlformats.org/officeDocument/2006/relationships/image" Target="../media/image642.svg"/><Relationship Id="rId7" Type="http://schemas.openxmlformats.org/officeDocument/2006/relationships/image" Target="../media/image594.png"/><Relationship Id="rId2" Type="http://schemas.openxmlformats.org/officeDocument/2006/relationships/notesSlide" Target="../notesSlides/notesSlide19.xml"/><Relationship Id="rId16" Type="http://schemas.openxmlformats.org/officeDocument/2006/relationships/image" Target="../media/image603.png"/><Relationship Id="rId29" Type="http://schemas.openxmlformats.org/officeDocument/2006/relationships/image" Target="../media/image616.png"/><Relationship Id="rId11" Type="http://schemas.openxmlformats.org/officeDocument/2006/relationships/image" Target="../media/image598.png"/><Relationship Id="rId24" Type="http://schemas.openxmlformats.org/officeDocument/2006/relationships/image" Target="../media/image611.png"/><Relationship Id="rId32" Type="http://schemas.openxmlformats.org/officeDocument/2006/relationships/image" Target="../media/image619.svg"/><Relationship Id="rId37" Type="http://schemas.openxmlformats.org/officeDocument/2006/relationships/image" Target="../media/image624.svg"/><Relationship Id="rId40" Type="http://schemas.openxmlformats.org/officeDocument/2006/relationships/image" Target="../media/image627.png"/><Relationship Id="rId45" Type="http://schemas.openxmlformats.org/officeDocument/2006/relationships/image" Target="../media/image632.svg"/><Relationship Id="rId53" Type="http://schemas.openxmlformats.org/officeDocument/2006/relationships/image" Target="../media/image640.svg"/><Relationship Id="rId5" Type="http://schemas.openxmlformats.org/officeDocument/2006/relationships/image" Target="../media/image592.png"/><Relationship Id="rId19" Type="http://schemas.openxmlformats.org/officeDocument/2006/relationships/image" Target="../media/image606.svg"/><Relationship Id="rId4" Type="http://schemas.openxmlformats.org/officeDocument/2006/relationships/image" Target="../media/image591.svg"/><Relationship Id="rId9" Type="http://schemas.openxmlformats.org/officeDocument/2006/relationships/image" Target="../media/image596.png"/><Relationship Id="rId14" Type="http://schemas.openxmlformats.org/officeDocument/2006/relationships/image" Target="../media/image601.svg"/><Relationship Id="rId22" Type="http://schemas.openxmlformats.org/officeDocument/2006/relationships/image" Target="../media/image609.png"/><Relationship Id="rId27" Type="http://schemas.openxmlformats.org/officeDocument/2006/relationships/image" Target="../media/image614.png"/><Relationship Id="rId30" Type="http://schemas.openxmlformats.org/officeDocument/2006/relationships/image" Target="../media/image617.svg"/><Relationship Id="rId35" Type="http://schemas.openxmlformats.org/officeDocument/2006/relationships/image" Target="../media/image622.svg"/><Relationship Id="rId43" Type="http://schemas.openxmlformats.org/officeDocument/2006/relationships/image" Target="../media/image630.svg"/><Relationship Id="rId48" Type="http://schemas.openxmlformats.org/officeDocument/2006/relationships/image" Target="../media/image635.png"/><Relationship Id="rId56" Type="http://schemas.openxmlformats.org/officeDocument/2006/relationships/image" Target="../media/image643.png"/><Relationship Id="rId8" Type="http://schemas.openxmlformats.org/officeDocument/2006/relationships/image" Target="../media/image595.svg"/><Relationship Id="rId51" Type="http://schemas.openxmlformats.org/officeDocument/2006/relationships/image" Target="../media/image638.svg"/><Relationship Id="rId3" Type="http://schemas.openxmlformats.org/officeDocument/2006/relationships/image" Target="../media/image590.png"/><Relationship Id="rId12" Type="http://schemas.openxmlformats.org/officeDocument/2006/relationships/image" Target="../media/image599.svg"/><Relationship Id="rId17" Type="http://schemas.openxmlformats.org/officeDocument/2006/relationships/image" Target="../media/image604.svg"/><Relationship Id="rId25" Type="http://schemas.openxmlformats.org/officeDocument/2006/relationships/image" Target="../media/image612.svg"/><Relationship Id="rId33" Type="http://schemas.openxmlformats.org/officeDocument/2006/relationships/image" Target="../media/image620.svg"/><Relationship Id="rId38" Type="http://schemas.openxmlformats.org/officeDocument/2006/relationships/image" Target="../media/image625.png"/><Relationship Id="rId46" Type="http://schemas.openxmlformats.org/officeDocument/2006/relationships/image" Target="../media/image633.png"/><Relationship Id="rId20" Type="http://schemas.openxmlformats.org/officeDocument/2006/relationships/image" Target="../media/image607.png"/><Relationship Id="rId41" Type="http://schemas.openxmlformats.org/officeDocument/2006/relationships/image" Target="../media/image628.svg"/><Relationship Id="rId54" Type="http://schemas.openxmlformats.org/officeDocument/2006/relationships/image" Target="../media/image641.png"/><Relationship Id="rId1" Type="http://schemas.openxmlformats.org/officeDocument/2006/relationships/slideLayout" Target="../slideLayouts/slideLayout1.xml"/><Relationship Id="rId6" Type="http://schemas.openxmlformats.org/officeDocument/2006/relationships/image" Target="../media/image593.svg"/><Relationship Id="rId15" Type="http://schemas.openxmlformats.org/officeDocument/2006/relationships/image" Target="../media/image602.svg"/><Relationship Id="rId23" Type="http://schemas.openxmlformats.org/officeDocument/2006/relationships/image" Target="../media/image610.svg"/><Relationship Id="rId28" Type="http://schemas.openxmlformats.org/officeDocument/2006/relationships/image" Target="../media/image615.svg"/><Relationship Id="rId36" Type="http://schemas.openxmlformats.org/officeDocument/2006/relationships/image" Target="../media/image623.png"/><Relationship Id="rId49" Type="http://schemas.openxmlformats.org/officeDocument/2006/relationships/image" Target="../media/image636.svg"/><Relationship Id="rId57" Type="http://schemas.openxmlformats.org/officeDocument/2006/relationships/image" Target="../media/image644.svg"/><Relationship Id="rId10" Type="http://schemas.openxmlformats.org/officeDocument/2006/relationships/image" Target="../media/image597.svg"/><Relationship Id="rId31" Type="http://schemas.openxmlformats.org/officeDocument/2006/relationships/image" Target="../media/image618.png"/><Relationship Id="rId44" Type="http://schemas.openxmlformats.org/officeDocument/2006/relationships/image" Target="../media/image631.png"/><Relationship Id="rId52" Type="http://schemas.openxmlformats.org/officeDocument/2006/relationships/image" Target="../media/image639.png"/></Relationships>
</file>

<file path=ppt/slides/_rels/slide20.xml.rels><?xml version="1.0" encoding="UTF-8" standalone="yes"?>
<Relationships xmlns="http://schemas.openxmlformats.org/package/2006/relationships"><Relationship Id="rId13" Type="http://schemas.openxmlformats.org/officeDocument/2006/relationships/image" Target="../media/image655.png"/><Relationship Id="rId18" Type="http://schemas.openxmlformats.org/officeDocument/2006/relationships/image" Target="../media/image660.svg"/><Relationship Id="rId26" Type="http://schemas.openxmlformats.org/officeDocument/2006/relationships/image" Target="../media/image668.svg"/><Relationship Id="rId39" Type="http://schemas.openxmlformats.org/officeDocument/2006/relationships/image" Target="../media/image680.png"/><Relationship Id="rId21" Type="http://schemas.openxmlformats.org/officeDocument/2006/relationships/image" Target="../media/image663.png"/><Relationship Id="rId34" Type="http://schemas.openxmlformats.org/officeDocument/2006/relationships/image" Target="../media/image675.svg"/><Relationship Id="rId42" Type="http://schemas.openxmlformats.org/officeDocument/2006/relationships/image" Target="../media/image683.svg"/><Relationship Id="rId47" Type="http://schemas.openxmlformats.org/officeDocument/2006/relationships/image" Target="../media/image688.png"/><Relationship Id="rId50" Type="http://schemas.openxmlformats.org/officeDocument/2006/relationships/image" Target="../media/image691.svg"/><Relationship Id="rId7" Type="http://schemas.openxmlformats.org/officeDocument/2006/relationships/image" Target="../media/image649.svg"/><Relationship Id="rId2" Type="http://schemas.openxmlformats.org/officeDocument/2006/relationships/notesSlide" Target="../notesSlides/notesSlide20.xml"/><Relationship Id="rId16" Type="http://schemas.openxmlformats.org/officeDocument/2006/relationships/image" Target="../media/image658.svg"/><Relationship Id="rId29" Type="http://schemas.openxmlformats.org/officeDocument/2006/relationships/image" Target="../media/image540.png"/><Relationship Id="rId11" Type="http://schemas.openxmlformats.org/officeDocument/2006/relationships/image" Target="../media/image653.png"/><Relationship Id="rId24" Type="http://schemas.openxmlformats.org/officeDocument/2006/relationships/image" Target="../media/image666.svg"/><Relationship Id="rId32" Type="http://schemas.openxmlformats.org/officeDocument/2006/relationships/image" Target="../media/image673.svg"/><Relationship Id="rId37" Type="http://schemas.openxmlformats.org/officeDocument/2006/relationships/image" Target="../media/image678.png"/><Relationship Id="rId40" Type="http://schemas.openxmlformats.org/officeDocument/2006/relationships/image" Target="../media/image681.svg"/><Relationship Id="rId45" Type="http://schemas.openxmlformats.org/officeDocument/2006/relationships/image" Target="../media/image686.png"/><Relationship Id="rId53" Type="http://schemas.openxmlformats.org/officeDocument/2006/relationships/image" Target="../media/image488.png"/><Relationship Id="rId5" Type="http://schemas.openxmlformats.org/officeDocument/2006/relationships/image" Target="../media/image647.png"/><Relationship Id="rId10" Type="http://schemas.openxmlformats.org/officeDocument/2006/relationships/image" Target="../media/image652.svg"/><Relationship Id="rId19" Type="http://schemas.openxmlformats.org/officeDocument/2006/relationships/image" Target="../media/image661.png"/><Relationship Id="rId31" Type="http://schemas.openxmlformats.org/officeDocument/2006/relationships/image" Target="../media/image672.png"/><Relationship Id="rId44" Type="http://schemas.openxmlformats.org/officeDocument/2006/relationships/image" Target="../media/image685.svg"/><Relationship Id="rId52" Type="http://schemas.openxmlformats.org/officeDocument/2006/relationships/image" Target="../media/image693.svg"/><Relationship Id="rId4" Type="http://schemas.openxmlformats.org/officeDocument/2006/relationships/image" Target="../media/image646.svg"/><Relationship Id="rId9" Type="http://schemas.openxmlformats.org/officeDocument/2006/relationships/image" Target="../media/image651.png"/><Relationship Id="rId14" Type="http://schemas.openxmlformats.org/officeDocument/2006/relationships/image" Target="../media/image656.svg"/><Relationship Id="rId22" Type="http://schemas.openxmlformats.org/officeDocument/2006/relationships/image" Target="../media/image664.svg"/><Relationship Id="rId27" Type="http://schemas.openxmlformats.org/officeDocument/2006/relationships/image" Target="../media/image669.png"/><Relationship Id="rId30" Type="http://schemas.openxmlformats.org/officeDocument/2006/relationships/image" Target="../media/image671.svg"/><Relationship Id="rId35" Type="http://schemas.openxmlformats.org/officeDocument/2006/relationships/image" Target="../media/image676.png"/><Relationship Id="rId43" Type="http://schemas.openxmlformats.org/officeDocument/2006/relationships/image" Target="../media/image684.png"/><Relationship Id="rId48" Type="http://schemas.openxmlformats.org/officeDocument/2006/relationships/image" Target="../media/image689.svg"/><Relationship Id="rId8" Type="http://schemas.openxmlformats.org/officeDocument/2006/relationships/image" Target="../media/image650.svg"/><Relationship Id="rId51" Type="http://schemas.openxmlformats.org/officeDocument/2006/relationships/image" Target="../media/image692.png"/><Relationship Id="rId3" Type="http://schemas.openxmlformats.org/officeDocument/2006/relationships/image" Target="../media/image645.png"/><Relationship Id="rId12" Type="http://schemas.openxmlformats.org/officeDocument/2006/relationships/image" Target="../media/image654.svg"/><Relationship Id="rId17" Type="http://schemas.openxmlformats.org/officeDocument/2006/relationships/image" Target="../media/image659.png"/><Relationship Id="rId25" Type="http://schemas.openxmlformats.org/officeDocument/2006/relationships/image" Target="../media/image667.png"/><Relationship Id="rId33" Type="http://schemas.openxmlformats.org/officeDocument/2006/relationships/image" Target="../media/image674.png"/><Relationship Id="rId38" Type="http://schemas.openxmlformats.org/officeDocument/2006/relationships/image" Target="../media/image679.svg"/><Relationship Id="rId46" Type="http://schemas.openxmlformats.org/officeDocument/2006/relationships/image" Target="../media/image687.svg"/><Relationship Id="rId20" Type="http://schemas.openxmlformats.org/officeDocument/2006/relationships/image" Target="../media/image662.svg"/><Relationship Id="rId41" Type="http://schemas.openxmlformats.org/officeDocument/2006/relationships/image" Target="../media/image682.png"/><Relationship Id="rId54" Type="http://schemas.openxmlformats.org/officeDocument/2006/relationships/image" Target="../media/image489.svg"/><Relationship Id="rId1" Type="http://schemas.openxmlformats.org/officeDocument/2006/relationships/slideLayout" Target="../slideLayouts/slideLayout1.xml"/><Relationship Id="rId6" Type="http://schemas.openxmlformats.org/officeDocument/2006/relationships/image" Target="../media/image648.svg"/><Relationship Id="rId15" Type="http://schemas.openxmlformats.org/officeDocument/2006/relationships/image" Target="../media/image657.png"/><Relationship Id="rId23" Type="http://schemas.openxmlformats.org/officeDocument/2006/relationships/image" Target="../media/image665.png"/><Relationship Id="rId28" Type="http://schemas.openxmlformats.org/officeDocument/2006/relationships/image" Target="../media/image670.svg"/><Relationship Id="rId36" Type="http://schemas.openxmlformats.org/officeDocument/2006/relationships/image" Target="../media/image677.svg"/><Relationship Id="rId49" Type="http://schemas.openxmlformats.org/officeDocument/2006/relationships/image" Target="../media/image690.png"/></Relationships>
</file>

<file path=ppt/slides/_rels/slide21.xml.rels><?xml version="1.0" encoding="UTF-8" standalone="yes"?>
<Relationships xmlns="http://schemas.openxmlformats.org/package/2006/relationships"><Relationship Id="rId26" Type="http://schemas.openxmlformats.org/officeDocument/2006/relationships/image" Target="../media/image716.svg"/><Relationship Id="rId117" Type="http://schemas.openxmlformats.org/officeDocument/2006/relationships/image" Target="../media/image807.svg"/><Relationship Id="rId21" Type="http://schemas.openxmlformats.org/officeDocument/2006/relationships/image" Target="../media/image711.png"/><Relationship Id="rId42" Type="http://schemas.openxmlformats.org/officeDocument/2006/relationships/image" Target="../media/image732.png"/><Relationship Id="rId47" Type="http://schemas.openxmlformats.org/officeDocument/2006/relationships/image" Target="../media/image737.svg"/><Relationship Id="rId63" Type="http://schemas.openxmlformats.org/officeDocument/2006/relationships/image" Target="../media/image753.svg"/><Relationship Id="rId68" Type="http://schemas.openxmlformats.org/officeDocument/2006/relationships/image" Target="../media/image758.png"/><Relationship Id="rId84" Type="http://schemas.openxmlformats.org/officeDocument/2006/relationships/image" Target="../media/image774.png"/><Relationship Id="rId89" Type="http://schemas.openxmlformats.org/officeDocument/2006/relationships/image" Target="../media/image779.png"/><Relationship Id="rId112" Type="http://schemas.openxmlformats.org/officeDocument/2006/relationships/image" Target="../media/image802.svg"/><Relationship Id="rId16" Type="http://schemas.openxmlformats.org/officeDocument/2006/relationships/image" Target="../media/image707.svg"/><Relationship Id="rId107" Type="http://schemas.openxmlformats.org/officeDocument/2006/relationships/image" Target="../media/image797.png"/><Relationship Id="rId11" Type="http://schemas.openxmlformats.org/officeDocument/2006/relationships/image" Target="../media/image702.png"/><Relationship Id="rId32" Type="http://schemas.openxmlformats.org/officeDocument/2006/relationships/image" Target="../media/image722.svg"/><Relationship Id="rId37" Type="http://schemas.openxmlformats.org/officeDocument/2006/relationships/image" Target="../media/image727.png"/><Relationship Id="rId53" Type="http://schemas.openxmlformats.org/officeDocument/2006/relationships/image" Target="../media/image743.png"/><Relationship Id="rId58" Type="http://schemas.openxmlformats.org/officeDocument/2006/relationships/image" Target="../media/image748.png"/><Relationship Id="rId74" Type="http://schemas.openxmlformats.org/officeDocument/2006/relationships/image" Target="../media/image764.png"/><Relationship Id="rId79" Type="http://schemas.openxmlformats.org/officeDocument/2006/relationships/image" Target="../media/image769.svg"/><Relationship Id="rId102" Type="http://schemas.openxmlformats.org/officeDocument/2006/relationships/image" Target="../media/image792.svg"/><Relationship Id="rId123" Type="http://schemas.openxmlformats.org/officeDocument/2006/relationships/image" Target="../media/image813.svg"/><Relationship Id="rId5" Type="http://schemas.openxmlformats.org/officeDocument/2006/relationships/image" Target="../media/image696.png"/><Relationship Id="rId90" Type="http://schemas.openxmlformats.org/officeDocument/2006/relationships/image" Target="../media/image780.svg"/><Relationship Id="rId95" Type="http://schemas.openxmlformats.org/officeDocument/2006/relationships/image" Target="../media/image785.png"/><Relationship Id="rId22" Type="http://schemas.openxmlformats.org/officeDocument/2006/relationships/image" Target="../media/image712.svg"/><Relationship Id="rId27" Type="http://schemas.openxmlformats.org/officeDocument/2006/relationships/image" Target="../media/image717.png"/><Relationship Id="rId43" Type="http://schemas.openxmlformats.org/officeDocument/2006/relationships/image" Target="../media/image733.svg"/><Relationship Id="rId48" Type="http://schemas.openxmlformats.org/officeDocument/2006/relationships/image" Target="../media/image738.png"/><Relationship Id="rId64" Type="http://schemas.openxmlformats.org/officeDocument/2006/relationships/image" Target="../media/image754.png"/><Relationship Id="rId69" Type="http://schemas.openxmlformats.org/officeDocument/2006/relationships/image" Target="../media/image759.svg"/><Relationship Id="rId113" Type="http://schemas.openxmlformats.org/officeDocument/2006/relationships/image" Target="../media/image803.png"/><Relationship Id="rId118" Type="http://schemas.openxmlformats.org/officeDocument/2006/relationships/image" Target="../media/image808.png"/><Relationship Id="rId80" Type="http://schemas.openxmlformats.org/officeDocument/2006/relationships/image" Target="../media/image770.png"/><Relationship Id="rId85" Type="http://schemas.openxmlformats.org/officeDocument/2006/relationships/image" Target="../media/image775.svg"/><Relationship Id="rId12" Type="http://schemas.openxmlformats.org/officeDocument/2006/relationships/image" Target="../media/image703.svg"/><Relationship Id="rId17" Type="http://schemas.openxmlformats.org/officeDocument/2006/relationships/image" Target="../media/image708.png"/><Relationship Id="rId33" Type="http://schemas.openxmlformats.org/officeDocument/2006/relationships/image" Target="../media/image723.png"/><Relationship Id="rId38" Type="http://schemas.openxmlformats.org/officeDocument/2006/relationships/image" Target="../media/image728.svg"/><Relationship Id="rId59" Type="http://schemas.openxmlformats.org/officeDocument/2006/relationships/image" Target="../media/image749.svg"/><Relationship Id="rId103" Type="http://schemas.openxmlformats.org/officeDocument/2006/relationships/image" Target="../media/image793.png"/><Relationship Id="rId108" Type="http://schemas.openxmlformats.org/officeDocument/2006/relationships/image" Target="../media/image798.svg"/><Relationship Id="rId124" Type="http://schemas.openxmlformats.org/officeDocument/2006/relationships/image" Target="../media/image814.svg"/><Relationship Id="rId54" Type="http://schemas.openxmlformats.org/officeDocument/2006/relationships/image" Target="../media/image744.svg"/><Relationship Id="rId70" Type="http://schemas.openxmlformats.org/officeDocument/2006/relationships/image" Target="../media/image760.png"/><Relationship Id="rId75" Type="http://schemas.openxmlformats.org/officeDocument/2006/relationships/image" Target="../media/image765.svg"/><Relationship Id="rId91" Type="http://schemas.openxmlformats.org/officeDocument/2006/relationships/image" Target="../media/image781.png"/><Relationship Id="rId96" Type="http://schemas.openxmlformats.org/officeDocument/2006/relationships/image" Target="../media/image786.svg"/><Relationship Id="rId1" Type="http://schemas.openxmlformats.org/officeDocument/2006/relationships/slideLayout" Target="../slideLayouts/slideLayout1.xml"/><Relationship Id="rId6" Type="http://schemas.openxmlformats.org/officeDocument/2006/relationships/image" Target="../media/image697.svg"/><Relationship Id="rId23" Type="http://schemas.openxmlformats.org/officeDocument/2006/relationships/image" Target="../media/image713.png"/><Relationship Id="rId28" Type="http://schemas.openxmlformats.org/officeDocument/2006/relationships/image" Target="../media/image718.svg"/><Relationship Id="rId49" Type="http://schemas.openxmlformats.org/officeDocument/2006/relationships/image" Target="../media/image739.svg"/><Relationship Id="rId114" Type="http://schemas.openxmlformats.org/officeDocument/2006/relationships/image" Target="../media/image804.svg"/><Relationship Id="rId119" Type="http://schemas.openxmlformats.org/officeDocument/2006/relationships/image" Target="../media/image809.svg"/><Relationship Id="rId44" Type="http://schemas.openxmlformats.org/officeDocument/2006/relationships/image" Target="../media/image734.png"/><Relationship Id="rId60" Type="http://schemas.openxmlformats.org/officeDocument/2006/relationships/image" Target="../media/image750.png"/><Relationship Id="rId65" Type="http://schemas.openxmlformats.org/officeDocument/2006/relationships/image" Target="../media/image755.svg"/><Relationship Id="rId81" Type="http://schemas.openxmlformats.org/officeDocument/2006/relationships/image" Target="../media/image771.svg"/><Relationship Id="rId86" Type="http://schemas.openxmlformats.org/officeDocument/2006/relationships/image" Target="../media/image776.png"/><Relationship Id="rId13" Type="http://schemas.openxmlformats.org/officeDocument/2006/relationships/image" Target="../media/image704.png"/><Relationship Id="rId18" Type="http://schemas.openxmlformats.org/officeDocument/2006/relationships/image" Target="../media/image709.svg"/><Relationship Id="rId39" Type="http://schemas.openxmlformats.org/officeDocument/2006/relationships/image" Target="../media/image729.png"/><Relationship Id="rId109" Type="http://schemas.openxmlformats.org/officeDocument/2006/relationships/image" Target="../media/image799.png"/><Relationship Id="rId34" Type="http://schemas.openxmlformats.org/officeDocument/2006/relationships/image" Target="../media/image724.svg"/><Relationship Id="rId50" Type="http://schemas.openxmlformats.org/officeDocument/2006/relationships/image" Target="../media/image740.png"/><Relationship Id="rId55" Type="http://schemas.openxmlformats.org/officeDocument/2006/relationships/image" Target="../media/image745.svg"/><Relationship Id="rId76" Type="http://schemas.openxmlformats.org/officeDocument/2006/relationships/image" Target="../media/image766.png"/><Relationship Id="rId97" Type="http://schemas.openxmlformats.org/officeDocument/2006/relationships/image" Target="../media/image787.png"/><Relationship Id="rId104" Type="http://schemas.openxmlformats.org/officeDocument/2006/relationships/image" Target="../media/image794.svg"/><Relationship Id="rId120" Type="http://schemas.openxmlformats.org/officeDocument/2006/relationships/image" Target="../media/image810.png"/><Relationship Id="rId125" Type="http://schemas.openxmlformats.org/officeDocument/2006/relationships/image" Target="../media/image815.svg"/><Relationship Id="rId7" Type="http://schemas.openxmlformats.org/officeDocument/2006/relationships/image" Target="../media/image698.png"/><Relationship Id="rId71" Type="http://schemas.openxmlformats.org/officeDocument/2006/relationships/image" Target="../media/image761.svg"/><Relationship Id="rId92" Type="http://schemas.openxmlformats.org/officeDocument/2006/relationships/image" Target="../media/image782.svg"/><Relationship Id="rId2" Type="http://schemas.openxmlformats.org/officeDocument/2006/relationships/notesSlide" Target="../notesSlides/notesSlide21.xml"/><Relationship Id="rId29" Type="http://schemas.openxmlformats.org/officeDocument/2006/relationships/image" Target="../media/image719.png"/><Relationship Id="rId24" Type="http://schemas.openxmlformats.org/officeDocument/2006/relationships/image" Target="../media/image714.svg"/><Relationship Id="rId40" Type="http://schemas.openxmlformats.org/officeDocument/2006/relationships/image" Target="../media/image730.svg"/><Relationship Id="rId45" Type="http://schemas.openxmlformats.org/officeDocument/2006/relationships/image" Target="../media/image735.svg"/><Relationship Id="rId66" Type="http://schemas.openxmlformats.org/officeDocument/2006/relationships/image" Target="../media/image756.png"/><Relationship Id="rId87" Type="http://schemas.openxmlformats.org/officeDocument/2006/relationships/image" Target="../media/image777.svg"/><Relationship Id="rId110" Type="http://schemas.openxmlformats.org/officeDocument/2006/relationships/image" Target="../media/image800.svg"/><Relationship Id="rId115" Type="http://schemas.openxmlformats.org/officeDocument/2006/relationships/image" Target="../media/image805.png"/><Relationship Id="rId61" Type="http://schemas.openxmlformats.org/officeDocument/2006/relationships/image" Target="../media/image751.svg"/><Relationship Id="rId82" Type="http://schemas.openxmlformats.org/officeDocument/2006/relationships/image" Target="../media/image772.png"/><Relationship Id="rId19" Type="http://schemas.openxmlformats.org/officeDocument/2006/relationships/image" Target="../media/image211.png"/><Relationship Id="rId14" Type="http://schemas.openxmlformats.org/officeDocument/2006/relationships/image" Target="../media/image705.svg"/><Relationship Id="rId30" Type="http://schemas.openxmlformats.org/officeDocument/2006/relationships/image" Target="../media/image720.svg"/><Relationship Id="rId35" Type="http://schemas.openxmlformats.org/officeDocument/2006/relationships/image" Target="../media/image725.png"/><Relationship Id="rId56" Type="http://schemas.openxmlformats.org/officeDocument/2006/relationships/image" Target="../media/image746.png"/><Relationship Id="rId77" Type="http://schemas.openxmlformats.org/officeDocument/2006/relationships/image" Target="../media/image767.svg"/><Relationship Id="rId100" Type="http://schemas.openxmlformats.org/officeDocument/2006/relationships/image" Target="../media/image790.svg"/><Relationship Id="rId105" Type="http://schemas.openxmlformats.org/officeDocument/2006/relationships/image" Target="../media/image795.png"/><Relationship Id="rId126" Type="http://schemas.openxmlformats.org/officeDocument/2006/relationships/image" Target="../media/image816.png"/><Relationship Id="rId8" Type="http://schemas.openxmlformats.org/officeDocument/2006/relationships/image" Target="../media/image699.svg"/><Relationship Id="rId51" Type="http://schemas.openxmlformats.org/officeDocument/2006/relationships/image" Target="../media/image741.svg"/><Relationship Id="rId72" Type="http://schemas.openxmlformats.org/officeDocument/2006/relationships/image" Target="../media/image762.png"/><Relationship Id="rId93" Type="http://schemas.openxmlformats.org/officeDocument/2006/relationships/image" Target="../media/image783.png"/><Relationship Id="rId98" Type="http://schemas.openxmlformats.org/officeDocument/2006/relationships/image" Target="../media/image788.svg"/><Relationship Id="rId121" Type="http://schemas.openxmlformats.org/officeDocument/2006/relationships/image" Target="../media/image811.svg"/><Relationship Id="rId3" Type="http://schemas.openxmlformats.org/officeDocument/2006/relationships/image" Target="../media/image694.png"/><Relationship Id="rId25" Type="http://schemas.openxmlformats.org/officeDocument/2006/relationships/image" Target="../media/image715.png"/><Relationship Id="rId46" Type="http://schemas.openxmlformats.org/officeDocument/2006/relationships/image" Target="../media/image736.png"/><Relationship Id="rId67" Type="http://schemas.openxmlformats.org/officeDocument/2006/relationships/image" Target="../media/image757.svg"/><Relationship Id="rId116" Type="http://schemas.openxmlformats.org/officeDocument/2006/relationships/image" Target="../media/image806.svg"/><Relationship Id="rId20" Type="http://schemas.openxmlformats.org/officeDocument/2006/relationships/image" Target="../media/image710.svg"/><Relationship Id="rId41" Type="http://schemas.openxmlformats.org/officeDocument/2006/relationships/image" Target="../media/image731.svg"/><Relationship Id="rId62" Type="http://schemas.openxmlformats.org/officeDocument/2006/relationships/image" Target="../media/image752.png"/><Relationship Id="rId83" Type="http://schemas.openxmlformats.org/officeDocument/2006/relationships/image" Target="../media/image773.svg"/><Relationship Id="rId88" Type="http://schemas.openxmlformats.org/officeDocument/2006/relationships/image" Target="../media/image778.svg"/><Relationship Id="rId111" Type="http://schemas.openxmlformats.org/officeDocument/2006/relationships/image" Target="../media/image801.png"/><Relationship Id="rId15" Type="http://schemas.openxmlformats.org/officeDocument/2006/relationships/image" Target="../media/image706.png"/><Relationship Id="rId36" Type="http://schemas.openxmlformats.org/officeDocument/2006/relationships/image" Target="../media/image726.svg"/><Relationship Id="rId57" Type="http://schemas.openxmlformats.org/officeDocument/2006/relationships/image" Target="../media/image747.svg"/><Relationship Id="rId106" Type="http://schemas.openxmlformats.org/officeDocument/2006/relationships/image" Target="../media/image796.svg"/><Relationship Id="rId127" Type="http://schemas.openxmlformats.org/officeDocument/2006/relationships/image" Target="../media/image817.svg"/><Relationship Id="rId10" Type="http://schemas.openxmlformats.org/officeDocument/2006/relationships/image" Target="../media/image701.svg"/><Relationship Id="rId31" Type="http://schemas.openxmlformats.org/officeDocument/2006/relationships/image" Target="../media/image721.png"/><Relationship Id="rId52" Type="http://schemas.openxmlformats.org/officeDocument/2006/relationships/image" Target="../media/image742.svg"/><Relationship Id="rId73" Type="http://schemas.openxmlformats.org/officeDocument/2006/relationships/image" Target="../media/image763.svg"/><Relationship Id="rId78" Type="http://schemas.openxmlformats.org/officeDocument/2006/relationships/image" Target="../media/image768.png"/><Relationship Id="rId94" Type="http://schemas.openxmlformats.org/officeDocument/2006/relationships/image" Target="../media/image784.svg"/><Relationship Id="rId99" Type="http://schemas.openxmlformats.org/officeDocument/2006/relationships/image" Target="../media/image789.png"/><Relationship Id="rId101" Type="http://schemas.openxmlformats.org/officeDocument/2006/relationships/image" Target="../media/image791.png"/><Relationship Id="rId122" Type="http://schemas.openxmlformats.org/officeDocument/2006/relationships/image" Target="../media/image812.png"/><Relationship Id="rId4" Type="http://schemas.openxmlformats.org/officeDocument/2006/relationships/image" Target="../media/image695.svg"/><Relationship Id="rId9" Type="http://schemas.openxmlformats.org/officeDocument/2006/relationships/image" Target="../media/image700.png"/></Relationships>
</file>

<file path=ppt/slides/_rels/slide22.xml.rels><?xml version="1.0" encoding="UTF-8" standalone="yes"?>
<Relationships xmlns="http://schemas.openxmlformats.org/package/2006/relationships"><Relationship Id="rId13" Type="http://schemas.openxmlformats.org/officeDocument/2006/relationships/image" Target="../media/image826.svg"/><Relationship Id="rId18" Type="http://schemas.openxmlformats.org/officeDocument/2006/relationships/image" Target="../media/image831.svg"/><Relationship Id="rId26" Type="http://schemas.openxmlformats.org/officeDocument/2006/relationships/image" Target="../media/image839.svg"/><Relationship Id="rId3" Type="http://schemas.openxmlformats.org/officeDocument/2006/relationships/image" Target="../media/image818.png"/><Relationship Id="rId21" Type="http://schemas.openxmlformats.org/officeDocument/2006/relationships/image" Target="../media/image834.png"/><Relationship Id="rId34" Type="http://schemas.openxmlformats.org/officeDocument/2006/relationships/image" Target="../media/image491.svg"/><Relationship Id="rId7" Type="http://schemas.openxmlformats.org/officeDocument/2006/relationships/image" Target="../media/image457.png"/><Relationship Id="rId12" Type="http://schemas.openxmlformats.org/officeDocument/2006/relationships/image" Target="../media/image825.png"/><Relationship Id="rId17" Type="http://schemas.openxmlformats.org/officeDocument/2006/relationships/image" Target="../media/image830.png"/><Relationship Id="rId25" Type="http://schemas.openxmlformats.org/officeDocument/2006/relationships/image" Target="../media/image838.png"/><Relationship Id="rId33" Type="http://schemas.openxmlformats.org/officeDocument/2006/relationships/image" Target="../media/image490.png"/><Relationship Id="rId2" Type="http://schemas.openxmlformats.org/officeDocument/2006/relationships/notesSlide" Target="../notesSlides/notesSlide22.xml"/><Relationship Id="rId16" Type="http://schemas.openxmlformats.org/officeDocument/2006/relationships/image" Target="../media/image829.svg"/><Relationship Id="rId20" Type="http://schemas.openxmlformats.org/officeDocument/2006/relationships/image" Target="../media/image833.svg"/><Relationship Id="rId29" Type="http://schemas.openxmlformats.org/officeDocument/2006/relationships/image" Target="../media/image842.png"/><Relationship Id="rId1" Type="http://schemas.openxmlformats.org/officeDocument/2006/relationships/slideLayout" Target="../slideLayouts/slideLayout1.xml"/><Relationship Id="rId6" Type="http://schemas.openxmlformats.org/officeDocument/2006/relationships/image" Target="../media/image820.svg"/><Relationship Id="rId11" Type="http://schemas.openxmlformats.org/officeDocument/2006/relationships/image" Target="../media/image824.svg"/><Relationship Id="rId24" Type="http://schemas.openxmlformats.org/officeDocument/2006/relationships/image" Target="../media/image837.svg"/><Relationship Id="rId32" Type="http://schemas.openxmlformats.org/officeDocument/2006/relationships/image" Target="../media/image845.svg"/><Relationship Id="rId5" Type="http://schemas.openxmlformats.org/officeDocument/2006/relationships/image" Target="../media/image364.png"/><Relationship Id="rId15" Type="http://schemas.openxmlformats.org/officeDocument/2006/relationships/image" Target="../media/image828.png"/><Relationship Id="rId23" Type="http://schemas.openxmlformats.org/officeDocument/2006/relationships/image" Target="../media/image836.png"/><Relationship Id="rId28" Type="http://schemas.openxmlformats.org/officeDocument/2006/relationships/image" Target="../media/image841.svg"/><Relationship Id="rId10" Type="http://schemas.openxmlformats.org/officeDocument/2006/relationships/image" Target="../media/image823.svg"/><Relationship Id="rId19" Type="http://schemas.openxmlformats.org/officeDocument/2006/relationships/image" Target="../media/image832.svg"/><Relationship Id="rId31" Type="http://schemas.openxmlformats.org/officeDocument/2006/relationships/image" Target="../media/image844.png"/><Relationship Id="rId4" Type="http://schemas.openxmlformats.org/officeDocument/2006/relationships/image" Target="../media/image819.svg"/><Relationship Id="rId9" Type="http://schemas.openxmlformats.org/officeDocument/2006/relationships/image" Target="../media/image822.png"/><Relationship Id="rId14" Type="http://schemas.openxmlformats.org/officeDocument/2006/relationships/image" Target="../media/image827.svg"/><Relationship Id="rId22" Type="http://schemas.openxmlformats.org/officeDocument/2006/relationships/image" Target="../media/image835.svg"/><Relationship Id="rId27" Type="http://schemas.openxmlformats.org/officeDocument/2006/relationships/image" Target="../media/image840.png"/><Relationship Id="rId30" Type="http://schemas.openxmlformats.org/officeDocument/2006/relationships/image" Target="../media/image843.svg"/><Relationship Id="rId8" Type="http://schemas.openxmlformats.org/officeDocument/2006/relationships/image" Target="../media/image821.svg"/></Relationships>
</file>

<file path=ppt/slides/_rels/slide23.xml.rels><?xml version="1.0" encoding="UTF-8" standalone="yes"?>
<Relationships xmlns="http://schemas.openxmlformats.org/package/2006/relationships"><Relationship Id="rId8" Type="http://schemas.openxmlformats.org/officeDocument/2006/relationships/image" Target="../media/image850.svg"/><Relationship Id="rId13" Type="http://schemas.openxmlformats.org/officeDocument/2006/relationships/image" Target="../media/image854.png"/><Relationship Id="rId18" Type="http://schemas.openxmlformats.org/officeDocument/2006/relationships/image" Target="../media/image859.svg"/><Relationship Id="rId26" Type="http://schemas.openxmlformats.org/officeDocument/2006/relationships/image" Target="../media/image867.svg"/><Relationship Id="rId3" Type="http://schemas.openxmlformats.org/officeDocument/2006/relationships/image" Target="../media/image846.png"/><Relationship Id="rId21" Type="http://schemas.openxmlformats.org/officeDocument/2006/relationships/image" Target="../media/image862.png"/><Relationship Id="rId7" Type="http://schemas.openxmlformats.org/officeDocument/2006/relationships/image" Target="../media/image205.png"/><Relationship Id="rId12" Type="http://schemas.openxmlformats.org/officeDocument/2006/relationships/image" Target="../media/image853.svg"/><Relationship Id="rId17" Type="http://schemas.openxmlformats.org/officeDocument/2006/relationships/image" Target="../media/image858.png"/><Relationship Id="rId25" Type="http://schemas.openxmlformats.org/officeDocument/2006/relationships/image" Target="../media/image866.png"/><Relationship Id="rId2" Type="http://schemas.openxmlformats.org/officeDocument/2006/relationships/notesSlide" Target="../notesSlides/notesSlide23.xml"/><Relationship Id="rId16" Type="http://schemas.openxmlformats.org/officeDocument/2006/relationships/image" Target="../media/image857.svg"/><Relationship Id="rId20" Type="http://schemas.openxmlformats.org/officeDocument/2006/relationships/image" Target="../media/image861.svg"/><Relationship Id="rId1" Type="http://schemas.openxmlformats.org/officeDocument/2006/relationships/slideLayout" Target="../slideLayouts/slideLayout1.xml"/><Relationship Id="rId6" Type="http://schemas.openxmlformats.org/officeDocument/2006/relationships/image" Target="../media/image849.svg"/><Relationship Id="rId11" Type="http://schemas.openxmlformats.org/officeDocument/2006/relationships/image" Target="../media/image852.png"/><Relationship Id="rId24" Type="http://schemas.openxmlformats.org/officeDocument/2006/relationships/image" Target="../media/image865.svg"/><Relationship Id="rId5" Type="http://schemas.openxmlformats.org/officeDocument/2006/relationships/image" Target="../media/image848.png"/><Relationship Id="rId15" Type="http://schemas.openxmlformats.org/officeDocument/2006/relationships/image" Target="../media/image856.svg"/><Relationship Id="rId23" Type="http://schemas.openxmlformats.org/officeDocument/2006/relationships/image" Target="../media/image864.svg"/><Relationship Id="rId10" Type="http://schemas.openxmlformats.org/officeDocument/2006/relationships/image" Target="../media/image851.svg"/><Relationship Id="rId19" Type="http://schemas.openxmlformats.org/officeDocument/2006/relationships/image" Target="../media/image860.svg"/><Relationship Id="rId4" Type="http://schemas.openxmlformats.org/officeDocument/2006/relationships/image" Target="../media/image847.svg"/><Relationship Id="rId9" Type="http://schemas.openxmlformats.org/officeDocument/2006/relationships/image" Target="../media/image211.png"/><Relationship Id="rId14" Type="http://schemas.openxmlformats.org/officeDocument/2006/relationships/image" Target="../media/image855.svg"/><Relationship Id="rId22" Type="http://schemas.openxmlformats.org/officeDocument/2006/relationships/image" Target="../media/image863.svg"/></Relationships>
</file>

<file path=ppt/slides/_rels/slide24.xml.rels><?xml version="1.0" encoding="UTF-8" standalone="yes"?>
<Relationships xmlns="http://schemas.openxmlformats.org/package/2006/relationships"><Relationship Id="rId13" Type="http://schemas.openxmlformats.org/officeDocument/2006/relationships/image" Target="../media/image878.png"/><Relationship Id="rId18" Type="http://schemas.openxmlformats.org/officeDocument/2006/relationships/image" Target="../media/image883.svg"/><Relationship Id="rId26" Type="http://schemas.openxmlformats.org/officeDocument/2006/relationships/image" Target="../media/image891.svg"/><Relationship Id="rId39" Type="http://schemas.openxmlformats.org/officeDocument/2006/relationships/image" Target="../media/image904.png"/><Relationship Id="rId21" Type="http://schemas.openxmlformats.org/officeDocument/2006/relationships/image" Target="../media/image886.png"/><Relationship Id="rId34" Type="http://schemas.openxmlformats.org/officeDocument/2006/relationships/image" Target="../media/image899.svg"/><Relationship Id="rId42" Type="http://schemas.openxmlformats.org/officeDocument/2006/relationships/image" Target="../media/image907.svg"/><Relationship Id="rId47" Type="http://schemas.openxmlformats.org/officeDocument/2006/relationships/image" Target="../media/image912.png"/><Relationship Id="rId50" Type="http://schemas.openxmlformats.org/officeDocument/2006/relationships/image" Target="../media/image915.svg"/><Relationship Id="rId7" Type="http://schemas.openxmlformats.org/officeDocument/2006/relationships/image" Target="../media/image872.png"/><Relationship Id="rId2" Type="http://schemas.openxmlformats.org/officeDocument/2006/relationships/notesSlide" Target="../notesSlides/notesSlide24.xml"/><Relationship Id="rId16" Type="http://schemas.openxmlformats.org/officeDocument/2006/relationships/image" Target="../media/image881.svg"/><Relationship Id="rId29" Type="http://schemas.openxmlformats.org/officeDocument/2006/relationships/image" Target="../media/image894.svg"/><Relationship Id="rId11" Type="http://schemas.openxmlformats.org/officeDocument/2006/relationships/image" Target="../media/image876.png"/><Relationship Id="rId24" Type="http://schemas.openxmlformats.org/officeDocument/2006/relationships/image" Target="../media/image889.svg"/><Relationship Id="rId32" Type="http://schemas.openxmlformats.org/officeDocument/2006/relationships/image" Target="../media/image897.svg"/><Relationship Id="rId37" Type="http://schemas.openxmlformats.org/officeDocument/2006/relationships/image" Target="../media/image902.png"/><Relationship Id="rId40" Type="http://schemas.openxmlformats.org/officeDocument/2006/relationships/image" Target="../media/image905.svg"/><Relationship Id="rId45" Type="http://schemas.openxmlformats.org/officeDocument/2006/relationships/image" Target="../media/image910.png"/><Relationship Id="rId5" Type="http://schemas.openxmlformats.org/officeDocument/2006/relationships/image" Target="../media/image870.png"/><Relationship Id="rId15" Type="http://schemas.openxmlformats.org/officeDocument/2006/relationships/image" Target="../media/image880.png"/><Relationship Id="rId23" Type="http://schemas.openxmlformats.org/officeDocument/2006/relationships/image" Target="../media/image888.png"/><Relationship Id="rId28" Type="http://schemas.openxmlformats.org/officeDocument/2006/relationships/image" Target="../media/image893.svg"/><Relationship Id="rId36" Type="http://schemas.openxmlformats.org/officeDocument/2006/relationships/image" Target="../media/image901.svg"/><Relationship Id="rId49" Type="http://schemas.openxmlformats.org/officeDocument/2006/relationships/image" Target="../media/image914.png"/><Relationship Id="rId10" Type="http://schemas.openxmlformats.org/officeDocument/2006/relationships/image" Target="../media/image875.svg"/><Relationship Id="rId19" Type="http://schemas.openxmlformats.org/officeDocument/2006/relationships/image" Target="../media/image884.png"/><Relationship Id="rId31" Type="http://schemas.openxmlformats.org/officeDocument/2006/relationships/image" Target="../media/image896.png"/><Relationship Id="rId44" Type="http://schemas.openxmlformats.org/officeDocument/2006/relationships/image" Target="../media/image909.svg"/><Relationship Id="rId52" Type="http://schemas.openxmlformats.org/officeDocument/2006/relationships/image" Target="../media/image917.svg"/><Relationship Id="rId4" Type="http://schemas.openxmlformats.org/officeDocument/2006/relationships/image" Target="../media/image869.svg"/><Relationship Id="rId9" Type="http://schemas.openxmlformats.org/officeDocument/2006/relationships/image" Target="../media/image874.png"/><Relationship Id="rId14" Type="http://schemas.openxmlformats.org/officeDocument/2006/relationships/image" Target="../media/image879.svg"/><Relationship Id="rId22" Type="http://schemas.openxmlformats.org/officeDocument/2006/relationships/image" Target="../media/image887.svg"/><Relationship Id="rId27" Type="http://schemas.openxmlformats.org/officeDocument/2006/relationships/image" Target="../media/image892.png"/><Relationship Id="rId30" Type="http://schemas.openxmlformats.org/officeDocument/2006/relationships/image" Target="../media/image895.svg"/><Relationship Id="rId35" Type="http://schemas.openxmlformats.org/officeDocument/2006/relationships/image" Target="../media/image900.png"/><Relationship Id="rId43" Type="http://schemas.openxmlformats.org/officeDocument/2006/relationships/image" Target="../media/image908.png"/><Relationship Id="rId48" Type="http://schemas.openxmlformats.org/officeDocument/2006/relationships/image" Target="../media/image913.svg"/><Relationship Id="rId8" Type="http://schemas.openxmlformats.org/officeDocument/2006/relationships/image" Target="../media/image873.svg"/><Relationship Id="rId51" Type="http://schemas.openxmlformats.org/officeDocument/2006/relationships/image" Target="../media/image916.png"/><Relationship Id="rId3" Type="http://schemas.openxmlformats.org/officeDocument/2006/relationships/image" Target="../media/image868.png"/><Relationship Id="rId12" Type="http://schemas.openxmlformats.org/officeDocument/2006/relationships/image" Target="../media/image877.svg"/><Relationship Id="rId17" Type="http://schemas.openxmlformats.org/officeDocument/2006/relationships/image" Target="../media/image882.png"/><Relationship Id="rId25" Type="http://schemas.openxmlformats.org/officeDocument/2006/relationships/image" Target="../media/image890.png"/><Relationship Id="rId33" Type="http://schemas.openxmlformats.org/officeDocument/2006/relationships/image" Target="../media/image898.png"/><Relationship Id="rId38" Type="http://schemas.openxmlformats.org/officeDocument/2006/relationships/image" Target="../media/image903.svg"/><Relationship Id="rId46" Type="http://schemas.openxmlformats.org/officeDocument/2006/relationships/image" Target="../media/image911.svg"/><Relationship Id="rId20" Type="http://schemas.openxmlformats.org/officeDocument/2006/relationships/image" Target="../media/image885.svg"/><Relationship Id="rId41" Type="http://schemas.openxmlformats.org/officeDocument/2006/relationships/image" Target="../media/image906.png"/><Relationship Id="rId1" Type="http://schemas.openxmlformats.org/officeDocument/2006/relationships/slideLayout" Target="../slideLayouts/slideLayout1.xml"/><Relationship Id="rId6" Type="http://schemas.openxmlformats.org/officeDocument/2006/relationships/image" Target="../media/image871.svg"/></Relationships>
</file>

<file path=ppt/slides/_rels/slide25.xml.rels><?xml version="1.0" encoding="UTF-8" standalone="yes"?>
<Relationships xmlns="http://schemas.openxmlformats.org/package/2006/relationships"><Relationship Id="rId8" Type="http://schemas.openxmlformats.org/officeDocument/2006/relationships/image" Target="../media/image182.svg"/><Relationship Id="rId13" Type="http://schemas.openxmlformats.org/officeDocument/2006/relationships/image" Target="../media/image924.png"/><Relationship Id="rId18" Type="http://schemas.openxmlformats.org/officeDocument/2006/relationships/image" Target="../media/image929.svg"/><Relationship Id="rId3" Type="http://schemas.openxmlformats.org/officeDocument/2006/relationships/image" Target="../media/image918.png"/><Relationship Id="rId7" Type="http://schemas.openxmlformats.org/officeDocument/2006/relationships/image" Target="../media/image181.png"/><Relationship Id="rId12" Type="http://schemas.openxmlformats.org/officeDocument/2006/relationships/image" Target="../media/image923.svg"/><Relationship Id="rId17" Type="http://schemas.openxmlformats.org/officeDocument/2006/relationships/image" Target="../media/image928.png"/><Relationship Id="rId2" Type="http://schemas.openxmlformats.org/officeDocument/2006/relationships/notesSlide" Target="../notesSlides/notesSlide25.xml"/><Relationship Id="rId16" Type="http://schemas.openxmlformats.org/officeDocument/2006/relationships/image" Target="../media/image927.svg"/><Relationship Id="rId1" Type="http://schemas.openxmlformats.org/officeDocument/2006/relationships/slideLayout" Target="../slideLayouts/slideLayout1.xml"/><Relationship Id="rId6" Type="http://schemas.openxmlformats.org/officeDocument/2006/relationships/image" Target="../media/image921.svg"/><Relationship Id="rId11" Type="http://schemas.openxmlformats.org/officeDocument/2006/relationships/image" Target="../media/image922.png"/><Relationship Id="rId5" Type="http://schemas.openxmlformats.org/officeDocument/2006/relationships/image" Target="../media/image920.png"/><Relationship Id="rId15" Type="http://schemas.openxmlformats.org/officeDocument/2006/relationships/image" Target="../media/image926.png"/><Relationship Id="rId10" Type="http://schemas.openxmlformats.org/officeDocument/2006/relationships/image" Target="../media/image184.svg"/><Relationship Id="rId4" Type="http://schemas.openxmlformats.org/officeDocument/2006/relationships/image" Target="../media/image919.svg"/><Relationship Id="rId9" Type="http://schemas.openxmlformats.org/officeDocument/2006/relationships/image" Target="../media/image183.png"/><Relationship Id="rId14" Type="http://schemas.openxmlformats.org/officeDocument/2006/relationships/image" Target="../media/image92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38280" y="0"/>
            <a:ext cx="10948768" cy="13716000"/>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09238" y="0"/>
            <a:ext cx="6477810" cy="13716000"/>
          </a:xfrm>
          <a:prstGeom prst="rect">
            <a:avLst/>
          </a:prstGeom>
        </p:spPr>
      </p:pic>
      <p:grpSp>
        <p:nvGrpSpPr>
          <p:cNvPr id="104" name="Group 103">
            <a:extLst>
              <a:ext uri="{FF2B5EF4-FFF2-40B4-BE49-F238E27FC236}">
                <a16:creationId xmlns:a16="http://schemas.microsoft.com/office/drawing/2014/main" id="{957D2A8E-CD98-486C-BB40-E6327F1C3E0A}"/>
              </a:ext>
            </a:extLst>
          </p:cNvPr>
          <p:cNvGrpSpPr/>
          <p:nvPr/>
        </p:nvGrpSpPr>
        <p:grpSpPr>
          <a:xfrm>
            <a:off x="21553485" y="4494876"/>
            <a:ext cx="2833563" cy="5552139"/>
            <a:chOff x="21553485" y="4494876"/>
            <a:chExt cx="2833563" cy="5552139"/>
          </a:xfrm>
          <a:solidFill>
            <a:srgbClr val="2525FF">
              <a:alpha val="0"/>
            </a:srgbClr>
          </a:solidFill>
        </p:grpSpPr>
        <p:pic>
          <p:nvPicPr>
            <p:cNvPr id="4"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074789" y="7016948"/>
              <a:ext cx="312259" cy="521006"/>
            </a:xfrm>
            <a:prstGeom prst="rect">
              <a:avLst/>
            </a:prstGeom>
          </p:spPr>
        </p:pic>
        <p:pic>
          <p:nvPicPr>
            <p:cNvPr id="5"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540281" y="7037408"/>
              <a:ext cx="480229" cy="480169"/>
            </a:xfrm>
            <a:prstGeom prst="rect">
              <a:avLst/>
            </a:prstGeom>
          </p:spPr>
        </p:pic>
        <p:pic>
          <p:nvPicPr>
            <p:cNvPr id="6"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096184" y="6481590"/>
              <a:ext cx="290864" cy="480169"/>
            </a:xfrm>
            <a:prstGeom prst="rect">
              <a:avLst/>
            </a:prstGeom>
          </p:spPr>
        </p:pic>
        <p:pic>
          <p:nvPicPr>
            <p:cNvPr id="7"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108691" y="7592577"/>
              <a:ext cx="278357" cy="455174"/>
            </a:xfrm>
            <a:prstGeom prst="rect">
              <a:avLst/>
            </a:prstGeom>
          </p:spPr>
        </p:pic>
        <p:pic>
          <p:nvPicPr>
            <p:cNvPr id="9" name="Image 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558023" y="6498991"/>
              <a:ext cx="445363" cy="445341"/>
            </a:xfrm>
            <a:prstGeom prst="rect">
              <a:avLst/>
            </a:prstGeom>
          </p:spPr>
        </p:pic>
        <p:pic>
          <p:nvPicPr>
            <p:cNvPr id="10" name="Image 8"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3567278" y="7607353"/>
              <a:ext cx="426286" cy="426239"/>
            </a:xfrm>
            <a:prstGeom prst="rect">
              <a:avLst/>
            </a:prstGeom>
          </p:spPr>
        </p:pic>
        <p:pic>
          <p:nvPicPr>
            <p:cNvPr id="13" name="Image 11"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3045956" y="7085652"/>
              <a:ext cx="383507" cy="383477"/>
            </a:xfrm>
            <a:prstGeom prst="rect">
              <a:avLst/>
            </a:prstGeom>
          </p:spPr>
        </p:pic>
        <p:pic>
          <p:nvPicPr>
            <p:cNvPr id="14" name="Image 12"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4144583" y="5986956"/>
              <a:ext cx="242465" cy="383477"/>
            </a:xfrm>
            <a:prstGeom prst="rect">
              <a:avLst/>
            </a:prstGeom>
          </p:spPr>
        </p:pic>
        <p:pic>
          <p:nvPicPr>
            <p:cNvPr id="15" name="Image 13"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3056809" y="6540797"/>
              <a:ext cx="361817" cy="361770"/>
            </a:xfrm>
            <a:prstGeom prst="rect">
              <a:avLst/>
            </a:prstGeom>
          </p:spPr>
        </p:pic>
        <p:pic>
          <p:nvPicPr>
            <p:cNvPr id="16" name="Image 14"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3599519" y="5997808"/>
              <a:ext cx="361817" cy="361772"/>
            </a:xfrm>
            <a:prstGeom prst="rect">
              <a:avLst/>
            </a:prstGeom>
          </p:spPr>
        </p:pic>
        <p:pic>
          <p:nvPicPr>
            <p:cNvPr id="18" name="Image 16"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4160001" y="8199670"/>
              <a:ext cx="227047" cy="353220"/>
            </a:xfrm>
            <a:prstGeom prst="rect">
              <a:avLst/>
            </a:prstGeom>
          </p:spPr>
        </p:pic>
        <p:pic>
          <p:nvPicPr>
            <p:cNvPr id="19" name="Image 17"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3063380" y="7646178"/>
              <a:ext cx="348002" cy="347959"/>
            </a:xfrm>
            <a:prstGeom prst="rect">
              <a:avLst/>
            </a:prstGeom>
          </p:spPr>
        </p:pic>
        <p:pic>
          <p:nvPicPr>
            <p:cNvPr id="22" name="Image 20"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3613012" y="8208890"/>
              <a:ext cx="334834" cy="334803"/>
            </a:xfrm>
            <a:prstGeom prst="rect">
              <a:avLst/>
            </a:prstGeom>
          </p:spPr>
        </p:pic>
        <p:pic>
          <p:nvPicPr>
            <p:cNvPr id="25" name="Image 23"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3084827" y="6026504"/>
              <a:ext cx="304584" cy="304474"/>
            </a:xfrm>
            <a:prstGeom prst="rect">
              <a:avLst/>
            </a:prstGeom>
          </p:spPr>
        </p:pic>
        <p:pic>
          <p:nvPicPr>
            <p:cNvPr id="26" name="Image 24"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3096973" y="8235554"/>
              <a:ext cx="281559" cy="281498"/>
            </a:xfrm>
            <a:prstGeom prst="rect">
              <a:avLst/>
            </a:prstGeom>
          </p:spPr>
        </p:pic>
        <p:pic>
          <p:nvPicPr>
            <p:cNvPr id="27" name="Image 25"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24195526" y="5495269"/>
              <a:ext cx="191522" cy="281524"/>
            </a:xfrm>
            <a:prstGeom prst="rect">
              <a:avLst/>
            </a:prstGeom>
          </p:spPr>
        </p:pic>
        <p:pic>
          <p:nvPicPr>
            <p:cNvPr id="28" name="Image 26" descr=" "/>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22554208" y="7137059"/>
              <a:ext cx="280902" cy="280866"/>
            </a:xfrm>
            <a:prstGeom prst="rect">
              <a:avLst/>
            </a:prstGeom>
          </p:spPr>
        </p:pic>
        <p:pic>
          <p:nvPicPr>
            <p:cNvPr id="30" name="Image 28" descr=" "/>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23648796" y="5504258"/>
              <a:ext cx="263139" cy="263253"/>
            </a:xfrm>
            <a:prstGeom prst="rect">
              <a:avLst/>
            </a:prstGeom>
          </p:spPr>
        </p:pic>
        <p:pic>
          <p:nvPicPr>
            <p:cNvPr id="31" name="Image 29" descr=" "/>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22563076" y="6590406"/>
              <a:ext cx="263173" cy="263106"/>
            </a:xfrm>
            <a:prstGeom prst="rect">
              <a:avLst/>
            </a:prstGeom>
          </p:spPr>
        </p:pic>
        <p:pic>
          <p:nvPicPr>
            <p:cNvPr id="33" name="Image 31" descr=" "/>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22565673" y="7691555"/>
              <a:ext cx="257877" cy="257845"/>
            </a:xfrm>
            <a:prstGeom prst="rect">
              <a:avLst/>
            </a:prstGeom>
          </p:spPr>
        </p:pic>
        <p:pic>
          <p:nvPicPr>
            <p:cNvPr id="35" name="Image 33" descr=" "/>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24211300" y="8793578"/>
              <a:ext cx="175748" cy="250609"/>
            </a:xfrm>
            <a:prstGeom prst="rect">
              <a:avLst/>
            </a:prstGeom>
          </p:spPr>
        </p:pic>
        <p:pic>
          <p:nvPicPr>
            <p:cNvPr id="37" name="Image 35" descr=" "/>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23662997" y="8801548"/>
              <a:ext cx="234869" cy="234868"/>
            </a:xfrm>
            <a:prstGeom prst="rect">
              <a:avLst/>
            </a:prstGeom>
          </p:spPr>
        </p:pic>
        <p:pic>
          <p:nvPicPr>
            <p:cNvPr id="41" name="Image 39" descr=" "/>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22582835" y="6066874"/>
              <a:ext cx="223669" cy="223636"/>
            </a:xfrm>
            <a:prstGeom prst="rect">
              <a:avLst/>
            </a:prstGeom>
          </p:spPr>
        </p:pic>
        <p:pic>
          <p:nvPicPr>
            <p:cNvPr id="42" name="Image 40" descr=" "/>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23125553" y="5523888"/>
              <a:ext cx="223669" cy="223641"/>
            </a:xfrm>
            <a:prstGeom prst="rect">
              <a:avLst/>
            </a:prstGeom>
          </p:spPr>
        </p:pic>
        <p:pic>
          <p:nvPicPr>
            <p:cNvPr id="43" name="Image 41" descr=" "/>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22591364" y="8274337"/>
              <a:ext cx="205906" cy="205880"/>
            </a:xfrm>
            <a:prstGeom prst="rect">
              <a:avLst/>
            </a:prstGeom>
          </p:spPr>
        </p:pic>
        <p:pic>
          <p:nvPicPr>
            <p:cNvPr id="46" name="Image 44" descr=" "/>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23137047" y="8819624"/>
              <a:ext cx="197327" cy="197330"/>
            </a:xfrm>
            <a:prstGeom prst="rect">
              <a:avLst/>
            </a:prstGeom>
          </p:spPr>
        </p:pic>
        <p:pic>
          <p:nvPicPr>
            <p:cNvPr id="49" name="Image 47" descr=" "/>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2049770" y="7188639"/>
              <a:ext cx="178162" cy="177998"/>
            </a:xfrm>
            <a:prstGeom prst="rect">
              <a:avLst/>
            </a:prstGeom>
          </p:spPr>
        </p:pic>
        <p:pic>
          <p:nvPicPr>
            <p:cNvPr id="50" name="Image 48" descr=" "/>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4247456" y="4990769"/>
              <a:ext cx="139592" cy="177931"/>
            </a:xfrm>
            <a:prstGeom prst="rect">
              <a:avLst/>
            </a:prstGeom>
          </p:spPr>
        </p:pic>
        <p:pic>
          <p:nvPicPr>
            <p:cNvPr id="51" name="Image 49" descr=" "/>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2057623" y="6640714"/>
              <a:ext cx="163493" cy="161965"/>
            </a:xfrm>
            <a:prstGeom prst="rect">
              <a:avLst/>
            </a:prstGeom>
          </p:spPr>
        </p:pic>
        <p:pic>
          <p:nvPicPr>
            <p:cNvPr id="52" name="Image 50" descr=" "/>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23699159" y="4998311"/>
              <a:ext cx="163806" cy="162932"/>
            </a:xfrm>
            <a:prstGeom prst="rect">
              <a:avLst/>
            </a:prstGeom>
          </p:spPr>
        </p:pic>
        <p:pic>
          <p:nvPicPr>
            <p:cNvPr id="53" name="Image 51" descr=" "/>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22614801" y="5557272"/>
              <a:ext cx="157660" cy="157212"/>
            </a:xfrm>
            <a:prstGeom prst="rect">
              <a:avLst/>
            </a:prstGeom>
          </p:spPr>
        </p:pic>
        <p:pic>
          <p:nvPicPr>
            <p:cNvPr id="55" name="Image 53" descr=" "/>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22058622" y="7741221"/>
              <a:ext cx="158542" cy="158621"/>
            </a:xfrm>
            <a:prstGeom prst="rect">
              <a:avLst/>
            </a:prstGeom>
          </p:spPr>
        </p:pic>
        <p:pic>
          <p:nvPicPr>
            <p:cNvPr id="57" name="Image 55" descr=" "/>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24258779" y="9402006"/>
              <a:ext cx="128269" cy="146024"/>
            </a:xfrm>
            <a:prstGeom prst="rect">
              <a:avLst/>
            </a:prstGeom>
          </p:spPr>
        </p:pic>
        <p:pic>
          <p:nvPicPr>
            <p:cNvPr id="60" name="Image 58" descr=" "/>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22071833" y="6112259"/>
              <a:ext cx="132608" cy="132233"/>
            </a:xfrm>
            <a:prstGeom prst="rect">
              <a:avLst/>
            </a:prstGeom>
          </p:spPr>
        </p:pic>
        <p:pic>
          <p:nvPicPr>
            <p:cNvPr id="61" name="Image 59" descr=" "/>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23716021" y="9406742"/>
              <a:ext cx="133333" cy="136096"/>
            </a:xfrm>
            <a:prstGeom prst="rect">
              <a:avLst/>
            </a:prstGeom>
          </p:spPr>
        </p:pic>
        <p:pic>
          <p:nvPicPr>
            <p:cNvPr id="62" name="Image 60" descr=" "/>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22630959" y="8850965"/>
              <a:ext cx="132591" cy="136144"/>
            </a:xfrm>
            <a:prstGeom prst="rect">
              <a:avLst/>
            </a:prstGeom>
          </p:spPr>
        </p:pic>
        <p:pic>
          <p:nvPicPr>
            <p:cNvPr id="65" name="Image 63" descr=" "/>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23172197" y="5013347"/>
              <a:ext cx="131946" cy="132694"/>
            </a:xfrm>
            <a:prstGeom prst="rect">
              <a:avLst/>
            </a:prstGeom>
          </p:spPr>
        </p:pic>
        <p:pic>
          <p:nvPicPr>
            <p:cNvPr id="67" name="Image 65" descr=" "/>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22077369" y="8313474"/>
              <a:ext cx="122619" cy="125550"/>
            </a:xfrm>
            <a:prstGeom prst="rect">
              <a:avLst/>
            </a:prstGeom>
          </p:spPr>
        </p:pic>
        <p:pic>
          <p:nvPicPr>
            <p:cNvPr id="70" name="Image 68" descr=" "/>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23184132" y="9421673"/>
              <a:ext cx="107274" cy="106476"/>
            </a:xfrm>
            <a:prstGeom prst="rect">
              <a:avLst/>
            </a:prstGeom>
          </p:spPr>
        </p:pic>
        <p:pic>
          <p:nvPicPr>
            <p:cNvPr id="73" name="Image 71" descr=" "/>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22099807" y="8879973"/>
              <a:ext cx="77438" cy="77808"/>
            </a:xfrm>
            <a:prstGeom prst="rect">
              <a:avLst/>
            </a:prstGeom>
          </p:spPr>
        </p:pic>
        <p:pic>
          <p:nvPicPr>
            <p:cNvPr id="74" name="Image 72" descr=" "/>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21557186" y="7780824"/>
              <a:ext cx="77665" cy="76894"/>
            </a:xfrm>
            <a:prstGeom prst="rect">
              <a:avLst/>
            </a:prstGeom>
          </p:spPr>
        </p:pic>
        <p:pic>
          <p:nvPicPr>
            <p:cNvPr id="75" name="Image 73" descr=" "/>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23742242" y="4498155"/>
              <a:ext cx="77982" cy="77601"/>
            </a:xfrm>
            <a:prstGeom prst="rect">
              <a:avLst/>
            </a:prstGeom>
          </p:spPr>
        </p:pic>
        <p:pic>
          <p:nvPicPr>
            <p:cNvPr id="76" name="Image 74" descr=" "/>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24294462" y="4494876"/>
              <a:ext cx="83751" cy="83715"/>
            </a:xfrm>
            <a:prstGeom prst="rect">
              <a:avLst/>
            </a:prstGeom>
          </p:spPr>
        </p:pic>
        <p:pic>
          <p:nvPicPr>
            <p:cNvPr id="78" name="Image 76" descr=" "/>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21553485" y="7236110"/>
              <a:ext cx="84193" cy="83231"/>
            </a:xfrm>
            <a:prstGeom prst="rect">
              <a:avLst/>
            </a:prstGeom>
          </p:spPr>
        </p:pic>
        <p:pic>
          <p:nvPicPr>
            <p:cNvPr id="79" name="Image 77" descr=" "/>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21557372" y="6682880"/>
              <a:ext cx="77481" cy="77027"/>
            </a:xfrm>
            <a:prstGeom prst="rect">
              <a:avLst/>
            </a:prstGeom>
          </p:spPr>
        </p:pic>
        <p:pic>
          <p:nvPicPr>
            <p:cNvPr id="80" name="Image 78" descr=" "/>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22652749" y="5038178"/>
              <a:ext cx="83219" cy="83497"/>
            </a:xfrm>
            <a:prstGeom prst="rect">
              <a:avLst/>
            </a:prstGeom>
          </p:spPr>
        </p:pic>
        <p:pic>
          <p:nvPicPr>
            <p:cNvPr id="81" name="Image 79" descr=" "/>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22096391" y="5593808"/>
              <a:ext cx="83478" cy="83927"/>
            </a:xfrm>
            <a:prstGeom prst="rect">
              <a:avLst/>
            </a:prstGeom>
          </p:spPr>
        </p:pic>
        <p:pic>
          <p:nvPicPr>
            <p:cNvPr id="83" name="Image 81" descr=" "/>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22660107" y="9440556"/>
              <a:ext cx="67192" cy="68358"/>
            </a:xfrm>
            <a:prstGeom prst="rect">
              <a:avLst/>
            </a:prstGeom>
          </p:spPr>
        </p:pic>
        <p:pic>
          <p:nvPicPr>
            <p:cNvPr id="85" name="Image 83" descr=" "/>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24307688" y="9990981"/>
              <a:ext cx="57233" cy="56034"/>
            </a:xfrm>
            <a:prstGeom prst="rect">
              <a:avLst/>
            </a:prstGeom>
          </p:spPr>
        </p:pic>
        <p:pic>
          <p:nvPicPr>
            <p:cNvPr id="88" name="Image 86" descr=" "/>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21568694" y="8352046"/>
              <a:ext cx="51687" cy="51273"/>
            </a:xfrm>
            <a:prstGeom prst="rect">
              <a:avLst/>
            </a:prstGeom>
          </p:spPr>
        </p:pic>
        <p:pic>
          <p:nvPicPr>
            <p:cNvPr id="90" name="Image 88" descr=" "/>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23212953" y="4511469"/>
              <a:ext cx="52047" cy="51180"/>
            </a:xfrm>
            <a:prstGeom prst="rect">
              <a:avLst/>
            </a:prstGeom>
          </p:spPr>
        </p:pic>
        <p:pic>
          <p:nvPicPr>
            <p:cNvPr id="94" name="Image 92" descr=" "/>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23754818" y="9991770"/>
              <a:ext cx="51619" cy="51853"/>
            </a:xfrm>
            <a:prstGeom prst="rect">
              <a:avLst/>
            </a:prstGeom>
          </p:spPr>
        </p:pic>
        <p:pic>
          <p:nvPicPr>
            <p:cNvPr id="95" name="Image 93" descr=" "/>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21568662" y="6152924"/>
              <a:ext cx="51718" cy="51508"/>
            </a:xfrm>
            <a:prstGeom prst="rect">
              <a:avLst/>
            </a:prstGeom>
          </p:spPr>
        </p:pic>
      </p:grpSp>
      <p:sp>
        <p:nvSpPr>
          <p:cNvPr id="97" name="Text 0"/>
          <p:cNvSpPr/>
          <p:nvPr/>
        </p:nvSpPr>
        <p:spPr>
          <a:xfrm>
            <a:off x="1524191" y="4432300"/>
            <a:ext cx="11008043" cy="3539067"/>
          </a:xfrm>
          <a:prstGeom prst="rect">
            <a:avLst/>
          </a:prstGeom>
          <a:noFill/>
          <a:ln/>
        </p:spPr>
        <p:txBody>
          <a:bodyPr wrap="square" lIns="0" tIns="0" rIns="0" bIns="0" rtlCol="0" anchor="t"/>
          <a:lstStyle/>
          <a:p>
            <a:pPr marL="0" indent="0" algn="l">
              <a:lnSpc>
                <a:spcPts val="12100"/>
              </a:lnSpc>
              <a:buNone/>
            </a:pPr>
            <a:r>
              <a:rPr lang="en-US" sz="11000" kern="0" spc="-220" dirty="0">
                <a:solidFill>
                  <a:srgbClr val="9559F1">
                    <a:alpha val="100000"/>
                  </a:srgbClr>
                </a:solidFill>
                <a:latin typeface="Mona Sans Medium" pitchFamily="34" charset="0"/>
                <a:ea typeface="Mona Sans Medium" pitchFamily="34" charset="-122"/>
                <a:cs typeface="Mona Sans Medium" pitchFamily="34" charset="-120"/>
              </a:rPr>
              <a:t>Management </a:t>
            </a:r>
            <a:r>
              <a:rPr lang="en-US" sz="11000" kern="0" spc="-220" dirty="0">
                <a:solidFill>
                  <a:srgbClr val="000000">
                    <a:alpha val="100000"/>
                  </a:srgbClr>
                </a:solidFill>
                <a:latin typeface="Mona Sans Medium" pitchFamily="34" charset="0"/>
                <a:ea typeface="Mona Sans Medium" pitchFamily="34" charset="-122"/>
                <a:cs typeface="Mona Sans Medium" pitchFamily="34" charset="-120"/>
              </a:rPr>
              <a:t>KPI Dashboard</a:t>
            </a:r>
            <a:endParaRPr lang="en-US" sz="11000" dirty="0"/>
          </a:p>
        </p:txBody>
      </p:sp>
      <p:sp>
        <p:nvSpPr>
          <p:cNvPr id="98" name="Text 1"/>
          <p:cNvSpPr/>
          <p:nvPr/>
        </p:nvSpPr>
        <p:spPr>
          <a:xfrm>
            <a:off x="1524191" y="7759700"/>
            <a:ext cx="1062699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B9B9B9">
                    <a:alpha val="100000"/>
                  </a:srgbClr>
                </a:solidFill>
                <a:latin typeface="Inter Medium" pitchFamily="34" charset="0"/>
                <a:ea typeface="Inter Medium" pitchFamily="34" charset="-122"/>
                <a:cs typeface="Inter Medium" pitchFamily="34" charset="-120"/>
              </a:rPr>
              <a:t>Performance Metrics Guide for Smarter Decisions</a:t>
            </a:r>
            <a:endParaRPr lang="en-US" sz="2000" dirty="0"/>
          </a:p>
        </p:txBody>
      </p:sp>
      <p:sp>
        <p:nvSpPr>
          <p:cNvPr id="99" name="Text 2"/>
          <p:cNvSpPr/>
          <p:nvPr/>
        </p:nvSpPr>
        <p:spPr>
          <a:xfrm>
            <a:off x="1524191" y="11785600"/>
            <a:ext cx="6647164"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“An executive presentation designed to showcase the key performance metrics, monitoring structures, and visualization best practices that enable data-driven management.”</a:t>
            </a:r>
            <a:endParaRPr lang="en-US" sz="1600" dirty="0"/>
          </a:p>
        </p:txBody>
      </p:sp>
      <p:sp>
        <p:nvSpPr>
          <p:cNvPr id="100" name="Text 3"/>
          <p:cNvSpPr/>
          <p:nvPr/>
        </p:nvSpPr>
        <p:spPr>
          <a:xfrm>
            <a:off x="22240480" y="1524000"/>
            <a:ext cx="73245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Bold" pitchFamily="34" charset="0"/>
                <a:ea typeface="Inter Bold" pitchFamily="34" charset="-122"/>
                <a:cs typeface="Inter Bold" pitchFamily="34" charset="-120"/>
              </a:rPr>
              <a:t>2025</a:t>
            </a:r>
            <a:endParaRPr lang="en-US" sz="2000" dirty="0"/>
          </a:p>
        </p:txBody>
      </p:sp>
      <p:sp>
        <p:nvSpPr>
          <p:cNvPr id="101" name="Text 4"/>
          <p:cNvSpPr/>
          <p:nvPr/>
        </p:nvSpPr>
        <p:spPr>
          <a:xfrm>
            <a:off x="1524191" y="1524000"/>
            <a:ext cx="103729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Bold" pitchFamily="34" charset="0"/>
                <a:ea typeface="Inter Bold" pitchFamily="34" charset="-122"/>
                <a:cs typeface="Inter Bold" pitchFamily="34" charset="-120"/>
              </a:rPr>
              <a:t>Strative</a:t>
            </a:r>
            <a:endParaRPr lang="en-US" sz="2000" dirty="0"/>
          </a:p>
        </p:txBody>
      </p:sp>
      <p:pic>
        <p:nvPicPr>
          <p:cNvPr id="102" name="Image 95" descr=" "/>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2527616" y="1581150"/>
            <a:ext cx="254032" cy="266700"/>
          </a:xfrm>
          <a:prstGeom prst="rect">
            <a:avLst/>
          </a:prstGeom>
        </p:spPr>
      </p:pic>
      <p:pic>
        <p:nvPicPr>
          <p:cNvPr id="103" name="Image 96" descr=" "/>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12091911" y="5651500"/>
            <a:ext cx="12295137" cy="2857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23396324" cy="13716000"/>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18925365" cy="13716000"/>
          </a:xfrm>
          <a:prstGeom prst="rect">
            <a:avLst/>
          </a:prstGeom>
        </p:spPr>
      </p:pic>
      <p:sp>
        <p:nvSpPr>
          <p:cNvPr id="4" name="Text 0"/>
          <p:cNvSpPr/>
          <p:nvPr/>
        </p:nvSpPr>
        <p:spPr>
          <a:xfrm>
            <a:off x="1511489" y="14478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Why KPI Dashboards Matter</a:t>
            </a:r>
            <a:endParaRPr lang="en-US" sz="6000" dirty="0"/>
          </a:p>
        </p:txBody>
      </p:sp>
      <p:sp>
        <p:nvSpPr>
          <p:cNvPr id="5" name="Text 1"/>
          <p:cNvSpPr/>
          <p:nvPr/>
        </p:nvSpPr>
        <p:spPr>
          <a:xfrm>
            <a:off x="15025978" y="1447800"/>
            <a:ext cx="7904621" cy="12869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"KPI dashboards simplify complex operations into clear metrics, offering insights into successful strategies and areas for improvement. By visualizing data, these dashboards help teams make informed decisions and foster continuous improvement in their business."</a:t>
            </a:r>
            <a:endParaRPr lang="en-US" sz="1600" dirty="0"/>
          </a:p>
        </p:txBody>
      </p:sp>
      <p:grpSp>
        <p:nvGrpSpPr>
          <p:cNvPr id="24" name="Group 23">
            <a:extLst>
              <a:ext uri="{FF2B5EF4-FFF2-40B4-BE49-F238E27FC236}">
                <a16:creationId xmlns:a16="http://schemas.microsoft.com/office/drawing/2014/main" id="{63E7A025-A4A0-483C-9C53-53FF8F9C64DB}"/>
              </a:ext>
            </a:extLst>
          </p:cNvPr>
          <p:cNvGrpSpPr/>
          <p:nvPr/>
        </p:nvGrpSpPr>
        <p:grpSpPr>
          <a:xfrm>
            <a:off x="1651206" y="4152900"/>
            <a:ext cx="6858857" cy="7175500"/>
            <a:chOff x="1651206" y="4152900"/>
            <a:chExt cx="6858857" cy="7175500"/>
          </a:xfrm>
        </p:grpSpPr>
        <p:pic>
          <p:nvPicPr>
            <p:cNvPr id="7"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51206" y="4152900"/>
              <a:ext cx="6858857" cy="7175500"/>
            </a:xfrm>
            <a:prstGeom prst="rect">
              <a:avLst/>
            </a:prstGeom>
          </p:spPr>
        </p:pic>
        <p:sp>
          <p:nvSpPr>
            <p:cNvPr id="8" name="Text 2"/>
            <p:cNvSpPr/>
            <p:nvPr/>
          </p:nvSpPr>
          <p:spPr>
            <a:xfrm>
              <a:off x="4001000" y="10210800"/>
              <a:ext cx="39417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Dashboards give live updates on key metrics, enabling dynamic management.</a:t>
              </a:r>
              <a:endParaRPr lang="en-US" sz="1600" dirty="0"/>
            </a:p>
          </p:txBody>
        </p:sp>
        <p:sp>
          <p:nvSpPr>
            <p:cNvPr id="9" name="Text 3"/>
            <p:cNvSpPr/>
            <p:nvPr/>
          </p:nvSpPr>
          <p:spPr>
            <a:xfrm>
              <a:off x="2286286" y="5930900"/>
              <a:ext cx="5516723" cy="1693333"/>
            </a:xfrm>
            <a:prstGeom prst="rect">
              <a:avLst/>
            </a:prstGeom>
            <a:noFill/>
            <a:ln/>
          </p:spPr>
          <p:txBody>
            <a:bodyPr wrap="square" lIns="0" tIns="0" rIns="0" bIns="0" rtlCol="0" anchor="t"/>
            <a:lstStyle/>
            <a:p>
              <a:pPr marL="0" indent="0" algn="l">
                <a:lnSpc>
                  <a:spcPts val="6000"/>
                </a:lnSpc>
                <a:buNone/>
              </a:pPr>
              <a:r>
                <a:rPr lang="en-US" sz="4000" kern="0" spc="-80" dirty="0">
                  <a:solidFill>
                    <a:srgbClr val="FFFFFF">
                      <a:alpha val="100000"/>
                    </a:srgbClr>
                  </a:solidFill>
                  <a:latin typeface="Inter Medium" pitchFamily="34" charset="0"/>
                  <a:ea typeface="Inter Medium" pitchFamily="34" charset="-122"/>
                  <a:cs typeface="Inter Medium" pitchFamily="34" charset="-120"/>
                </a:rPr>
                <a:t>Monitor progress in real time</a:t>
              </a:r>
              <a:endParaRPr lang="en-US" sz="4000" dirty="0"/>
            </a:p>
          </p:txBody>
        </p:sp>
        <p:sp>
          <p:nvSpPr>
            <p:cNvPr id="10" name="Shape 4"/>
            <p:cNvSpPr/>
            <p:nvPr/>
          </p:nvSpPr>
          <p:spPr>
            <a:xfrm>
              <a:off x="2286286" y="4914900"/>
              <a:ext cx="508063" cy="508000"/>
            </a:xfrm>
            <a:prstGeom prst="rect">
              <a:avLst/>
            </a:prstGeom>
            <a:noFill/>
            <a:ln/>
          </p:spPr>
        </p:sp>
        <p:pic>
          <p:nvPicPr>
            <p:cNvPr id="11"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49794" y="4978400"/>
              <a:ext cx="381048" cy="381000"/>
            </a:xfrm>
            <a:prstGeom prst="rect">
              <a:avLst/>
            </a:prstGeom>
          </p:spPr>
        </p:pic>
      </p:grpSp>
      <p:grpSp>
        <p:nvGrpSpPr>
          <p:cNvPr id="25" name="Group 24">
            <a:extLst>
              <a:ext uri="{FF2B5EF4-FFF2-40B4-BE49-F238E27FC236}">
                <a16:creationId xmlns:a16="http://schemas.microsoft.com/office/drawing/2014/main" id="{302EE90E-FDE5-4D70-878F-625C8BAE6DA9}"/>
              </a:ext>
            </a:extLst>
          </p:cNvPr>
          <p:cNvGrpSpPr/>
          <p:nvPr/>
        </p:nvGrpSpPr>
        <p:grpSpPr>
          <a:xfrm>
            <a:off x="8764095" y="4152900"/>
            <a:ext cx="6858857" cy="7175500"/>
            <a:chOff x="8764095" y="4152900"/>
            <a:chExt cx="6858857" cy="7175500"/>
          </a:xfrm>
        </p:grpSpPr>
        <p:pic>
          <p:nvPicPr>
            <p:cNvPr id="13"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64095" y="4152900"/>
              <a:ext cx="6858857" cy="7175500"/>
            </a:xfrm>
            <a:prstGeom prst="rect">
              <a:avLst/>
            </a:prstGeom>
          </p:spPr>
        </p:pic>
        <p:sp>
          <p:nvSpPr>
            <p:cNvPr id="14" name="Text 5"/>
            <p:cNvSpPr/>
            <p:nvPr/>
          </p:nvSpPr>
          <p:spPr>
            <a:xfrm>
              <a:off x="11088486" y="10210800"/>
              <a:ext cx="39417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Medium" pitchFamily="34" charset="0"/>
                  <a:ea typeface="Inter Medium" pitchFamily="34" charset="-122"/>
                  <a:cs typeface="Inter Medium" pitchFamily="34" charset="-120"/>
                </a:rPr>
                <a:t>Early signals from dashboards allow proactive intervention.</a:t>
              </a:r>
              <a:endParaRPr lang="en-US" sz="1600" dirty="0"/>
            </a:p>
          </p:txBody>
        </p:sp>
        <p:sp>
          <p:nvSpPr>
            <p:cNvPr id="15" name="Text 6"/>
            <p:cNvSpPr/>
            <p:nvPr/>
          </p:nvSpPr>
          <p:spPr>
            <a:xfrm>
              <a:off x="9373772" y="5930900"/>
              <a:ext cx="5758053" cy="1693333"/>
            </a:xfrm>
            <a:prstGeom prst="rect">
              <a:avLst/>
            </a:prstGeom>
            <a:noFill/>
            <a:ln/>
          </p:spPr>
          <p:txBody>
            <a:bodyPr wrap="square" lIns="0" tIns="0" rIns="0" bIns="0" rtlCol="0" anchor="t"/>
            <a:lstStyle/>
            <a:p>
              <a:pPr marL="0" indent="0" algn="l">
                <a:lnSpc>
                  <a:spcPts val="6000"/>
                </a:lnSpc>
                <a:buNone/>
              </a:pPr>
              <a:r>
                <a:rPr lang="en-US" sz="4000" kern="0" spc="-80" dirty="0">
                  <a:solidFill>
                    <a:srgbClr val="B28EF7">
                      <a:alpha val="100000"/>
                    </a:srgbClr>
                  </a:solidFill>
                  <a:latin typeface="Inter Medium" pitchFamily="34" charset="0"/>
                  <a:ea typeface="Inter Medium" pitchFamily="34" charset="-122"/>
                  <a:cs typeface="Inter Medium" pitchFamily="34" charset="-120"/>
                </a:rPr>
                <a:t>Identify issues before they escalate</a:t>
              </a:r>
              <a:endParaRPr lang="en-US" sz="4000" dirty="0"/>
            </a:p>
          </p:txBody>
        </p:sp>
        <p:sp>
          <p:nvSpPr>
            <p:cNvPr id="16" name="Shape 7"/>
            <p:cNvSpPr/>
            <p:nvPr/>
          </p:nvSpPr>
          <p:spPr>
            <a:xfrm>
              <a:off x="9373772" y="4914900"/>
              <a:ext cx="508063" cy="508000"/>
            </a:xfrm>
            <a:prstGeom prst="rect">
              <a:avLst/>
            </a:prstGeom>
            <a:noFill/>
            <a:ln/>
          </p:spPr>
        </p:sp>
        <p:pic>
          <p:nvPicPr>
            <p:cNvPr id="17"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394939" y="4957233"/>
              <a:ext cx="465726" cy="402167"/>
            </a:xfrm>
            <a:prstGeom prst="rect">
              <a:avLst/>
            </a:prstGeom>
          </p:spPr>
        </p:pic>
      </p:grpSp>
      <p:grpSp>
        <p:nvGrpSpPr>
          <p:cNvPr id="26" name="Group 25">
            <a:extLst>
              <a:ext uri="{FF2B5EF4-FFF2-40B4-BE49-F238E27FC236}">
                <a16:creationId xmlns:a16="http://schemas.microsoft.com/office/drawing/2014/main" id="{DB4FECC7-5D00-4FC1-9184-C285FE607BF7}"/>
              </a:ext>
            </a:extLst>
          </p:cNvPr>
          <p:cNvGrpSpPr/>
          <p:nvPr/>
        </p:nvGrpSpPr>
        <p:grpSpPr>
          <a:xfrm>
            <a:off x="15876984" y="4152900"/>
            <a:ext cx="6858857" cy="7175500"/>
            <a:chOff x="15876984" y="4152900"/>
            <a:chExt cx="6858857" cy="7175500"/>
          </a:xfrm>
        </p:grpSpPr>
        <p:pic>
          <p:nvPicPr>
            <p:cNvPr id="19" name="Image 9" descr=" "/>
            <p:cNvPicPr>
              <a:picLocks noChangeAspect="1"/>
            </p:cNvPicPr>
            <p:nvPr/>
          </p:nvPicPr>
          <p:blipFill>
            <a:blip r:embed="rId11">
              <a:extLst>
                <a:ext uri="{96DAC541-7B7A-43D3-8B79-37D633B846F1}">
                  <asvg:svgBlip xmlns:asvg="http://schemas.microsoft.com/office/drawing/2016/SVG/main" r:embed="rId15"/>
                </a:ext>
              </a:extLst>
            </a:blip>
            <a:stretch>
              <a:fillRect/>
            </a:stretch>
          </p:blipFill>
          <p:spPr>
            <a:xfrm>
              <a:off x="15876984" y="4152900"/>
              <a:ext cx="6858857" cy="7175500"/>
            </a:xfrm>
            <a:prstGeom prst="rect">
              <a:avLst/>
            </a:prstGeom>
          </p:spPr>
        </p:pic>
        <p:sp>
          <p:nvSpPr>
            <p:cNvPr id="20" name="Text 8"/>
            <p:cNvSpPr/>
            <p:nvPr/>
          </p:nvSpPr>
          <p:spPr>
            <a:xfrm>
              <a:off x="18201375" y="10210800"/>
              <a:ext cx="39417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Medium" pitchFamily="34" charset="0"/>
                  <a:ea typeface="Inter Medium" pitchFamily="34" charset="-122"/>
                  <a:cs typeface="Inter Medium" pitchFamily="34" charset="-120"/>
                </a:rPr>
                <a:t>Leaders rely on facts, not guesswork, to guide teams and strategy.</a:t>
              </a:r>
              <a:endParaRPr lang="en-US" sz="1600" dirty="0"/>
            </a:p>
          </p:txBody>
        </p:sp>
        <p:sp>
          <p:nvSpPr>
            <p:cNvPr id="21" name="Text 9"/>
            <p:cNvSpPr/>
            <p:nvPr/>
          </p:nvSpPr>
          <p:spPr>
            <a:xfrm>
              <a:off x="16486661" y="5930900"/>
              <a:ext cx="5758053" cy="1693333"/>
            </a:xfrm>
            <a:prstGeom prst="rect">
              <a:avLst/>
            </a:prstGeom>
            <a:noFill/>
            <a:ln/>
          </p:spPr>
          <p:txBody>
            <a:bodyPr wrap="square" lIns="0" tIns="0" rIns="0" bIns="0" rtlCol="0" anchor="t"/>
            <a:lstStyle/>
            <a:p>
              <a:pPr marL="0" indent="0" algn="l">
                <a:lnSpc>
                  <a:spcPts val="6000"/>
                </a:lnSpc>
                <a:buNone/>
              </a:pPr>
              <a:r>
                <a:rPr lang="en-US" sz="4000" kern="0" spc="-80" dirty="0">
                  <a:solidFill>
                    <a:srgbClr val="B28EF7">
                      <a:alpha val="100000"/>
                    </a:srgbClr>
                  </a:solidFill>
                  <a:latin typeface="Inter Medium" pitchFamily="34" charset="0"/>
                  <a:ea typeface="Inter Medium" pitchFamily="34" charset="-122"/>
                  <a:cs typeface="Inter Medium" pitchFamily="34" charset="-120"/>
                </a:rPr>
                <a:t>Enable evidence-based leadership decisions</a:t>
              </a:r>
              <a:endParaRPr lang="en-US" sz="4000" dirty="0"/>
            </a:p>
          </p:txBody>
        </p:sp>
        <p:sp>
          <p:nvSpPr>
            <p:cNvPr id="22" name="Shape 10"/>
            <p:cNvSpPr/>
            <p:nvPr/>
          </p:nvSpPr>
          <p:spPr>
            <a:xfrm>
              <a:off x="16486661" y="4914900"/>
              <a:ext cx="508063" cy="508000"/>
            </a:xfrm>
            <a:prstGeom prst="rect">
              <a:avLst/>
            </a:prstGeom>
            <a:noFill/>
            <a:ln/>
          </p:spPr>
        </p:sp>
        <p:pic>
          <p:nvPicPr>
            <p:cNvPr id="23" name="Image 10"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6571336" y="4999567"/>
              <a:ext cx="338710" cy="338667"/>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92324" cy="13716000"/>
          </a:xfrm>
          <a:prstGeom prst="rect">
            <a:avLst/>
          </a:prstGeom>
          <a:solidFill>
            <a:srgbClr val="EFEAFD">
              <a:alpha val="100000"/>
            </a:srgbClr>
          </a:solidFill>
          <a:ln/>
        </p:spPr>
      </p:sp>
      <p:sp>
        <p:nvSpPr>
          <p:cNvPr id="3" name="Text 1"/>
          <p:cNvSpPr/>
          <p:nvPr/>
        </p:nvSpPr>
        <p:spPr>
          <a:xfrm>
            <a:off x="14771946" y="1447800"/>
            <a:ext cx="8158653"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This guide highlights essential KPIs for effective management, showcasing the advantages of a KPI dashboard for better decision-making and performance tracking. It helps managers align strategies with business goals and keep teams updated.</a:t>
            </a:r>
            <a:endParaRPr lang="en-US" sz="1600" dirty="0"/>
          </a:p>
        </p:txBody>
      </p:sp>
      <p:sp>
        <p:nvSpPr>
          <p:cNvPr id="4" name="Text 2"/>
          <p:cNvSpPr/>
          <p:nvPr/>
        </p:nvSpPr>
        <p:spPr>
          <a:xfrm>
            <a:off x="1524191" y="1447800"/>
            <a:ext cx="5868133"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Objectives of This Guide</a:t>
            </a:r>
            <a:endParaRPr lang="en-US" sz="6000" dirty="0"/>
          </a:p>
        </p:txBody>
      </p:sp>
      <p:sp>
        <p:nvSpPr>
          <p:cNvPr id="5" name="Text 3"/>
          <p:cNvSpPr/>
          <p:nvPr/>
        </p:nvSpPr>
        <p:spPr>
          <a:xfrm>
            <a:off x="1524191" y="3505200"/>
            <a:ext cx="4538701" cy="12869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Our goal is to foster a culture of accountability by providing clear metrics that align with organizational objectives and drive performance improvement.</a:t>
            </a:r>
            <a:endParaRPr lang="en-US" sz="1600" dirty="0"/>
          </a:p>
        </p:txBody>
      </p:sp>
      <p:grpSp>
        <p:nvGrpSpPr>
          <p:cNvPr id="36" name="Group 35">
            <a:extLst>
              <a:ext uri="{FF2B5EF4-FFF2-40B4-BE49-F238E27FC236}">
                <a16:creationId xmlns:a16="http://schemas.microsoft.com/office/drawing/2014/main" id="{2818497B-339A-4ACF-8E73-0AB3850344BF}"/>
              </a:ext>
            </a:extLst>
          </p:cNvPr>
          <p:cNvGrpSpPr/>
          <p:nvPr/>
        </p:nvGrpSpPr>
        <p:grpSpPr>
          <a:xfrm>
            <a:off x="8637080" y="3479800"/>
            <a:ext cx="14225778" cy="8991600"/>
            <a:chOff x="8637080" y="3479800"/>
            <a:chExt cx="14225778" cy="8991600"/>
          </a:xfrm>
        </p:grpSpPr>
        <p:pic>
          <p:nvPicPr>
            <p:cNvPr id="11"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37080" y="3479800"/>
              <a:ext cx="7112889" cy="1498600"/>
            </a:xfrm>
            <a:prstGeom prst="rect">
              <a:avLst/>
            </a:prstGeom>
          </p:spPr>
        </p:pic>
        <p:pic>
          <p:nvPicPr>
            <p:cNvPr id="12" name="Image 6"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749969" y="3479800"/>
              <a:ext cx="7112889" cy="1498600"/>
            </a:xfrm>
            <a:prstGeom prst="rect">
              <a:avLst/>
            </a:prstGeom>
          </p:spPr>
        </p:pic>
        <p:grpSp>
          <p:nvGrpSpPr>
            <p:cNvPr id="35" name="Group 34">
              <a:extLst>
                <a:ext uri="{FF2B5EF4-FFF2-40B4-BE49-F238E27FC236}">
                  <a16:creationId xmlns:a16="http://schemas.microsoft.com/office/drawing/2014/main" id="{E77B8ABB-1EFA-499F-A87F-B45F64121DDC}"/>
                </a:ext>
              </a:extLst>
            </p:cNvPr>
            <p:cNvGrpSpPr/>
            <p:nvPr/>
          </p:nvGrpSpPr>
          <p:grpSpPr>
            <a:xfrm>
              <a:off x="8637080" y="4978400"/>
              <a:ext cx="14225778" cy="7493000"/>
              <a:chOff x="8637080" y="4978400"/>
              <a:chExt cx="14225778" cy="7493000"/>
            </a:xfrm>
            <a:solidFill>
              <a:srgbClr val="F6F6F6">
                <a:alpha val="55000"/>
              </a:srgbClr>
            </a:solidFill>
          </p:grpSpPr>
          <p:pic>
            <p:nvPicPr>
              <p:cNvPr id="7" name="Image 1"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37080" y="10972800"/>
                <a:ext cx="14225778" cy="1498600"/>
              </a:xfrm>
              <a:prstGeom prst="rect">
                <a:avLst/>
              </a:prstGeom>
            </p:spPr>
          </p:pic>
          <p:pic>
            <p:nvPicPr>
              <p:cNvPr id="8" name="Image 2"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37080" y="9474200"/>
                <a:ext cx="14225778" cy="1498600"/>
              </a:xfrm>
              <a:prstGeom prst="rect">
                <a:avLst/>
              </a:prstGeom>
            </p:spPr>
          </p:pic>
          <p:pic>
            <p:nvPicPr>
              <p:cNvPr id="9" name="Image 3" descr=" "/>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8637080" y="7975600"/>
                <a:ext cx="14225778" cy="1498600"/>
              </a:xfrm>
              <a:prstGeom prst="rect">
                <a:avLst/>
              </a:prstGeom>
            </p:spPr>
          </p:pic>
          <p:pic>
            <p:nvPicPr>
              <p:cNvPr id="10" name="Image 4" descr=" "/>
              <p:cNvPicPr>
                <a:picLocks noChangeAspect="1"/>
              </p:cNvPicPr>
              <p:nvPr/>
            </p:nvPicPr>
            <p:blipFill>
              <a:blip r:embed="rId9">
                <a:extLst>
                  <a:ext uri="{96DAC541-7B7A-43D3-8B79-37D633B846F1}">
                    <asvg:svgBlip xmlns:asvg="http://schemas.microsoft.com/office/drawing/2016/SVG/main" r:embed="rId12"/>
                  </a:ext>
                </a:extLst>
              </a:blip>
              <a:stretch>
                <a:fillRect/>
              </a:stretch>
            </p:blipFill>
            <p:spPr>
              <a:xfrm>
                <a:off x="8637080" y="6477000"/>
                <a:ext cx="14225778" cy="1498600"/>
              </a:xfrm>
              <a:prstGeom prst="rect">
                <a:avLst/>
              </a:prstGeom>
            </p:spPr>
          </p:pic>
          <p:pic>
            <p:nvPicPr>
              <p:cNvPr id="13" name="Image 7" descr=" "/>
              <p:cNvPicPr>
                <a:picLocks noChangeAspect="1"/>
              </p:cNvPicPr>
              <p:nvPr/>
            </p:nvPicPr>
            <p:blipFill>
              <a:blip r:embed="rId9">
                <a:extLst>
                  <a:ext uri="{96DAC541-7B7A-43D3-8B79-37D633B846F1}">
                    <asvg:svgBlip xmlns:asvg="http://schemas.microsoft.com/office/drawing/2016/SVG/main" r:embed="rId13"/>
                  </a:ext>
                </a:extLst>
              </a:blip>
              <a:stretch>
                <a:fillRect/>
              </a:stretch>
            </p:blipFill>
            <p:spPr>
              <a:xfrm>
                <a:off x="8637080" y="4978400"/>
                <a:ext cx="14225778" cy="1498600"/>
              </a:xfrm>
              <a:prstGeom prst="rect">
                <a:avLst/>
              </a:prstGeom>
            </p:spPr>
          </p:pic>
        </p:grpSp>
        <p:sp>
          <p:nvSpPr>
            <p:cNvPr id="14" name="Text 4"/>
            <p:cNvSpPr/>
            <p:nvPr/>
          </p:nvSpPr>
          <p:spPr>
            <a:xfrm>
              <a:off x="11596549" y="4038600"/>
              <a:ext cx="124052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Objective</a:t>
              </a:r>
              <a:endParaRPr lang="en-US" sz="2000" dirty="0"/>
            </a:p>
          </p:txBody>
        </p:sp>
        <p:sp>
          <p:nvSpPr>
            <p:cNvPr id="15" name="Text 5"/>
            <p:cNvSpPr/>
            <p:nvPr/>
          </p:nvSpPr>
          <p:spPr>
            <a:xfrm>
              <a:off x="10605826" y="5537200"/>
              <a:ext cx="32727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Define a clear KPI structure</a:t>
              </a:r>
              <a:endParaRPr lang="en-US" sz="2000" dirty="0"/>
            </a:p>
          </p:txBody>
        </p:sp>
        <p:sp>
          <p:nvSpPr>
            <p:cNvPr id="16" name="Text 6"/>
            <p:cNvSpPr/>
            <p:nvPr/>
          </p:nvSpPr>
          <p:spPr>
            <a:xfrm>
              <a:off x="16905813" y="5537200"/>
              <a:ext cx="488587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Better alignment in performance tracking</a:t>
              </a:r>
              <a:endParaRPr lang="en-US" sz="2000" dirty="0"/>
            </a:p>
          </p:txBody>
        </p:sp>
        <p:sp>
          <p:nvSpPr>
            <p:cNvPr id="17" name="Text 7"/>
            <p:cNvSpPr/>
            <p:nvPr/>
          </p:nvSpPr>
          <p:spPr>
            <a:xfrm>
              <a:off x="10326391" y="7035800"/>
              <a:ext cx="378083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Standardize reporting practices</a:t>
              </a:r>
              <a:endParaRPr lang="en-US" sz="2000" dirty="0"/>
            </a:p>
          </p:txBody>
        </p:sp>
        <p:sp>
          <p:nvSpPr>
            <p:cNvPr id="18" name="Text 8"/>
            <p:cNvSpPr/>
            <p:nvPr/>
          </p:nvSpPr>
          <p:spPr>
            <a:xfrm>
              <a:off x="16499362" y="7035800"/>
              <a:ext cx="568607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Quicker, more confident decisions by leadership</a:t>
              </a:r>
              <a:endParaRPr lang="en-US" sz="2000" dirty="0"/>
            </a:p>
          </p:txBody>
        </p:sp>
        <p:sp>
          <p:nvSpPr>
            <p:cNvPr id="19" name="Text 9"/>
            <p:cNvSpPr/>
            <p:nvPr/>
          </p:nvSpPr>
          <p:spPr>
            <a:xfrm>
              <a:off x="10377197" y="8534400"/>
              <a:ext cx="373003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Highlight areas for optimization</a:t>
              </a:r>
              <a:endParaRPr lang="en-US" sz="2000" dirty="0"/>
            </a:p>
          </p:txBody>
        </p:sp>
        <p:sp>
          <p:nvSpPr>
            <p:cNvPr id="20" name="Text 10"/>
            <p:cNvSpPr/>
            <p:nvPr/>
          </p:nvSpPr>
          <p:spPr>
            <a:xfrm>
              <a:off x="9996149" y="10033000"/>
              <a:ext cx="44921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Identify opportunities for optimization</a:t>
              </a:r>
              <a:endParaRPr lang="en-US" sz="2000" dirty="0"/>
            </a:p>
          </p:txBody>
        </p:sp>
        <p:sp>
          <p:nvSpPr>
            <p:cNvPr id="21" name="Text 11"/>
            <p:cNvSpPr/>
            <p:nvPr/>
          </p:nvSpPr>
          <p:spPr>
            <a:xfrm>
              <a:off x="9843730" y="11531600"/>
              <a:ext cx="479696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Promote data literacy among team leads</a:t>
              </a:r>
              <a:endParaRPr lang="en-US" sz="2000" dirty="0"/>
            </a:p>
          </p:txBody>
        </p:sp>
        <p:sp>
          <p:nvSpPr>
            <p:cNvPr id="22" name="Text 12"/>
            <p:cNvSpPr/>
            <p:nvPr/>
          </p:nvSpPr>
          <p:spPr>
            <a:xfrm>
              <a:off x="17451981" y="8534400"/>
              <a:ext cx="378083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Improved operational efficiency</a:t>
              </a:r>
              <a:endParaRPr lang="en-US" sz="2000" dirty="0"/>
            </a:p>
          </p:txBody>
        </p:sp>
        <p:sp>
          <p:nvSpPr>
            <p:cNvPr id="23" name="Text 13"/>
            <p:cNvSpPr/>
            <p:nvPr/>
          </p:nvSpPr>
          <p:spPr>
            <a:xfrm>
              <a:off x="16321540" y="10033000"/>
              <a:ext cx="605442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Enhanced operational efficiency and accountability</a:t>
              </a:r>
              <a:endParaRPr lang="en-US" sz="2000" dirty="0"/>
            </a:p>
          </p:txBody>
        </p:sp>
        <p:sp>
          <p:nvSpPr>
            <p:cNvPr id="24" name="Text 14"/>
            <p:cNvSpPr/>
            <p:nvPr/>
          </p:nvSpPr>
          <p:spPr>
            <a:xfrm>
              <a:off x="16308838" y="11506200"/>
              <a:ext cx="602902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Stronger culture of transparency and performance.</a:t>
              </a:r>
              <a:endParaRPr lang="en-US" sz="2000" dirty="0"/>
            </a:p>
          </p:txBody>
        </p:sp>
        <p:sp>
          <p:nvSpPr>
            <p:cNvPr id="25" name="Text 15"/>
            <p:cNvSpPr/>
            <p:nvPr/>
          </p:nvSpPr>
          <p:spPr>
            <a:xfrm>
              <a:off x="18125165" y="4038600"/>
              <a:ext cx="238366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Expected Outcome</a:t>
              </a:r>
              <a:endParaRPr lang="en-US" sz="2000" dirty="0"/>
            </a:p>
          </p:txBody>
        </p:sp>
        <p:pic>
          <p:nvPicPr>
            <p:cNvPr id="26" name="Image 8"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011776" y="6470650"/>
              <a:ext cx="13476384" cy="12700"/>
            </a:xfrm>
            <a:prstGeom prst="rect">
              <a:avLst/>
            </a:prstGeom>
          </p:spPr>
        </p:pic>
        <p:pic>
          <p:nvPicPr>
            <p:cNvPr id="27" name="Image 9"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011776" y="7969250"/>
              <a:ext cx="13476384" cy="12700"/>
            </a:xfrm>
            <a:prstGeom prst="rect">
              <a:avLst/>
            </a:prstGeom>
          </p:spPr>
        </p:pic>
        <p:pic>
          <p:nvPicPr>
            <p:cNvPr id="28" name="Image 10"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011776" y="9467850"/>
              <a:ext cx="13476384" cy="12700"/>
            </a:xfrm>
            <a:prstGeom prst="rect">
              <a:avLst/>
            </a:prstGeom>
          </p:spPr>
        </p:pic>
        <p:pic>
          <p:nvPicPr>
            <p:cNvPr id="29" name="Image 11"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011776" y="10966450"/>
              <a:ext cx="13476384" cy="12700"/>
            </a:xfrm>
            <a:prstGeom prst="rect">
              <a:avLst/>
            </a:prstGeom>
          </p:spPr>
        </p:pic>
        <p:pic>
          <p:nvPicPr>
            <p:cNvPr id="30" name="Image 12"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743618" y="5340350"/>
              <a:ext cx="12702" cy="774700"/>
            </a:xfrm>
            <a:prstGeom prst="rect">
              <a:avLst/>
            </a:prstGeom>
          </p:spPr>
        </p:pic>
        <p:pic>
          <p:nvPicPr>
            <p:cNvPr id="31" name="Image 13"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743618" y="6838950"/>
              <a:ext cx="12702" cy="774700"/>
            </a:xfrm>
            <a:prstGeom prst="rect">
              <a:avLst/>
            </a:prstGeom>
          </p:spPr>
        </p:pic>
        <p:pic>
          <p:nvPicPr>
            <p:cNvPr id="32" name="Image 14"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743618" y="8337550"/>
              <a:ext cx="12702" cy="774700"/>
            </a:xfrm>
            <a:prstGeom prst="rect">
              <a:avLst/>
            </a:prstGeom>
          </p:spPr>
        </p:pic>
        <p:pic>
          <p:nvPicPr>
            <p:cNvPr id="33" name="Image 15"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743618" y="9836150"/>
              <a:ext cx="12702" cy="774700"/>
            </a:xfrm>
            <a:prstGeom prst="rect">
              <a:avLst/>
            </a:prstGeom>
          </p:spPr>
        </p:pic>
        <p:pic>
          <p:nvPicPr>
            <p:cNvPr id="34" name="Image 16"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768332" y="11334750"/>
              <a:ext cx="12702" cy="774700"/>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013200"/>
            <a:ext cx="24387048" cy="9702800"/>
          </a:xfrm>
          <a:prstGeom prst="rect">
            <a:avLst/>
          </a:prstGeom>
          <a:solidFill>
            <a:srgbClr val="F6F3FF">
              <a:alpha val="100000"/>
            </a:srgbClr>
          </a:solidFill>
          <a:ln/>
        </p:spPr>
      </p:sp>
      <p:sp>
        <p:nvSpPr>
          <p:cNvPr id="3" name="Text 1"/>
          <p:cNvSpPr/>
          <p:nvPr/>
        </p:nvSpPr>
        <p:spPr>
          <a:xfrm>
            <a:off x="1524191" y="1524000"/>
            <a:ext cx="6007851"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Target Audience</a:t>
            </a:r>
            <a:endParaRPr lang="en-US" sz="6000" dirty="0"/>
          </a:p>
        </p:txBody>
      </p:sp>
      <p:sp>
        <p:nvSpPr>
          <p:cNvPr id="4" name="Text 2"/>
          <p:cNvSpPr/>
          <p:nvPr/>
        </p:nvSpPr>
        <p:spPr>
          <a:xfrm>
            <a:off x="15025978" y="1524000"/>
            <a:ext cx="790462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This system is specifically crafted to empower leaders and functional decision-makers, providing them with the tools and insights necessary to make informed choices that drive success and innovation within their organizations.</a:t>
            </a:r>
            <a:endParaRPr lang="en-US" sz="1600" dirty="0"/>
          </a:p>
        </p:txBody>
      </p:sp>
      <p:grpSp>
        <p:nvGrpSpPr>
          <p:cNvPr id="26" name="Group 25">
            <a:extLst>
              <a:ext uri="{FF2B5EF4-FFF2-40B4-BE49-F238E27FC236}">
                <a16:creationId xmlns:a16="http://schemas.microsoft.com/office/drawing/2014/main" id="{1E43B1BD-A5F3-404A-9F41-C2487E69353F}"/>
              </a:ext>
            </a:extLst>
          </p:cNvPr>
          <p:cNvGrpSpPr/>
          <p:nvPr/>
        </p:nvGrpSpPr>
        <p:grpSpPr>
          <a:xfrm>
            <a:off x="1778222" y="5524500"/>
            <a:ext cx="6604826" cy="6756400"/>
            <a:chOff x="1778222" y="5524500"/>
            <a:chExt cx="6604826" cy="6756400"/>
          </a:xfrm>
        </p:grpSpPr>
        <p:pic>
          <p:nvPicPr>
            <p:cNvPr id="6"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8222" y="5524500"/>
              <a:ext cx="6604826" cy="6604000"/>
            </a:xfrm>
            <a:prstGeom prst="rect">
              <a:avLst/>
            </a:prstGeom>
          </p:spPr>
        </p:pic>
        <p:sp>
          <p:nvSpPr>
            <p:cNvPr id="7" name="Shape 3"/>
            <p:cNvSpPr/>
            <p:nvPr/>
          </p:nvSpPr>
          <p:spPr>
            <a:xfrm>
              <a:off x="2413302" y="6159500"/>
              <a:ext cx="508063" cy="508000"/>
            </a:xfrm>
            <a:prstGeom prst="rect">
              <a:avLst/>
            </a:prstGeom>
            <a:noFill/>
            <a:ln/>
          </p:spPr>
        </p:sp>
        <p:pic>
          <p:nvPicPr>
            <p:cNvPr id="8"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55642" y="6201833"/>
              <a:ext cx="423388" cy="402167"/>
            </a:xfrm>
            <a:prstGeom prst="rect">
              <a:avLst/>
            </a:prstGeom>
          </p:spPr>
        </p:pic>
        <p:sp>
          <p:nvSpPr>
            <p:cNvPr id="9" name="Text 4"/>
            <p:cNvSpPr/>
            <p:nvPr/>
          </p:nvSpPr>
          <p:spPr>
            <a:xfrm>
              <a:off x="2413302" y="6794500"/>
              <a:ext cx="3852815" cy="931333"/>
            </a:xfrm>
            <a:prstGeom prst="rect">
              <a:avLst/>
            </a:prstGeom>
            <a:noFill/>
            <a:ln/>
          </p:spPr>
          <p:txBody>
            <a:bodyPr wrap="square" lIns="0" tIns="0" rIns="0" bIns="0" rtlCol="0" anchor="t"/>
            <a:lstStyle/>
            <a:p>
              <a:pPr marL="0" indent="0" algn="l">
                <a:lnSpc>
                  <a:spcPts val="6000"/>
                </a:lnSpc>
                <a:buNone/>
              </a:pPr>
              <a:r>
                <a:rPr lang="en-US" sz="4000" kern="0" spc="-80" dirty="0">
                  <a:solidFill>
                    <a:srgbClr val="FFFFFF">
                      <a:alpha val="100000"/>
                    </a:srgbClr>
                  </a:solidFill>
                  <a:latin typeface="Inter Medium" pitchFamily="34" charset="0"/>
                  <a:ea typeface="Inter Medium" pitchFamily="34" charset="-122"/>
                  <a:cs typeface="Inter Medium" pitchFamily="34" charset="-120"/>
                </a:rPr>
                <a:t>C-level Leaders</a:t>
              </a:r>
              <a:endParaRPr lang="en-US" sz="4000" dirty="0"/>
            </a:p>
          </p:txBody>
        </p:sp>
        <p:sp>
          <p:nvSpPr>
            <p:cNvPr id="10" name="Text 5"/>
            <p:cNvSpPr/>
            <p:nvPr/>
          </p:nvSpPr>
          <p:spPr>
            <a:xfrm>
              <a:off x="6439705" y="10045700"/>
              <a:ext cx="1714714"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B28EF7">
                      <a:alpha val="100000"/>
                    </a:srgbClr>
                  </a:solidFill>
                  <a:latin typeface="Inter Regular" pitchFamily="34" charset="0"/>
                  <a:ea typeface="Inter Regular" pitchFamily="34" charset="-122"/>
                  <a:cs typeface="Inter Regular" pitchFamily="34" charset="-120"/>
                </a:rPr>
                <a:t>01</a:t>
              </a:r>
              <a:endParaRPr lang="en-US" sz="9600" dirty="0"/>
            </a:p>
          </p:txBody>
        </p:sp>
        <p:sp>
          <p:nvSpPr>
            <p:cNvPr id="11" name="Text 6"/>
            <p:cNvSpPr/>
            <p:nvPr/>
          </p:nvSpPr>
          <p:spPr>
            <a:xfrm>
              <a:off x="2413302" y="8521700"/>
              <a:ext cx="5275393"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Comprehensive strategic oversight combined with in-depth performance insights at a high level.</a:t>
              </a:r>
              <a:endParaRPr lang="en-US" sz="1600" dirty="0"/>
            </a:p>
          </p:txBody>
        </p:sp>
      </p:grpSp>
      <p:grpSp>
        <p:nvGrpSpPr>
          <p:cNvPr id="27" name="Group 26">
            <a:extLst>
              <a:ext uri="{FF2B5EF4-FFF2-40B4-BE49-F238E27FC236}">
                <a16:creationId xmlns:a16="http://schemas.microsoft.com/office/drawing/2014/main" id="{5BA644EF-29C9-45CB-8DCE-26464B876F3B}"/>
              </a:ext>
            </a:extLst>
          </p:cNvPr>
          <p:cNvGrpSpPr/>
          <p:nvPr/>
        </p:nvGrpSpPr>
        <p:grpSpPr>
          <a:xfrm>
            <a:off x="8891111" y="5524500"/>
            <a:ext cx="6604826" cy="6756400"/>
            <a:chOff x="8891111" y="5524500"/>
            <a:chExt cx="6604826" cy="6756400"/>
          </a:xfrm>
        </p:grpSpPr>
        <p:pic>
          <p:nvPicPr>
            <p:cNvPr id="13" name="Image 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1111" y="5524500"/>
              <a:ext cx="6604826" cy="6604000"/>
            </a:xfrm>
            <a:prstGeom prst="rect">
              <a:avLst/>
            </a:prstGeom>
          </p:spPr>
        </p:pic>
        <p:sp>
          <p:nvSpPr>
            <p:cNvPr id="14" name="Text 7"/>
            <p:cNvSpPr/>
            <p:nvPr/>
          </p:nvSpPr>
          <p:spPr>
            <a:xfrm>
              <a:off x="9526191" y="6794500"/>
              <a:ext cx="5504021" cy="931333"/>
            </a:xfrm>
            <a:prstGeom prst="rect">
              <a:avLst/>
            </a:prstGeom>
            <a:noFill/>
            <a:ln/>
          </p:spPr>
          <p:txBody>
            <a:bodyPr wrap="square" lIns="0" tIns="0" rIns="0" bIns="0" rtlCol="0" anchor="t"/>
            <a:lstStyle/>
            <a:p>
              <a:pPr marL="0" indent="0" algn="l">
                <a:lnSpc>
                  <a:spcPts val="6000"/>
                </a:lnSpc>
                <a:buNone/>
              </a:pPr>
              <a:r>
                <a:rPr lang="en-US" sz="4000" kern="0" spc="-80" dirty="0">
                  <a:solidFill>
                    <a:srgbClr val="9559F1">
                      <a:alpha val="100000"/>
                    </a:srgbClr>
                  </a:solidFill>
                  <a:latin typeface="Inter Medium" pitchFamily="34" charset="0"/>
                  <a:ea typeface="Inter Medium" pitchFamily="34" charset="-122"/>
                  <a:cs typeface="Inter Medium" pitchFamily="34" charset="-120"/>
                </a:rPr>
                <a:t>Operations Managers</a:t>
              </a:r>
              <a:endParaRPr lang="en-US" sz="4000" dirty="0"/>
            </a:p>
          </p:txBody>
        </p:sp>
        <p:sp>
          <p:nvSpPr>
            <p:cNvPr id="15" name="Text 8"/>
            <p:cNvSpPr/>
            <p:nvPr/>
          </p:nvSpPr>
          <p:spPr>
            <a:xfrm>
              <a:off x="13374772" y="10045700"/>
              <a:ext cx="1892537"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E1D7FD">
                      <a:alpha val="100000"/>
                    </a:srgbClr>
                  </a:solidFill>
                  <a:latin typeface="Inter Regular" pitchFamily="34" charset="0"/>
                  <a:ea typeface="Inter Regular" pitchFamily="34" charset="-122"/>
                  <a:cs typeface="Inter Regular" pitchFamily="34" charset="-120"/>
                </a:rPr>
                <a:t>02</a:t>
              </a:r>
              <a:endParaRPr lang="en-US" sz="9600" dirty="0"/>
            </a:p>
          </p:txBody>
        </p:sp>
        <p:sp>
          <p:nvSpPr>
            <p:cNvPr id="16" name="Text 9"/>
            <p:cNvSpPr/>
            <p:nvPr/>
          </p:nvSpPr>
          <p:spPr>
            <a:xfrm>
              <a:off x="9526191" y="8521700"/>
              <a:ext cx="5275393"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Medium" pitchFamily="34" charset="0"/>
                  <a:ea typeface="Inter Medium" pitchFamily="34" charset="-122"/>
                  <a:cs typeface="Inter Medium" pitchFamily="34" charset="-120"/>
                </a:rPr>
                <a:t>Managing daily operations involves monitoring key performance indicators (KPIs) and ensuring visibility of bottlenecks in the workflow.</a:t>
              </a:r>
              <a:endParaRPr lang="en-US" sz="1600" dirty="0"/>
            </a:p>
          </p:txBody>
        </p:sp>
        <p:sp>
          <p:nvSpPr>
            <p:cNvPr id="17" name="Shape 10"/>
            <p:cNvSpPr/>
            <p:nvPr/>
          </p:nvSpPr>
          <p:spPr>
            <a:xfrm>
              <a:off x="9526191" y="6159500"/>
              <a:ext cx="508063" cy="508000"/>
            </a:xfrm>
            <a:prstGeom prst="rect">
              <a:avLst/>
            </a:prstGeom>
            <a:noFill/>
            <a:ln/>
          </p:spPr>
        </p:sp>
        <p:pic>
          <p:nvPicPr>
            <p:cNvPr id="18"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68531" y="6244167"/>
              <a:ext cx="444556" cy="381000"/>
            </a:xfrm>
            <a:prstGeom prst="rect">
              <a:avLst/>
            </a:prstGeom>
          </p:spPr>
        </p:pic>
      </p:grpSp>
      <p:grpSp>
        <p:nvGrpSpPr>
          <p:cNvPr id="28" name="Group 27">
            <a:extLst>
              <a:ext uri="{FF2B5EF4-FFF2-40B4-BE49-F238E27FC236}">
                <a16:creationId xmlns:a16="http://schemas.microsoft.com/office/drawing/2014/main" id="{85B9EDF1-B20B-430F-8AFE-D1F38E596617}"/>
              </a:ext>
            </a:extLst>
          </p:cNvPr>
          <p:cNvGrpSpPr/>
          <p:nvPr/>
        </p:nvGrpSpPr>
        <p:grpSpPr>
          <a:xfrm>
            <a:off x="16004000" y="5524500"/>
            <a:ext cx="6604826" cy="6756400"/>
            <a:chOff x="16004000" y="5524500"/>
            <a:chExt cx="6604826" cy="6756400"/>
          </a:xfrm>
        </p:grpSpPr>
        <p:pic>
          <p:nvPicPr>
            <p:cNvPr id="20" name="Image 7" descr=" "/>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16004000" y="5524500"/>
              <a:ext cx="6604826" cy="6604000"/>
            </a:xfrm>
            <a:prstGeom prst="rect">
              <a:avLst/>
            </a:prstGeom>
          </p:spPr>
        </p:pic>
        <p:sp>
          <p:nvSpPr>
            <p:cNvPr id="21" name="Text 11"/>
            <p:cNvSpPr/>
            <p:nvPr/>
          </p:nvSpPr>
          <p:spPr>
            <a:xfrm>
              <a:off x="16639080" y="6794500"/>
              <a:ext cx="5504021" cy="1693333"/>
            </a:xfrm>
            <a:prstGeom prst="rect">
              <a:avLst/>
            </a:prstGeom>
            <a:noFill/>
            <a:ln/>
          </p:spPr>
          <p:txBody>
            <a:bodyPr wrap="square" lIns="0" tIns="0" rIns="0" bIns="0" rtlCol="0" anchor="t"/>
            <a:lstStyle/>
            <a:p>
              <a:pPr marL="0" indent="0" algn="l">
                <a:lnSpc>
                  <a:spcPts val="6000"/>
                </a:lnSpc>
                <a:buNone/>
              </a:pPr>
              <a:r>
                <a:rPr lang="en-US" sz="4000" kern="0" spc="-80" dirty="0">
                  <a:solidFill>
                    <a:srgbClr val="9559F1">
                      <a:alpha val="100000"/>
                    </a:srgbClr>
                  </a:solidFill>
                  <a:latin typeface="Inter Medium" pitchFamily="34" charset="0"/>
                  <a:ea typeface="Inter Medium" pitchFamily="34" charset="-122"/>
                  <a:cs typeface="Inter Medium" pitchFamily="34" charset="-120"/>
                </a:rPr>
                <a:t>HR, Finance, and Marketing Team Leads</a:t>
              </a:r>
              <a:endParaRPr lang="en-US" sz="4000" dirty="0"/>
            </a:p>
          </p:txBody>
        </p:sp>
        <p:sp>
          <p:nvSpPr>
            <p:cNvPr id="22" name="Text 12"/>
            <p:cNvSpPr/>
            <p:nvPr/>
          </p:nvSpPr>
          <p:spPr>
            <a:xfrm>
              <a:off x="20487661" y="10045700"/>
              <a:ext cx="1930641"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E1D7FD">
                      <a:alpha val="100000"/>
                    </a:srgbClr>
                  </a:solidFill>
                  <a:latin typeface="Inter Regular" pitchFamily="34" charset="0"/>
                  <a:ea typeface="Inter Regular" pitchFamily="34" charset="-122"/>
                  <a:cs typeface="Inter Regular" pitchFamily="34" charset="-120"/>
                </a:rPr>
                <a:t>03</a:t>
              </a:r>
              <a:endParaRPr lang="en-US" sz="9600" dirty="0"/>
            </a:p>
          </p:txBody>
        </p:sp>
        <p:sp>
          <p:nvSpPr>
            <p:cNvPr id="23" name="Text 13"/>
            <p:cNvSpPr/>
            <p:nvPr/>
          </p:nvSpPr>
          <p:spPr>
            <a:xfrm>
              <a:off x="16639080" y="8521700"/>
              <a:ext cx="5275393"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Medium" pitchFamily="34" charset="0"/>
                  <a:ea typeface="Inter Medium" pitchFamily="34" charset="-122"/>
                  <a:cs typeface="Inter Medium" pitchFamily="34" charset="-120"/>
                </a:rPr>
                <a:t>Analysis of department metrics, tracking talent and ROI, and evaluating campaign effectiveness.</a:t>
              </a:r>
              <a:endParaRPr lang="en-US" sz="1600" dirty="0"/>
            </a:p>
          </p:txBody>
        </p:sp>
        <p:sp>
          <p:nvSpPr>
            <p:cNvPr id="24" name="Shape 14"/>
            <p:cNvSpPr/>
            <p:nvPr/>
          </p:nvSpPr>
          <p:spPr>
            <a:xfrm>
              <a:off x="16639080" y="6159500"/>
              <a:ext cx="508063" cy="508000"/>
            </a:xfrm>
            <a:prstGeom prst="rect">
              <a:avLst/>
            </a:prstGeom>
            <a:noFill/>
            <a:ln/>
          </p:spPr>
        </p:sp>
        <p:pic>
          <p:nvPicPr>
            <p:cNvPr id="25" name="Image 8"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6639080" y="6286500"/>
              <a:ext cx="508063" cy="25400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4714" y="2679700"/>
            <a:ext cx="20957619" cy="10477500"/>
          </a:xfrm>
          <a:prstGeom prst="rect">
            <a:avLst/>
          </a:prstGeom>
        </p:spPr>
      </p:pic>
      <p:grpSp>
        <p:nvGrpSpPr>
          <p:cNvPr id="54" name="Group 53">
            <a:extLst>
              <a:ext uri="{FF2B5EF4-FFF2-40B4-BE49-F238E27FC236}">
                <a16:creationId xmlns:a16="http://schemas.microsoft.com/office/drawing/2014/main" id="{9D9B874B-6527-4CF4-84AD-9FE7B23CE877}"/>
              </a:ext>
            </a:extLst>
          </p:cNvPr>
          <p:cNvGrpSpPr/>
          <p:nvPr/>
        </p:nvGrpSpPr>
        <p:grpSpPr>
          <a:xfrm>
            <a:off x="5258457" y="5854700"/>
            <a:ext cx="4267733" cy="1498600"/>
            <a:chOff x="5258457" y="5854700"/>
            <a:chExt cx="4267733" cy="1498600"/>
          </a:xfrm>
        </p:grpSpPr>
        <p:pic>
          <p:nvPicPr>
            <p:cNvPr id="4"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58457" y="5854700"/>
              <a:ext cx="4267733" cy="1498600"/>
            </a:xfrm>
            <a:prstGeom prst="rect">
              <a:avLst/>
            </a:prstGeom>
          </p:spPr>
        </p:pic>
        <p:pic>
          <p:nvPicPr>
            <p:cNvPr id="6" name="Image 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78010" y="6286500"/>
              <a:ext cx="228629" cy="228600"/>
            </a:xfrm>
            <a:prstGeom prst="rect">
              <a:avLst/>
            </a:prstGeom>
          </p:spPr>
        </p:pic>
        <p:sp>
          <p:nvSpPr>
            <p:cNvPr id="11" name="Text 0"/>
            <p:cNvSpPr/>
            <p:nvPr/>
          </p:nvSpPr>
          <p:spPr>
            <a:xfrm>
              <a:off x="6744543" y="6654800"/>
              <a:ext cx="136330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Financial KPIs</a:t>
              </a:r>
              <a:endParaRPr lang="en-US" sz="1600" dirty="0"/>
            </a:p>
          </p:txBody>
        </p:sp>
      </p:grpSp>
      <p:sp>
        <p:nvSpPr>
          <p:cNvPr id="16" name="Text 5"/>
          <p:cNvSpPr/>
          <p:nvPr/>
        </p:nvSpPr>
        <p:spPr>
          <a:xfrm>
            <a:off x="5224586" y="5041900"/>
            <a:ext cx="4335475"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454545">
                    <a:alpha val="100000"/>
                  </a:srgbClr>
                </a:solidFill>
                <a:latin typeface="Inter Regular" pitchFamily="34" charset="0"/>
                <a:ea typeface="Inter Regular" pitchFamily="34" charset="-122"/>
                <a:cs typeface="Inter Regular" pitchFamily="34" charset="-120"/>
              </a:rPr>
              <a:t>Financial KPIs measure profitability, efficiency, and overall financial health.</a:t>
            </a:r>
            <a:endParaRPr lang="en-US" sz="1600" dirty="0"/>
          </a:p>
        </p:txBody>
      </p:sp>
      <p:sp>
        <p:nvSpPr>
          <p:cNvPr id="17" name="Text 6"/>
          <p:cNvSpPr/>
          <p:nvPr/>
        </p:nvSpPr>
        <p:spPr>
          <a:xfrm>
            <a:off x="10025786" y="5041900"/>
            <a:ext cx="4335475"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Track efficiency, throughput, and process performance across departments.</a:t>
            </a:r>
            <a:endParaRPr lang="en-US" sz="1600" dirty="0"/>
          </a:p>
        </p:txBody>
      </p:sp>
      <p:sp>
        <p:nvSpPr>
          <p:cNvPr id="18" name="Text 7"/>
          <p:cNvSpPr/>
          <p:nvPr/>
        </p:nvSpPr>
        <p:spPr>
          <a:xfrm>
            <a:off x="14738075" y="5041900"/>
            <a:ext cx="4335475"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Evaluate satisfaction, retention, and loyalty to optimize the customer journey.</a:t>
            </a:r>
            <a:endParaRPr lang="en-US" sz="1600" dirty="0"/>
          </a:p>
        </p:txBody>
      </p:sp>
      <p:sp>
        <p:nvSpPr>
          <p:cNvPr id="19" name="Text 8"/>
          <p:cNvSpPr/>
          <p:nvPr/>
        </p:nvSpPr>
        <p:spPr>
          <a:xfrm>
            <a:off x="7675993" y="10198100"/>
            <a:ext cx="4335475"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Monitor engagement, turnover, and productivity to improve team performance.</a:t>
            </a:r>
            <a:endParaRPr lang="en-US" sz="1600" dirty="0"/>
          </a:p>
        </p:txBody>
      </p:sp>
      <p:sp>
        <p:nvSpPr>
          <p:cNvPr id="20" name="Text 9"/>
          <p:cNvSpPr/>
          <p:nvPr/>
        </p:nvSpPr>
        <p:spPr>
          <a:xfrm>
            <a:off x="12388282" y="10198100"/>
            <a:ext cx="4335475"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Align long-term initiatives with key metrics like market share and innovation.</a:t>
            </a:r>
            <a:endParaRPr lang="en-US" sz="1600" dirty="0"/>
          </a:p>
        </p:txBody>
      </p:sp>
      <p:pic>
        <p:nvPicPr>
          <p:cNvPr id="21" name="Image 9"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1" y="7918448"/>
            <a:ext cx="24380697" cy="12702"/>
          </a:xfrm>
          <a:prstGeom prst="rect">
            <a:avLst/>
          </a:prstGeom>
        </p:spPr>
      </p:pic>
      <p:pic>
        <p:nvPicPr>
          <p:cNvPr id="22"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85973" y="7346950"/>
            <a:ext cx="12702" cy="584200"/>
          </a:xfrm>
          <a:prstGeom prst="rect">
            <a:avLst/>
          </a:prstGeom>
        </p:spPr>
      </p:pic>
      <p:pic>
        <p:nvPicPr>
          <p:cNvPr id="23" name="Image 1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187173" y="7346950"/>
            <a:ext cx="12702" cy="584200"/>
          </a:xfrm>
          <a:prstGeom prst="rect">
            <a:avLst/>
          </a:prstGeom>
        </p:spPr>
      </p:pic>
      <p:pic>
        <p:nvPicPr>
          <p:cNvPr id="24" name="Image 12"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899462" y="7346950"/>
            <a:ext cx="12702" cy="584200"/>
          </a:xfrm>
          <a:prstGeom prst="rect">
            <a:avLst/>
          </a:prstGeom>
        </p:spPr>
      </p:pic>
      <p:pic>
        <p:nvPicPr>
          <p:cNvPr id="25" name="Image 13"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837380" y="7918450"/>
            <a:ext cx="12702" cy="584200"/>
          </a:xfrm>
          <a:prstGeom prst="rect">
            <a:avLst/>
          </a:prstGeom>
        </p:spPr>
      </p:pic>
      <p:pic>
        <p:nvPicPr>
          <p:cNvPr id="26" name="Image 1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549668" y="7918450"/>
            <a:ext cx="12702" cy="584200"/>
          </a:xfrm>
          <a:prstGeom prst="rect">
            <a:avLst/>
          </a:prstGeom>
        </p:spPr>
      </p:pic>
      <p:sp>
        <p:nvSpPr>
          <p:cNvPr id="27" name="Shape 10"/>
          <p:cNvSpPr/>
          <p:nvPr/>
        </p:nvSpPr>
        <p:spPr>
          <a:xfrm>
            <a:off x="7354219" y="7886700"/>
            <a:ext cx="76210" cy="76200"/>
          </a:xfrm>
          <a:prstGeom prst="ellipse">
            <a:avLst/>
          </a:prstGeom>
          <a:solidFill>
            <a:srgbClr val="E1D7FD">
              <a:alpha val="100000"/>
            </a:srgbClr>
          </a:solidFill>
          <a:ln/>
        </p:spPr>
      </p:sp>
      <p:sp>
        <p:nvSpPr>
          <p:cNvPr id="28" name="Shape 11"/>
          <p:cNvSpPr/>
          <p:nvPr/>
        </p:nvSpPr>
        <p:spPr>
          <a:xfrm>
            <a:off x="7354219" y="7315200"/>
            <a:ext cx="76210" cy="76200"/>
          </a:xfrm>
          <a:prstGeom prst="ellipse">
            <a:avLst/>
          </a:prstGeom>
          <a:solidFill>
            <a:srgbClr val="E1D7FD">
              <a:alpha val="100000"/>
            </a:srgbClr>
          </a:solidFill>
          <a:ln/>
        </p:spPr>
      </p:sp>
      <p:sp>
        <p:nvSpPr>
          <p:cNvPr id="29" name="Shape 12"/>
          <p:cNvSpPr/>
          <p:nvPr/>
        </p:nvSpPr>
        <p:spPr>
          <a:xfrm>
            <a:off x="9805626" y="8458200"/>
            <a:ext cx="76210" cy="76200"/>
          </a:xfrm>
          <a:prstGeom prst="ellipse">
            <a:avLst/>
          </a:prstGeom>
          <a:solidFill>
            <a:srgbClr val="E1D7FD">
              <a:alpha val="100000"/>
            </a:srgbClr>
          </a:solidFill>
          <a:ln/>
        </p:spPr>
      </p:sp>
      <p:sp>
        <p:nvSpPr>
          <p:cNvPr id="30" name="Shape 13"/>
          <p:cNvSpPr/>
          <p:nvPr/>
        </p:nvSpPr>
        <p:spPr>
          <a:xfrm>
            <a:off x="9805626" y="7886700"/>
            <a:ext cx="76210" cy="76200"/>
          </a:xfrm>
          <a:prstGeom prst="ellipse">
            <a:avLst/>
          </a:prstGeom>
          <a:solidFill>
            <a:srgbClr val="E1D7FD">
              <a:alpha val="100000"/>
            </a:srgbClr>
          </a:solidFill>
          <a:ln/>
        </p:spPr>
      </p:sp>
      <p:sp>
        <p:nvSpPr>
          <p:cNvPr id="31" name="Shape 14"/>
          <p:cNvSpPr/>
          <p:nvPr/>
        </p:nvSpPr>
        <p:spPr>
          <a:xfrm>
            <a:off x="12155419" y="7886700"/>
            <a:ext cx="76210" cy="76200"/>
          </a:xfrm>
          <a:prstGeom prst="ellipse">
            <a:avLst/>
          </a:prstGeom>
          <a:solidFill>
            <a:srgbClr val="E1D7FD">
              <a:alpha val="100000"/>
            </a:srgbClr>
          </a:solidFill>
          <a:ln/>
        </p:spPr>
      </p:sp>
      <p:sp>
        <p:nvSpPr>
          <p:cNvPr id="32" name="Shape 15"/>
          <p:cNvSpPr/>
          <p:nvPr/>
        </p:nvSpPr>
        <p:spPr>
          <a:xfrm>
            <a:off x="12155419" y="7315200"/>
            <a:ext cx="76210" cy="76200"/>
          </a:xfrm>
          <a:prstGeom prst="ellipse">
            <a:avLst/>
          </a:prstGeom>
          <a:solidFill>
            <a:srgbClr val="E1D7FD">
              <a:alpha val="100000"/>
            </a:srgbClr>
          </a:solidFill>
          <a:ln/>
        </p:spPr>
      </p:sp>
      <p:sp>
        <p:nvSpPr>
          <p:cNvPr id="33" name="Shape 16"/>
          <p:cNvSpPr/>
          <p:nvPr/>
        </p:nvSpPr>
        <p:spPr>
          <a:xfrm>
            <a:off x="16867708" y="7886700"/>
            <a:ext cx="76210" cy="76200"/>
          </a:xfrm>
          <a:prstGeom prst="ellipse">
            <a:avLst/>
          </a:prstGeom>
          <a:solidFill>
            <a:srgbClr val="E1D7FD">
              <a:alpha val="100000"/>
            </a:srgbClr>
          </a:solidFill>
          <a:ln/>
        </p:spPr>
      </p:sp>
      <p:sp>
        <p:nvSpPr>
          <p:cNvPr id="34" name="Shape 17"/>
          <p:cNvSpPr/>
          <p:nvPr/>
        </p:nvSpPr>
        <p:spPr>
          <a:xfrm>
            <a:off x="16867708" y="7315200"/>
            <a:ext cx="76210" cy="76200"/>
          </a:xfrm>
          <a:prstGeom prst="ellipse">
            <a:avLst/>
          </a:prstGeom>
          <a:solidFill>
            <a:srgbClr val="E1D7FD">
              <a:alpha val="100000"/>
            </a:srgbClr>
          </a:solidFill>
          <a:ln/>
        </p:spPr>
      </p:sp>
      <p:sp>
        <p:nvSpPr>
          <p:cNvPr id="35" name="Shape 18"/>
          <p:cNvSpPr/>
          <p:nvPr/>
        </p:nvSpPr>
        <p:spPr>
          <a:xfrm>
            <a:off x="14517915" y="8458200"/>
            <a:ext cx="76210" cy="76200"/>
          </a:xfrm>
          <a:prstGeom prst="ellipse">
            <a:avLst/>
          </a:prstGeom>
          <a:solidFill>
            <a:srgbClr val="E1D7FD">
              <a:alpha val="100000"/>
            </a:srgbClr>
          </a:solidFill>
          <a:ln/>
        </p:spPr>
      </p:sp>
      <p:sp>
        <p:nvSpPr>
          <p:cNvPr id="36" name="Shape 19"/>
          <p:cNvSpPr/>
          <p:nvPr/>
        </p:nvSpPr>
        <p:spPr>
          <a:xfrm>
            <a:off x="14517915" y="7886700"/>
            <a:ext cx="76210" cy="76200"/>
          </a:xfrm>
          <a:prstGeom prst="ellipse">
            <a:avLst/>
          </a:prstGeom>
          <a:solidFill>
            <a:srgbClr val="E1D7FD">
              <a:alpha val="100000"/>
            </a:srgbClr>
          </a:solidFill>
          <a:ln/>
        </p:spPr>
      </p:sp>
      <p:grpSp>
        <p:nvGrpSpPr>
          <p:cNvPr id="53" name="Group 52">
            <a:extLst>
              <a:ext uri="{FF2B5EF4-FFF2-40B4-BE49-F238E27FC236}">
                <a16:creationId xmlns:a16="http://schemas.microsoft.com/office/drawing/2014/main" id="{F9796C07-0483-4F8B-977B-18A11BAC332E}"/>
              </a:ext>
            </a:extLst>
          </p:cNvPr>
          <p:cNvGrpSpPr/>
          <p:nvPr/>
        </p:nvGrpSpPr>
        <p:grpSpPr>
          <a:xfrm>
            <a:off x="10059657" y="5854700"/>
            <a:ext cx="4267733" cy="1498600"/>
            <a:chOff x="10059657" y="5854700"/>
            <a:chExt cx="4267733" cy="1498600"/>
          </a:xfrm>
        </p:grpSpPr>
        <p:pic>
          <p:nvPicPr>
            <p:cNvPr id="7"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059657" y="5854700"/>
              <a:ext cx="4267733" cy="1498600"/>
            </a:xfrm>
            <a:prstGeom prst="rect">
              <a:avLst/>
            </a:prstGeom>
          </p:spPr>
        </p:pic>
        <p:sp>
          <p:nvSpPr>
            <p:cNvPr id="12" name="Text 1"/>
            <p:cNvSpPr/>
            <p:nvPr/>
          </p:nvSpPr>
          <p:spPr>
            <a:xfrm>
              <a:off x="11418727" y="6654800"/>
              <a:ext cx="160463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54545">
                      <a:alpha val="100000"/>
                    </a:srgbClr>
                  </a:solidFill>
                  <a:latin typeface="Inter Regular" pitchFamily="34" charset="0"/>
                  <a:ea typeface="Inter Regular" pitchFamily="34" charset="-122"/>
                  <a:cs typeface="Inter Regular" pitchFamily="34" charset="-120"/>
                </a:rPr>
                <a:t>Operational KPIs</a:t>
              </a:r>
              <a:endParaRPr lang="en-US" sz="1600" dirty="0"/>
            </a:p>
          </p:txBody>
        </p:sp>
        <p:pic>
          <p:nvPicPr>
            <p:cNvPr id="38" name="Image 1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066508" y="6273800"/>
              <a:ext cx="266101" cy="266700"/>
            </a:xfrm>
            <a:prstGeom prst="rect">
              <a:avLst/>
            </a:prstGeom>
          </p:spPr>
        </p:pic>
      </p:grpSp>
      <p:grpSp>
        <p:nvGrpSpPr>
          <p:cNvPr id="52" name="Group 51">
            <a:extLst>
              <a:ext uri="{FF2B5EF4-FFF2-40B4-BE49-F238E27FC236}">
                <a16:creationId xmlns:a16="http://schemas.microsoft.com/office/drawing/2014/main" id="{F01FC78E-E6C4-422D-96AA-49E429D8152B}"/>
              </a:ext>
            </a:extLst>
          </p:cNvPr>
          <p:cNvGrpSpPr/>
          <p:nvPr/>
        </p:nvGrpSpPr>
        <p:grpSpPr>
          <a:xfrm>
            <a:off x="14771946" y="5854700"/>
            <a:ext cx="4267733" cy="1498600"/>
            <a:chOff x="14771946" y="5854700"/>
            <a:chExt cx="4267733" cy="1498600"/>
          </a:xfrm>
        </p:grpSpPr>
        <p:pic>
          <p:nvPicPr>
            <p:cNvPr id="8" name="Image 6" descr=" "/>
            <p:cNvPicPr>
              <a:picLocks noChangeAspect="1"/>
            </p:cNvPicPr>
            <p:nvPr/>
          </p:nvPicPr>
          <p:blipFill>
            <a:blip r:embed="rId13">
              <a:extLst>
                <a:ext uri="{96DAC541-7B7A-43D3-8B79-37D633B846F1}">
                  <asvg:svgBlip xmlns:asvg="http://schemas.microsoft.com/office/drawing/2016/SVG/main" r:embed="rId17"/>
                </a:ext>
              </a:extLst>
            </a:blip>
            <a:stretch>
              <a:fillRect/>
            </a:stretch>
          </p:blipFill>
          <p:spPr>
            <a:xfrm>
              <a:off x="14771946" y="5854700"/>
              <a:ext cx="4267733" cy="1498600"/>
            </a:xfrm>
            <a:prstGeom prst="rect">
              <a:avLst/>
            </a:prstGeom>
          </p:spPr>
        </p:pic>
        <p:sp>
          <p:nvSpPr>
            <p:cNvPr id="13" name="Text 2"/>
            <p:cNvSpPr/>
            <p:nvPr/>
          </p:nvSpPr>
          <p:spPr>
            <a:xfrm>
              <a:off x="16219927" y="6654800"/>
              <a:ext cx="14395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54545">
                      <a:alpha val="100000"/>
                    </a:srgbClr>
                  </a:solidFill>
                  <a:latin typeface="Inter Regular" pitchFamily="34" charset="0"/>
                  <a:ea typeface="Inter Regular" pitchFamily="34" charset="-122"/>
                  <a:cs typeface="Inter Regular" pitchFamily="34" charset="-120"/>
                </a:rPr>
                <a:t>Customer KPIs</a:t>
              </a:r>
              <a:endParaRPr lang="en-US" sz="1600" dirty="0"/>
            </a:p>
          </p:txBody>
        </p:sp>
        <p:pic>
          <p:nvPicPr>
            <p:cNvPr id="40" name="Image 18"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6804200" y="6299200"/>
              <a:ext cx="203225" cy="203200"/>
            </a:xfrm>
            <a:prstGeom prst="rect">
              <a:avLst/>
            </a:prstGeom>
          </p:spPr>
        </p:pic>
      </p:grpSp>
      <p:grpSp>
        <p:nvGrpSpPr>
          <p:cNvPr id="50" name="Group 49">
            <a:extLst>
              <a:ext uri="{FF2B5EF4-FFF2-40B4-BE49-F238E27FC236}">
                <a16:creationId xmlns:a16="http://schemas.microsoft.com/office/drawing/2014/main" id="{F7835BF0-8D5A-459F-85C2-9573CDC9D708}"/>
              </a:ext>
            </a:extLst>
          </p:cNvPr>
          <p:cNvGrpSpPr/>
          <p:nvPr/>
        </p:nvGrpSpPr>
        <p:grpSpPr>
          <a:xfrm>
            <a:off x="7709864" y="8496300"/>
            <a:ext cx="4267733" cy="1498600"/>
            <a:chOff x="7709864" y="8496300"/>
            <a:chExt cx="4267733" cy="1498600"/>
          </a:xfrm>
        </p:grpSpPr>
        <p:pic>
          <p:nvPicPr>
            <p:cNvPr id="9" name="Image 7" descr=" "/>
            <p:cNvPicPr>
              <a:picLocks noChangeAspect="1"/>
            </p:cNvPicPr>
            <p:nvPr/>
          </p:nvPicPr>
          <p:blipFill>
            <a:blip r:embed="rId13">
              <a:extLst>
                <a:ext uri="{96DAC541-7B7A-43D3-8B79-37D633B846F1}">
                  <asvg:svgBlip xmlns:asvg="http://schemas.microsoft.com/office/drawing/2016/SVG/main" r:embed="rId20"/>
                </a:ext>
              </a:extLst>
            </a:blip>
            <a:stretch>
              <a:fillRect/>
            </a:stretch>
          </p:blipFill>
          <p:spPr>
            <a:xfrm>
              <a:off x="7709864" y="8496300"/>
              <a:ext cx="4267733" cy="1498600"/>
            </a:xfrm>
            <a:prstGeom prst="rect">
              <a:avLst/>
            </a:prstGeom>
          </p:spPr>
        </p:pic>
        <p:sp>
          <p:nvSpPr>
            <p:cNvPr id="14" name="Text 3"/>
            <p:cNvSpPr/>
            <p:nvPr/>
          </p:nvSpPr>
          <p:spPr>
            <a:xfrm>
              <a:off x="9157845" y="9296400"/>
              <a:ext cx="14395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54545">
                      <a:alpha val="100000"/>
                    </a:srgbClr>
                  </a:solidFill>
                  <a:latin typeface="Inter Regular" pitchFamily="34" charset="0"/>
                  <a:ea typeface="Inter Regular" pitchFamily="34" charset="-122"/>
                  <a:cs typeface="Inter Regular" pitchFamily="34" charset="-120"/>
                </a:rPr>
                <a:t>Employee KPIs</a:t>
              </a:r>
              <a:endParaRPr lang="en-US" sz="1600" dirty="0"/>
            </a:p>
          </p:txBody>
        </p:sp>
        <p:pic>
          <p:nvPicPr>
            <p:cNvPr id="42" name="Image 2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729416" y="8940800"/>
              <a:ext cx="228629" cy="254000"/>
            </a:xfrm>
            <a:prstGeom prst="rect">
              <a:avLst/>
            </a:prstGeom>
          </p:spPr>
        </p:pic>
      </p:grpSp>
      <p:grpSp>
        <p:nvGrpSpPr>
          <p:cNvPr id="51" name="Group 50">
            <a:extLst>
              <a:ext uri="{FF2B5EF4-FFF2-40B4-BE49-F238E27FC236}">
                <a16:creationId xmlns:a16="http://schemas.microsoft.com/office/drawing/2014/main" id="{EB3E5B7C-D7D2-4F32-BE7A-31106110CA41}"/>
              </a:ext>
            </a:extLst>
          </p:cNvPr>
          <p:cNvGrpSpPr/>
          <p:nvPr/>
        </p:nvGrpSpPr>
        <p:grpSpPr>
          <a:xfrm>
            <a:off x="12422153" y="8496300"/>
            <a:ext cx="4267733" cy="1498600"/>
            <a:chOff x="12422153" y="8496300"/>
            <a:chExt cx="4267733" cy="1498600"/>
          </a:xfrm>
        </p:grpSpPr>
        <p:pic>
          <p:nvPicPr>
            <p:cNvPr id="10" name="Image 8" descr=" "/>
            <p:cNvPicPr>
              <a:picLocks noChangeAspect="1"/>
            </p:cNvPicPr>
            <p:nvPr/>
          </p:nvPicPr>
          <p:blipFill>
            <a:blip r:embed="rId13">
              <a:extLst>
                <a:ext uri="{96DAC541-7B7A-43D3-8B79-37D633B846F1}">
                  <asvg:svgBlip xmlns:asvg="http://schemas.microsoft.com/office/drawing/2016/SVG/main" r:embed="rId23"/>
                </a:ext>
              </a:extLst>
            </a:blip>
            <a:stretch>
              <a:fillRect/>
            </a:stretch>
          </p:blipFill>
          <p:spPr>
            <a:xfrm>
              <a:off x="12422153" y="8496300"/>
              <a:ext cx="4267733" cy="1498600"/>
            </a:xfrm>
            <a:prstGeom prst="rect">
              <a:avLst/>
            </a:prstGeom>
          </p:spPr>
        </p:pic>
        <p:sp>
          <p:nvSpPr>
            <p:cNvPr id="15" name="Text 4"/>
            <p:cNvSpPr/>
            <p:nvPr/>
          </p:nvSpPr>
          <p:spPr>
            <a:xfrm>
              <a:off x="13323965" y="9296400"/>
              <a:ext cx="251914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54545">
                      <a:alpha val="100000"/>
                    </a:srgbClr>
                  </a:solidFill>
                  <a:latin typeface="Inter Regular" pitchFamily="34" charset="0"/>
                  <a:ea typeface="Inter Regular" pitchFamily="34" charset="-122"/>
                  <a:cs typeface="Inter Regular" pitchFamily="34" charset="-120"/>
                </a:rPr>
                <a:t>Growth &amp; Strategy Metrics</a:t>
              </a:r>
              <a:endParaRPr lang="en-US" sz="1600" dirty="0"/>
            </a:p>
          </p:txBody>
        </p:sp>
        <p:pic>
          <p:nvPicPr>
            <p:cNvPr id="44" name="Image 22"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4429003" y="9004300"/>
              <a:ext cx="254032" cy="152400"/>
            </a:xfrm>
            <a:prstGeom prst="rect">
              <a:avLst/>
            </a:prstGeom>
          </p:spPr>
        </p:pic>
      </p:grpSp>
      <p:sp>
        <p:nvSpPr>
          <p:cNvPr id="45" name="Text 20"/>
          <p:cNvSpPr/>
          <p:nvPr/>
        </p:nvSpPr>
        <p:spPr>
          <a:xfrm>
            <a:off x="1524191" y="1524000"/>
            <a:ext cx="6007851"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KPI Categories for Analysis</a:t>
            </a:r>
            <a:endParaRPr lang="en-US" sz="6000" dirty="0"/>
          </a:p>
        </p:txBody>
      </p:sp>
      <p:sp>
        <p:nvSpPr>
          <p:cNvPr id="46" name="Text 21"/>
          <p:cNvSpPr/>
          <p:nvPr/>
        </p:nvSpPr>
        <p:spPr>
          <a:xfrm>
            <a:off x="15025978" y="1524000"/>
            <a:ext cx="790462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 comprehensive and integrated perspective that encompasses financial metrics, operational efficiency, and strategic outcomes to provide a complete understanding of organizational performance.</a:t>
            </a:r>
            <a:endParaRPr lang="en-US" sz="1600" dirty="0"/>
          </a:p>
        </p:txBody>
      </p:sp>
      <p:pic>
        <p:nvPicPr>
          <p:cNvPr id="48" name="Graphic 47">
            <a:extLst>
              <a:ext uri="{FF2B5EF4-FFF2-40B4-BE49-F238E27FC236}">
                <a16:creationId xmlns:a16="http://schemas.microsoft.com/office/drawing/2014/main" id="{9E733B3C-1F7B-4CD2-966D-89194A497A8C}"/>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798" y="4433993"/>
            <a:ext cx="2585221" cy="6819394"/>
          </a:xfrm>
          <a:prstGeom prst="rect">
            <a:avLst/>
          </a:prstGeom>
        </p:spPr>
      </p:pic>
      <p:pic>
        <p:nvPicPr>
          <p:cNvPr id="49" name="Graphic 48">
            <a:extLst>
              <a:ext uri="{FF2B5EF4-FFF2-40B4-BE49-F238E27FC236}">
                <a16:creationId xmlns:a16="http://schemas.microsoft.com/office/drawing/2014/main" id="{B24CAFFD-5C55-4586-9075-1149298F87D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flipH="1">
            <a:off x="21776394" y="4464370"/>
            <a:ext cx="2585221" cy="68193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019"/>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096337" y="7340600"/>
            <a:ext cx="1079635" cy="825500"/>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02613" y="4762500"/>
            <a:ext cx="1041530" cy="787400"/>
          </a:xfrm>
          <a:prstGeom prst="rect">
            <a:avLst/>
          </a:prstGeom>
        </p:spPr>
      </p:pic>
      <p:sp>
        <p:nvSpPr>
          <p:cNvPr id="4" name="Text 0"/>
          <p:cNvSpPr/>
          <p:nvPr/>
        </p:nvSpPr>
        <p:spPr>
          <a:xfrm>
            <a:off x="4390515" y="4902200"/>
            <a:ext cx="15606017" cy="3539067"/>
          </a:xfrm>
          <a:prstGeom prst="rect">
            <a:avLst/>
          </a:prstGeom>
          <a:noFill/>
          <a:ln/>
        </p:spPr>
        <p:txBody>
          <a:bodyPr wrap="square" lIns="0" tIns="0" rIns="0" bIns="0" rtlCol="0" anchor="t"/>
          <a:lstStyle/>
          <a:p>
            <a:pPr marL="0" indent="0" algn="ctr">
              <a:lnSpc>
                <a:spcPts val="12100"/>
              </a:lnSpc>
              <a:buNone/>
            </a:pPr>
            <a:r>
              <a:rPr lang="en-US" sz="11000" kern="0" spc="-220" dirty="0">
                <a:solidFill>
                  <a:srgbClr val="FFFFFF">
                    <a:alpha val="100000"/>
                  </a:srgbClr>
                </a:solidFill>
                <a:latin typeface="Mona Sans Medium" pitchFamily="34" charset="0"/>
                <a:ea typeface="Mona Sans Medium" pitchFamily="34" charset="-122"/>
                <a:cs typeface="Mona Sans Medium" pitchFamily="34" charset="-120"/>
              </a:rPr>
              <a:t>What gets </a:t>
            </a:r>
            <a:r>
              <a:rPr lang="en-US" sz="11000" kern="0" spc="-220" dirty="0">
                <a:solidFill>
                  <a:srgbClr val="9559F1">
                    <a:alpha val="100000"/>
                  </a:srgbClr>
                </a:solidFill>
                <a:latin typeface="Mona Sans Medium" pitchFamily="34" charset="0"/>
                <a:ea typeface="Mona Sans Medium" pitchFamily="34" charset="-122"/>
                <a:cs typeface="Mona Sans Medium" pitchFamily="34" charset="-120"/>
              </a:rPr>
              <a:t>measured</a:t>
            </a:r>
            <a:r>
              <a:rPr lang="en-US" sz="11000" kern="0" spc="-220" dirty="0">
                <a:solidFill>
                  <a:srgbClr val="FFFFFF">
                    <a:alpha val="100000"/>
                  </a:srgbClr>
                </a:solidFill>
                <a:latin typeface="Mona Sans Medium" pitchFamily="34" charset="0"/>
                <a:ea typeface="Mona Sans Medium" pitchFamily="34" charset="-122"/>
                <a:cs typeface="Mona Sans Medium" pitchFamily="34" charset="-120"/>
              </a:rPr>
              <a:t>, gets </a:t>
            </a:r>
            <a:r>
              <a:rPr lang="en-US" sz="11000" kern="0" spc="-220" dirty="0">
                <a:solidFill>
                  <a:srgbClr val="6925B2">
                    <a:alpha val="100000"/>
                  </a:srgbClr>
                </a:solidFill>
                <a:latin typeface="Mona Sans Medium" pitchFamily="34" charset="0"/>
                <a:ea typeface="Mona Sans Medium" pitchFamily="34" charset="-122"/>
                <a:cs typeface="Mona Sans Medium" pitchFamily="34" charset="-120"/>
              </a:rPr>
              <a:t>managed.</a:t>
            </a:r>
            <a:endParaRPr lang="en-US" sz="11000" dirty="0"/>
          </a:p>
        </p:txBody>
      </p:sp>
      <p:sp>
        <p:nvSpPr>
          <p:cNvPr id="5" name="Text 1"/>
          <p:cNvSpPr/>
          <p:nvPr/>
        </p:nvSpPr>
        <p:spPr>
          <a:xfrm>
            <a:off x="4581039" y="8102600"/>
            <a:ext cx="15224970" cy="465667"/>
          </a:xfrm>
          <a:prstGeom prst="rect">
            <a:avLst/>
          </a:prstGeom>
          <a:noFill/>
          <a:ln/>
        </p:spPr>
        <p:txBody>
          <a:bodyPr wrap="square" lIns="0" tIns="0" rIns="0" bIns="0" rtlCol="0" anchor="t"/>
          <a:lstStyle/>
          <a:p>
            <a:pPr marL="0" indent="0" algn="ctr">
              <a:lnSpc>
                <a:spcPts val="3000"/>
              </a:lnSpc>
              <a:buNone/>
            </a:pPr>
            <a:r>
              <a:rPr lang="en-US" sz="2000" kern="0" spc="-40" dirty="0">
                <a:solidFill>
                  <a:srgbClr val="85808C">
                    <a:alpha val="100000"/>
                  </a:srgbClr>
                </a:solidFill>
                <a:latin typeface="Inter Medium" pitchFamily="34" charset="0"/>
                <a:ea typeface="Inter Medium" pitchFamily="34" charset="-122"/>
                <a:cs typeface="Inter Medium" pitchFamily="34" charset="-120"/>
              </a:rPr>
              <a:t>Peter Drucker</a:t>
            </a:r>
            <a:endParaRPr lang="en-US" sz="2000" dirty="0"/>
          </a:p>
        </p:txBody>
      </p:sp>
      <p:pic>
        <p:nvPicPr>
          <p:cNvPr id="6"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0"/>
            <a:ext cx="24387048" cy="5657850"/>
          </a:xfrm>
          <a:prstGeom prst="rect">
            <a:avLst/>
          </a:prstGeom>
        </p:spPr>
      </p:pic>
      <p:pic>
        <p:nvPicPr>
          <p:cNvPr id="7"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0" y="7740650"/>
            <a:ext cx="24387048" cy="5664200"/>
          </a:xfrm>
          <a:prstGeom prst="rect">
            <a:avLst/>
          </a:prstGeom>
        </p:spPr>
      </p:pic>
      <p:sp>
        <p:nvSpPr>
          <p:cNvPr id="8" name="Text 2"/>
          <p:cNvSpPr/>
          <p:nvPr/>
        </p:nvSpPr>
        <p:spPr>
          <a:xfrm>
            <a:off x="17756819" y="12065000"/>
            <a:ext cx="520341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706580">
                    <a:alpha val="100000"/>
                  </a:srgbClr>
                </a:solidFill>
                <a:latin typeface="Inter Regular" pitchFamily="34" charset="0"/>
                <a:ea typeface="Inter Regular" pitchFamily="34" charset="-122"/>
                <a:cs typeface="Inter Regular" pitchFamily="34" charset="-120"/>
              </a:rPr>
              <a:t>A transition into the heart of KPI dashboards</a:t>
            </a:r>
            <a:endParaRPr lang="en-US" sz="2000" dirty="0"/>
          </a:p>
        </p:txBody>
      </p:sp>
      <p:sp>
        <p:nvSpPr>
          <p:cNvPr id="9" name="Text 3"/>
          <p:cNvSpPr/>
          <p:nvPr/>
        </p:nvSpPr>
        <p:spPr>
          <a:xfrm>
            <a:off x="1524191" y="1778000"/>
            <a:ext cx="79596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706580">
                    <a:alpha val="100000"/>
                  </a:srgbClr>
                </a:solidFill>
                <a:latin typeface="Inter Regular" pitchFamily="34" charset="0"/>
                <a:ea typeface="Inter Regular" pitchFamily="34" charset="-122"/>
                <a:cs typeface="Inter Regular" pitchFamily="34" charset="-120"/>
              </a:rPr>
              <a:t>Quote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graphicFrame>
        <p:nvGraphicFramePr>
          <p:cNvPr id="46" name="Chart 45">
            <a:extLst>
              <a:ext uri="{FF2B5EF4-FFF2-40B4-BE49-F238E27FC236}">
                <a16:creationId xmlns:a16="http://schemas.microsoft.com/office/drawing/2014/main" id="{4FA9770C-796A-41D8-A6CB-46450785D5C6}"/>
              </a:ext>
            </a:extLst>
          </p:cNvPr>
          <p:cNvGraphicFramePr/>
          <p:nvPr>
            <p:extLst>
              <p:ext uri="{D42A27DB-BD31-4B8C-83A1-F6EECF244321}">
                <p14:modId xmlns:p14="http://schemas.microsoft.com/office/powerpoint/2010/main" val="3385949766"/>
              </p:ext>
            </p:extLst>
          </p:nvPr>
        </p:nvGraphicFramePr>
        <p:xfrm>
          <a:off x="14122047" y="3714045"/>
          <a:ext cx="8808552" cy="5859638"/>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0"/>
          <p:cNvSpPr/>
          <p:nvPr/>
        </p:nvSpPr>
        <p:spPr>
          <a:xfrm>
            <a:off x="1511489" y="15240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Financial KPI Dashboard Overview</a:t>
            </a:r>
            <a:endParaRPr lang="en-US" sz="6000" dirty="0"/>
          </a:p>
        </p:txBody>
      </p:sp>
      <p:sp>
        <p:nvSpPr>
          <p:cNvPr id="3" name="Text 1"/>
          <p:cNvSpPr/>
          <p:nvPr/>
        </p:nvSpPr>
        <p:spPr>
          <a:xfrm>
            <a:off x="15025978" y="1524000"/>
            <a:ext cx="790462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Medium" pitchFamily="34" charset="0"/>
                <a:ea typeface="Inter Medium" pitchFamily="34" charset="-122"/>
                <a:cs typeface="Inter Medium" pitchFamily="34" charset="-120"/>
              </a:rPr>
              <a:t>Monitor cash flow, profit margins, and overall profitability across various departments and quarterly periods to facilitate well-informed budgeting, strategic investment decisions, and comprehensive financial planning.</a:t>
            </a:r>
            <a:endParaRPr lang="en-US" sz="1600" dirty="0"/>
          </a:p>
        </p:txBody>
      </p:sp>
      <p:sp>
        <p:nvSpPr>
          <p:cNvPr id="4" name="Text 2"/>
          <p:cNvSpPr/>
          <p:nvPr/>
        </p:nvSpPr>
        <p:spPr>
          <a:xfrm>
            <a:off x="1511489" y="10147300"/>
            <a:ext cx="3111889"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888888">
                    <a:alpha val="100000"/>
                  </a:srgbClr>
                </a:solidFill>
                <a:latin typeface="Inter Regular" pitchFamily="34" charset="0"/>
                <a:ea typeface="Inter Regular" pitchFamily="34" charset="-122"/>
                <a:cs typeface="Inter Regular" pitchFamily="34" charset="-120"/>
              </a:rPr>
              <a:t>5.0%</a:t>
            </a:r>
            <a:endParaRPr lang="en-US" sz="9600" dirty="0"/>
          </a:p>
        </p:txBody>
      </p:sp>
      <p:sp>
        <p:nvSpPr>
          <p:cNvPr id="5" name="Text 3"/>
          <p:cNvSpPr/>
          <p:nvPr/>
        </p:nvSpPr>
        <p:spPr>
          <a:xfrm>
            <a:off x="4416046" y="10604500"/>
            <a:ext cx="1769755"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margin dipped in Q2 due to OPEX spike</a:t>
            </a:r>
            <a:endParaRPr lang="en-US" sz="1600" dirty="0"/>
          </a:p>
        </p:txBody>
      </p:sp>
      <p:sp>
        <p:nvSpPr>
          <p:cNvPr id="6" name="Text 4"/>
          <p:cNvSpPr/>
          <p:nvPr/>
        </p:nvSpPr>
        <p:spPr>
          <a:xfrm>
            <a:off x="14073359" y="11264900"/>
            <a:ext cx="589777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Expenses outpaced revenue in March review vendor contracts.</a:t>
            </a:r>
            <a:endParaRPr lang="en-US" sz="1600" dirty="0"/>
          </a:p>
        </p:txBody>
      </p:sp>
      <p:sp>
        <p:nvSpPr>
          <p:cNvPr id="7" name="Text 5"/>
          <p:cNvSpPr/>
          <p:nvPr/>
        </p:nvSpPr>
        <p:spPr>
          <a:xfrm>
            <a:off x="14321040" y="10655300"/>
            <a:ext cx="11473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Watchpoint</a:t>
            </a:r>
            <a:endParaRPr lang="en-US" sz="1600" dirty="0"/>
          </a:p>
        </p:txBody>
      </p:sp>
      <p:sp>
        <p:nvSpPr>
          <p:cNvPr id="8" name="Text 6"/>
          <p:cNvSpPr/>
          <p:nvPr/>
        </p:nvSpPr>
        <p:spPr>
          <a:xfrm>
            <a:off x="1511489" y="3429000"/>
            <a:ext cx="7383856" cy="12869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Since the end of the first quarter, profit margins have shown a consistent upward trend, primarily driven by a significant reduction in overhead costs. This positive shift reflects our strategic efforts to streamline operations and enhance efficiency, ultimately leading to improved financial performance.</a:t>
            </a:r>
            <a:endParaRPr lang="en-US" sz="1600" dirty="0"/>
          </a:p>
        </p:txBody>
      </p:sp>
      <p:pic>
        <p:nvPicPr>
          <p:cNvPr id="10" name="Image 1"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70234" y="4474210"/>
            <a:ext cx="8598975" cy="12700"/>
          </a:xfrm>
          <a:prstGeom prst="rect">
            <a:avLst/>
          </a:prstGeom>
        </p:spPr>
      </p:pic>
      <p:pic>
        <p:nvPicPr>
          <p:cNvPr id="11" name="Image 2"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067008" y="3727450"/>
            <a:ext cx="12702" cy="5727700"/>
          </a:xfrm>
          <a:prstGeom prst="rect">
            <a:avLst/>
          </a:prstGeom>
        </p:spPr>
      </p:pic>
      <p:pic>
        <p:nvPicPr>
          <p:cNvPr id="12" name="Image 3" descr=" "/>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15565795" y="3727450"/>
            <a:ext cx="12702" cy="5727700"/>
          </a:xfrm>
          <a:prstGeom prst="rect">
            <a:avLst/>
          </a:prstGeom>
        </p:spPr>
      </p:pic>
      <p:pic>
        <p:nvPicPr>
          <p:cNvPr id="13" name="Image 4" descr=" "/>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17051881" y="3727450"/>
            <a:ext cx="12702" cy="5727700"/>
          </a:xfrm>
          <a:prstGeom prst="rect">
            <a:avLst/>
          </a:prstGeom>
        </p:spPr>
      </p:pic>
      <p:pic>
        <p:nvPicPr>
          <p:cNvPr id="14" name="Image 5" descr=" "/>
          <p:cNvPicPr>
            <a:picLocks noChangeAspect="1"/>
          </p:cNvPicPr>
          <p:nvPr/>
        </p:nvPicPr>
        <p:blipFill>
          <a:blip r:embed="rId6">
            <a:extLst>
              <a:ext uri="{96DAC541-7B7A-43D3-8B79-37D633B846F1}">
                <asvg:svgBlip xmlns:asvg="http://schemas.microsoft.com/office/drawing/2016/SVG/main" r:embed="rId10"/>
              </a:ext>
            </a:extLst>
          </a:blip>
          <a:stretch>
            <a:fillRect/>
          </a:stretch>
        </p:blipFill>
        <p:spPr>
          <a:xfrm>
            <a:off x="18474459" y="3727450"/>
            <a:ext cx="12702" cy="5727700"/>
          </a:xfrm>
          <a:prstGeom prst="rect">
            <a:avLst/>
          </a:prstGeom>
        </p:spPr>
      </p:pic>
      <p:pic>
        <p:nvPicPr>
          <p:cNvPr id="15" name="Image 6" descr=" "/>
          <p:cNvPicPr>
            <a:picLocks noChangeAspect="1"/>
          </p:cNvPicPr>
          <p:nvPr/>
        </p:nvPicPr>
        <p:blipFill>
          <a:blip r:embed="rId6">
            <a:extLst>
              <a:ext uri="{96DAC541-7B7A-43D3-8B79-37D633B846F1}">
                <asvg:svgBlip xmlns:asvg="http://schemas.microsoft.com/office/drawing/2016/SVG/main" r:embed="rId11"/>
              </a:ext>
            </a:extLst>
          </a:blip>
          <a:stretch>
            <a:fillRect/>
          </a:stretch>
        </p:blipFill>
        <p:spPr>
          <a:xfrm>
            <a:off x="19897037" y="3727450"/>
            <a:ext cx="12702" cy="5727700"/>
          </a:xfrm>
          <a:prstGeom prst="rect">
            <a:avLst/>
          </a:prstGeom>
        </p:spPr>
      </p:pic>
      <p:pic>
        <p:nvPicPr>
          <p:cNvPr id="16" name="Image 7" descr=" "/>
          <p:cNvPicPr>
            <a:picLocks noChangeAspect="1"/>
          </p:cNvPicPr>
          <p:nvPr/>
        </p:nvPicPr>
        <p:blipFill>
          <a:blip r:embed="rId6">
            <a:extLst>
              <a:ext uri="{96DAC541-7B7A-43D3-8B79-37D633B846F1}">
                <asvg:svgBlip xmlns:asvg="http://schemas.microsoft.com/office/drawing/2016/SVG/main" r:embed="rId12"/>
              </a:ext>
            </a:extLst>
          </a:blip>
          <a:stretch>
            <a:fillRect/>
          </a:stretch>
        </p:blipFill>
        <p:spPr>
          <a:xfrm>
            <a:off x="21383123" y="3727450"/>
            <a:ext cx="12702" cy="5727700"/>
          </a:xfrm>
          <a:prstGeom prst="rect">
            <a:avLst/>
          </a:prstGeom>
        </p:spPr>
      </p:pic>
      <p:sp>
        <p:nvSpPr>
          <p:cNvPr id="17" name="Text 7"/>
          <p:cNvSpPr/>
          <p:nvPr/>
        </p:nvSpPr>
        <p:spPr>
          <a:xfrm>
            <a:off x="14060657" y="3718560"/>
            <a:ext cx="1702013"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5D5D5D">
                    <a:alpha val="100000"/>
                  </a:srgbClr>
                </a:solidFill>
                <a:latin typeface="Inter Medium" pitchFamily="34" charset="0"/>
                <a:ea typeface="Inter Medium" pitchFamily="34" charset="-122"/>
                <a:cs typeface="Inter Medium" pitchFamily="34" charset="-120"/>
              </a:rPr>
              <a:t>40K</a:t>
            </a:r>
            <a:endParaRPr lang="en-US" sz="6000" dirty="0"/>
          </a:p>
        </p:txBody>
      </p:sp>
      <p:sp>
        <p:nvSpPr>
          <p:cNvPr id="18" name="Text 8"/>
          <p:cNvSpPr/>
          <p:nvPr/>
        </p:nvSpPr>
        <p:spPr>
          <a:xfrm>
            <a:off x="15610251" y="4099560"/>
            <a:ext cx="71975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B0B0B0">
                    <a:alpha val="100000"/>
                  </a:srgbClr>
                </a:solidFill>
                <a:latin typeface="Inter Medium" pitchFamily="34" charset="0"/>
                <a:ea typeface="Inter Medium" pitchFamily="34" charset="-122"/>
                <a:cs typeface="Inter Medium" pitchFamily="34" charset="-120"/>
              </a:rPr>
              <a:t>Profit</a:t>
            </a:r>
            <a:endParaRPr lang="en-US" sz="2000" dirty="0"/>
          </a:p>
        </p:txBody>
      </p:sp>
      <p:grpSp>
        <p:nvGrpSpPr>
          <p:cNvPr id="52" name="Group 51">
            <a:extLst>
              <a:ext uri="{FF2B5EF4-FFF2-40B4-BE49-F238E27FC236}">
                <a16:creationId xmlns:a16="http://schemas.microsoft.com/office/drawing/2014/main" id="{6B2479F1-AA9C-4E07-AD7B-A015F82833A6}"/>
              </a:ext>
            </a:extLst>
          </p:cNvPr>
          <p:cNvGrpSpPr/>
          <p:nvPr/>
        </p:nvGrpSpPr>
        <p:grpSpPr>
          <a:xfrm>
            <a:off x="14556019" y="4734560"/>
            <a:ext cx="825603" cy="423333"/>
            <a:chOff x="14403600" y="6197600"/>
            <a:chExt cx="825603" cy="423333"/>
          </a:xfrm>
        </p:grpSpPr>
        <p:pic>
          <p:nvPicPr>
            <p:cNvPr id="20" name="Image 9"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403600" y="6197600"/>
              <a:ext cx="825603" cy="406400"/>
            </a:xfrm>
            <a:prstGeom prst="rect">
              <a:avLst/>
            </a:prstGeom>
          </p:spPr>
        </p:pic>
        <p:sp>
          <p:nvSpPr>
            <p:cNvPr id="31" name="Text 9"/>
            <p:cNvSpPr/>
            <p:nvPr/>
          </p:nvSpPr>
          <p:spPr>
            <a:xfrm>
              <a:off x="14530616" y="6248400"/>
              <a:ext cx="6393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25.0%</a:t>
              </a:r>
              <a:endParaRPr lang="en-US" sz="1600" dirty="0"/>
            </a:p>
          </p:txBody>
        </p:sp>
      </p:grpSp>
      <p:grpSp>
        <p:nvGrpSpPr>
          <p:cNvPr id="51" name="Group 50">
            <a:extLst>
              <a:ext uri="{FF2B5EF4-FFF2-40B4-BE49-F238E27FC236}">
                <a16:creationId xmlns:a16="http://schemas.microsoft.com/office/drawing/2014/main" id="{26897247-3703-460B-A45A-294589F3161A}"/>
              </a:ext>
            </a:extLst>
          </p:cNvPr>
          <p:cNvGrpSpPr/>
          <p:nvPr/>
        </p:nvGrpSpPr>
        <p:grpSpPr>
          <a:xfrm>
            <a:off x="15994474" y="4734560"/>
            <a:ext cx="825603" cy="423333"/>
            <a:chOff x="15902388" y="5334000"/>
            <a:chExt cx="825603" cy="423333"/>
          </a:xfrm>
        </p:grpSpPr>
        <p:pic>
          <p:nvPicPr>
            <p:cNvPr id="21" name="Image 10" descr=" "/>
            <p:cNvPicPr>
              <a:picLocks noChangeAspect="1"/>
            </p:cNvPicPr>
            <p:nvPr/>
          </p:nvPicPr>
          <p:blipFill>
            <a:blip r:embed="rId13">
              <a:extLst>
                <a:ext uri="{96DAC541-7B7A-43D3-8B79-37D633B846F1}">
                  <asvg:svgBlip xmlns:asvg="http://schemas.microsoft.com/office/drawing/2016/SVG/main" r:embed="rId15"/>
                </a:ext>
              </a:extLst>
            </a:blip>
            <a:stretch>
              <a:fillRect/>
            </a:stretch>
          </p:blipFill>
          <p:spPr>
            <a:xfrm>
              <a:off x="15902388" y="5334000"/>
              <a:ext cx="825603" cy="406400"/>
            </a:xfrm>
            <a:prstGeom prst="rect">
              <a:avLst/>
            </a:prstGeom>
          </p:spPr>
        </p:pic>
        <p:sp>
          <p:nvSpPr>
            <p:cNvPr id="38" name="Text 16"/>
            <p:cNvSpPr/>
            <p:nvPr/>
          </p:nvSpPr>
          <p:spPr>
            <a:xfrm>
              <a:off x="16029403" y="5384800"/>
              <a:ext cx="6393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25.5%</a:t>
              </a:r>
              <a:endParaRPr lang="en-US" sz="1600" dirty="0"/>
            </a:p>
          </p:txBody>
        </p:sp>
      </p:grpSp>
      <p:grpSp>
        <p:nvGrpSpPr>
          <p:cNvPr id="50" name="Group 49">
            <a:extLst>
              <a:ext uri="{FF2B5EF4-FFF2-40B4-BE49-F238E27FC236}">
                <a16:creationId xmlns:a16="http://schemas.microsoft.com/office/drawing/2014/main" id="{BE60EE5E-0687-49A8-8EE3-6975D2626FD4}"/>
              </a:ext>
            </a:extLst>
          </p:cNvPr>
          <p:cNvGrpSpPr/>
          <p:nvPr/>
        </p:nvGrpSpPr>
        <p:grpSpPr>
          <a:xfrm>
            <a:off x="17410702" y="7033260"/>
            <a:ext cx="825603" cy="423333"/>
            <a:chOff x="17388473" y="5867400"/>
            <a:chExt cx="825603" cy="423333"/>
          </a:xfrm>
        </p:grpSpPr>
        <p:pic>
          <p:nvPicPr>
            <p:cNvPr id="22" name="Image 11" descr=" "/>
            <p:cNvPicPr>
              <a:picLocks noChangeAspect="1"/>
            </p:cNvPicPr>
            <p:nvPr/>
          </p:nvPicPr>
          <p:blipFill>
            <a:blip r:embed="rId13">
              <a:extLst>
                <a:ext uri="{96DAC541-7B7A-43D3-8B79-37D633B846F1}">
                  <asvg:svgBlip xmlns:asvg="http://schemas.microsoft.com/office/drawing/2016/SVG/main" r:embed="rId16"/>
                </a:ext>
              </a:extLst>
            </a:blip>
            <a:stretch>
              <a:fillRect/>
            </a:stretch>
          </p:blipFill>
          <p:spPr>
            <a:xfrm>
              <a:off x="17388473" y="5867400"/>
              <a:ext cx="825603" cy="406400"/>
            </a:xfrm>
            <a:prstGeom prst="rect">
              <a:avLst/>
            </a:prstGeom>
          </p:spPr>
        </p:pic>
        <p:sp>
          <p:nvSpPr>
            <p:cNvPr id="39" name="Text 17"/>
            <p:cNvSpPr/>
            <p:nvPr/>
          </p:nvSpPr>
          <p:spPr>
            <a:xfrm>
              <a:off x="17515489" y="5918200"/>
              <a:ext cx="61391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19.0%</a:t>
              </a:r>
              <a:endParaRPr lang="en-US" sz="1600" dirty="0"/>
            </a:p>
          </p:txBody>
        </p:sp>
      </p:grpSp>
      <p:grpSp>
        <p:nvGrpSpPr>
          <p:cNvPr id="49" name="Group 48">
            <a:extLst>
              <a:ext uri="{FF2B5EF4-FFF2-40B4-BE49-F238E27FC236}">
                <a16:creationId xmlns:a16="http://schemas.microsoft.com/office/drawing/2014/main" id="{E4DB0B46-46CA-47AB-B1D1-AFACEB998690}"/>
              </a:ext>
            </a:extLst>
          </p:cNvPr>
          <p:cNvGrpSpPr/>
          <p:nvPr/>
        </p:nvGrpSpPr>
        <p:grpSpPr>
          <a:xfrm>
            <a:off x="18811051" y="4572000"/>
            <a:ext cx="825603" cy="423333"/>
            <a:chOff x="18811051" y="4495800"/>
            <a:chExt cx="825603" cy="423333"/>
          </a:xfrm>
        </p:grpSpPr>
        <p:pic>
          <p:nvPicPr>
            <p:cNvPr id="23" name="Image 12" descr=" "/>
            <p:cNvPicPr>
              <a:picLocks noChangeAspect="1"/>
            </p:cNvPicPr>
            <p:nvPr/>
          </p:nvPicPr>
          <p:blipFill>
            <a:blip r:embed="rId13">
              <a:extLst>
                <a:ext uri="{96DAC541-7B7A-43D3-8B79-37D633B846F1}">
                  <asvg:svgBlip xmlns:asvg="http://schemas.microsoft.com/office/drawing/2016/SVG/main" r:embed="rId17"/>
                </a:ext>
              </a:extLst>
            </a:blip>
            <a:stretch>
              <a:fillRect/>
            </a:stretch>
          </p:blipFill>
          <p:spPr>
            <a:xfrm>
              <a:off x="18811051" y="4495800"/>
              <a:ext cx="825603" cy="406400"/>
            </a:xfrm>
            <a:prstGeom prst="rect">
              <a:avLst/>
            </a:prstGeom>
          </p:spPr>
        </p:pic>
        <p:sp>
          <p:nvSpPr>
            <p:cNvPr id="40" name="Text 18"/>
            <p:cNvSpPr/>
            <p:nvPr/>
          </p:nvSpPr>
          <p:spPr>
            <a:xfrm>
              <a:off x="18938067" y="4546600"/>
              <a:ext cx="6393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26.7%</a:t>
              </a:r>
              <a:endParaRPr lang="en-US" sz="1600" dirty="0"/>
            </a:p>
          </p:txBody>
        </p:sp>
      </p:grpSp>
      <p:grpSp>
        <p:nvGrpSpPr>
          <p:cNvPr id="48" name="Group 47">
            <a:extLst>
              <a:ext uri="{FF2B5EF4-FFF2-40B4-BE49-F238E27FC236}">
                <a16:creationId xmlns:a16="http://schemas.microsoft.com/office/drawing/2014/main" id="{7D299D26-3D6F-4E97-A26D-B791BD3814D4}"/>
              </a:ext>
            </a:extLst>
          </p:cNvPr>
          <p:cNvGrpSpPr/>
          <p:nvPr/>
        </p:nvGrpSpPr>
        <p:grpSpPr>
          <a:xfrm>
            <a:off x="20233629" y="3953933"/>
            <a:ext cx="825603" cy="423333"/>
            <a:chOff x="20233629" y="3937000"/>
            <a:chExt cx="825603" cy="423333"/>
          </a:xfrm>
        </p:grpSpPr>
        <p:pic>
          <p:nvPicPr>
            <p:cNvPr id="24" name="Image 13" descr=" "/>
            <p:cNvPicPr>
              <a:picLocks noChangeAspect="1"/>
            </p:cNvPicPr>
            <p:nvPr/>
          </p:nvPicPr>
          <p:blipFill>
            <a:blip r:embed="rId13">
              <a:extLst>
                <a:ext uri="{96DAC541-7B7A-43D3-8B79-37D633B846F1}">
                  <asvg:svgBlip xmlns:asvg="http://schemas.microsoft.com/office/drawing/2016/SVG/main" r:embed="rId18"/>
                </a:ext>
              </a:extLst>
            </a:blip>
            <a:stretch>
              <a:fillRect/>
            </a:stretch>
          </p:blipFill>
          <p:spPr>
            <a:xfrm>
              <a:off x="20233629" y="3937000"/>
              <a:ext cx="825603" cy="406400"/>
            </a:xfrm>
            <a:prstGeom prst="rect">
              <a:avLst/>
            </a:prstGeom>
          </p:spPr>
        </p:pic>
        <p:sp>
          <p:nvSpPr>
            <p:cNvPr id="41" name="Text 19"/>
            <p:cNvSpPr/>
            <p:nvPr/>
          </p:nvSpPr>
          <p:spPr>
            <a:xfrm>
              <a:off x="20360645" y="3987800"/>
              <a:ext cx="65201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30.8%</a:t>
              </a:r>
              <a:endParaRPr lang="en-US" sz="1600" dirty="0"/>
            </a:p>
          </p:txBody>
        </p:sp>
      </p:grpSp>
      <p:grpSp>
        <p:nvGrpSpPr>
          <p:cNvPr id="47" name="Group 46">
            <a:extLst>
              <a:ext uri="{FF2B5EF4-FFF2-40B4-BE49-F238E27FC236}">
                <a16:creationId xmlns:a16="http://schemas.microsoft.com/office/drawing/2014/main" id="{DF0F8B45-92B6-48AB-AF78-C1349B3BEAC8}"/>
              </a:ext>
            </a:extLst>
          </p:cNvPr>
          <p:cNvGrpSpPr/>
          <p:nvPr/>
        </p:nvGrpSpPr>
        <p:grpSpPr>
          <a:xfrm>
            <a:off x="21673143" y="4580467"/>
            <a:ext cx="825603" cy="423333"/>
            <a:chOff x="21719715" y="4927600"/>
            <a:chExt cx="825603" cy="423333"/>
          </a:xfrm>
        </p:grpSpPr>
        <p:pic>
          <p:nvPicPr>
            <p:cNvPr id="25" name="Image 14" descr=" "/>
            <p:cNvPicPr>
              <a:picLocks noChangeAspect="1"/>
            </p:cNvPicPr>
            <p:nvPr/>
          </p:nvPicPr>
          <p:blipFill>
            <a:blip r:embed="rId13">
              <a:extLst>
                <a:ext uri="{96DAC541-7B7A-43D3-8B79-37D633B846F1}">
                  <asvg:svgBlip xmlns:asvg="http://schemas.microsoft.com/office/drawing/2016/SVG/main" r:embed="rId19"/>
                </a:ext>
              </a:extLst>
            </a:blip>
            <a:stretch>
              <a:fillRect/>
            </a:stretch>
          </p:blipFill>
          <p:spPr>
            <a:xfrm>
              <a:off x="21719715" y="4927600"/>
              <a:ext cx="825603" cy="406400"/>
            </a:xfrm>
            <a:prstGeom prst="rect">
              <a:avLst/>
            </a:prstGeom>
          </p:spPr>
        </p:pic>
        <p:sp>
          <p:nvSpPr>
            <p:cNvPr id="42" name="Text 20"/>
            <p:cNvSpPr/>
            <p:nvPr/>
          </p:nvSpPr>
          <p:spPr>
            <a:xfrm>
              <a:off x="21846731" y="4978400"/>
              <a:ext cx="65201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26.4%</a:t>
              </a:r>
              <a:endParaRPr lang="en-US" sz="1600" dirty="0"/>
            </a:p>
          </p:txBody>
        </p:sp>
      </p:grpSp>
      <p:sp>
        <p:nvSpPr>
          <p:cNvPr id="43" name="Rectangle: Rounded Corners 42">
            <a:extLst>
              <a:ext uri="{FF2B5EF4-FFF2-40B4-BE49-F238E27FC236}">
                <a16:creationId xmlns:a16="http://schemas.microsoft.com/office/drawing/2014/main" id="{515E2E0F-5949-4A52-B69D-0C77223AB46F}"/>
              </a:ext>
            </a:extLst>
          </p:cNvPr>
          <p:cNvSpPr/>
          <p:nvPr/>
        </p:nvSpPr>
        <p:spPr>
          <a:xfrm>
            <a:off x="14073359" y="10529062"/>
            <a:ext cx="1579230" cy="586825"/>
          </a:xfrm>
          <a:prstGeom prst="roundRect">
            <a:avLst>
              <a:gd name="adj" fmla="val 50000"/>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191" y="1524000"/>
            <a:ext cx="6388899"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Operational Efficiency Metrics</a:t>
            </a:r>
            <a:endParaRPr lang="en-US" sz="6000" dirty="0"/>
          </a:p>
        </p:txBody>
      </p:sp>
      <p:sp>
        <p:nvSpPr>
          <p:cNvPr id="3" name="Text 1"/>
          <p:cNvSpPr/>
          <p:nvPr/>
        </p:nvSpPr>
        <p:spPr>
          <a:xfrm>
            <a:off x="15025978" y="1524000"/>
            <a:ext cx="7904621"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Monitor key workflow metrics to identify delays, inefficiencies, and improvement opportunities.</a:t>
            </a:r>
            <a:endParaRPr lang="en-US" sz="1600" dirty="0"/>
          </a:p>
        </p:txBody>
      </p:sp>
      <p:sp>
        <p:nvSpPr>
          <p:cNvPr id="4" name="Text 2"/>
          <p:cNvSpPr/>
          <p:nvPr/>
        </p:nvSpPr>
        <p:spPr>
          <a:xfrm>
            <a:off x="1524191" y="3505200"/>
            <a:ext cx="6799583"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Gain visibility into workflow efficiency, production timelines, and bottlenecks that impact output. Compare targets vs actuals to drive accountability and improvements.</a:t>
            </a:r>
            <a:endParaRPr lang="en-US" sz="1600" dirty="0"/>
          </a:p>
        </p:txBody>
      </p:sp>
      <p:grpSp>
        <p:nvGrpSpPr>
          <p:cNvPr id="92" name="Group 91">
            <a:extLst>
              <a:ext uri="{FF2B5EF4-FFF2-40B4-BE49-F238E27FC236}">
                <a16:creationId xmlns:a16="http://schemas.microsoft.com/office/drawing/2014/main" id="{F3CF266A-3F9C-423B-88AF-4BFA27E05497}"/>
              </a:ext>
            </a:extLst>
          </p:cNvPr>
          <p:cNvGrpSpPr/>
          <p:nvPr/>
        </p:nvGrpSpPr>
        <p:grpSpPr>
          <a:xfrm>
            <a:off x="12320540" y="3505200"/>
            <a:ext cx="5144143" cy="2247900"/>
            <a:chOff x="12320540" y="3505200"/>
            <a:chExt cx="5144143" cy="2247900"/>
          </a:xfrm>
        </p:grpSpPr>
        <p:pic>
          <p:nvPicPr>
            <p:cNvPr id="5"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20540" y="3505200"/>
              <a:ext cx="5144143" cy="2247900"/>
            </a:xfrm>
            <a:prstGeom prst="rect">
              <a:avLst/>
            </a:prstGeom>
          </p:spPr>
        </p:pic>
        <p:pic>
          <p:nvPicPr>
            <p:cNvPr id="6"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737267" y="4801341"/>
              <a:ext cx="1427490" cy="646956"/>
            </a:xfrm>
            <a:prstGeom prst="rect">
              <a:avLst/>
            </a:prstGeom>
          </p:spPr>
        </p:pic>
        <p:pic>
          <p:nvPicPr>
            <p:cNvPr id="7"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729651" y="4792104"/>
              <a:ext cx="1435106" cy="405371"/>
            </a:xfrm>
            <a:prstGeom prst="rect">
              <a:avLst/>
            </a:prstGeom>
          </p:spPr>
        </p:pic>
        <p:sp>
          <p:nvSpPr>
            <p:cNvPr id="8" name="Shape 3"/>
            <p:cNvSpPr/>
            <p:nvPr/>
          </p:nvSpPr>
          <p:spPr>
            <a:xfrm>
              <a:off x="16588273" y="4978400"/>
              <a:ext cx="63508" cy="63500"/>
            </a:xfrm>
            <a:prstGeom prst="ellipse">
              <a:avLst/>
            </a:prstGeom>
            <a:solidFill>
              <a:srgbClr val="D2BDFB">
                <a:alpha val="100000"/>
              </a:srgbClr>
            </a:solidFill>
            <a:ln/>
          </p:spPr>
        </p:sp>
        <p:pic>
          <p:nvPicPr>
            <p:cNvPr id="9"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625378" y="3810000"/>
              <a:ext cx="508063" cy="508000"/>
            </a:xfrm>
            <a:prstGeom prst="rect">
              <a:avLst/>
            </a:prstGeom>
          </p:spPr>
        </p:pic>
        <p:pic>
          <p:nvPicPr>
            <p:cNvPr id="11"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765095" y="3949700"/>
              <a:ext cx="228629" cy="228600"/>
            </a:xfrm>
            <a:prstGeom prst="rect">
              <a:avLst/>
            </a:prstGeom>
          </p:spPr>
        </p:pic>
        <p:sp>
          <p:nvSpPr>
            <p:cNvPr id="12" name="Shape 4"/>
            <p:cNvSpPr/>
            <p:nvPr/>
          </p:nvSpPr>
          <p:spPr>
            <a:xfrm>
              <a:off x="15737267" y="3835400"/>
              <a:ext cx="1422578" cy="457200"/>
            </a:xfrm>
            <a:prstGeom prst="roundRect">
              <a:avLst>
                <a:gd name="adj" fmla="val 22000"/>
              </a:avLst>
            </a:prstGeom>
            <a:solidFill>
              <a:srgbClr val="F6F3FF">
                <a:alpha val="100000"/>
              </a:srgbClr>
            </a:solidFill>
            <a:ln/>
          </p:spPr>
        </p:sp>
        <p:sp>
          <p:nvSpPr>
            <p:cNvPr id="13" name="Text 5"/>
            <p:cNvSpPr/>
            <p:nvPr/>
          </p:nvSpPr>
          <p:spPr>
            <a:xfrm>
              <a:off x="13235054" y="3911600"/>
              <a:ext cx="163003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Downtime Hours</a:t>
              </a:r>
              <a:endParaRPr lang="en-US" sz="1600" dirty="0"/>
            </a:p>
          </p:txBody>
        </p:sp>
        <p:sp>
          <p:nvSpPr>
            <p:cNvPr id="14" name="Text 6"/>
            <p:cNvSpPr/>
            <p:nvPr/>
          </p:nvSpPr>
          <p:spPr>
            <a:xfrm>
              <a:off x="12625378" y="5067300"/>
              <a:ext cx="973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&lt;10 hrs</a:t>
              </a:r>
              <a:endParaRPr lang="en-US" sz="2000" dirty="0"/>
            </a:p>
          </p:txBody>
        </p:sp>
        <p:sp>
          <p:nvSpPr>
            <p:cNvPr id="15" name="Text 7"/>
            <p:cNvSpPr/>
            <p:nvPr/>
          </p:nvSpPr>
          <p:spPr>
            <a:xfrm>
              <a:off x="12625378" y="4445000"/>
              <a:ext cx="164273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Estimated Target</a:t>
              </a:r>
              <a:endParaRPr lang="en-US" sz="1600" dirty="0"/>
            </a:p>
          </p:txBody>
        </p:sp>
        <p:sp>
          <p:nvSpPr>
            <p:cNvPr id="16" name="Text 8"/>
            <p:cNvSpPr/>
            <p:nvPr/>
          </p:nvSpPr>
          <p:spPr>
            <a:xfrm>
              <a:off x="16270734" y="3911600"/>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8.3 hrs</a:t>
              </a:r>
              <a:endParaRPr lang="en-US" sz="1600" dirty="0"/>
            </a:p>
          </p:txBody>
        </p:sp>
        <p:pic>
          <p:nvPicPr>
            <p:cNvPr id="18"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984948" y="3968750"/>
              <a:ext cx="190524" cy="190500"/>
            </a:xfrm>
            <a:prstGeom prst="rect">
              <a:avLst/>
            </a:prstGeom>
          </p:spPr>
        </p:pic>
      </p:grpSp>
      <p:grpSp>
        <p:nvGrpSpPr>
          <p:cNvPr id="94" name="Group 93">
            <a:extLst>
              <a:ext uri="{FF2B5EF4-FFF2-40B4-BE49-F238E27FC236}">
                <a16:creationId xmlns:a16="http://schemas.microsoft.com/office/drawing/2014/main" id="{D9281E41-0601-40A8-9A28-2F5AD72350E9}"/>
              </a:ext>
            </a:extLst>
          </p:cNvPr>
          <p:cNvGrpSpPr/>
          <p:nvPr/>
        </p:nvGrpSpPr>
        <p:grpSpPr>
          <a:xfrm>
            <a:off x="17718715" y="3505200"/>
            <a:ext cx="5144143" cy="2247900"/>
            <a:chOff x="17718715" y="3505200"/>
            <a:chExt cx="5144143" cy="2247900"/>
          </a:xfrm>
        </p:grpSpPr>
        <p:pic>
          <p:nvPicPr>
            <p:cNvPr id="19" name="Image 8" descr=" "/>
            <p:cNvPicPr>
              <a:picLocks noChangeAspect="1"/>
            </p:cNvPicPr>
            <p:nvPr/>
          </p:nvPicPr>
          <p:blipFill>
            <a:blip r:embed="rId3">
              <a:extLst>
                <a:ext uri="{96DAC541-7B7A-43D3-8B79-37D633B846F1}">
                  <asvg:svgBlip xmlns:asvg="http://schemas.microsoft.com/office/drawing/2016/SVG/main" r:embed="rId15"/>
                </a:ext>
              </a:extLst>
            </a:blip>
            <a:stretch>
              <a:fillRect/>
            </a:stretch>
          </p:blipFill>
          <p:spPr>
            <a:xfrm>
              <a:off x="17718715" y="3505200"/>
              <a:ext cx="5144143" cy="2247900"/>
            </a:xfrm>
            <a:prstGeom prst="rect">
              <a:avLst/>
            </a:prstGeom>
          </p:spPr>
        </p:pic>
        <p:pic>
          <p:nvPicPr>
            <p:cNvPr id="20" name="Image 9"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1135442" y="4749797"/>
              <a:ext cx="1427490" cy="698500"/>
            </a:xfrm>
            <a:prstGeom prst="rect">
              <a:avLst/>
            </a:prstGeom>
          </p:spPr>
        </p:pic>
        <p:sp>
          <p:nvSpPr>
            <p:cNvPr id="21" name="Shape 9"/>
            <p:cNvSpPr/>
            <p:nvPr/>
          </p:nvSpPr>
          <p:spPr>
            <a:xfrm>
              <a:off x="22215077" y="4838700"/>
              <a:ext cx="63508" cy="63500"/>
            </a:xfrm>
            <a:prstGeom prst="ellipse">
              <a:avLst/>
            </a:prstGeom>
            <a:solidFill>
              <a:srgbClr val="C1A4F9">
                <a:alpha val="100000"/>
              </a:srgbClr>
            </a:solidFill>
            <a:ln/>
          </p:spPr>
        </p:sp>
        <p:pic>
          <p:nvPicPr>
            <p:cNvPr id="22" name="Image 10"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1127596" y="4740278"/>
              <a:ext cx="1435335" cy="312316"/>
            </a:xfrm>
            <a:prstGeom prst="rect">
              <a:avLst/>
            </a:prstGeom>
          </p:spPr>
        </p:pic>
        <p:pic>
          <p:nvPicPr>
            <p:cNvPr id="23" name="Image 11"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8023553" y="3810000"/>
              <a:ext cx="508063" cy="508000"/>
            </a:xfrm>
            <a:prstGeom prst="rect">
              <a:avLst/>
            </a:prstGeom>
          </p:spPr>
        </p:pic>
        <p:pic>
          <p:nvPicPr>
            <p:cNvPr id="25" name="Image 13" descr=" "/>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8137867" y="3937000"/>
              <a:ext cx="279435" cy="241300"/>
            </a:xfrm>
            <a:prstGeom prst="rect">
              <a:avLst/>
            </a:prstGeom>
          </p:spPr>
        </p:pic>
        <p:sp>
          <p:nvSpPr>
            <p:cNvPr id="26" name="Shape 10"/>
            <p:cNvSpPr/>
            <p:nvPr/>
          </p:nvSpPr>
          <p:spPr>
            <a:xfrm>
              <a:off x="21135442" y="3835400"/>
              <a:ext cx="1422578" cy="457200"/>
            </a:xfrm>
            <a:prstGeom prst="roundRect">
              <a:avLst>
                <a:gd name="adj" fmla="val 22000"/>
              </a:avLst>
            </a:prstGeom>
            <a:solidFill>
              <a:srgbClr val="F6F3FF">
                <a:alpha val="100000"/>
              </a:srgbClr>
            </a:solidFill>
            <a:ln/>
          </p:spPr>
        </p:sp>
        <p:sp>
          <p:nvSpPr>
            <p:cNvPr id="27" name="Text 11"/>
            <p:cNvSpPr/>
            <p:nvPr/>
          </p:nvSpPr>
          <p:spPr>
            <a:xfrm>
              <a:off x="18633229" y="3911600"/>
              <a:ext cx="1121974" cy="372533"/>
            </a:xfrm>
            <a:prstGeom prst="rect">
              <a:avLst/>
            </a:prstGeom>
            <a:noFill/>
            <a:ln/>
          </p:spPr>
          <p:txBody>
            <a:bodyPr wrap="square" lIns="0" tIns="0" rIns="0" bIns="0" rtlCol="0" anchor="t"/>
            <a:lstStyle/>
            <a:p>
              <a:pPr marL="0" indent="0" algn="l">
                <a:lnSpc>
                  <a:spcPts val="2400"/>
                </a:lnSpc>
                <a:buNone/>
              </a:pPr>
              <a:r>
                <a:rPr lang="en-US"/>
                <a:t>Cycle Time</a:t>
              </a:r>
              <a:endParaRPr lang="en-US" dirty="0"/>
            </a:p>
          </p:txBody>
        </p:sp>
        <p:sp>
          <p:nvSpPr>
            <p:cNvPr id="28" name="Text 12"/>
            <p:cNvSpPr/>
            <p:nvPr/>
          </p:nvSpPr>
          <p:spPr>
            <a:xfrm>
              <a:off x="18023553" y="5067300"/>
              <a:ext cx="872176" cy="465667"/>
            </a:xfrm>
            <a:prstGeom prst="rect">
              <a:avLst/>
            </a:prstGeom>
            <a:noFill/>
            <a:ln/>
          </p:spPr>
          <p:txBody>
            <a:bodyPr wrap="square" lIns="0" tIns="0" rIns="0" bIns="0" rtlCol="0" anchor="t"/>
            <a:lstStyle/>
            <a:p>
              <a:pPr marL="0" indent="0" algn="l">
                <a:lnSpc>
                  <a:spcPts val="3000"/>
                </a:lnSpc>
                <a:buNone/>
              </a:pPr>
              <a:r>
                <a:rPr lang="en-US"/>
                <a:t>4 days</a:t>
              </a:r>
              <a:endParaRPr lang="en-US" dirty="0"/>
            </a:p>
          </p:txBody>
        </p:sp>
        <p:sp>
          <p:nvSpPr>
            <p:cNvPr id="29" name="Text 13"/>
            <p:cNvSpPr/>
            <p:nvPr/>
          </p:nvSpPr>
          <p:spPr>
            <a:xfrm>
              <a:off x="18023553" y="4445000"/>
              <a:ext cx="1642739" cy="372533"/>
            </a:xfrm>
            <a:prstGeom prst="rect">
              <a:avLst/>
            </a:prstGeom>
            <a:noFill/>
            <a:ln/>
          </p:spPr>
          <p:txBody>
            <a:bodyPr wrap="square" lIns="0" tIns="0" rIns="0" bIns="0" rtlCol="0" anchor="t"/>
            <a:lstStyle/>
            <a:p>
              <a:pPr marL="0" indent="0" algn="l">
                <a:lnSpc>
                  <a:spcPts val="2400"/>
                </a:lnSpc>
                <a:buNone/>
              </a:pPr>
              <a:r>
                <a:rPr lang="en-US"/>
                <a:t>Estimated Target</a:t>
              </a:r>
              <a:endParaRPr lang="en-US" dirty="0"/>
            </a:p>
          </p:txBody>
        </p:sp>
        <p:sp>
          <p:nvSpPr>
            <p:cNvPr id="30" name="Text 14"/>
            <p:cNvSpPr/>
            <p:nvPr/>
          </p:nvSpPr>
          <p:spPr>
            <a:xfrm>
              <a:off x="21592699" y="3911600"/>
              <a:ext cx="880643" cy="372533"/>
            </a:xfrm>
            <a:prstGeom prst="rect">
              <a:avLst/>
            </a:prstGeom>
            <a:noFill/>
            <a:ln/>
          </p:spPr>
          <p:txBody>
            <a:bodyPr wrap="square" lIns="0" tIns="0" rIns="0" bIns="0" rtlCol="0" anchor="t"/>
            <a:lstStyle/>
            <a:p>
              <a:pPr marL="0" indent="0" algn="l">
                <a:lnSpc>
                  <a:spcPts val="2400"/>
                </a:lnSpc>
                <a:buNone/>
              </a:pPr>
              <a:r>
                <a:rPr lang="en-US"/>
                <a:t>5,2 Days</a:t>
              </a:r>
              <a:endParaRPr lang="en-US" dirty="0"/>
            </a:p>
          </p:txBody>
        </p:sp>
        <p:pic>
          <p:nvPicPr>
            <p:cNvPr id="32" name="Image 1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306913" y="3968750"/>
              <a:ext cx="190524" cy="190500"/>
            </a:xfrm>
            <a:prstGeom prst="rect">
              <a:avLst/>
            </a:prstGeom>
          </p:spPr>
        </p:pic>
      </p:grpSp>
      <p:grpSp>
        <p:nvGrpSpPr>
          <p:cNvPr id="91" name="Group 90">
            <a:extLst>
              <a:ext uri="{FF2B5EF4-FFF2-40B4-BE49-F238E27FC236}">
                <a16:creationId xmlns:a16="http://schemas.microsoft.com/office/drawing/2014/main" id="{E415E76E-60E3-41A0-B021-6D0039B3B3C7}"/>
              </a:ext>
            </a:extLst>
          </p:cNvPr>
          <p:cNvGrpSpPr/>
          <p:nvPr/>
        </p:nvGrpSpPr>
        <p:grpSpPr>
          <a:xfrm>
            <a:off x="1473384" y="6858000"/>
            <a:ext cx="21338667" cy="5080000"/>
            <a:chOff x="1473384" y="6858000"/>
            <a:chExt cx="21338667" cy="5080000"/>
          </a:xfrm>
        </p:grpSpPr>
        <p:pic>
          <p:nvPicPr>
            <p:cNvPr id="42" name="Image 25"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473384" y="6858000"/>
              <a:ext cx="5334667" cy="1270000"/>
            </a:xfrm>
            <a:prstGeom prst="rect">
              <a:avLst/>
            </a:prstGeom>
          </p:spPr>
        </p:pic>
        <p:pic>
          <p:nvPicPr>
            <p:cNvPr id="43" name="Image 26" descr=" "/>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808051" y="6858000"/>
              <a:ext cx="5334667" cy="1270000"/>
            </a:xfrm>
            <a:prstGeom prst="rect">
              <a:avLst/>
            </a:prstGeom>
          </p:spPr>
        </p:pic>
        <p:pic>
          <p:nvPicPr>
            <p:cNvPr id="44" name="Image 27"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2142718" y="6858000"/>
              <a:ext cx="5334667" cy="1270000"/>
            </a:xfrm>
            <a:prstGeom prst="rect">
              <a:avLst/>
            </a:prstGeom>
          </p:spPr>
        </p:pic>
        <p:pic>
          <p:nvPicPr>
            <p:cNvPr id="45" name="Image 28"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7477384" y="6858000"/>
              <a:ext cx="5334667" cy="1270000"/>
            </a:xfrm>
            <a:prstGeom prst="rect">
              <a:avLst/>
            </a:prstGeom>
          </p:spPr>
        </p:pic>
        <p:sp>
          <p:nvSpPr>
            <p:cNvPr id="49" name="Shape 15"/>
            <p:cNvSpPr/>
            <p:nvPr/>
          </p:nvSpPr>
          <p:spPr>
            <a:xfrm>
              <a:off x="6808051" y="8382000"/>
              <a:ext cx="10491511" cy="3302000"/>
            </a:xfrm>
            <a:prstGeom prst="rect">
              <a:avLst/>
            </a:prstGeom>
            <a:noFill/>
            <a:ln/>
          </p:spPr>
        </p:sp>
        <p:sp>
          <p:nvSpPr>
            <p:cNvPr id="50" name="Shape 16"/>
            <p:cNvSpPr/>
            <p:nvPr/>
          </p:nvSpPr>
          <p:spPr>
            <a:xfrm>
              <a:off x="6808051" y="8382000"/>
              <a:ext cx="12702" cy="3302000"/>
            </a:xfrm>
            <a:prstGeom prst="rect">
              <a:avLst/>
            </a:prstGeom>
            <a:noFill/>
            <a:ln/>
          </p:spPr>
        </p:sp>
        <p:pic>
          <p:nvPicPr>
            <p:cNvPr id="51" name="Image 32"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801700" y="8375650"/>
              <a:ext cx="12702" cy="774700"/>
            </a:xfrm>
            <a:prstGeom prst="rect">
              <a:avLst/>
            </a:prstGeom>
          </p:spPr>
        </p:pic>
        <p:pic>
          <p:nvPicPr>
            <p:cNvPr id="52" name="Image 33"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801700" y="9645650"/>
              <a:ext cx="12702" cy="774700"/>
            </a:xfrm>
            <a:prstGeom prst="rect">
              <a:avLst/>
            </a:prstGeom>
          </p:spPr>
        </p:pic>
        <p:pic>
          <p:nvPicPr>
            <p:cNvPr id="53" name="Image 34"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801700" y="10915650"/>
              <a:ext cx="12702" cy="774700"/>
            </a:xfrm>
            <a:prstGeom prst="rect">
              <a:avLst/>
            </a:prstGeom>
          </p:spPr>
        </p:pic>
        <p:sp>
          <p:nvSpPr>
            <p:cNvPr id="54" name="Shape 17"/>
            <p:cNvSpPr/>
            <p:nvPr/>
          </p:nvSpPr>
          <p:spPr>
            <a:xfrm>
              <a:off x="12130016" y="8382000"/>
              <a:ext cx="12702" cy="3302000"/>
            </a:xfrm>
            <a:prstGeom prst="rect">
              <a:avLst/>
            </a:prstGeom>
            <a:noFill/>
            <a:ln/>
          </p:spPr>
        </p:sp>
        <p:pic>
          <p:nvPicPr>
            <p:cNvPr id="55" name="Image 35"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2123665" y="8375650"/>
              <a:ext cx="12702" cy="774700"/>
            </a:xfrm>
            <a:prstGeom prst="rect">
              <a:avLst/>
            </a:prstGeom>
          </p:spPr>
        </p:pic>
        <p:pic>
          <p:nvPicPr>
            <p:cNvPr id="56" name="Image 36"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2123665" y="9645650"/>
              <a:ext cx="12702" cy="774700"/>
            </a:xfrm>
            <a:prstGeom prst="rect">
              <a:avLst/>
            </a:prstGeom>
          </p:spPr>
        </p:pic>
        <p:pic>
          <p:nvPicPr>
            <p:cNvPr id="57" name="Image 37"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2123665" y="10915650"/>
              <a:ext cx="12702" cy="774700"/>
            </a:xfrm>
            <a:prstGeom prst="rect">
              <a:avLst/>
            </a:prstGeom>
          </p:spPr>
        </p:pic>
        <p:sp>
          <p:nvSpPr>
            <p:cNvPr id="58" name="Shape 18"/>
            <p:cNvSpPr/>
            <p:nvPr/>
          </p:nvSpPr>
          <p:spPr>
            <a:xfrm>
              <a:off x="17451981" y="8382000"/>
              <a:ext cx="12702" cy="3302000"/>
            </a:xfrm>
            <a:prstGeom prst="rect">
              <a:avLst/>
            </a:prstGeom>
            <a:noFill/>
            <a:ln/>
          </p:spPr>
        </p:sp>
        <p:pic>
          <p:nvPicPr>
            <p:cNvPr id="59" name="Image 38"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7445630" y="8375650"/>
              <a:ext cx="12702" cy="774700"/>
            </a:xfrm>
            <a:prstGeom prst="rect">
              <a:avLst/>
            </a:prstGeom>
          </p:spPr>
        </p:pic>
        <p:pic>
          <p:nvPicPr>
            <p:cNvPr id="60" name="Image 39"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7445630" y="9645650"/>
              <a:ext cx="12702" cy="774700"/>
            </a:xfrm>
            <a:prstGeom prst="rect">
              <a:avLst/>
            </a:prstGeom>
          </p:spPr>
        </p:pic>
        <p:pic>
          <p:nvPicPr>
            <p:cNvPr id="61" name="Image 40"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7445630" y="10915650"/>
              <a:ext cx="12702" cy="774700"/>
            </a:xfrm>
            <a:prstGeom prst="rect">
              <a:avLst/>
            </a:prstGeom>
          </p:spPr>
        </p:pic>
        <p:grpSp>
          <p:nvGrpSpPr>
            <p:cNvPr id="90" name="Group 89">
              <a:extLst>
                <a:ext uri="{FF2B5EF4-FFF2-40B4-BE49-F238E27FC236}">
                  <a16:creationId xmlns:a16="http://schemas.microsoft.com/office/drawing/2014/main" id="{1C8594C0-ED70-4FA1-886D-7BC2A853E12A}"/>
                </a:ext>
              </a:extLst>
            </p:cNvPr>
            <p:cNvGrpSpPr/>
            <p:nvPr/>
          </p:nvGrpSpPr>
          <p:grpSpPr>
            <a:xfrm>
              <a:off x="1473384" y="8128000"/>
              <a:ext cx="21338667" cy="3810000"/>
              <a:chOff x="1473384" y="8128000"/>
              <a:chExt cx="21338667" cy="3810000"/>
            </a:xfrm>
            <a:solidFill>
              <a:srgbClr val="F6F6F6">
                <a:alpha val="22000"/>
              </a:srgbClr>
            </a:solidFill>
          </p:grpSpPr>
          <p:pic>
            <p:nvPicPr>
              <p:cNvPr id="34" name="Image 17" descr=" "/>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473384" y="9398000"/>
                <a:ext cx="5334667" cy="1270000"/>
              </a:xfrm>
              <a:prstGeom prst="rect">
                <a:avLst/>
              </a:prstGeom>
            </p:spPr>
          </p:pic>
          <p:pic>
            <p:nvPicPr>
              <p:cNvPr id="35" name="Image 18" descr=" "/>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473384" y="10668000"/>
                <a:ext cx="5334667" cy="1270000"/>
              </a:xfrm>
              <a:prstGeom prst="rect">
                <a:avLst/>
              </a:prstGeom>
            </p:spPr>
          </p:pic>
          <p:pic>
            <p:nvPicPr>
              <p:cNvPr id="36" name="Image 19" descr=" "/>
              <p:cNvPicPr>
                <a:picLocks noChangeAspect="1"/>
              </p:cNvPicPr>
              <p:nvPr/>
            </p:nvPicPr>
            <p:blipFill>
              <a:blip r:embed="rId34">
                <a:extLst>
                  <a:ext uri="{96DAC541-7B7A-43D3-8B79-37D633B846F1}">
                    <asvg:svgBlip xmlns:asvg="http://schemas.microsoft.com/office/drawing/2016/SVG/main" r:embed="rId38"/>
                  </a:ext>
                </a:extLst>
              </a:blip>
              <a:stretch>
                <a:fillRect/>
              </a:stretch>
            </p:blipFill>
            <p:spPr>
              <a:xfrm>
                <a:off x="6808051" y="9398000"/>
                <a:ext cx="5334667" cy="1270000"/>
              </a:xfrm>
              <a:prstGeom prst="rect">
                <a:avLst/>
              </a:prstGeom>
            </p:spPr>
          </p:pic>
          <p:pic>
            <p:nvPicPr>
              <p:cNvPr id="37" name="Image 20" descr=" "/>
              <p:cNvPicPr>
                <a:picLocks noChangeAspect="1"/>
              </p:cNvPicPr>
              <p:nvPr/>
            </p:nvPicPr>
            <p:blipFill>
              <a:blip r:embed="rId34">
                <a:extLst>
                  <a:ext uri="{96DAC541-7B7A-43D3-8B79-37D633B846F1}">
                    <asvg:svgBlip xmlns:asvg="http://schemas.microsoft.com/office/drawing/2016/SVG/main" r:embed="rId39"/>
                  </a:ext>
                </a:extLst>
              </a:blip>
              <a:stretch>
                <a:fillRect/>
              </a:stretch>
            </p:blipFill>
            <p:spPr>
              <a:xfrm>
                <a:off x="6808051" y="10668000"/>
                <a:ext cx="5334667" cy="1270000"/>
              </a:xfrm>
              <a:prstGeom prst="rect">
                <a:avLst/>
              </a:prstGeom>
            </p:spPr>
          </p:pic>
          <p:pic>
            <p:nvPicPr>
              <p:cNvPr id="38" name="Image 21" descr=" "/>
              <p:cNvPicPr>
                <a:picLocks noChangeAspect="1"/>
              </p:cNvPicPr>
              <p:nvPr/>
            </p:nvPicPr>
            <p:blipFill>
              <a:blip r:embed="rId34">
                <a:extLst>
                  <a:ext uri="{96DAC541-7B7A-43D3-8B79-37D633B846F1}">
                    <asvg:svgBlip xmlns:asvg="http://schemas.microsoft.com/office/drawing/2016/SVG/main" r:embed="rId40"/>
                  </a:ext>
                </a:extLst>
              </a:blip>
              <a:stretch>
                <a:fillRect/>
              </a:stretch>
            </p:blipFill>
            <p:spPr>
              <a:xfrm>
                <a:off x="12142718" y="9398000"/>
                <a:ext cx="5334667" cy="1270000"/>
              </a:xfrm>
              <a:prstGeom prst="rect">
                <a:avLst/>
              </a:prstGeom>
            </p:spPr>
          </p:pic>
          <p:pic>
            <p:nvPicPr>
              <p:cNvPr id="39" name="Image 22" descr=" "/>
              <p:cNvPicPr>
                <a:picLocks noChangeAspect="1"/>
              </p:cNvPicPr>
              <p:nvPr/>
            </p:nvPicPr>
            <p:blipFill>
              <a:blip r:embed="rId34">
                <a:extLst>
                  <a:ext uri="{96DAC541-7B7A-43D3-8B79-37D633B846F1}">
                    <asvg:svgBlip xmlns:asvg="http://schemas.microsoft.com/office/drawing/2016/SVG/main" r:embed="rId41"/>
                  </a:ext>
                </a:extLst>
              </a:blip>
              <a:stretch>
                <a:fillRect/>
              </a:stretch>
            </p:blipFill>
            <p:spPr>
              <a:xfrm>
                <a:off x="12142718" y="10668000"/>
                <a:ext cx="5334667" cy="1270000"/>
              </a:xfrm>
              <a:prstGeom prst="rect">
                <a:avLst/>
              </a:prstGeom>
            </p:spPr>
          </p:pic>
          <p:pic>
            <p:nvPicPr>
              <p:cNvPr id="40" name="Image 23" descr=" "/>
              <p:cNvPicPr>
                <a:picLocks noChangeAspect="1"/>
              </p:cNvPicPr>
              <p:nvPr/>
            </p:nvPicPr>
            <p:blipFill>
              <a:blip r:embed="rId34">
                <a:extLst>
                  <a:ext uri="{96DAC541-7B7A-43D3-8B79-37D633B846F1}">
                    <asvg:svgBlip xmlns:asvg="http://schemas.microsoft.com/office/drawing/2016/SVG/main" r:embed="rId42"/>
                  </a:ext>
                </a:extLst>
              </a:blip>
              <a:stretch>
                <a:fillRect/>
              </a:stretch>
            </p:blipFill>
            <p:spPr>
              <a:xfrm>
                <a:off x="17477384" y="9398000"/>
                <a:ext cx="5334667" cy="1270000"/>
              </a:xfrm>
              <a:prstGeom prst="rect">
                <a:avLst/>
              </a:prstGeom>
            </p:spPr>
          </p:pic>
          <p:pic>
            <p:nvPicPr>
              <p:cNvPr id="41" name="Image 24" descr=" "/>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7477384" y="10668000"/>
                <a:ext cx="5334667" cy="1270000"/>
              </a:xfrm>
              <a:prstGeom prst="rect">
                <a:avLst/>
              </a:prstGeom>
            </p:spPr>
          </p:pic>
          <p:pic>
            <p:nvPicPr>
              <p:cNvPr id="46" name="Image 29" descr=" "/>
              <p:cNvPicPr>
                <a:picLocks noChangeAspect="1"/>
              </p:cNvPicPr>
              <p:nvPr/>
            </p:nvPicPr>
            <p:blipFill>
              <a:blip r:embed="rId34">
                <a:extLst>
                  <a:ext uri="{96DAC541-7B7A-43D3-8B79-37D633B846F1}">
                    <asvg:svgBlip xmlns:asvg="http://schemas.microsoft.com/office/drawing/2016/SVG/main" r:embed="rId45"/>
                  </a:ext>
                </a:extLst>
              </a:blip>
              <a:stretch>
                <a:fillRect/>
              </a:stretch>
            </p:blipFill>
            <p:spPr>
              <a:xfrm>
                <a:off x="1473384" y="8128000"/>
                <a:ext cx="5334667" cy="1270000"/>
              </a:xfrm>
              <a:prstGeom prst="rect">
                <a:avLst/>
              </a:prstGeom>
            </p:spPr>
          </p:pic>
          <p:pic>
            <p:nvPicPr>
              <p:cNvPr id="47" name="Image 30" descr=" "/>
              <p:cNvPicPr>
                <a:picLocks noChangeAspect="1"/>
              </p:cNvPicPr>
              <p:nvPr/>
            </p:nvPicPr>
            <p:blipFill>
              <a:blip r:embed="rId34">
                <a:extLst>
                  <a:ext uri="{96DAC541-7B7A-43D3-8B79-37D633B846F1}">
                    <asvg:svgBlip xmlns:asvg="http://schemas.microsoft.com/office/drawing/2016/SVG/main" r:embed="rId46"/>
                  </a:ext>
                </a:extLst>
              </a:blip>
              <a:stretch>
                <a:fillRect/>
              </a:stretch>
            </p:blipFill>
            <p:spPr>
              <a:xfrm>
                <a:off x="6808051" y="8128000"/>
                <a:ext cx="5334667" cy="1270000"/>
              </a:xfrm>
              <a:prstGeom prst="rect">
                <a:avLst/>
              </a:prstGeom>
            </p:spPr>
          </p:pic>
          <p:pic>
            <p:nvPicPr>
              <p:cNvPr id="48" name="Image 31" descr=" "/>
              <p:cNvPicPr>
                <a:picLocks noChangeAspect="1"/>
              </p:cNvPicPr>
              <p:nvPr/>
            </p:nvPicPr>
            <p:blipFill>
              <a:blip r:embed="rId34">
                <a:extLst>
                  <a:ext uri="{96DAC541-7B7A-43D3-8B79-37D633B846F1}">
                    <asvg:svgBlip xmlns:asvg="http://schemas.microsoft.com/office/drawing/2016/SVG/main" r:embed="rId47"/>
                  </a:ext>
                </a:extLst>
              </a:blip>
              <a:stretch>
                <a:fillRect/>
              </a:stretch>
            </p:blipFill>
            <p:spPr>
              <a:xfrm>
                <a:off x="12142718" y="8128000"/>
                <a:ext cx="5334667" cy="1270000"/>
              </a:xfrm>
              <a:prstGeom prst="rect">
                <a:avLst/>
              </a:prstGeom>
            </p:spPr>
          </p:pic>
          <p:pic>
            <p:nvPicPr>
              <p:cNvPr id="62" name="Image 41" descr=" "/>
              <p:cNvPicPr>
                <a:picLocks noChangeAspect="1"/>
              </p:cNvPicPr>
              <p:nvPr/>
            </p:nvPicPr>
            <p:blipFill>
              <a:blip r:embed="rId34">
                <a:extLst>
                  <a:ext uri="{96DAC541-7B7A-43D3-8B79-37D633B846F1}">
                    <asvg:svgBlip xmlns:asvg="http://schemas.microsoft.com/office/drawing/2016/SVG/main" r:embed="rId48"/>
                  </a:ext>
                </a:extLst>
              </a:blip>
              <a:stretch>
                <a:fillRect/>
              </a:stretch>
            </p:blipFill>
            <p:spPr>
              <a:xfrm>
                <a:off x="17477384" y="8128000"/>
                <a:ext cx="5334667" cy="1270000"/>
              </a:xfrm>
              <a:prstGeom prst="rect">
                <a:avLst/>
              </a:prstGeom>
            </p:spPr>
          </p:pic>
        </p:grpSp>
        <p:pic>
          <p:nvPicPr>
            <p:cNvPr id="63" name="Image 42" descr=" "/>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9382623" y="8572500"/>
              <a:ext cx="381048" cy="381000"/>
            </a:xfrm>
            <a:prstGeom prst="rect">
              <a:avLst/>
            </a:prstGeom>
          </p:spPr>
        </p:pic>
        <p:pic>
          <p:nvPicPr>
            <p:cNvPr id="65" name="Image 44" descr=" "/>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9468358" y="8667750"/>
              <a:ext cx="209576" cy="180975"/>
            </a:xfrm>
            <a:prstGeom prst="rect">
              <a:avLst/>
            </a:prstGeom>
          </p:spPr>
        </p:pic>
        <p:pic>
          <p:nvPicPr>
            <p:cNvPr id="66" name="Image 45" descr=" "/>
            <p:cNvPicPr>
              <a:picLocks noChangeAspect="1"/>
            </p:cNvPicPr>
            <p:nvPr/>
          </p:nvPicPr>
          <p:blipFill>
            <a:blip r:embed="rId49">
              <a:extLst>
                <a:ext uri="{96DAC541-7B7A-43D3-8B79-37D633B846F1}">
                  <asvg:svgBlip xmlns:asvg="http://schemas.microsoft.com/office/drawing/2016/SVG/main" r:embed="rId53"/>
                </a:ext>
              </a:extLst>
            </a:blip>
            <a:stretch>
              <a:fillRect/>
            </a:stretch>
          </p:blipFill>
          <p:spPr>
            <a:xfrm>
              <a:off x="19382623" y="9842500"/>
              <a:ext cx="381048" cy="381000"/>
            </a:xfrm>
            <a:prstGeom prst="rect">
              <a:avLst/>
            </a:prstGeom>
          </p:spPr>
        </p:pic>
        <p:pic>
          <p:nvPicPr>
            <p:cNvPr id="68" name="Image 47" descr=" "/>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9487411" y="9947275"/>
              <a:ext cx="171471" cy="171450"/>
            </a:xfrm>
            <a:prstGeom prst="rect">
              <a:avLst/>
            </a:prstGeom>
          </p:spPr>
        </p:pic>
        <p:pic>
          <p:nvPicPr>
            <p:cNvPr id="69" name="Image 48" descr=" "/>
            <p:cNvPicPr>
              <a:picLocks noChangeAspect="1"/>
            </p:cNvPicPr>
            <p:nvPr/>
          </p:nvPicPr>
          <p:blipFill>
            <a:blip r:embed="rId49">
              <a:extLst>
                <a:ext uri="{96DAC541-7B7A-43D3-8B79-37D633B846F1}">
                  <asvg:svgBlip xmlns:asvg="http://schemas.microsoft.com/office/drawing/2016/SVG/main" r:embed="rId56"/>
                </a:ext>
              </a:extLst>
            </a:blip>
            <a:stretch>
              <a:fillRect/>
            </a:stretch>
          </p:blipFill>
          <p:spPr>
            <a:xfrm>
              <a:off x="19382623" y="11112500"/>
              <a:ext cx="381048" cy="381000"/>
            </a:xfrm>
            <a:prstGeom prst="rect">
              <a:avLst/>
            </a:prstGeom>
          </p:spPr>
        </p:pic>
        <p:pic>
          <p:nvPicPr>
            <p:cNvPr id="71" name="Image 50" descr=" "/>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9487411" y="11217275"/>
              <a:ext cx="171471" cy="171450"/>
            </a:xfrm>
            <a:prstGeom prst="rect">
              <a:avLst/>
            </a:prstGeom>
          </p:spPr>
        </p:pic>
        <p:sp>
          <p:nvSpPr>
            <p:cNvPr id="72" name="Text 19"/>
            <p:cNvSpPr/>
            <p:nvPr/>
          </p:nvSpPr>
          <p:spPr>
            <a:xfrm>
              <a:off x="3924791" y="7302500"/>
              <a:ext cx="4911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KPI</a:t>
              </a:r>
              <a:endParaRPr lang="en-US" sz="2000" dirty="0"/>
            </a:p>
          </p:txBody>
        </p:sp>
        <p:sp>
          <p:nvSpPr>
            <p:cNvPr id="73" name="Text 20"/>
            <p:cNvSpPr/>
            <p:nvPr/>
          </p:nvSpPr>
          <p:spPr>
            <a:xfrm>
              <a:off x="9081635" y="7302500"/>
              <a:ext cx="8721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Target</a:t>
              </a:r>
              <a:endParaRPr lang="en-US" sz="2000" dirty="0"/>
            </a:p>
          </p:txBody>
        </p:sp>
        <p:sp>
          <p:nvSpPr>
            <p:cNvPr id="74" name="Text 21"/>
            <p:cNvSpPr/>
            <p:nvPr/>
          </p:nvSpPr>
          <p:spPr>
            <a:xfrm>
              <a:off x="14416302" y="7302500"/>
              <a:ext cx="8721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Actual</a:t>
              </a:r>
              <a:endParaRPr lang="en-US" sz="2000" dirty="0"/>
            </a:p>
          </p:txBody>
        </p:sp>
        <p:sp>
          <p:nvSpPr>
            <p:cNvPr id="75" name="Text 22"/>
            <p:cNvSpPr/>
            <p:nvPr/>
          </p:nvSpPr>
          <p:spPr>
            <a:xfrm>
              <a:off x="19725565" y="7302500"/>
              <a:ext cx="8721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Status</a:t>
              </a:r>
              <a:endParaRPr lang="en-US" sz="2000" dirty="0"/>
            </a:p>
          </p:txBody>
        </p:sp>
        <p:sp>
          <p:nvSpPr>
            <p:cNvPr id="76" name="Text 23"/>
            <p:cNvSpPr/>
            <p:nvPr/>
          </p:nvSpPr>
          <p:spPr>
            <a:xfrm>
              <a:off x="3480235" y="8572500"/>
              <a:ext cx="139294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Cycle Time</a:t>
              </a:r>
              <a:endParaRPr lang="en-US" sz="2000" dirty="0"/>
            </a:p>
          </p:txBody>
        </p:sp>
        <p:sp>
          <p:nvSpPr>
            <p:cNvPr id="77" name="Text 24"/>
            <p:cNvSpPr/>
            <p:nvPr/>
          </p:nvSpPr>
          <p:spPr>
            <a:xfrm>
              <a:off x="9081635" y="8572500"/>
              <a:ext cx="87217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4 days</a:t>
              </a:r>
              <a:endParaRPr lang="en-US" sz="2000" dirty="0"/>
            </a:p>
          </p:txBody>
        </p:sp>
        <p:sp>
          <p:nvSpPr>
            <p:cNvPr id="78" name="Text 25"/>
            <p:cNvSpPr/>
            <p:nvPr/>
          </p:nvSpPr>
          <p:spPr>
            <a:xfrm>
              <a:off x="14314689" y="8572500"/>
              <a:ext cx="107540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5.2 days</a:t>
              </a:r>
              <a:endParaRPr lang="en-US" sz="2000" dirty="0"/>
            </a:p>
          </p:txBody>
        </p:sp>
        <p:sp>
          <p:nvSpPr>
            <p:cNvPr id="79" name="Text 26"/>
            <p:cNvSpPr/>
            <p:nvPr/>
          </p:nvSpPr>
          <p:spPr>
            <a:xfrm>
              <a:off x="19839880" y="8572500"/>
              <a:ext cx="110080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Overdue</a:t>
              </a:r>
              <a:endParaRPr lang="en-US" sz="2000" dirty="0"/>
            </a:p>
          </p:txBody>
        </p:sp>
        <p:sp>
          <p:nvSpPr>
            <p:cNvPr id="80" name="Text 27"/>
            <p:cNvSpPr/>
            <p:nvPr/>
          </p:nvSpPr>
          <p:spPr>
            <a:xfrm>
              <a:off x="3162695" y="9842500"/>
              <a:ext cx="204072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Downtime Hours</a:t>
              </a:r>
              <a:endParaRPr lang="en-US" sz="2000" dirty="0"/>
            </a:p>
          </p:txBody>
        </p:sp>
        <p:sp>
          <p:nvSpPr>
            <p:cNvPr id="81" name="Text 28"/>
            <p:cNvSpPr/>
            <p:nvPr/>
          </p:nvSpPr>
          <p:spPr>
            <a:xfrm>
              <a:off x="3327816" y="11112500"/>
              <a:ext cx="171048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Uptime Hours</a:t>
              </a:r>
              <a:endParaRPr lang="en-US" sz="2000" dirty="0"/>
            </a:p>
          </p:txBody>
        </p:sp>
        <p:sp>
          <p:nvSpPr>
            <p:cNvPr id="82" name="Text 29"/>
            <p:cNvSpPr/>
            <p:nvPr/>
          </p:nvSpPr>
          <p:spPr>
            <a:xfrm>
              <a:off x="9030829" y="9842500"/>
              <a:ext cx="97378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&lt;10 hrs</a:t>
              </a:r>
              <a:endParaRPr lang="en-US" sz="2000" dirty="0"/>
            </a:p>
          </p:txBody>
        </p:sp>
        <p:sp>
          <p:nvSpPr>
            <p:cNvPr id="83" name="Text 30"/>
            <p:cNvSpPr/>
            <p:nvPr/>
          </p:nvSpPr>
          <p:spPr>
            <a:xfrm>
              <a:off x="9030829" y="11112500"/>
              <a:ext cx="84677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&lt;8 hrs</a:t>
              </a:r>
              <a:endParaRPr lang="en-US" sz="2000" dirty="0"/>
            </a:p>
          </p:txBody>
        </p:sp>
        <p:sp>
          <p:nvSpPr>
            <p:cNvPr id="84" name="Text 31"/>
            <p:cNvSpPr/>
            <p:nvPr/>
          </p:nvSpPr>
          <p:spPr>
            <a:xfrm>
              <a:off x="14416302" y="9842500"/>
              <a:ext cx="89757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8.3 hrs</a:t>
              </a:r>
              <a:endParaRPr lang="en-US" sz="2000" dirty="0"/>
            </a:p>
          </p:txBody>
        </p:sp>
        <p:sp>
          <p:nvSpPr>
            <p:cNvPr id="85" name="Text 32"/>
            <p:cNvSpPr/>
            <p:nvPr/>
          </p:nvSpPr>
          <p:spPr>
            <a:xfrm>
              <a:off x="14416302" y="11112500"/>
              <a:ext cx="89757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6.6 hrs</a:t>
              </a:r>
              <a:endParaRPr lang="en-US" sz="2000" dirty="0"/>
            </a:p>
          </p:txBody>
        </p:sp>
        <p:sp>
          <p:nvSpPr>
            <p:cNvPr id="86" name="Text 33"/>
            <p:cNvSpPr/>
            <p:nvPr/>
          </p:nvSpPr>
          <p:spPr>
            <a:xfrm>
              <a:off x="19839880" y="9842500"/>
              <a:ext cx="115161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On Track</a:t>
              </a:r>
              <a:endParaRPr lang="en-US" sz="2000" dirty="0"/>
            </a:p>
          </p:txBody>
        </p:sp>
        <p:sp>
          <p:nvSpPr>
            <p:cNvPr id="87" name="Text 34"/>
            <p:cNvSpPr/>
            <p:nvPr/>
          </p:nvSpPr>
          <p:spPr>
            <a:xfrm>
              <a:off x="19839880" y="11112500"/>
              <a:ext cx="115161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On Track</a:t>
              </a:r>
              <a:endParaRPr lang="en-US" sz="2000" dirty="0"/>
            </a:p>
          </p:txBody>
        </p:sp>
        <p:pic>
          <p:nvPicPr>
            <p:cNvPr id="88" name="Image 51" descr=" "/>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2229129" y="9391650"/>
              <a:ext cx="13476384" cy="12700"/>
            </a:xfrm>
            <a:prstGeom prst="rect">
              <a:avLst/>
            </a:prstGeom>
          </p:spPr>
        </p:pic>
        <p:pic>
          <p:nvPicPr>
            <p:cNvPr id="89" name="Image 52" descr=" "/>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2229129" y="10661650"/>
              <a:ext cx="13476384" cy="12700"/>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9156700"/>
            <a:ext cx="5144143" cy="2273300"/>
          </a:xfrm>
          <a:prstGeom prst="rect">
            <a:avLst/>
          </a:prstGeom>
        </p:spPr>
      </p:pic>
      <p:sp>
        <p:nvSpPr>
          <p:cNvPr id="3" name="Text 0"/>
          <p:cNvSpPr/>
          <p:nvPr/>
        </p:nvSpPr>
        <p:spPr>
          <a:xfrm>
            <a:off x="1511489" y="15240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Customer Satisfaction Dashboard</a:t>
            </a:r>
            <a:endParaRPr lang="en-US" sz="6000" dirty="0"/>
          </a:p>
        </p:txBody>
      </p:sp>
      <p:sp>
        <p:nvSpPr>
          <p:cNvPr id="4" name="Text 1"/>
          <p:cNvSpPr/>
          <p:nvPr/>
        </p:nvSpPr>
        <p:spPr>
          <a:xfrm>
            <a:off x="15025978" y="1524000"/>
            <a:ext cx="7904621"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Measure customer loyalty and satisfaction using NPS and sentiment analysis. Understand what customers value—and what’s driving churn or delight.</a:t>
            </a:r>
            <a:endParaRPr lang="en-US" sz="1600" dirty="0"/>
          </a:p>
        </p:txBody>
      </p:sp>
      <p:sp>
        <p:nvSpPr>
          <p:cNvPr id="5" name="Text 2"/>
          <p:cNvSpPr/>
          <p:nvPr/>
        </p:nvSpPr>
        <p:spPr>
          <a:xfrm>
            <a:off x="2387898" y="9398000"/>
            <a:ext cx="1829029"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000000">
                    <a:alpha val="100000"/>
                  </a:srgbClr>
                </a:solidFill>
                <a:latin typeface="Inter Regular" pitchFamily="34" charset="0"/>
                <a:ea typeface="Inter Regular" pitchFamily="34" charset="-122"/>
                <a:cs typeface="Inter Regular" pitchFamily="34" charset="-120"/>
              </a:rPr>
              <a:t>72</a:t>
            </a:r>
            <a:endParaRPr lang="en-US" sz="9600" dirty="0"/>
          </a:p>
        </p:txBody>
      </p:sp>
      <p:sp>
        <p:nvSpPr>
          <p:cNvPr id="6" name="Text 3"/>
          <p:cNvSpPr/>
          <p:nvPr/>
        </p:nvSpPr>
        <p:spPr>
          <a:xfrm>
            <a:off x="3861283" y="9950450"/>
            <a:ext cx="156652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Excellent</a:t>
            </a:r>
            <a:endParaRPr lang="en-US" sz="1600" dirty="0"/>
          </a:p>
        </p:txBody>
      </p:sp>
      <p:sp>
        <p:nvSpPr>
          <p:cNvPr id="7" name="Text 4"/>
          <p:cNvSpPr/>
          <p:nvPr/>
        </p:nvSpPr>
        <p:spPr>
          <a:xfrm>
            <a:off x="3861283" y="10267950"/>
            <a:ext cx="1566529" cy="474133"/>
          </a:xfrm>
          <a:prstGeom prst="rect">
            <a:avLst/>
          </a:prstGeom>
          <a:noFill/>
          <a:ln/>
        </p:spPr>
        <p:txBody>
          <a:bodyPr wrap="square" lIns="0" tIns="0" rIns="0" bIns="0" rtlCol="0" anchor="t"/>
          <a:lstStyle/>
          <a:p>
            <a:pPr marL="0" indent="0" algn="l">
              <a:lnSpc>
                <a:spcPts val="16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Strong promoter score</a:t>
            </a:r>
            <a:endParaRPr lang="en-US" sz="1600" dirty="0"/>
          </a:p>
        </p:txBody>
      </p:sp>
      <p:pic>
        <p:nvPicPr>
          <p:cNvPr id="8"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22365" y="3810000"/>
            <a:ext cx="15940492" cy="7620000"/>
          </a:xfrm>
          <a:prstGeom prst="rect">
            <a:avLst/>
          </a:prstGeom>
        </p:spPr>
      </p:pic>
      <p:pic>
        <p:nvPicPr>
          <p:cNvPr id="9"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57445" y="9626600"/>
            <a:ext cx="3670759" cy="1168400"/>
          </a:xfrm>
          <a:prstGeom prst="rect">
            <a:avLst/>
          </a:prstGeom>
        </p:spPr>
      </p:pic>
      <p:sp>
        <p:nvSpPr>
          <p:cNvPr id="10" name="Shape 5"/>
          <p:cNvSpPr/>
          <p:nvPr/>
        </p:nvSpPr>
        <p:spPr>
          <a:xfrm>
            <a:off x="11621953" y="4572000"/>
            <a:ext cx="6096762" cy="6096000"/>
          </a:xfrm>
          <a:prstGeom prst="rect">
            <a:avLst/>
          </a:prstGeom>
          <a:noFill/>
          <a:ln/>
        </p:spPr>
      </p:sp>
      <p:pic>
        <p:nvPicPr>
          <p:cNvPr id="11"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621953" y="4572000"/>
            <a:ext cx="6096762" cy="6096000"/>
          </a:xfrm>
          <a:prstGeom prst="rect">
            <a:avLst/>
          </a:prstGeom>
        </p:spPr>
      </p:pic>
      <p:sp>
        <p:nvSpPr>
          <p:cNvPr id="12" name="Shape 6"/>
          <p:cNvSpPr/>
          <p:nvPr/>
        </p:nvSpPr>
        <p:spPr>
          <a:xfrm>
            <a:off x="11621953" y="4572000"/>
            <a:ext cx="660483" cy="660400"/>
          </a:xfrm>
          <a:prstGeom prst="ellipse">
            <a:avLst/>
          </a:prstGeom>
          <a:solidFill>
            <a:srgbClr val="F6F3FF">
              <a:alpha val="100000"/>
            </a:srgbClr>
          </a:solidFill>
          <a:ln/>
        </p:spPr>
      </p:sp>
      <p:sp>
        <p:nvSpPr>
          <p:cNvPr id="16" name="Text 7"/>
          <p:cNvSpPr/>
          <p:nvPr/>
        </p:nvSpPr>
        <p:spPr>
          <a:xfrm>
            <a:off x="13933641" y="7010400"/>
            <a:ext cx="1790924"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65%</a:t>
            </a:r>
            <a:endParaRPr lang="en-US" sz="6000" dirty="0"/>
          </a:p>
        </p:txBody>
      </p:sp>
      <p:sp>
        <p:nvSpPr>
          <p:cNvPr id="17" name="Text 8"/>
          <p:cNvSpPr/>
          <p:nvPr/>
        </p:nvSpPr>
        <p:spPr>
          <a:xfrm>
            <a:off x="13819327" y="7874000"/>
            <a:ext cx="176975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Positive Feedback</a:t>
            </a:r>
            <a:endParaRPr lang="en-US" sz="1600" dirty="0"/>
          </a:p>
        </p:txBody>
      </p:sp>
      <p:pic>
        <p:nvPicPr>
          <p:cNvPr id="18"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404600" y="4445000"/>
            <a:ext cx="3823178" cy="3492500"/>
          </a:xfrm>
          <a:prstGeom prst="rect">
            <a:avLst/>
          </a:prstGeom>
        </p:spPr>
      </p:pic>
      <p:sp>
        <p:nvSpPr>
          <p:cNvPr id="19" name="Shape 9"/>
          <p:cNvSpPr/>
          <p:nvPr/>
        </p:nvSpPr>
        <p:spPr>
          <a:xfrm>
            <a:off x="18874559" y="4805680"/>
            <a:ext cx="76210" cy="254000"/>
          </a:xfrm>
          <a:prstGeom prst="roundRect">
            <a:avLst>
              <a:gd name="adj" fmla="val 35995"/>
            </a:avLst>
          </a:prstGeom>
          <a:solidFill>
            <a:srgbClr val="6925B2">
              <a:alpha val="100000"/>
            </a:srgbClr>
          </a:solidFill>
          <a:ln/>
        </p:spPr>
      </p:sp>
      <p:sp>
        <p:nvSpPr>
          <p:cNvPr id="20" name="Text 10"/>
          <p:cNvSpPr/>
          <p:nvPr/>
        </p:nvSpPr>
        <p:spPr>
          <a:xfrm>
            <a:off x="19026978" y="4800600"/>
            <a:ext cx="81713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Positive</a:t>
            </a:r>
            <a:endParaRPr lang="en-US" sz="1600" dirty="0"/>
          </a:p>
        </p:txBody>
      </p:sp>
      <p:sp>
        <p:nvSpPr>
          <p:cNvPr id="21" name="Shape 11"/>
          <p:cNvSpPr/>
          <p:nvPr/>
        </p:nvSpPr>
        <p:spPr>
          <a:xfrm>
            <a:off x="18874559" y="5783580"/>
            <a:ext cx="76210" cy="254000"/>
          </a:xfrm>
          <a:prstGeom prst="roundRect">
            <a:avLst>
              <a:gd name="adj" fmla="val 35995"/>
            </a:avLst>
          </a:prstGeom>
          <a:solidFill>
            <a:srgbClr val="E1D7FD">
              <a:alpha val="100000"/>
            </a:srgbClr>
          </a:solidFill>
          <a:ln/>
        </p:spPr>
      </p:sp>
      <p:sp>
        <p:nvSpPr>
          <p:cNvPr id="22" name="Text 12"/>
          <p:cNvSpPr/>
          <p:nvPr/>
        </p:nvSpPr>
        <p:spPr>
          <a:xfrm>
            <a:off x="19026978" y="5778500"/>
            <a:ext cx="76632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Neutral</a:t>
            </a:r>
            <a:endParaRPr lang="en-US" sz="1600" dirty="0"/>
          </a:p>
        </p:txBody>
      </p:sp>
      <p:sp>
        <p:nvSpPr>
          <p:cNvPr id="23" name="Shape 13"/>
          <p:cNvSpPr/>
          <p:nvPr/>
        </p:nvSpPr>
        <p:spPr>
          <a:xfrm>
            <a:off x="18874559" y="6761480"/>
            <a:ext cx="76210" cy="254000"/>
          </a:xfrm>
          <a:prstGeom prst="roundRect">
            <a:avLst>
              <a:gd name="adj" fmla="val 35995"/>
            </a:avLst>
          </a:prstGeom>
          <a:solidFill>
            <a:srgbClr val="B28EF7">
              <a:alpha val="100000"/>
            </a:srgbClr>
          </a:solidFill>
          <a:ln/>
        </p:spPr>
      </p:sp>
      <p:sp>
        <p:nvSpPr>
          <p:cNvPr id="24" name="Text 14"/>
          <p:cNvSpPr/>
          <p:nvPr/>
        </p:nvSpPr>
        <p:spPr>
          <a:xfrm>
            <a:off x="19026978" y="6756400"/>
            <a:ext cx="91874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Negative</a:t>
            </a:r>
            <a:endParaRPr lang="en-US" sz="1600" dirty="0"/>
          </a:p>
        </p:txBody>
      </p:sp>
      <p:sp>
        <p:nvSpPr>
          <p:cNvPr id="25" name="Text 15"/>
          <p:cNvSpPr/>
          <p:nvPr/>
        </p:nvSpPr>
        <p:spPr>
          <a:xfrm>
            <a:off x="18874559" y="5143500"/>
            <a:ext cx="17993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65% Feedback</a:t>
            </a:r>
            <a:endParaRPr lang="en-US" sz="2000" dirty="0"/>
          </a:p>
        </p:txBody>
      </p:sp>
      <p:sp>
        <p:nvSpPr>
          <p:cNvPr id="26" name="Text 16"/>
          <p:cNvSpPr/>
          <p:nvPr/>
        </p:nvSpPr>
        <p:spPr>
          <a:xfrm>
            <a:off x="18874559" y="6121400"/>
            <a:ext cx="179939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25% Feedback</a:t>
            </a:r>
            <a:endParaRPr lang="en-US" sz="2000" dirty="0"/>
          </a:p>
        </p:txBody>
      </p:sp>
      <p:sp>
        <p:nvSpPr>
          <p:cNvPr id="27" name="Text 17"/>
          <p:cNvSpPr/>
          <p:nvPr/>
        </p:nvSpPr>
        <p:spPr>
          <a:xfrm>
            <a:off x="18874559" y="7099300"/>
            <a:ext cx="176128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10% Feedback</a:t>
            </a:r>
            <a:endParaRPr lang="en-US" sz="2000" dirty="0"/>
          </a:p>
        </p:txBody>
      </p:sp>
      <p:sp>
        <p:nvSpPr>
          <p:cNvPr id="28" name="Text 18"/>
          <p:cNvSpPr/>
          <p:nvPr/>
        </p:nvSpPr>
        <p:spPr>
          <a:xfrm>
            <a:off x="7811476" y="9906000"/>
            <a:ext cx="323043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Track loyalty, feedback quality, and behavioral signals in real time.</a:t>
            </a:r>
            <a:endParaRPr lang="en-US" sz="1600" dirty="0"/>
          </a:p>
        </p:txBody>
      </p:sp>
      <p:sp>
        <p:nvSpPr>
          <p:cNvPr id="29" name="Text 19"/>
          <p:cNvSpPr/>
          <p:nvPr/>
        </p:nvSpPr>
        <p:spPr>
          <a:xfrm>
            <a:off x="18404600" y="9880600"/>
            <a:ext cx="3890920"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Positive sentiment aligns with recent feature updates consider amplifying in outreach.</a:t>
            </a:r>
            <a:endParaRPr lang="en-US" sz="1600" dirty="0"/>
          </a:p>
        </p:txBody>
      </p:sp>
      <p:pic>
        <p:nvPicPr>
          <p:cNvPr id="30" name="Image 8"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57445" y="4191000"/>
            <a:ext cx="330241" cy="330200"/>
          </a:xfrm>
          <a:prstGeom prst="rect">
            <a:avLst/>
          </a:prstGeom>
        </p:spPr>
      </p:pic>
      <p:sp>
        <p:nvSpPr>
          <p:cNvPr id="31" name="Text 20"/>
          <p:cNvSpPr/>
          <p:nvPr/>
        </p:nvSpPr>
        <p:spPr>
          <a:xfrm>
            <a:off x="7989299" y="4203700"/>
            <a:ext cx="199838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Feedback Sentiment</a:t>
            </a:r>
            <a:endParaRPr lang="en-US" sz="1600" dirty="0"/>
          </a:p>
        </p:txBody>
      </p:sp>
      <p:grpSp>
        <p:nvGrpSpPr>
          <p:cNvPr id="86" name="Group 85">
            <a:extLst>
              <a:ext uri="{FF2B5EF4-FFF2-40B4-BE49-F238E27FC236}">
                <a16:creationId xmlns:a16="http://schemas.microsoft.com/office/drawing/2014/main" id="{2A67F48A-3C98-4782-A058-9C0071B7B6B2}"/>
              </a:ext>
            </a:extLst>
          </p:cNvPr>
          <p:cNvGrpSpPr/>
          <p:nvPr/>
        </p:nvGrpSpPr>
        <p:grpSpPr>
          <a:xfrm>
            <a:off x="7557445" y="5816600"/>
            <a:ext cx="2794349" cy="2794000"/>
            <a:chOff x="7557445" y="5816600"/>
            <a:chExt cx="2794349" cy="2794000"/>
          </a:xfrm>
        </p:grpSpPr>
        <p:pic>
          <p:nvPicPr>
            <p:cNvPr id="32" name="Image 9"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57445" y="8229600"/>
              <a:ext cx="381048" cy="381000"/>
            </a:xfrm>
            <a:prstGeom prst="rect">
              <a:avLst/>
            </a:prstGeom>
          </p:spPr>
        </p:pic>
        <p:pic>
          <p:nvPicPr>
            <p:cNvPr id="33" name="Image 10" descr=" "/>
            <p:cNvPicPr>
              <a:picLocks noChangeAspect="1"/>
            </p:cNvPicPr>
            <p:nvPr/>
          </p:nvPicPr>
          <p:blipFill>
            <a:blip r:embed="rId15">
              <a:extLst>
                <a:ext uri="{96DAC541-7B7A-43D3-8B79-37D633B846F1}">
                  <asvg:svgBlip xmlns:asvg="http://schemas.microsoft.com/office/drawing/2016/SVG/main" r:embed="rId17"/>
                </a:ext>
              </a:extLst>
            </a:blip>
            <a:stretch>
              <a:fillRect/>
            </a:stretch>
          </p:blipFill>
          <p:spPr>
            <a:xfrm>
              <a:off x="7557445" y="7747000"/>
              <a:ext cx="381048" cy="381000"/>
            </a:xfrm>
            <a:prstGeom prst="rect">
              <a:avLst/>
            </a:prstGeom>
          </p:spPr>
        </p:pic>
        <p:pic>
          <p:nvPicPr>
            <p:cNvPr id="34" name="Image 11"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557445" y="7264400"/>
              <a:ext cx="381048" cy="381000"/>
            </a:xfrm>
            <a:prstGeom prst="rect">
              <a:avLst/>
            </a:prstGeom>
          </p:spPr>
        </p:pic>
        <p:pic>
          <p:nvPicPr>
            <p:cNvPr id="35" name="Image 12" descr=" "/>
            <p:cNvPicPr>
              <a:picLocks noChangeAspect="1"/>
            </p:cNvPicPr>
            <p:nvPr/>
          </p:nvPicPr>
          <p:blipFill>
            <a:blip r:embed="rId18">
              <a:extLst>
                <a:ext uri="{96DAC541-7B7A-43D3-8B79-37D633B846F1}">
                  <asvg:svgBlip xmlns:asvg="http://schemas.microsoft.com/office/drawing/2016/SVG/main" r:embed="rId20"/>
                </a:ext>
              </a:extLst>
            </a:blip>
            <a:stretch>
              <a:fillRect/>
            </a:stretch>
          </p:blipFill>
          <p:spPr>
            <a:xfrm>
              <a:off x="7557445" y="6781800"/>
              <a:ext cx="381048" cy="381000"/>
            </a:xfrm>
            <a:prstGeom prst="rect">
              <a:avLst/>
            </a:prstGeom>
          </p:spPr>
        </p:pic>
        <p:pic>
          <p:nvPicPr>
            <p:cNvPr id="36" name="Image 13" descr=" "/>
            <p:cNvPicPr>
              <a:picLocks noChangeAspect="1"/>
            </p:cNvPicPr>
            <p:nvPr/>
          </p:nvPicPr>
          <p:blipFill>
            <a:blip r:embed="rId18">
              <a:extLst>
                <a:ext uri="{96DAC541-7B7A-43D3-8B79-37D633B846F1}">
                  <asvg:svgBlip xmlns:asvg="http://schemas.microsoft.com/office/drawing/2016/SVG/main" r:embed="rId21"/>
                </a:ext>
              </a:extLst>
            </a:blip>
            <a:stretch>
              <a:fillRect/>
            </a:stretch>
          </p:blipFill>
          <p:spPr>
            <a:xfrm>
              <a:off x="7557445" y="6299200"/>
              <a:ext cx="381048" cy="381000"/>
            </a:xfrm>
            <a:prstGeom prst="rect">
              <a:avLst/>
            </a:prstGeom>
          </p:spPr>
        </p:pic>
        <p:pic>
          <p:nvPicPr>
            <p:cNvPr id="37" name="Image 14" descr=" "/>
            <p:cNvPicPr>
              <a:picLocks noChangeAspect="1"/>
            </p:cNvPicPr>
            <p:nvPr/>
          </p:nvPicPr>
          <p:blipFill>
            <a:blip r:embed="rId18">
              <a:extLst>
                <a:ext uri="{96DAC541-7B7A-43D3-8B79-37D633B846F1}">
                  <asvg:svgBlip xmlns:asvg="http://schemas.microsoft.com/office/drawing/2016/SVG/main" r:embed="rId22"/>
                </a:ext>
              </a:extLst>
            </a:blip>
            <a:stretch>
              <a:fillRect/>
            </a:stretch>
          </p:blipFill>
          <p:spPr>
            <a:xfrm>
              <a:off x="7557445" y="5816600"/>
              <a:ext cx="381048" cy="381000"/>
            </a:xfrm>
            <a:prstGeom prst="rect">
              <a:avLst/>
            </a:prstGeom>
          </p:spPr>
        </p:pic>
        <p:pic>
          <p:nvPicPr>
            <p:cNvPr id="38" name="Image 15" descr=" "/>
            <p:cNvPicPr>
              <a:picLocks noChangeAspect="1"/>
            </p:cNvPicPr>
            <p:nvPr/>
          </p:nvPicPr>
          <p:blipFill>
            <a:blip r:embed="rId15">
              <a:extLst>
                <a:ext uri="{96DAC541-7B7A-43D3-8B79-37D633B846F1}">
                  <asvg:svgBlip xmlns:asvg="http://schemas.microsoft.com/office/drawing/2016/SVG/main" r:embed="rId23"/>
                </a:ext>
              </a:extLst>
            </a:blip>
            <a:stretch>
              <a:fillRect/>
            </a:stretch>
          </p:blipFill>
          <p:spPr>
            <a:xfrm>
              <a:off x="8040105" y="8229600"/>
              <a:ext cx="381048" cy="381000"/>
            </a:xfrm>
            <a:prstGeom prst="rect">
              <a:avLst/>
            </a:prstGeom>
          </p:spPr>
        </p:pic>
        <p:pic>
          <p:nvPicPr>
            <p:cNvPr id="39" name="Image 16" descr=" "/>
            <p:cNvPicPr>
              <a:picLocks noChangeAspect="1"/>
            </p:cNvPicPr>
            <p:nvPr/>
          </p:nvPicPr>
          <p:blipFill>
            <a:blip r:embed="rId15">
              <a:extLst>
                <a:ext uri="{96DAC541-7B7A-43D3-8B79-37D633B846F1}">
                  <asvg:svgBlip xmlns:asvg="http://schemas.microsoft.com/office/drawing/2016/SVG/main" r:embed="rId24"/>
                </a:ext>
              </a:extLst>
            </a:blip>
            <a:stretch>
              <a:fillRect/>
            </a:stretch>
          </p:blipFill>
          <p:spPr>
            <a:xfrm>
              <a:off x="8040105" y="7747000"/>
              <a:ext cx="381048" cy="381000"/>
            </a:xfrm>
            <a:prstGeom prst="rect">
              <a:avLst/>
            </a:prstGeom>
          </p:spPr>
        </p:pic>
        <p:pic>
          <p:nvPicPr>
            <p:cNvPr id="40" name="Image 17" descr=" "/>
            <p:cNvPicPr>
              <a:picLocks noChangeAspect="1"/>
            </p:cNvPicPr>
            <p:nvPr/>
          </p:nvPicPr>
          <p:blipFill>
            <a:blip r:embed="rId18">
              <a:extLst>
                <a:ext uri="{96DAC541-7B7A-43D3-8B79-37D633B846F1}">
                  <asvg:svgBlip xmlns:asvg="http://schemas.microsoft.com/office/drawing/2016/SVG/main" r:embed="rId25"/>
                </a:ext>
              </a:extLst>
            </a:blip>
            <a:stretch>
              <a:fillRect/>
            </a:stretch>
          </p:blipFill>
          <p:spPr>
            <a:xfrm>
              <a:off x="8040105" y="7264400"/>
              <a:ext cx="381048" cy="381000"/>
            </a:xfrm>
            <a:prstGeom prst="rect">
              <a:avLst/>
            </a:prstGeom>
          </p:spPr>
        </p:pic>
        <p:pic>
          <p:nvPicPr>
            <p:cNvPr id="41" name="Image 18" descr=" "/>
            <p:cNvPicPr>
              <a:picLocks noChangeAspect="1"/>
            </p:cNvPicPr>
            <p:nvPr/>
          </p:nvPicPr>
          <p:blipFill>
            <a:blip r:embed="rId18">
              <a:extLst>
                <a:ext uri="{96DAC541-7B7A-43D3-8B79-37D633B846F1}">
                  <asvg:svgBlip xmlns:asvg="http://schemas.microsoft.com/office/drawing/2016/SVG/main" r:embed="rId26"/>
                </a:ext>
              </a:extLst>
            </a:blip>
            <a:stretch>
              <a:fillRect/>
            </a:stretch>
          </p:blipFill>
          <p:spPr>
            <a:xfrm>
              <a:off x="8040105" y="6781800"/>
              <a:ext cx="381048" cy="381000"/>
            </a:xfrm>
            <a:prstGeom prst="rect">
              <a:avLst/>
            </a:prstGeom>
          </p:spPr>
        </p:pic>
        <p:pic>
          <p:nvPicPr>
            <p:cNvPr id="42" name="Image 19" descr=" "/>
            <p:cNvPicPr>
              <a:picLocks noChangeAspect="1"/>
            </p:cNvPicPr>
            <p:nvPr/>
          </p:nvPicPr>
          <p:blipFill>
            <a:blip r:embed="rId18">
              <a:extLst>
                <a:ext uri="{96DAC541-7B7A-43D3-8B79-37D633B846F1}">
                  <asvg:svgBlip xmlns:asvg="http://schemas.microsoft.com/office/drawing/2016/SVG/main" r:embed="rId27"/>
                </a:ext>
              </a:extLst>
            </a:blip>
            <a:stretch>
              <a:fillRect/>
            </a:stretch>
          </p:blipFill>
          <p:spPr>
            <a:xfrm>
              <a:off x="8040105" y="6299200"/>
              <a:ext cx="381048" cy="381000"/>
            </a:xfrm>
            <a:prstGeom prst="rect">
              <a:avLst/>
            </a:prstGeom>
          </p:spPr>
        </p:pic>
        <p:pic>
          <p:nvPicPr>
            <p:cNvPr id="43" name="Image 20" descr=" "/>
            <p:cNvPicPr>
              <a:picLocks noChangeAspect="1"/>
            </p:cNvPicPr>
            <p:nvPr/>
          </p:nvPicPr>
          <p:blipFill>
            <a:blip r:embed="rId18">
              <a:extLst>
                <a:ext uri="{96DAC541-7B7A-43D3-8B79-37D633B846F1}">
                  <asvg:svgBlip xmlns:asvg="http://schemas.microsoft.com/office/drawing/2016/SVG/main" r:embed="rId28"/>
                </a:ext>
              </a:extLst>
            </a:blip>
            <a:stretch>
              <a:fillRect/>
            </a:stretch>
          </p:blipFill>
          <p:spPr>
            <a:xfrm>
              <a:off x="8040105" y="5816600"/>
              <a:ext cx="381048" cy="381000"/>
            </a:xfrm>
            <a:prstGeom prst="rect">
              <a:avLst/>
            </a:prstGeom>
          </p:spPr>
        </p:pic>
        <p:pic>
          <p:nvPicPr>
            <p:cNvPr id="44" name="Image 21" descr=" "/>
            <p:cNvPicPr>
              <a:picLocks noChangeAspect="1"/>
            </p:cNvPicPr>
            <p:nvPr/>
          </p:nvPicPr>
          <p:blipFill>
            <a:blip r:embed="rId15">
              <a:extLst>
                <a:ext uri="{96DAC541-7B7A-43D3-8B79-37D633B846F1}">
                  <asvg:svgBlip xmlns:asvg="http://schemas.microsoft.com/office/drawing/2016/SVG/main" r:embed="rId29"/>
                </a:ext>
              </a:extLst>
            </a:blip>
            <a:stretch>
              <a:fillRect/>
            </a:stretch>
          </p:blipFill>
          <p:spPr>
            <a:xfrm>
              <a:off x="8522765" y="8229600"/>
              <a:ext cx="381048" cy="381000"/>
            </a:xfrm>
            <a:prstGeom prst="rect">
              <a:avLst/>
            </a:prstGeom>
          </p:spPr>
        </p:pic>
        <p:pic>
          <p:nvPicPr>
            <p:cNvPr id="45" name="Image 22" descr=" "/>
            <p:cNvPicPr>
              <a:picLocks noChangeAspect="1"/>
            </p:cNvPicPr>
            <p:nvPr/>
          </p:nvPicPr>
          <p:blipFill>
            <a:blip r:embed="rId15">
              <a:extLst>
                <a:ext uri="{96DAC541-7B7A-43D3-8B79-37D633B846F1}">
                  <asvg:svgBlip xmlns:asvg="http://schemas.microsoft.com/office/drawing/2016/SVG/main" r:embed="rId30"/>
                </a:ext>
              </a:extLst>
            </a:blip>
            <a:stretch>
              <a:fillRect/>
            </a:stretch>
          </p:blipFill>
          <p:spPr>
            <a:xfrm>
              <a:off x="8522765" y="7747000"/>
              <a:ext cx="381048" cy="381000"/>
            </a:xfrm>
            <a:prstGeom prst="rect">
              <a:avLst/>
            </a:prstGeom>
          </p:spPr>
        </p:pic>
        <p:pic>
          <p:nvPicPr>
            <p:cNvPr id="46" name="Image 23" descr=" "/>
            <p:cNvPicPr>
              <a:picLocks noChangeAspect="1"/>
            </p:cNvPicPr>
            <p:nvPr/>
          </p:nvPicPr>
          <p:blipFill>
            <a:blip r:embed="rId15">
              <a:extLst>
                <a:ext uri="{96DAC541-7B7A-43D3-8B79-37D633B846F1}">
                  <asvg:svgBlip xmlns:asvg="http://schemas.microsoft.com/office/drawing/2016/SVG/main" r:embed="rId31"/>
                </a:ext>
              </a:extLst>
            </a:blip>
            <a:stretch>
              <a:fillRect/>
            </a:stretch>
          </p:blipFill>
          <p:spPr>
            <a:xfrm>
              <a:off x="8522765" y="7264400"/>
              <a:ext cx="381048" cy="381000"/>
            </a:xfrm>
            <a:prstGeom prst="rect">
              <a:avLst/>
            </a:prstGeom>
          </p:spPr>
        </p:pic>
        <p:pic>
          <p:nvPicPr>
            <p:cNvPr id="47" name="Image 24" descr=" "/>
            <p:cNvPicPr>
              <a:picLocks noChangeAspect="1"/>
            </p:cNvPicPr>
            <p:nvPr/>
          </p:nvPicPr>
          <p:blipFill>
            <a:blip r:embed="rId15">
              <a:extLst>
                <a:ext uri="{96DAC541-7B7A-43D3-8B79-37D633B846F1}">
                  <asvg:svgBlip xmlns:asvg="http://schemas.microsoft.com/office/drawing/2016/SVG/main" r:embed="rId32"/>
                </a:ext>
              </a:extLst>
            </a:blip>
            <a:stretch>
              <a:fillRect/>
            </a:stretch>
          </p:blipFill>
          <p:spPr>
            <a:xfrm>
              <a:off x="8522765" y="6781800"/>
              <a:ext cx="381048" cy="381000"/>
            </a:xfrm>
            <a:prstGeom prst="rect">
              <a:avLst/>
            </a:prstGeom>
          </p:spPr>
        </p:pic>
        <p:pic>
          <p:nvPicPr>
            <p:cNvPr id="48" name="Image 25" descr=" "/>
            <p:cNvPicPr>
              <a:picLocks noChangeAspect="1"/>
            </p:cNvPicPr>
            <p:nvPr/>
          </p:nvPicPr>
          <p:blipFill>
            <a:blip r:embed="rId18">
              <a:extLst>
                <a:ext uri="{96DAC541-7B7A-43D3-8B79-37D633B846F1}">
                  <asvg:svgBlip xmlns:asvg="http://schemas.microsoft.com/office/drawing/2016/SVG/main" r:embed="rId33"/>
                </a:ext>
              </a:extLst>
            </a:blip>
            <a:stretch>
              <a:fillRect/>
            </a:stretch>
          </p:blipFill>
          <p:spPr>
            <a:xfrm>
              <a:off x="8522765" y="6299200"/>
              <a:ext cx="381048" cy="381000"/>
            </a:xfrm>
            <a:prstGeom prst="rect">
              <a:avLst/>
            </a:prstGeom>
          </p:spPr>
        </p:pic>
        <p:pic>
          <p:nvPicPr>
            <p:cNvPr id="49" name="Image 26" descr=" "/>
            <p:cNvPicPr>
              <a:picLocks noChangeAspect="1"/>
            </p:cNvPicPr>
            <p:nvPr/>
          </p:nvPicPr>
          <p:blipFill>
            <a:blip r:embed="rId18">
              <a:extLst>
                <a:ext uri="{96DAC541-7B7A-43D3-8B79-37D633B846F1}">
                  <asvg:svgBlip xmlns:asvg="http://schemas.microsoft.com/office/drawing/2016/SVG/main" r:embed="rId34"/>
                </a:ext>
              </a:extLst>
            </a:blip>
            <a:stretch>
              <a:fillRect/>
            </a:stretch>
          </p:blipFill>
          <p:spPr>
            <a:xfrm>
              <a:off x="8522765" y="5816600"/>
              <a:ext cx="381048" cy="381000"/>
            </a:xfrm>
            <a:prstGeom prst="rect">
              <a:avLst/>
            </a:prstGeom>
          </p:spPr>
        </p:pic>
        <p:pic>
          <p:nvPicPr>
            <p:cNvPr id="50" name="Image 27" descr=" "/>
            <p:cNvPicPr>
              <a:picLocks noChangeAspect="1"/>
            </p:cNvPicPr>
            <p:nvPr/>
          </p:nvPicPr>
          <p:blipFill>
            <a:blip r:embed="rId15">
              <a:extLst>
                <a:ext uri="{96DAC541-7B7A-43D3-8B79-37D633B846F1}">
                  <asvg:svgBlip xmlns:asvg="http://schemas.microsoft.com/office/drawing/2016/SVG/main" r:embed="rId35"/>
                </a:ext>
              </a:extLst>
            </a:blip>
            <a:stretch>
              <a:fillRect/>
            </a:stretch>
          </p:blipFill>
          <p:spPr>
            <a:xfrm>
              <a:off x="9005426" y="8229600"/>
              <a:ext cx="381048" cy="381000"/>
            </a:xfrm>
            <a:prstGeom prst="rect">
              <a:avLst/>
            </a:prstGeom>
          </p:spPr>
        </p:pic>
        <p:pic>
          <p:nvPicPr>
            <p:cNvPr id="51" name="Image 28" descr=" "/>
            <p:cNvPicPr>
              <a:picLocks noChangeAspect="1"/>
            </p:cNvPicPr>
            <p:nvPr/>
          </p:nvPicPr>
          <p:blipFill>
            <a:blip r:embed="rId15">
              <a:extLst>
                <a:ext uri="{96DAC541-7B7A-43D3-8B79-37D633B846F1}">
                  <asvg:svgBlip xmlns:asvg="http://schemas.microsoft.com/office/drawing/2016/SVG/main" r:embed="rId36"/>
                </a:ext>
              </a:extLst>
            </a:blip>
            <a:stretch>
              <a:fillRect/>
            </a:stretch>
          </p:blipFill>
          <p:spPr>
            <a:xfrm>
              <a:off x="9005426" y="7747000"/>
              <a:ext cx="381048" cy="381000"/>
            </a:xfrm>
            <a:prstGeom prst="rect">
              <a:avLst/>
            </a:prstGeom>
          </p:spPr>
        </p:pic>
        <p:pic>
          <p:nvPicPr>
            <p:cNvPr id="52" name="Image 29" descr=" "/>
            <p:cNvPicPr>
              <a:picLocks noChangeAspect="1"/>
            </p:cNvPicPr>
            <p:nvPr/>
          </p:nvPicPr>
          <p:blipFill>
            <a:blip r:embed="rId15">
              <a:extLst>
                <a:ext uri="{96DAC541-7B7A-43D3-8B79-37D633B846F1}">
                  <asvg:svgBlip xmlns:asvg="http://schemas.microsoft.com/office/drawing/2016/SVG/main" r:embed="rId37"/>
                </a:ext>
              </a:extLst>
            </a:blip>
            <a:stretch>
              <a:fillRect/>
            </a:stretch>
          </p:blipFill>
          <p:spPr>
            <a:xfrm>
              <a:off x="9005426" y="7264400"/>
              <a:ext cx="381048" cy="381000"/>
            </a:xfrm>
            <a:prstGeom prst="rect">
              <a:avLst/>
            </a:prstGeom>
          </p:spPr>
        </p:pic>
        <p:pic>
          <p:nvPicPr>
            <p:cNvPr id="53" name="Image 30" descr=" "/>
            <p:cNvPicPr>
              <a:picLocks noChangeAspect="1"/>
            </p:cNvPicPr>
            <p:nvPr/>
          </p:nvPicPr>
          <p:blipFill>
            <a:blip r:embed="rId15">
              <a:extLst>
                <a:ext uri="{96DAC541-7B7A-43D3-8B79-37D633B846F1}">
                  <asvg:svgBlip xmlns:asvg="http://schemas.microsoft.com/office/drawing/2016/SVG/main" r:embed="rId38"/>
                </a:ext>
              </a:extLst>
            </a:blip>
            <a:stretch>
              <a:fillRect/>
            </a:stretch>
          </p:blipFill>
          <p:spPr>
            <a:xfrm>
              <a:off x="9005426" y="6781800"/>
              <a:ext cx="381048" cy="381000"/>
            </a:xfrm>
            <a:prstGeom prst="rect">
              <a:avLst/>
            </a:prstGeom>
          </p:spPr>
        </p:pic>
        <p:pic>
          <p:nvPicPr>
            <p:cNvPr id="54" name="Image 31" descr=" "/>
            <p:cNvPicPr>
              <a:picLocks noChangeAspect="1"/>
            </p:cNvPicPr>
            <p:nvPr/>
          </p:nvPicPr>
          <p:blipFill>
            <a:blip r:embed="rId18">
              <a:extLst>
                <a:ext uri="{96DAC541-7B7A-43D3-8B79-37D633B846F1}">
                  <asvg:svgBlip xmlns:asvg="http://schemas.microsoft.com/office/drawing/2016/SVG/main" r:embed="rId39"/>
                </a:ext>
              </a:extLst>
            </a:blip>
            <a:stretch>
              <a:fillRect/>
            </a:stretch>
          </p:blipFill>
          <p:spPr>
            <a:xfrm>
              <a:off x="9005426" y="6299200"/>
              <a:ext cx="381048" cy="381000"/>
            </a:xfrm>
            <a:prstGeom prst="rect">
              <a:avLst/>
            </a:prstGeom>
          </p:spPr>
        </p:pic>
        <p:pic>
          <p:nvPicPr>
            <p:cNvPr id="55" name="Image 32" descr=" "/>
            <p:cNvPicPr>
              <a:picLocks noChangeAspect="1"/>
            </p:cNvPicPr>
            <p:nvPr/>
          </p:nvPicPr>
          <p:blipFill>
            <a:blip r:embed="rId18">
              <a:extLst>
                <a:ext uri="{96DAC541-7B7A-43D3-8B79-37D633B846F1}">
                  <asvg:svgBlip xmlns:asvg="http://schemas.microsoft.com/office/drawing/2016/SVG/main" r:embed="rId40"/>
                </a:ext>
              </a:extLst>
            </a:blip>
            <a:stretch>
              <a:fillRect/>
            </a:stretch>
          </p:blipFill>
          <p:spPr>
            <a:xfrm>
              <a:off x="9005426" y="5816600"/>
              <a:ext cx="381048" cy="381000"/>
            </a:xfrm>
            <a:prstGeom prst="rect">
              <a:avLst/>
            </a:prstGeom>
          </p:spPr>
        </p:pic>
        <p:pic>
          <p:nvPicPr>
            <p:cNvPr id="56" name="Image 33" descr=" "/>
            <p:cNvPicPr>
              <a:picLocks noChangeAspect="1"/>
            </p:cNvPicPr>
            <p:nvPr/>
          </p:nvPicPr>
          <p:blipFill>
            <a:blip r:embed="rId15">
              <a:extLst>
                <a:ext uri="{96DAC541-7B7A-43D3-8B79-37D633B846F1}">
                  <asvg:svgBlip xmlns:asvg="http://schemas.microsoft.com/office/drawing/2016/SVG/main" r:embed="rId41"/>
                </a:ext>
              </a:extLst>
            </a:blip>
            <a:stretch>
              <a:fillRect/>
            </a:stretch>
          </p:blipFill>
          <p:spPr>
            <a:xfrm>
              <a:off x="9488086" y="8229600"/>
              <a:ext cx="381048" cy="381000"/>
            </a:xfrm>
            <a:prstGeom prst="rect">
              <a:avLst/>
            </a:prstGeom>
          </p:spPr>
        </p:pic>
        <p:pic>
          <p:nvPicPr>
            <p:cNvPr id="57" name="Image 34" descr=" "/>
            <p:cNvPicPr>
              <a:picLocks noChangeAspect="1"/>
            </p:cNvPicPr>
            <p:nvPr/>
          </p:nvPicPr>
          <p:blipFill>
            <a:blip r:embed="rId15">
              <a:extLst>
                <a:ext uri="{96DAC541-7B7A-43D3-8B79-37D633B846F1}">
                  <asvg:svgBlip xmlns:asvg="http://schemas.microsoft.com/office/drawing/2016/SVG/main" r:embed="rId42"/>
                </a:ext>
              </a:extLst>
            </a:blip>
            <a:stretch>
              <a:fillRect/>
            </a:stretch>
          </p:blipFill>
          <p:spPr>
            <a:xfrm>
              <a:off x="9488086" y="7747000"/>
              <a:ext cx="381048" cy="381000"/>
            </a:xfrm>
            <a:prstGeom prst="rect">
              <a:avLst/>
            </a:prstGeom>
          </p:spPr>
        </p:pic>
        <p:pic>
          <p:nvPicPr>
            <p:cNvPr id="58" name="Image 35" descr=" "/>
            <p:cNvPicPr>
              <a:picLocks noChangeAspect="1"/>
            </p:cNvPicPr>
            <p:nvPr/>
          </p:nvPicPr>
          <p:blipFill>
            <a:blip r:embed="rId15">
              <a:extLst>
                <a:ext uri="{96DAC541-7B7A-43D3-8B79-37D633B846F1}">
                  <asvg:svgBlip xmlns:asvg="http://schemas.microsoft.com/office/drawing/2016/SVG/main" r:embed="rId43"/>
                </a:ext>
              </a:extLst>
            </a:blip>
            <a:stretch>
              <a:fillRect/>
            </a:stretch>
          </p:blipFill>
          <p:spPr>
            <a:xfrm>
              <a:off x="9488086" y="7264400"/>
              <a:ext cx="381048" cy="381000"/>
            </a:xfrm>
            <a:prstGeom prst="rect">
              <a:avLst/>
            </a:prstGeom>
          </p:spPr>
        </p:pic>
        <p:pic>
          <p:nvPicPr>
            <p:cNvPr id="59" name="Image 36" descr=" "/>
            <p:cNvPicPr>
              <a:picLocks noChangeAspect="1"/>
            </p:cNvPicPr>
            <p:nvPr/>
          </p:nvPicPr>
          <p:blipFill>
            <a:blip r:embed="rId15">
              <a:extLst>
                <a:ext uri="{96DAC541-7B7A-43D3-8B79-37D633B846F1}">
                  <asvg:svgBlip xmlns:asvg="http://schemas.microsoft.com/office/drawing/2016/SVG/main" r:embed="rId44"/>
                </a:ext>
              </a:extLst>
            </a:blip>
            <a:stretch>
              <a:fillRect/>
            </a:stretch>
          </p:blipFill>
          <p:spPr>
            <a:xfrm>
              <a:off x="9488086" y="6781800"/>
              <a:ext cx="381048" cy="381000"/>
            </a:xfrm>
            <a:prstGeom prst="rect">
              <a:avLst/>
            </a:prstGeom>
          </p:spPr>
        </p:pic>
        <p:pic>
          <p:nvPicPr>
            <p:cNvPr id="60" name="Image 37" descr=" "/>
            <p:cNvPicPr>
              <a:picLocks noChangeAspect="1"/>
            </p:cNvPicPr>
            <p:nvPr/>
          </p:nvPicPr>
          <p:blipFill>
            <a:blip r:embed="rId15">
              <a:extLst>
                <a:ext uri="{96DAC541-7B7A-43D3-8B79-37D633B846F1}">
                  <asvg:svgBlip xmlns:asvg="http://schemas.microsoft.com/office/drawing/2016/SVG/main" r:embed="rId45"/>
                </a:ext>
              </a:extLst>
            </a:blip>
            <a:stretch>
              <a:fillRect/>
            </a:stretch>
          </p:blipFill>
          <p:spPr>
            <a:xfrm>
              <a:off x="9488086" y="6299200"/>
              <a:ext cx="381048" cy="381000"/>
            </a:xfrm>
            <a:prstGeom prst="rect">
              <a:avLst/>
            </a:prstGeom>
          </p:spPr>
        </p:pic>
        <p:pic>
          <p:nvPicPr>
            <p:cNvPr id="61" name="Image 38" descr=" "/>
            <p:cNvPicPr>
              <a:picLocks noChangeAspect="1"/>
            </p:cNvPicPr>
            <p:nvPr/>
          </p:nvPicPr>
          <p:blipFill>
            <a:blip r:embed="rId18">
              <a:extLst>
                <a:ext uri="{96DAC541-7B7A-43D3-8B79-37D633B846F1}">
                  <asvg:svgBlip xmlns:asvg="http://schemas.microsoft.com/office/drawing/2016/SVG/main" r:embed="rId46"/>
                </a:ext>
              </a:extLst>
            </a:blip>
            <a:stretch>
              <a:fillRect/>
            </a:stretch>
          </p:blipFill>
          <p:spPr>
            <a:xfrm>
              <a:off x="9488086" y="5816600"/>
              <a:ext cx="381048" cy="381000"/>
            </a:xfrm>
            <a:prstGeom prst="rect">
              <a:avLst/>
            </a:prstGeom>
          </p:spPr>
        </p:pic>
        <p:pic>
          <p:nvPicPr>
            <p:cNvPr id="62" name="Image 39" descr=" "/>
            <p:cNvPicPr>
              <a:picLocks noChangeAspect="1"/>
            </p:cNvPicPr>
            <p:nvPr/>
          </p:nvPicPr>
          <p:blipFill>
            <a:blip r:embed="rId15">
              <a:extLst>
                <a:ext uri="{96DAC541-7B7A-43D3-8B79-37D633B846F1}">
                  <asvg:svgBlip xmlns:asvg="http://schemas.microsoft.com/office/drawing/2016/SVG/main" r:embed="rId47"/>
                </a:ext>
              </a:extLst>
            </a:blip>
            <a:stretch>
              <a:fillRect/>
            </a:stretch>
          </p:blipFill>
          <p:spPr>
            <a:xfrm>
              <a:off x="9970746" y="8229600"/>
              <a:ext cx="381048" cy="381000"/>
            </a:xfrm>
            <a:prstGeom prst="rect">
              <a:avLst/>
            </a:prstGeom>
          </p:spPr>
        </p:pic>
        <p:pic>
          <p:nvPicPr>
            <p:cNvPr id="63" name="Image 40" descr=" "/>
            <p:cNvPicPr>
              <a:picLocks noChangeAspect="1"/>
            </p:cNvPicPr>
            <p:nvPr/>
          </p:nvPicPr>
          <p:blipFill>
            <a:blip r:embed="rId15">
              <a:extLst>
                <a:ext uri="{96DAC541-7B7A-43D3-8B79-37D633B846F1}">
                  <asvg:svgBlip xmlns:asvg="http://schemas.microsoft.com/office/drawing/2016/SVG/main" r:embed="rId48"/>
                </a:ext>
              </a:extLst>
            </a:blip>
            <a:stretch>
              <a:fillRect/>
            </a:stretch>
          </p:blipFill>
          <p:spPr>
            <a:xfrm>
              <a:off x="9970746" y="7747000"/>
              <a:ext cx="381048" cy="381000"/>
            </a:xfrm>
            <a:prstGeom prst="rect">
              <a:avLst/>
            </a:prstGeom>
          </p:spPr>
        </p:pic>
        <p:pic>
          <p:nvPicPr>
            <p:cNvPr id="64" name="Image 41" descr=" "/>
            <p:cNvPicPr>
              <a:picLocks noChangeAspect="1"/>
            </p:cNvPicPr>
            <p:nvPr/>
          </p:nvPicPr>
          <p:blipFill>
            <a:blip r:embed="rId15">
              <a:extLst>
                <a:ext uri="{96DAC541-7B7A-43D3-8B79-37D633B846F1}">
                  <asvg:svgBlip xmlns:asvg="http://schemas.microsoft.com/office/drawing/2016/SVG/main" r:embed="rId49"/>
                </a:ext>
              </a:extLst>
            </a:blip>
            <a:stretch>
              <a:fillRect/>
            </a:stretch>
          </p:blipFill>
          <p:spPr>
            <a:xfrm>
              <a:off x="9970746" y="7264400"/>
              <a:ext cx="381048" cy="381000"/>
            </a:xfrm>
            <a:prstGeom prst="rect">
              <a:avLst/>
            </a:prstGeom>
          </p:spPr>
        </p:pic>
        <p:pic>
          <p:nvPicPr>
            <p:cNvPr id="65" name="Image 42" descr=" "/>
            <p:cNvPicPr>
              <a:picLocks noChangeAspect="1"/>
            </p:cNvPicPr>
            <p:nvPr/>
          </p:nvPicPr>
          <p:blipFill>
            <a:blip r:embed="rId15">
              <a:extLst>
                <a:ext uri="{96DAC541-7B7A-43D3-8B79-37D633B846F1}">
                  <asvg:svgBlip xmlns:asvg="http://schemas.microsoft.com/office/drawing/2016/SVG/main" r:embed="rId50"/>
                </a:ext>
              </a:extLst>
            </a:blip>
            <a:stretch>
              <a:fillRect/>
            </a:stretch>
          </p:blipFill>
          <p:spPr>
            <a:xfrm>
              <a:off x="9970746" y="6781800"/>
              <a:ext cx="381048" cy="381000"/>
            </a:xfrm>
            <a:prstGeom prst="rect">
              <a:avLst/>
            </a:prstGeom>
          </p:spPr>
        </p:pic>
        <p:pic>
          <p:nvPicPr>
            <p:cNvPr id="66" name="Image 43" descr=" "/>
            <p:cNvPicPr>
              <a:picLocks noChangeAspect="1"/>
            </p:cNvPicPr>
            <p:nvPr/>
          </p:nvPicPr>
          <p:blipFill>
            <a:blip r:embed="rId15">
              <a:extLst>
                <a:ext uri="{96DAC541-7B7A-43D3-8B79-37D633B846F1}">
                  <asvg:svgBlip xmlns:asvg="http://schemas.microsoft.com/office/drawing/2016/SVG/main" r:embed="rId51"/>
                </a:ext>
              </a:extLst>
            </a:blip>
            <a:stretch>
              <a:fillRect/>
            </a:stretch>
          </p:blipFill>
          <p:spPr>
            <a:xfrm>
              <a:off x="9970746" y="6299200"/>
              <a:ext cx="381048" cy="381000"/>
            </a:xfrm>
            <a:prstGeom prst="rect">
              <a:avLst/>
            </a:prstGeom>
          </p:spPr>
        </p:pic>
        <p:pic>
          <p:nvPicPr>
            <p:cNvPr id="67" name="Image 44" descr=" "/>
            <p:cNvPicPr>
              <a:picLocks noChangeAspect="1"/>
            </p:cNvPicPr>
            <p:nvPr/>
          </p:nvPicPr>
          <p:blipFill>
            <a:blip r:embed="rId18">
              <a:extLst>
                <a:ext uri="{96DAC541-7B7A-43D3-8B79-37D633B846F1}">
                  <asvg:svgBlip xmlns:asvg="http://schemas.microsoft.com/office/drawing/2016/SVG/main" r:embed="rId52"/>
                </a:ext>
              </a:extLst>
            </a:blip>
            <a:stretch>
              <a:fillRect/>
            </a:stretch>
          </p:blipFill>
          <p:spPr>
            <a:xfrm>
              <a:off x="9970746" y="5816600"/>
              <a:ext cx="381048" cy="381000"/>
            </a:xfrm>
            <a:prstGeom prst="rect">
              <a:avLst/>
            </a:prstGeom>
          </p:spPr>
        </p:pic>
      </p:grpSp>
      <p:pic>
        <p:nvPicPr>
          <p:cNvPr id="69" name="Image 46" descr=" "/>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7620159" y="4253706"/>
            <a:ext cx="204813" cy="204788"/>
          </a:xfrm>
          <a:prstGeom prst="rect">
            <a:avLst/>
          </a:prstGeom>
        </p:spPr>
      </p:pic>
      <p:pic>
        <p:nvPicPr>
          <p:cNvPr id="70" name="Image 47" descr=" "/>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1511489" y="3810000"/>
            <a:ext cx="5156845" cy="5118100"/>
          </a:xfrm>
          <a:prstGeom prst="rect">
            <a:avLst/>
          </a:prstGeom>
        </p:spPr>
      </p:pic>
      <p:pic>
        <p:nvPicPr>
          <p:cNvPr id="71" name="Image 48" descr=" "/>
          <p:cNvPicPr>
            <a:picLocks noChangeAspect="1"/>
          </p:cNvPicPr>
          <p:nvPr/>
        </p:nvPicPr>
        <p:blipFill>
          <a:blip r:embed="rId13">
            <a:extLst>
              <a:ext uri="{96DAC541-7B7A-43D3-8B79-37D633B846F1}">
                <asvg:svgBlip xmlns:asvg="http://schemas.microsoft.com/office/drawing/2016/SVG/main" r:embed="rId57"/>
              </a:ext>
            </a:extLst>
          </a:blip>
          <a:stretch>
            <a:fillRect/>
          </a:stretch>
        </p:blipFill>
        <p:spPr>
          <a:xfrm>
            <a:off x="1892537" y="4191000"/>
            <a:ext cx="330241" cy="330200"/>
          </a:xfrm>
          <a:prstGeom prst="rect">
            <a:avLst/>
          </a:prstGeom>
        </p:spPr>
      </p:pic>
      <p:sp>
        <p:nvSpPr>
          <p:cNvPr id="72" name="Text 21"/>
          <p:cNvSpPr/>
          <p:nvPr/>
        </p:nvSpPr>
        <p:spPr>
          <a:xfrm>
            <a:off x="2324391" y="4203700"/>
            <a:ext cx="107116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NPS Score</a:t>
            </a:r>
            <a:endParaRPr lang="en-US" sz="1600" dirty="0"/>
          </a:p>
        </p:txBody>
      </p:sp>
      <p:pic>
        <p:nvPicPr>
          <p:cNvPr id="73" name="Image 49" descr=" "/>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1983829" y="4348953"/>
            <a:ext cx="147656" cy="71441"/>
          </a:xfrm>
          <a:prstGeom prst="rect">
            <a:avLst/>
          </a:prstGeom>
        </p:spPr>
      </p:pic>
      <p:pic>
        <p:nvPicPr>
          <p:cNvPr id="74" name="Image 50" descr=" "/>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1983829" y="4253706"/>
            <a:ext cx="147656" cy="204788"/>
          </a:xfrm>
          <a:prstGeom prst="rect">
            <a:avLst/>
          </a:prstGeom>
        </p:spPr>
      </p:pic>
      <p:sp>
        <p:nvSpPr>
          <p:cNvPr id="75" name="Text 22"/>
          <p:cNvSpPr/>
          <p:nvPr/>
        </p:nvSpPr>
        <p:spPr>
          <a:xfrm>
            <a:off x="5436279" y="8242300"/>
            <a:ext cx="91874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Excellent</a:t>
            </a:r>
            <a:endParaRPr lang="en-US" sz="1600" dirty="0"/>
          </a:p>
        </p:txBody>
      </p:sp>
      <p:sp>
        <p:nvSpPr>
          <p:cNvPr id="76" name="Shape 23"/>
          <p:cNvSpPr/>
          <p:nvPr/>
        </p:nvSpPr>
        <p:spPr>
          <a:xfrm>
            <a:off x="1968746" y="5143500"/>
            <a:ext cx="4248881" cy="4013200"/>
          </a:xfrm>
          <a:prstGeom prst="rect">
            <a:avLst/>
          </a:prstGeom>
          <a:noFill/>
          <a:ln/>
        </p:spPr>
      </p:sp>
      <p:pic>
        <p:nvPicPr>
          <p:cNvPr id="77" name="Image 51" descr=" "/>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949694" y="5124450"/>
            <a:ext cx="4286984" cy="2162274"/>
          </a:xfrm>
          <a:prstGeom prst="rect">
            <a:avLst/>
          </a:prstGeom>
        </p:spPr>
      </p:pic>
      <p:pic>
        <p:nvPicPr>
          <p:cNvPr id="80" name="Image 54" descr=" "/>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3246539" y="6381952"/>
            <a:ext cx="1661923" cy="1661716"/>
          </a:xfrm>
          <a:prstGeom prst="rect">
            <a:avLst/>
          </a:prstGeom>
        </p:spPr>
      </p:pic>
      <p:pic>
        <p:nvPicPr>
          <p:cNvPr id="81" name="Image 55" descr=" "/>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3505241" y="6648450"/>
            <a:ext cx="1136693" cy="1128713"/>
          </a:xfrm>
          <a:prstGeom prst="rect">
            <a:avLst/>
          </a:prstGeom>
        </p:spPr>
      </p:pic>
      <p:pic>
        <p:nvPicPr>
          <p:cNvPr id="82" name="Image 56" descr=" "/>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4490458" y="6356793"/>
            <a:ext cx="300801" cy="354013"/>
          </a:xfrm>
          <a:prstGeom prst="rect">
            <a:avLst/>
          </a:prstGeom>
        </p:spPr>
      </p:pic>
      <p:pic>
        <p:nvPicPr>
          <p:cNvPr id="83" name="Image 57" descr=" "/>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3693390" y="6820892"/>
            <a:ext cx="783926" cy="791666"/>
          </a:xfrm>
          <a:prstGeom prst="rect">
            <a:avLst/>
          </a:prstGeom>
        </p:spPr>
      </p:pic>
      <p:pic>
        <p:nvPicPr>
          <p:cNvPr id="85" name="Image 59" descr=" "/>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3919693" y="7053700"/>
            <a:ext cx="325280" cy="325239"/>
          </a:xfrm>
          <a:prstGeom prst="rect">
            <a:avLst/>
          </a:prstGeom>
        </p:spPr>
      </p:pic>
      <p:graphicFrame>
        <p:nvGraphicFramePr>
          <p:cNvPr id="89" name="Chart 88">
            <a:extLst>
              <a:ext uri="{FF2B5EF4-FFF2-40B4-BE49-F238E27FC236}">
                <a16:creationId xmlns:a16="http://schemas.microsoft.com/office/drawing/2014/main" id="{B11E7B5B-EB36-46F0-96D7-A37736D5B4C4}"/>
              </a:ext>
            </a:extLst>
          </p:cNvPr>
          <p:cNvGraphicFramePr/>
          <p:nvPr>
            <p:extLst>
              <p:ext uri="{D42A27DB-BD31-4B8C-83A1-F6EECF244321}">
                <p14:modId xmlns:p14="http://schemas.microsoft.com/office/powerpoint/2010/main" val="3238021142"/>
              </p:ext>
            </p:extLst>
          </p:nvPr>
        </p:nvGraphicFramePr>
        <p:xfrm>
          <a:off x="728338" y="5209251"/>
          <a:ext cx="6698932" cy="4089400"/>
        </p:xfrm>
        <a:graphic>
          <a:graphicData uri="http://schemas.openxmlformats.org/drawingml/2006/chart">
            <c:chart xmlns:c="http://schemas.openxmlformats.org/drawingml/2006/chart" xmlns:r="http://schemas.openxmlformats.org/officeDocument/2006/relationships" r:id="rId74"/>
          </a:graphicData>
        </a:graphic>
      </p:graphicFrame>
      <p:graphicFrame>
        <p:nvGraphicFramePr>
          <p:cNvPr id="93" name="Chart 92">
            <a:extLst>
              <a:ext uri="{FF2B5EF4-FFF2-40B4-BE49-F238E27FC236}">
                <a16:creationId xmlns:a16="http://schemas.microsoft.com/office/drawing/2014/main" id="{C92C954D-3845-40AB-B872-DDFC93EDF024}"/>
              </a:ext>
            </a:extLst>
          </p:cNvPr>
          <p:cNvGraphicFramePr/>
          <p:nvPr>
            <p:extLst>
              <p:ext uri="{D42A27DB-BD31-4B8C-83A1-F6EECF244321}">
                <p14:modId xmlns:p14="http://schemas.microsoft.com/office/powerpoint/2010/main" val="1599585490"/>
              </p:ext>
            </p:extLst>
          </p:nvPr>
        </p:nvGraphicFramePr>
        <p:xfrm>
          <a:off x="10641842" y="4943319"/>
          <a:ext cx="8044341" cy="5362894"/>
        </p:xfrm>
        <a:graphic>
          <a:graphicData uri="http://schemas.openxmlformats.org/drawingml/2006/chart">
            <c:chart xmlns:c="http://schemas.openxmlformats.org/drawingml/2006/chart" xmlns:r="http://schemas.openxmlformats.org/officeDocument/2006/relationships" r:id="rId7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3562350"/>
            <a:ext cx="7849581" cy="8547100"/>
          </a:xfrm>
          <a:prstGeom prst="rect">
            <a:avLst/>
          </a:prstGeom>
        </p:spPr>
      </p:pic>
      <p:sp>
        <p:nvSpPr>
          <p:cNvPr id="8" name="Text 4"/>
          <p:cNvSpPr/>
          <p:nvPr/>
        </p:nvSpPr>
        <p:spPr>
          <a:xfrm>
            <a:off x="7786073" y="5384800"/>
            <a:ext cx="550402"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6D6D6D">
                    <a:alpha val="100000"/>
                  </a:srgbClr>
                </a:solidFill>
                <a:latin typeface="Inter Regular" pitchFamily="34" charset="0"/>
                <a:ea typeface="Inter Regular" pitchFamily="34" charset="-122"/>
                <a:cs typeface="Inter Regular" pitchFamily="34" charset="-120"/>
              </a:rPr>
              <a:t>113%</a:t>
            </a:r>
            <a:endParaRPr lang="en-US" sz="1600" dirty="0"/>
          </a:p>
        </p:txBody>
      </p:sp>
      <p:sp>
        <p:nvSpPr>
          <p:cNvPr id="9" name="Text 5"/>
          <p:cNvSpPr/>
          <p:nvPr/>
        </p:nvSpPr>
        <p:spPr>
          <a:xfrm>
            <a:off x="7786073" y="6470650"/>
            <a:ext cx="486894"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6D6D6D">
                    <a:alpha val="100000"/>
                  </a:srgbClr>
                </a:solidFill>
                <a:latin typeface="Inter Regular" pitchFamily="34" charset="0"/>
                <a:ea typeface="Inter Regular" pitchFamily="34" charset="-122"/>
                <a:cs typeface="Inter Regular" pitchFamily="34" charset="-120"/>
              </a:rPr>
              <a:t>98%</a:t>
            </a:r>
            <a:endParaRPr lang="en-US" sz="1600" dirty="0"/>
          </a:p>
        </p:txBody>
      </p:sp>
      <p:sp>
        <p:nvSpPr>
          <p:cNvPr id="10" name="Text 6"/>
          <p:cNvSpPr/>
          <p:nvPr/>
        </p:nvSpPr>
        <p:spPr>
          <a:xfrm>
            <a:off x="7786073" y="7556500"/>
            <a:ext cx="486894"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6D6D6D">
                    <a:alpha val="100000"/>
                  </a:srgbClr>
                </a:solidFill>
                <a:latin typeface="Inter Regular" pitchFamily="34" charset="0"/>
                <a:ea typeface="Inter Regular" pitchFamily="34" charset="-122"/>
                <a:cs typeface="Inter Regular" pitchFamily="34" charset="-120"/>
              </a:rPr>
              <a:t>89%</a:t>
            </a:r>
            <a:endParaRPr lang="en-US" sz="1600" dirty="0"/>
          </a:p>
        </p:txBody>
      </p:sp>
      <p:sp>
        <p:nvSpPr>
          <p:cNvPr id="11" name="Text 7"/>
          <p:cNvSpPr/>
          <p:nvPr/>
        </p:nvSpPr>
        <p:spPr>
          <a:xfrm>
            <a:off x="7786073" y="8642350"/>
            <a:ext cx="474193"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6D6D6D">
                    <a:alpha val="100000"/>
                  </a:srgbClr>
                </a:solidFill>
                <a:latin typeface="Inter Regular" pitchFamily="34" charset="0"/>
                <a:ea typeface="Inter Regular" pitchFamily="34" charset="-122"/>
                <a:cs typeface="Inter Regular" pitchFamily="34" charset="-120"/>
              </a:rPr>
              <a:t>74%</a:t>
            </a:r>
            <a:endParaRPr lang="en-US" sz="1600" dirty="0"/>
          </a:p>
        </p:txBody>
      </p:sp>
      <p:sp>
        <p:nvSpPr>
          <p:cNvPr id="12" name="Text 8"/>
          <p:cNvSpPr/>
          <p:nvPr/>
        </p:nvSpPr>
        <p:spPr>
          <a:xfrm>
            <a:off x="7786073" y="9728200"/>
            <a:ext cx="575805"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6D6D6D">
                    <a:alpha val="100000"/>
                  </a:srgbClr>
                </a:solidFill>
                <a:latin typeface="Inter Regular" pitchFamily="34" charset="0"/>
                <a:ea typeface="Inter Regular" pitchFamily="34" charset="-122"/>
                <a:cs typeface="Inter Regular" pitchFamily="34" charset="-120"/>
              </a:rPr>
              <a:t>106%</a:t>
            </a:r>
            <a:endParaRPr lang="en-US" sz="1600" dirty="0"/>
          </a:p>
        </p:txBody>
      </p:sp>
      <p:sp>
        <p:nvSpPr>
          <p:cNvPr id="13" name="Text 9"/>
          <p:cNvSpPr/>
          <p:nvPr/>
        </p:nvSpPr>
        <p:spPr>
          <a:xfrm>
            <a:off x="2159270" y="4127500"/>
            <a:ext cx="20872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Top-performing sales</a:t>
            </a:r>
            <a:endParaRPr lang="en-US" sz="1600" dirty="0"/>
          </a:p>
        </p:txBody>
      </p:sp>
      <p:sp>
        <p:nvSpPr>
          <p:cNvPr id="14" name="Text 10"/>
          <p:cNvSpPr/>
          <p:nvPr/>
        </p:nvSpPr>
        <p:spPr>
          <a:xfrm>
            <a:off x="7455832" y="4127500"/>
            <a:ext cx="1452215" cy="931333"/>
          </a:xfrm>
          <a:prstGeom prst="rect">
            <a:avLst/>
          </a:prstGeom>
          <a:noFill/>
          <a:ln/>
        </p:spPr>
        <p:txBody>
          <a:bodyPr wrap="square" lIns="0" tIns="0" rIns="0" bIns="0" rtlCol="0" anchor="t"/>
          <a:lstStyle/>
          <a:p>
            <a:pPr marL="0" indent="0" algn="l">
              <a:lnSpc>
                <a:spcPts val="6000"/>
              </a:lnSpc>
              <a:buNone/>
            </a:pPr>
            <a:r>
              <a:rPr lang="en-US" sz="4000" kern="0" spc="-80" dirty="0">
                <a:solidFill>
                  <a:srgbClr val="000000">
                    <a:alpha val="100000"/>
                  </a:srgbClr>
                </a:solidFill>
                <a:latin typeface="Inter Medium" pitchFamily="34" charset="0"/>
                <a:ea typeface="Inter Medium" pitchFamily="34" charset="-122"/>
                <a:cs typeface="Inter Medium" pitchFamily="34" charset="-120"/>
              </a:rPr>
              <a:t>$95K</a:t>
            </a:r>
            <a:endParaRPr lang="en-US" sz="4000" dirty="0"/>
          </a:p>
        </p:txBody>
      </p:sp>
      <p:sp>
        <p:nvSpPr>
          <p:cNvPr id="24" name="Shape 20"/>
          <p:cNvSpPr/>
          <p:nvPr/>
        </p:nvSpPr>
        <p:spPr>
          <a:xfrm>
            <a:off x="2934067" y="11290300"/>
            <a:ext cx="5042530" cy="254000"/>
          </a:xfrm>
          <a:prstGeom prst="rect">
            <a:avLst/>
          </a:prstGeom>
          <a:noFill/>
          <a:ln/>
        </p:spPr>
      </p:sp>
      <p:sp>
        <p:nvSpPr>
          <p:cNvPr id="25" name="Shape 21"/>
          <p:cNvSpPr/>
          <p:nvPr/>
        </p:nvSpPr>
        <p:spPr>
          <a:xfrm>
            <a:off x="2934067" y="11290300"/>
            <a:ext cx="1790924" cy="254000"/>
          </a:xfrm>
          <a:prstGeom prst="rect">
            <a:avLst/>
          </a:prstGeom>
          <a:noFill/>
          <a:ln/>
        </p:spPr>
      </p:sp>
      <p:sp>
        <p:nvSpPr>
          <p:cNvPr id="26" name="Shape 22"/>
          <p:cNvSpPr/>
          <p:nvPr/>
        </p:nvSpPr>
        <p:spPr>
          <a:xfrm>
            <a:off x="2934067" y="11290300"/>
            <a:ext cx="254032" cy="254000"/>
          </a:xfrm>
          <a:prstGeom prst="ellipse">
            <a:avLst/>
          </a:prstGeom>
          <a:solidFill>
            <a:srgbClr val="B28EF7">
              <a:alpha val="100000"/>
            </a:srgbClr>
          </a:solidFill>
          <a:ln/>
        </p:spPr>
      </p:sp>
      <p:pic>
        <p:nvPicPr>
          <p:cNvPr id="28"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2400" y="11359220"/>
            <a:ext cx="117366" cy="117348"/>
          </a:xfrm>
          <a:prstGeom prst="rect">
            <a:avLst/>
          </a:prstGeom>
        </p:spPr>
      </p:pic>
      <p:sp>
        <p:nvSpPr>
          <p:cNvPr id="29" name="Text 23"/>
          <p:cNvSpPr/>
          <p:nvPr/>
        </p:nvSpPr>
        <p:spPr>
          <a:xfrm>
            <a:off x="3289711" y="11296650"/>
            <a:ext cx="1503021"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000000">
                    <a:alpha val="100000"/>
                  </a:srgbClr>
                </a:solidFill>
                <a:latin typeface="Inter Regular" pitchFamily="34" charset="0"/>
                <a:ea typeface="Inter Regular" pitchFamily="34" charset="-122"/>
                <a:cs typeface="Inter Regular" pitchFamily="34" charset="-120"/>
              </a:rPr>
              <a:t>Reached quota</a:t>
            </a:r>
            <a:endParaRPr lang="en-US" sz="1600" dirty="0"/>
          </a:p>
        </p:txBody>
      </p:sp>
      <p:sp>
        <p:nvSpPr>
          <p:cNvPr id="30" name="Shape 24"/>
          <p:cNvSpPr/>
          <p:nvPr/>
        </p:nvSpPr>
        <p:spPr>
          <a:xfrm>
            <a:off x="4902813" y="11290300"/>
            <a:ext cx="965321" cy="254000"/>
          </a:xfrm>
          <a:prstGeom prst="rect">
            <a:avLst/>
          </a:prstGeom>
          <a:noFill/>
          <a:ln/>
        </p:spPr>
      </p:sp>
      <p:sp>
        <p:nvSpPr>
          <p:cNvPr id="31" name="Shape 25"/>
          <p:cNvSpPr/>
          <p:nvPr/>
        </p:nvSpPr>
        <p:spPr>
          <a:xfrm>
            <a:off x="4902813" y="11290300"/>
            <a:ext cx="254032" cy="254000"/>
          </a:xfrm>
          <a:prstGeom prst="ellipse">
            <a:avLst/>
          </a:prstGeom>
          <a:solidFill>
            <a:srgbClr val="CBB7FB">
              <a:alpha val="100000"/>
            </a:srgbClr>
          </a:solidFill>
          <a:ln/>
        </p:spPr>
      </p:sp>
      <p:pic>
        <p:nvPicPr>
          <p:cNvPr id="33" name="Image 5"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77968" y="11409877"/>
            <a:ext cx="103734" cy="14818"/>
          </a:xfrm>
          <a:prstGeom prst="rect">
            <a:avLst/>
          </a:prstGeom>
        </p:spPr>
      </p:pic>
      <p:sp>
        <p:nvSpPr>
          <p:cNvPr id="34" name="Text 26"/>
          <p:cNvSpPr/>
          <p:nvPr/>
        </p:nvSpPr>
        <p:spPr>
          <a:xfrm>
            <a:off x="5258457" y="11296650"/>
            <a:ext cx="677418"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000000">
                    <a:alpha val="100000"/>
                  </a:srgbClr>
                </a:solidFill>
                <a:latin typeface="Inter Regular" pitchFamily="34" charset="0"/>
                <a:ea typeface="Inter Regular" pitchFamily="34" charset="-122"/>
                <a:cs typeface="Inter Regular" pitchFamily="34" charset="-120"/>
              </a:rPr>
              <a:t>Stable</a:t>
            </a:r>
            <a:endParaRPr lang="en-US" sz="1600" dirty="0"/>
          </a:p>
        </p:txBody>
      </p:sp>
      <p:sp>
        <p:nvSpPr>
          <p:cNvPr id="35" name="Shape 27"/>
          <p:cNvSpPr/>
          <p:nvPr/>
        </p:nvSpPr>
        <p:spPr>
          <a:xfrm>
            <a:off x="6045956" y="11290300"/>
            <a:ext cx="1930641" cy="254000"/>
          </a:xfrm>
          <a:prstGeom prst="rect">
            <a:avLst/>
          </a:prstGeom>
          <a:noFill/>
          <a:ln/>
        </p:spPr>
      </p:sp>
      <p:sp>
        <p:nvSpPr>
          <p:cNvPr id="36" name="Shape 28"/>
          <p:cNvSpPr/>
          <p:nvPr/>
        </p:nvSpPr>
        <p:spPr>
          <a:xfrm>
            <a:off x="6045956" y="11290300"/>
            <a:ext cx="254032" cy="254000"/>
          </a:xfrm>
          <a:prstGeom prst="ellipse">
            <a:avLst/>
          </a:prstGeom>
          <a:solidFill>
            <a:srgbClr val="E1D7FD">
              <a:alpha val="100000"/>
            </a:srgbClr>
          </a:solidFill>
          <a:ln/>
        </p:spPr>
      </p:sp>
      <p:pic>
        <p:nvPicPr>
          <p:cNvPr id="38" name="Image 7"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14289" y="11358032"/>
            <a:ext cx="117366" cy="117348"/>
          </a:xfrm>
          <a:prstGeom prst="rect">
            <a:avLst/>
          </a:prstGeom>
        </p:spPr>
      </p:pic>
      <p:sp>
        <p:nvSpPr>
          <p:cNvPr id="39" name="Text 29"/>
          <p:cNvSpPr/>
          <p:nvPr/>
        </p:nvSpPr>
        <p:spPr>
          <a:xfrm>
            <a:off x="6401600" y="11296650"/>
            <a:ext cx="1642739" cy="309033"/>
          </a:xfrm>
          <a:prstGeom prst="rect">
            <a:avLst/>
          </a:prstGeom>
          <a:noFill/>
          <a:ln/>
        </p:spPr>
        <p:txBody>
          <a:bodyPr wrap="square" lIns="0" tIns="0" rIns="0" bIns="0" rtlCol="0" anchor="t"/>
          <a:lstStyle/>
          <a:p>
            <a:pPr marL="0" indent="0" algn="l">
              <a:lnSpc>
                <a:spcPts val="1920"/>
              </a:lnSpc>
              <a:buNone/>
            </a:pPr>
            <a:r>
              <a:rPr lang="en-US" sz="1600" kern="0" spc="-16" dirty="0">
                <a:solidFill>
                  <a:srgbClr val="000000">
                    <a:alpha val="100000"/>
                  </a:srgbClr>
                </a:solidFill>
                <a:latin typeface="Inter Regular" pitchFamily="34" charset="0"/>
                <a:ea typeface="Inter Regular" pitchFamily="34" charset="-122"/>
                <a:cs typeface="Inter Regular" pitchFamily="34" charset="-120"/>
              </a:rPr>
              <a:t>Underperformed</a:t>
            </a:r>
            <a:endParaRPr lang="en-US" sz="1600" dirty="0"/>
          </a:p>
        </p:txBody>
      </p:sp>
      <p:sp>
        <p:nvSpPr>
          <p:cNvPr id="40" name="Shape 30"/>
          <p:cNvSpPr/>
          <p:nvPr/>
        </p:nvSpPr>
        <p:spPr>
          <a:xfrm>
            <a:off x="8484660" y="5384800"/>
            <a:ext cx="254032" cy="254000"/>
          </a:xfrm>
          <a:prstGeom prst="ellipse">
            <a:avLst/>
          </a:prstGeom>
          <a:solidFill>
            <a:srgbClr val="B28EF7">
              <a:alpha val="100000"/>
            </a:srgbClr>
          </a:solidFill>
          <a:ln/>
        </p:spPr>
      </p:sp>
      <p:pic>
        <p:nvPicPr>
          <p:cNvPr id="42" name="Image 9"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52994" y="5453720"/>
            <a:ext cx="117366" cy="117348"/>
          </a:xfrm>
          <a:prstGeom prst="rect">
            <a:avLst/>
          </a:prstGeom>
        </p:spPr>
      </p:pic>
      <p:sp>
        <p:nvSpPr>
          <p:cNvPr id="43" name="Shape 31"/>
          <p:cNvSpPr/>
          <p:nvPr/>
        </p:nvSpPr>
        <p:spPr>
          <a:xfrm>
            <a:off x="8484660" y="6470650"/>
            <a:ext cx="254032" cy="254000"/>
          </a:xfrm>
          <a:prstGeom prst="ellipse">
            <a:avLst/>
          </a:prstGeom>
          <a:solidFill>
            <a:srgbClr val="CBB7FB">
              <a:alpha val="100000"/>
            </a:srgbClr>
          </a:solidFill>
          <a:ln/>
        </p:spPr>
      </p:sp>
      <p:pic>
        <p:nvPicPr>
          <p:cNvPr id="45" name="Image 11"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59816" y="6590227"/>
            <a:ext cx="103734" cy="14818"/>
          </a:xfrm>
          <a:prstGeom prst="rect">
            <a:avLst/>
          </a:prstGeom>
        </p:spPr>
      </p:pic>
      <p:sp>
        <p:nvSpPr>
          <p:cNvPr id="46" name="Shape 32"/>
          <p:cNvSpPr/>
          <p:nvPr/>
        </p:nvSpPr>
        <p:spPr>
          <a:xfrm>
            <a:off x="8484660" y="7556500"/>
            <a:ext cx="254032" cy="254000"/>
          </a:xfrm>
          <a:prstGeom prst="ellipse">
            <a:avLst/>
          </a:prstGeom>
          <a:solidFill>
            <a:srgbClr val="CBB7FB">
              <a:alpha val="100000"/>
            </a:srgbClr>
          </a:solidFill>
          <a:ln/>
        </p:spPr>
      </p:sp>
      <p:pic>
        <p:nvPicPr>
          <p:cNvPr id="48" name="Image 1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59816" y="7676077"/>
            <a:ext cx="103734" cy="14818"/>
          </a:xfrm>
          <a:prstGeom prst="rect">
            <a:avLst/>
          </a:prstGeom>
        </p:spPr>
      </p:pic>
      <p:sp>
        <p:nvSpPr>
          <p:cNvPr id="49" name="Shape 33"/>
          <p:cNvSpPr/>
          <p:nvPr/>
        </p:nvSpPr>
        <p:spPr>
          <a:xfrm>
            <a:off x="8484660" y="8642350"/>
            <a:ext cx="254032" cy="254000"/>
          </a:xfrm>
          <a:prstGeom prst="ellipse">
            <a:avLst/>
          </a:prstGeom>
          <a:solidFill>
            <a:srgbClr val="E1D7FD">
              <a:alpha val="100000"/>
            </a:srgbClr>
          </a:solidFill>
          <a:ln/>
        </p:spPr>
      </p:sp>
      <p:pic>
        <p:nvPicPr>
          <p:cNvPr id="51" name="Image 1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52994" y="8710082"/>
            <a:ext cx="117366" cy="117348"/>
          </a:xfrm>
          <a:prstGeom prst="rect">
            <a:avLst/>
          </a:prstGeom>
        </p:spPr>
      </p:pic>
      <p:sp>
        <p:nvSpPr>
          <p:cNvPr id="52" name="Shape 34"/>
          <p:cNvSpPr/>
          <p:nvPr/>
        </p:nvSpPr>
        <p:spPr>
          <a:xfrm>
            <a:off x="8484660" y="9728200"/>
            <a:ext cx="254032" cy="254000"/>
          </a:xfrm>
          <a:prstGeom prst="ellipse">
            <a:avLst/>
          </a:prstGeom>
          <a:solidFill>
            <a:srgbClr val="B28EF7">
              <a:alpha val="100000"/>
            </a:srgbClr>
          </a:solidFill>
          <a:ln/>
        </p:spPr>
      </p:sp>
      <p:pic>
        <p:nvPicPr>
          <p:cNvPr id="54" name="Image 17"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52994" y="9797120"/>
            <a:ext cx="117366" cy="117348"/>
          </a:xfrm>
          <a:prstGeom prst="rect">
            <a:avLst/>
          </a:prstGeom>
        </p:spPr>
      </p:pic>
      <p:pic>
        <p:nvPicPr>
          <p:cNvPr id="55" name="Image 1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63995" y="5346700"/>
            <a:ext cx="12702" cy="317500"/>
          </a:xfrm>
          <a:prstGeom prst="rect">
            <a:avLst/>
          </a:prstGeom>
        </p:spPr>
      </p:pic>
      <p:pic>
        <p:nvPicPr>
          <p:cNvPr id="56" name="Image 19"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363995" y="6432550"/>
            <a:ext cx="12702" cy="317500"/>
          </a:xfrm>
          <a:prstGeom prst="rect">
            <a:avLst/>
          </a:prstGeom>
        </p:spPr>
      </p:pic>
      <p:pic>
        <p:nvPicPr>
          <p:cNvPr id="57" name="Image 20"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63995" y="7518400"/>
            <a:ext cx="12702" cy="317500"/>
          </a:xfrm>
          <a:prstGeom prst="rect">
            <a:avLst/>
          </a:prstGeom>
        </p:spPr>
      </p:pic>
      <p:pic>
        <p:nvPicPr>
          <p:cNvPr id="58" name="Image 21"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363995" y="8604250"/>
            <a:ext cx="12702" cy="317500"/>
          </a:xfrm>
          <a:prstGeom prst="rect">
            <a:avLst/>
          </a:prstGeom>
        </p:spPr>
      </p:pic>
      <p:pic>
        <p:nvPicPr>
          <p:cNvPr id="59" name="Image 22"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63995" y="9690100"/>
            <a:ext cx="12702" cy="317500"/>
          </a:xfrm>
          <a:prstGeom prst="rect">
            <a:avLst/>
          </a:prstGeom>
        </p:spPr>
      </p:pic>
      <p:grpSp>
        <p:nvGrpSpPr>
          <p:cNvPr id="109" name="Group 108">
            <a:extLst>
              <a:ext uri="{FF2B5EF4-FFF2-40B4-BE49-F238E27FC236}">
                <a16:creationId xmlns:a16="http://schemas.microsoft.com/office/drawing/2014/main" id="{1EDC7926-CF4F-4401-A6BE-7F00CB91AEDE}"/>
              </a:ext>
            </a:extLst>
          </p:cNvPr>
          <p:cNvGrpSpPr/>
          <p:nvPr/>
        </p:nvGrpSpPr>
        <p:grpSpPr>
          <a:xfrm>
            <a:off x="9627803" y="3632200"/>
            <a:ext cx="13235054" cy="6223000"/>
            <a:chOff x="9627803" y="3632200"/>
            <a:chExt cx="13235054" cy="6223000"/>
          </a:xfrm>
        </p:grpSpPr>
        <p:pic>
          <p:nvPicPr>
            <p:cNvPr id="61" name="Image 24"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627803" y="3632200"/>
              <a:ext cx="13235054" cy="6223000"/>
            </a:xfrm>
            <a:prstGeom prst="rect">
              <a:avLst/>
            </a:prstGeom>
          </p:spPr>
        </p:pic>
        <p:pic>
          <p:nvPicPr>
            <p:cNvPr id="62" name="Image 25"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881835" y="5029200"/>
              <a:ext cx="12726991" cy="1143000"/>
            </a:xfrm>
            <a:prstGeom prst="rect">
              <a:avLst/>
            </a:prstGeom>
          </p:spPr>
        </p:pic>
        <p:pic>
          <p:nvPicPr>
            <p:cNvPr id="63" name="Image 26" descr=" "/>
            <p:cNvPicPr>
              <a:picLocks noChangeAspect="1"/>
            </p:cNvPicPr>
            <p:nvPr/>
          </p:nvPicPr>
          <p:blipFill>
            <a:blip r:embed="rId21">
              <a:extLst>
                <a:ext uri="{96DAC541-7B7A-43D3-8B79-37D633B846F1}">
                  <asvg:svgBlip xmlns:asvg="http://schemas.microsoft.com/office/drawing/2016/SVG/main" r:embed="rId23"/>
                </a:ext>
              </a:extLst>
            </a:blip>
            <a:stretch>
              <a:fillRect/>
            </a:stretch>
          </p:blipFill>
          <p:spPr>
            <a:xfrm>
              <a:off x="9881835" y="6172200"/>
              <a:ext cx="12726991" cy="1143000"/>
            </a:xfrm>
            <a:prstGeom prst="rect">
              <a:avLst/>
            </a:prstGeom>
          </p:spPr>
        </p:pic>
        <p:pic>
          <p:nvPicPr>
            <p:cNvPr id="64" name="Image 27" descr=" "/>
            <p:cNvPicPr>
              <a:picLocks noChangeAspect="1"/>
            </p:cNvPicPr>
            <p:nvPr/>
          </p:nvPicPr>
          <p:blipFill>
            <a:blip r:embed="rId21">
              <a:extLst>
                <a:ext uri="{96DAC541-7B7A-43D3-8B79-37D633B846F1}">
                  <asvg:svgBlip xmlns:asvg="http://schemas.microsoft.com/office/drawing/2016/SVG/main" r:embed="rId24"/>
                </a:ext>
              </a:extLst>
            </a:blip>
            <a:stretch>
              <a:fillRect/>
            </a:stretch>
          </p:blipFill>
          <p:spPr>
            <a:xfrm>
              <a:off x="9881835" y="7315200"/>
              <a:ext cx="12726991" cy="1143000"/>
            </a:xfrm>
            <a:prstGeom prst="rect">
              <a:avLst/>
            </a:prstGeom>
          </p:spPr>
        </p:pic>
        <p:pic>
          <p:nvPicPr>
            <p:cNvPr id="65" name="Image 28"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881835" y="8458200"/>
              <a:ext cx="12726991" cy="1143000"/>
            </a:xfrm>
            <a:prstGeom prst="rect">
              <a:avLst/>
            </a:prstGeom>
          </p:spPr>
        </p:pic>
        <p:pic>
          <p:nvPicPr>
            <p:cNvPr id="66" name="Image 29"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076284" y="5213350"/>
              <a:ext cx="12702" cy="774700"/>
            </a:xfrm>
            <a:prstGeom prst="rect">
              <a:avLst/>
            </a:prstGeom>
          </p:spPr>
        </p:pic>
        <p:pic>
          <p:nvPicPr>
            <p:cNvPr id="67" name="Image 30"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076284" y="6356350"/>
              <a:ext cx="12702" cy="774700"/>
            </a:xfrm>
            <a:prstGeom prst="rect">
              <a:avLst/>
            </a:prstGeom>
          </p:spPr>
        </p:pic>
        <p:pic>
          <p:nvPicPr>
            <p:cNvPr id="68" name="Image 31"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076284" y="7499350"/>
              <a:ext cx="12702" cy="774700"/>
            </a:xfrm>
            <a:prstGeom prst="rect">
              <a:avLst/>
            </a:prstGeom>
          </p:spPr>
        </p:pic>
        <p:pic>
          <p:nvPicPr>
            <p:cNvPr id="69" name="Image 32"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076284" y="8642350"/>
              <a:ext cx="12702" cy="774700"/>
            </a:xfrm>
            <a:prstGeom prst="rect">
              <a:avLst/>
            </a:prstGeom>
          </p:spPr>
        </p:pic>
        <p:pic>
          <p:nvPicPr>
            <p:cNvPr id="70" name="Image 33"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6251681" y="5213350"/>
              <a:ext cx="12702" cy="774700"/>
            </a:xfrm>
            <a:prstGeom prst="rect">
              <a:avLst/>
            </a:prstGeom>
          </p:spPr>
        </p:pic>
        <p:pic>
          <p:nvPicPr>
            <p:cNvPr id="71" name="Image 34"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6251681" y="6356350"/>
              <a:ext cx="12702" cy="774700"/>
            </a:xfrm>
            <a:prstGeom prst="rect">
              <a:avLst/>
            </a:prstGeom>
          </p:spPr>
        </p:pic>
        <p:pic>
          <p:nvPicPr>
            <p:cNvPr id="72" name="Image 35"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6251681" y="7499350"/>
              <a:ext cx="12702" cy="774700"/>
            </a:xfrm>
            <a:prstGeom prst="rect">
              <a:avLst/>
            </a:prstGeom>
          </p:spPr>
        </p:pic>
        <p:pic>
          <p:nvPicPr>
            <p:cNvPr id="73" name="Image 36"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6251681" y="8642350"/>
              <a:ext cx="12702" cy="774700"/>
            </a:xfrm>
            <a:prstGeom prst="rect">
              <a:avLst/>
            </a:prstGeom>
          </p:spPr>
        </p:pic>
        <p:pic>
          <p:nvPicPr>
            <p:cNvPr id="74" name="Image 37"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9427078" y="5213350"/>
              <a:ext cx="12702" cy="774700"/>
            </a:xfrm>
            <a:prstGeom prst="rect">
              <a:avLst/>
            </a:prstGeom>
          </p:spPr>
        </p:pic>
        <p:pic>
          <p:nvPicPr>
            <p:cNvPr id="75" name="Image 38"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9427078" y="6356350"/>
              <a:ext cx="12702" cy="774700"/>
            </a:xfrm>
            <a:prstGeom prst="rect">
              <a:avLst/>
            </a:prstGeom>
          </p:spPr>
        </p:pic>
        <p:pic>
          <p:nvPicPr>
            <p:cNvPr id="76" name="Image 39"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9427078" y="7499350"/>
              <a:ext cx="12702" cy="774700"/>
            </a:xfrm>
            <a:prstGeom prst="rect">
              <a:avLst/>
            </a:prstGeom>
          </p:spPr>
        </p:pic>
        <p:pic>
          <p:nvPicPr>
            <p:cNvPr id="77" name="Image 40"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9427078" y="8642350"/>
              <a:ext cx="12702" cy="774700"/>
            </a:xfrm>
            <a:prstGeom prst="rect">
              <a:avLst/>
            </a:prstGeom>
          </p:spPr>
        </p:pic>
        <p:pic>
          <p:nvPicPr>
            <p:cNvPr id="78" name="Image 41"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281935" y="6165850"/>
              <a:ext cx="11926791" cy="12700"/>
            </a:xfrm>
            <a:prstGeom prst="rect">
              <a:avLst/>
            </a:prstGeom>
          </p:spPr>
        </p:pic>
        <p:pic>
          <p:nvPicPr>
            <p:cNvPr id="79" name="Image 42"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281935" y="7308850"/>
              <a:ext cx="11926791" cy="12700"/>
            </a:xfrm>
            <a:prstGeom prst="rect">
              <a:avLst/>
            </a:prstGeom>
          </p:spPr>
        </p:pic>
        <p:pic>
          <p:nvPicPr>
            <p:cNvPr id="80" name="Image 43"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0281935" y="8451850"/>
              <a:ext cx="11926791" cy="12700"/>
            </a:xfrm>
            <a:prstGeom prst="rect">
              <a:avLst/>
            </a:prstGeom>
          </p:spPr>
        </p:pic>
        <p:sp>
          <p:nvSpPr>
            <p:cNvPr id="81" name="Text 35"/>
            <p:cNvSpPr/>
            <p:nvPr/>
          </p:nvSpPr>
          <p:spPr>
            <a:xfrm>
              <a:off x="11215502" y="5410200"/>
              <a:ext cx="60544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East</a:t>
              </a:r>
              <a:endParaRPr lang="en-US" sz="2000" dirty="0"/>
            </a:p>
          </p:txBody>
        </p:sp>
        <p:sp>
          <p:nvSpPr>
            <p:cNvPr id="82" name="Text 36"/>
            <p:cNvSpPr/>
            <p:nvPr/>
          </p:nvSpPr>
          <p:spPr>
            <a:xfrm>
              <a:off x="14162270" y="5410200"/>
              <a:ext cx="108810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240,000</a:t>
              </a:r>
              <a:endParaRPr lang="en-US" sz="2000" dirty="0"/>
            </a:p>
          </p:txBody>
        </p:sp>
        <p:sp>
          <p:nvSpPr>
            <p:cNvPr id="83" name="Text 37"/>
            <p:cNvSpPr/>
            <p:nvPr/>
          </p:nvSpPr>
          <p:spPr>
            <a:xfrm>
              <a:off x="17363070" y="5410200"/>
              <a:ext cx="104999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120,000</a:t>
              </a:r>
              <a:endParaRPr lang="en-US" sz="2000" dirty="0"/>
            </a:p>
          </p:txBody>
        </p:sp>
        <p:sp>
          <p:nvSpPr>
            <p:cNvPr id="84" name="Text 38"/>
            <p:cNvSpPr/>
            <p:nvPr/>
          </p:nvSpPr>
          <p:spPr>
            <a:xfrm>
              <a:off x="20767096" y="5410200"/>
              <a:ext cx="60544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2.0x</a:t>
              </a:r>
              <a:endParaRPr lang="en-US" sz="2000" dirty="0"/>
            </a:p>
          </p:txBody>
        </p:sp>
        <p:sp>
          <p:nvSpPr>
            <p:cNvPr id="85" name="Text 39"/>
            <p:cNvSpPr/>
            <p:nvPr/>
          </p:nvSpPr>
          <p:spPr>
            <a:xfrm>
              <a:off x="11177397" y="6553200"/>
              <a:ext cx="69435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West</a:t>
              </a:r>
              <a:endParaRPr lang="en-US" sz="2000" dirty="0"/>
            </a:p>
          </p:txBody>
        </p:sp>
        <p:sp>
          <p:nvSpPr>
            <p:cNvPr id="86" name="Text 40"/>
            <p:cNvSpPr/>
            <p:nvPr/>
          </p:nvSpPr>
          <p:spPr>
            <a:xfrm>
              <a:off x="14174972" y="6515100"/>
              <a:ext cx="106269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180,000</a:t>
              </a:r>
              <a:endParaRPr lang="en-US" sz="2000" dirty="0"/>
            </a:p>
          </p:txBody>
        </p:sp>
        <p:sp>
          <p:nvSpPr>
            <p:cNvPr id="87" name="Text 41"/>
            <p:cNvSpPr/>
            <p:nvPr/>
          </p:nvSpPr>
          <p:spPr>
            <a:xfrm>
              <a:off x="17350369" y="6553200"/>
              <a:ext cx="106269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100,000</a:t>
              </a:r>
              <a:endParaRPr lang="en-US" sz="2000" dirty="0"/>
            </a:p>
          </p:txBody>
        </p:sp>
        <p:sp>
          <p:nvSpPr>
            <p:cNvPr id="88" name="Text 42"/>
            <p:cNvSpPr/>
            <p:nvPr/>
          </p:nvSpPr>
          <p:spPr>
            <a:xfrm>
              <a:off x="20792499" y="6553200"/>
              <a:ext cx="55463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1.8x</a:t>
              </a:r>
              <a:endParaRPr lang="en-US" sz="2000" dirty="0"/>
            </a:p>
          </p:txBody>
        </p:sp>
        <p:sp>
          <p:nvSpPr>
            <p:cNvPr id="89" name="Text 43"/>
            <p:cNvSpPr/>
            <p:nvPr/>
          </p:nvSpPr>
          <p:spPr>
            <a:xfrm>
              <a:off x="11050381" y="7696200"/>
              <a:ext cx="9483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Central</a:t>
              </a:r>
              <a:endParaRPr lang="en-US" sz="2000" dirty="0"/>
            </a:p>
          </p:txBody>
        </p:sp>
        <p:sp>
          <p:nvSpPr>
            <p:cNvPr id="90" name="Text 44"/>
            <p:cNvSpPr/>
            <p:nvPr/>
          </p:nvSpPr>
          <p:spPr>
            <a:xfrm>
              <a:off x="14162270" y="7696200"/>
              <a:ext cx="106269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130,000</a:t>
              </a:r>
              <a:endParaRPr lang="en-US" sz="2000" dirty="0"/>
            </a:p>
          </p:txBody>
        </p:sp>
        <p:sp>
          <p:nvSpPr>
            <p:cNvPr id="91" name="Text 45"/>
            <p:cNvSpPr/>
            <p:nvPr/>
          </p:nvSpPr>
          <p:spPr>
            <a:xfrm>
              <a:off x="17413876" y="7696200"/>
              <a:ext cx="9483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90,000</a:t>
              </a:r>
              <a:endParaRPr lang="en-US" sz="2000" dirty="0"/>
            </a:p>
          </p:txBody>
        </p:sp>
        <p:sp>
          <p:nvSpPr>
            <p:cNvPr id="92" name="Text 46"/>
            <p:cNvSpPr/>
            <p:nvPr/>
          </p:nvSpPr>
          <p:spPr>
            <a:xfrm>
              <a:off x="20779797" y="7696200"/>
              <a:ext cx="56733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1.4x</a:t>
              </a:r>
              <a:endParaRPr lang="en-US" sz="2000" dirty="0"/>
            </a:p>
          </p:txBody>
        </p:sp>
        <p:sp>
          <p:nvSpPr>
            <p:cNvPr id="93" name="Text 47"/>
            <p:cNvSpPr/>
            <p:nvPr/>
          </p:nvSpPr>
          <p:spPr>
            <a:xfrm>
              <a:off x="10872559" y="8839200"/>
              <a:ext cx="12913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Enterprise</a:t>
              </a:r>
              <a:endParaRPr lang="en-US" sz="2000" dirty="0"/>
            </a:p>
          </p:txBody>
        </p:sp>
        <p:sp>
          <p:nvSpPr>
            <p:cNvPr id="94" name="Text 48"/>
            <p:cNvSpPr/>
            <p:nvPr/>
          </p:nvSpPr>
          <p:spPr>
            <a:xfrm>
              <a:off x="14162270" y="8801100"/>
              <a:ext cx="110080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400,000</a:t>
              </a:r>
              <a:endParaRPr lang="en-US" sz="2000" dirty="0"/>
            </a:p>
          </p:txBody>
        </p:sp>
        <p:sp>
          <p:nvSpPr>
            <p:cNvPr id="95" name="Text 49"/>
            <p:cNvSpPr/>
            <p:nvPr/>
          </p:nvSpPr>
          <p:spPr>
            <a:xfrm>
              <a:off x="17337667" y="8839200"/>
              <a:ext cx="108810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250,000</a:t>
              </a:r>
              <a:endParaRPr lang="en-US" sz="2000" dirty="0"/>
            </a:p>
          </p:txBody>
        </p:sp>
        <p:sp>
          <p:nvSpPr>
            <p:cNvPr id="96" name="Text 50"/>
            <p:cNvSpPr/>
            <p:nvPr/>
          </p:nvSpPr>
          <p:spPr>
            <a:xfrm>
              <a:off x="20792499" y="8839200"/>
              <a:ext cx="55463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1.6x</a:t>
              </a:r>
              <a:endParaRPr lang="en-US" sz="2000" dirty="0"/>
            </a:p>
          </p:txBody>
        </p:sp>
        <p:pic>
          <p:nvPicPr>
            <p:cNvPr id="97" name="Image 44"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9881835" y="3886200"/>
              <a:ext cx="3188098" cy="1143000"/>
            </a:xfrm>
            <a:prstGeom prst="rect">
              <a:avLst/>
            </a:prstGeom>
          </p:spPr>
        </p:pic>
        <p:pic>
          <p:nvPicPr>
            <p:cNvPr id="98" name="Image 45"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3069934" y="3886200"/>
              <a:ext cx="3188098" cy="1143000"/>
            </a:xfrm>
            <a:prstGeom prst="rect">
              <a:avLst/>
            </a:prstGeom>
          </p:spPr>
        </p:pic>
        <p:pic>
          <p:nvPicPr>
            <p:cNvPr id="99" name="Image 46"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6245330" y="3886200"/>
              <a:ext cx="3188098" cy="1143000"/>
            </a:xfrm>
            <a:prstGeom prst="rect">
              <a:avLst/>
            </a:prstGeom>
          </p:spPr>
        </p:pic>
        <p:pic>
          <p:nvPicPr>
            <p:cNvPr id="100" name="Image 47"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9433429" y="3886200"/>
              <a:ext cx="3175397" cy="1143000"/>
            </a:xfrm>
            <a:prstGeom prst="rect">
              <a:avLst/>
            </a:prstGeom>
          </p:spPr>
        </p:pic>
        <p:sp>
          <p:nvSpPr>
            <p:cNvPr id="101" name="Text 51"/>
            <p:cNvSpPr/>
            <p:nvPr/>
          </p:nvSpPr>
          <p:spPr>
            <a:xfrm>
              <a:off x="10682035" y="4267200"/>
              <a:ext cx="160886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EFEAFD">
                      <a:alpha val="100000"/>
                    </a:srgbClr>
                  </a:solidFill>
                  <a:latin typeface="Inter Regular" pitchFamily="34" charset="0"/>
                  <a:ea typeface="Inter Regular" pitchFamily="34" charset="-122"/>
                  <a:cs typeface="Inter Regular" pitchFamily="34" charset="-120"/>
                </a:rPr>
                <a:t>Team/Region</a:t>
              </a:r>
              <a:endParaRPr lang="en-US" sz="2000" dirty="0"/>
            </a:p>
          </p:txBody>
        </p:sp>
        <p:sp>
          <p:nvSpPr>
            <p:cNvPr id="102" name="Text 52"/>
            <p:cNvSpPr/>
            <p:nvPr/>
          </p:nvSpPr>
          <p:spPr>
            <a:xfrm>
              <a:off x="13616102" y="4267200"/>
              <a:ext cx="209152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EFEAFD">
                      <a:alpha val="100000"/>
                    </a:srgbClr>
                  </a:solidFill>
                  <a:latin typeface="Inter Regular" pitchFamily="34" charset="0"/>
                  <a:ea typeface="Inter Regular" pitchFamily="34" charset="-122"/>
                  <a:cs typeface="Inter Regular" pitchFamily="34" charset="-120"/>
                </a:rPr>
                <a:t>Pipeline Value ($)</a:t>
              </a:r>
              <a:endParaRPr lang="en-US" sz="2000" dirty="0"/>
            </a:p>
          </p:txBody>
        </p:sp>
        <p:sp>
          <p:nvSpPr>
            <p:cNvPr id="103" name="Text 53"/>
            <p:cNvSpPr/>
            <p:nvPr/>
          </p:nvSpPr>
          <p:spPr>
            <a:xfrm>
              <a:off x="17261457" y="4267200"/>
              <a:ext cx="118971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EFEAFD">
                      <a:alpha val="100000"/>
                    </a:srgbClr>
                  </a:solidFill>
                  <a:latin typeface="Inter Regular" pitchFamily="34" charset="0"/>
                  <a:ea typeface="Inter Regular" pitchFamily="34" charset="-122"/>
                  <a:cs typeface="Inter Regular" pitchFamily="34" charset="-120"/>
                </a:rPr>
                <a:t>Quota ($)</a:t>
              </a:r>
              <a:endParaRPr lang="en-US" sz="2000" dirty="0"/>
            </a:p>
          </p:txBody>
        </p:sp>
        <p:sp>
          <p:nvSpPr>
            <p:cNvPr id="104" name="Text 54"/>
            <p:cNvSpPr/>
            <p:nvPr/>
          </p:nvSpPr>
          <p:spPr>
            <a:xfrm>
              <a:off x="19954194" y="4267200"/>
              <a:ext cx="225664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EFEAFD">
                      <a:alpha val="100000"/>
                    </a:srgbClr>
                  </a:solidFill>
                  <a:latin typeface="Inter Regular" pitchFamily="34" charset="0"/>
                  <a:ea typeface="Inter Regular" pitchFamily="34" charset="-122"/>
                  <a:cs typeface="Inter Regular" pitchFamily="34" charset="-120"/>
                </a:rPr>
                <a:t>Coverage Ratio (X)</a:t>
              </a:r>
              <a:endParaRPr lang="en-US" sz="2000" dirty="0"/>
            </a:p>
          </p:txBody>
        </p:sp>
        <p:pic>
          <p:nvPicPr>
            <p:cNvPr id="105" name="Image 48" descr=" "/>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9881835" y="3886200"/>
              <a:ext cx="12726991" cy="5715000"/>
            </a:xfrm>
            <a:prstGeom prst="rect">
              <a:avLst/>
            </a:prstGeom>
          </p:spPr>
        </p:pic>
      </p:grpSp>
      <p:sp>
        <p:nvSpPr>
          <p:cNvPr id="106" name="Text 55"/>
          <p:cNvSpPr/>
          <p:nvPr/>
        </p:nvSpPr>
        <p:spPr>
          <a:xfrm>
            <a:off x="18036254" y="12077700"/>
            <a:ext cx="489434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"Success in sales involves understanding KPIs and driving your team towards excellence."</a:t>
            </a:r>
            <a:endParaRPr lang="en-US" sz="1600" dirty="0"/>
          </a:p>
        </p:txBody>
      </p:sp>
      <p:sp>
        <p:nvSpPr>
          <p:cNvPr id="107" name="Text 56"/>
          <p:cNvSpPr/>
          <p:nvPr/>
        </p:nvSpPr>
        <p:spPr>
          <a:xfrm>
            <a:off x="1524191" y="1524000"/>
            <a:ext cx="8116314"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Sales Team KPI Panel</a:t>
            </a:r>
            <a:endParaRPr lang="en-US" sz="6000" dirty="0"/>
          </a:p>
        </p:txBody>
      </p:sp>
      <p:sp>
        <p:nvSpPr>
          <p:cNvPr id="108" name="Text 57"/>
          <p:cNvSpPr/>
          <p:nvPr/>
        </p:nvSpPr>
        <p:spPr>
          <a:xfrm>
            <a:off x="15038680" y="1524000"/>
            <a:ext cx="7917323"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Identify top sales performers, conversion efficiency, and quota achievement using real-time dashboards. Spot pipeline risks and coach underperformers with data.</a:t>
            </a:r>
            <a:endParaRPr lang="en-US" sz="1600" dirty="0"/>
          </a:p>
        </p:txBody>
      </p:sp>
      <p:graphicFrame>
        <p:nvGraphicFramePr>
          <p:cNvPr id="110" name="Chart 109">
            <a:extLst>
              <a:ext uri="{FF2B5EF4-FFF2-40B4-BE49-F238E27FC236}">
                <a16:creationId xmlns:a16="http://schemas.microsoft.com/office/drawing/2014/main" id="{B3D9144A-C274-4455-A3CF-0F1932C372D0}"/>
              </a:ext>
            </a:extLst>
          </p:cNvPr>
          <p:cNvGraphicFramePr/>
          <p:nvPr>
            <p:extLst>
              <p:ext uri="{D42A27DB-BD31-4B8C-83A1-F6EECF244321}">
                <p14:modId xmlns:p14="http://schemas.microsoft.com/office/powerpoint/2010/main" val="2116969179"/>
              </p:ext>
            </p:extLst>
          </p:nvPr>
        </p:nvGraphicFramePr>
        <p:xfrm>
          <a:off x="2110581" y="4878918"/>
          <a:ext cx="5536838" cy="5594010"/>
        </p:xfrm>
        <a:graphic>
          <a:graphicData uri="http://schemas.openxmlformats.org/drawingml/2006/chart">
            <c:chart xmlns:c="http://schemas.openxmlformats.org/drawingml/2006/chart" xmlns:r="http://schemas.openxmlformats.org/officeDocument/2006/relationships" r:id="rId4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graphicFrame>
        <p:nvGraphicFramePr>
          <p:cNvPr id="51" name="Chart 50">
            <a:extLst>
              <a:ext uri="{FF2B5EF4-FFF2-40B4-BE49-F238E27FC236}">
                <a16:creationId xmlns:a16="http://schemas.microsoft.com/office/drawing/2014/main" id="{AE95BAB8-8C43-40C0-8E6E-56B837A672F7}"/>
              </a:ext>
            </a:extLst>
          </p:cNvPr>
          <p:cNvGraphicFramePr/>
          <p:nvPr>
            <p:extLst>
              <p:ext uri="{D42A27DB-BD31-4B8C-83A1-F6EECF244321}">
                <p14:modId xmlns:p14="http://schemas.microsoft.com/office/powerpoint/2010/main" val="2686559188"/>
              </p:ext>
            </p:extLst>
          </p:nvPr>
        </p:nvGraphicFramePr>
        <p:xfrm>
          <a:off x="1202267" y="6322369"/>
          <a:ext cx="6307329" cy="4195771"/>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0"/>
          <p:cNvSpPr/>
          <p:nvPr/>
        </p:nvSpPr>
        <p:spPr>
          <a:xfrm>
            <a:off x="1524191" y="1524000"/>
            <a:ext cx="8370346"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Marketing Performance Dashboard</a:t>
            </a:r>
            <a:endParaRPr lang="en-US" sz="6000" dirty="0"/>
          </a:p>
        </p:txBody>
      </p:sp>
      <p:sp>
        <p:nvSpPr>
          <p:cNvPr id="3" name="Text 1"/>
          <p:cNvSpPr/>
          <p:nvPr/>
        </p:nvSpPr>
        <p:spPr>
          <a:xfrm>
            <a:off x="15025978" y="1524000"/>
            <a:ext cx="7917323"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Evaluate which marketing channels generate the most leads and ROI. Analyze campaign performance trends to refine targeting, budget allocation, and messaging.</a:t>
            </a:r>
            <a:endParaRPr lang="en-US" sz="1600" dirty="0"/>
          </a:p>
        </p:txBody>
      </p:sp>
      <p:sp>
        <p:nvSpPr>
          <p:cNvPr id="4" name="Text 2"/>
          <p:cNvSpPr/>
          <p:nvPr/>
        </p:nvSpPr>
        <p:spPr>
          <a:xfrm>
            <a:off x="1524191" y="5029200"/>
            <a:ext cx="6393132"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Key marketing KPIs are conversion rates, customer acquisition cost, and engagement rates, which help assess marketing effectiveness.</a:t>
            </a:r>
            <a:endParaRPr lang="en-US" sz="1600" dirty="0"/>
          </a:p>
        </p:txBody>
      </p:sp>
      <p:sp>
        <p:nvSpPr>
          <p:cNvPr id="5" name="Text 3"/>
          <p:cNvSpPr/>
          <p:nvPr/>
        </p:nvSpPr>
        <p:spPr>
          <a:xfrm>
            <a:off x="1771871" y="4419600"/>
            <a:ext cx="11473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Watchpoint</a:t>
            </a:r>
            <a:endParaRPr lang="en-US" sz="1600" dirty="0"/>
          </a:p>
        </p:txBody>
      </p:sp>
      <p:grpSp>
        <p:nvGrpSpPr>
          <p:cNvPr id="6" name="Group 5">
            <a:extLst>
              <a:ext uri="{FF2B5EF4-FFF2-40B4-BE49-F238E27FC236}">
                <a16:creationId xmlns:a16="http://schemas.microsoft.com/office/drawing/2014/main" id="{23B7DAC0-B6F6-4630-A5EF-E858085E89C3}"/>
              </a:ext>
            </a:extLst>
          </p:cNvPr>
          <p:cNvGrpSpPr/>
          <p:nvPr/>
        </p:nvGrpSpPr>
        <p:grpSpPr>
          <a:xfrm>
            <a:off x="2589007" y="7127240"/>
            <a:ext cx="558870" cy="410633"/>
            <a:chOff x="8039058" y="8956040"/>
            <a:chExt cx="558870" cy="410633"/>
          </a:xfrm>
        </p:grpSpPr>
        <p:sp>
          <p:nvSpPr>
            <p:cNvPr id="14" name="Shape 5"/>
            <p:cNvSpPr/>
            <p:nvPr/>
          </p:nvSpPr>
          <p:spPr>
            <a:xfrm>
              <a:off x="8039058" y="8956040"/>
              <a:ext cx="558870" cy="381000"/>
            </a:xfrm>
            <a:prstGeom prst="roundRect">
              <a:avLst>
                <a:gd name="adj" fmla="val 19200"/>
              </a:avLst>
            </a:prstGeom>
            <a:solidFill>
              <a:srgbClr val="F6F3FF">
                <a:alpha val="100000"/>
              </a:srgbClr>
            </a:solidFill>
            <a:ln/>
          </p:spPr>
        </p:sp>
        <p:sp>
          <p:nvSpPr>
            <p:cNvPr id="15" name="Text 6"/>
            <p:cNvSpPr/>
            <p:nvPr/>
          </p:nvSpPr>
          <p:spPr>
            <a:xfrm>
              <a:off x="8140670" y="8994140"/>
              <a:ext cx="42338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Regular" pitchFamily="34" charset="0"/>
                  <a:ea typeface="Inter Regular" pitchFamily="34" charset="-122"/>
                  <a:cs typeface="Inter Regular" pitchFamily="34" charset="-120"/>
                </a:rPr>
                <a:t>3.1x</a:t>
              </a:r>
              <a:endParaRPr lang="en-US" sz="1600" dirty="0"/>
            </a:p>
          </p:txBody>
        </p:sp>
      </p:grpSp>
      <p:grpSp>
        <p:nvGrpSpPr>
          <p:cNvPr id="37" name="Group 36">
            <a:extLst>
              <a:ext uri="{FF2B5EF4-FFF2-40B4-BE49-F238E27FC236}">
                <a16:creationId xmlns:a16="http://schemas.microsoft.com/office/drawing/2014/main" id="{707CB288-FA07-4433-8E44-D7264C9D04BE}"/>
              </a:ext>
            </a:extLst>
          </p:cNvPr>
          <p:cNvGrpSpPr/>
          <p:nvPr/>
        </p:nvGrpSpPr>
        <p:grpSpPr>
          <a:xfrm>
            <a:off x="1574996" y="7400713"/>
            <a:ext cx="588507" cy="410633"/>
            <a:chOff x="9029781" y="8511540"/>
            <a:chExt cx="588507" cy="410633"/>
          </a:xfrm>
        </p:grpSpPr>
        <p:sp>
          <p:nvSpPr>
            <p:cNvPr id="16" name="Shape 7"/>
            <p:cNvSpPr/>
            <p:nvPr/>
          </p:nvSpPr>
          <p:spPr>
            <a:xfrm>
              <a:off x="9029781" y="8511540"/>
              <a:ext cx="558870" cy="381000"/>
            </a:xfrm>
            <a:prstGeom prst="roundRect">
              <a:avLst>
                <a:gd name="adj" fmla="val 19200"/>
              </a:avLst>
            </a:prstGeom>
            <a:solidFill>
              <a:srgbClr val="F6F3FF">
                <a:alpha val="100000"/>
              </a:srgbClr>
            </a:solidFill>
            <a:ln/>
          </p:spPr>
        </p:sp>
        <p:sp>
          <p:nvSpPr>
            <p:cNvPr id="21" name="Text 12"/>
            <p:cNvSpPr/>
            <p:nvPr/>
          </p:nvSpPr>
          <p:spPr>
            <a:xfrm>
              <a:off x="9131394" y="854964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Regular" pitchFamily="34" charset="0"/>
                  <a:ea typeface="Inter Regular" pitchFamily="34" charset="-122"/>
                  <a:cs typeface="Inter Regular" pitchFamily="34" charset="-120"/>
                </a:rPr>
                <a:t>3.4x</a:t>
              </a:r>
              <a:endParaRPr lang="en-US" sz="1600" dirty="0"/>
            </a:p>
          </p:txBody>
        </p:sp>
      </p:grpSp>
      <p:grpSp>
        <p:nvGrpSpPr>
          <p:cNvPr id="31" name="Group 30">
            <a:extLst>
              <a:ext uri="{FF2B5EF4-FFF2-40B4-BE49-F238E27FC236}">
                <a16:creationId xmlns:a16="http://schemas.microsoft.com/office/drawing/2014/main" id="{BDAD6A79-9263-4789-93C1-BFDDB5607D29}"/>
              </a:ext>
            </a:extLst>
          </p:cNvPr>
          <p:cNvGrpSpPr/>
          <p:nvPr/>
        </p:nvGrpSpPr>
        <p:grpSpPr>
          <a:xfrm>
            <a:off x="3564912" y="6882128"/>
            <a:ext cx="563104" cy="410633"/>
            <a:chOff x="10045908" y="7813040"/>
            <a:chExt cx="563104" cy="410633"/>
          </a:xfrm>
        </p:grpSpPr>
        <p:sp>
          <p:nvSpPr>
            <p:cNvPr id="17" name="Shape 8"/>
            <p:cNvSpPr/>
            <p:nvPr/>
          </p:nvSpPr>
          <p:spPr>
            <a:xfrm>
              <a:off x="10045908" y="7813040"/>
              <a:ext cx="558870" cy="381000"/>
            </a:xfrm>
            <a:prstGeom prst="roundRect">
              <a:avLst>
                <a:gd name="adj" fmla="val 19200"/>
              </a:avLst>
            </a:prstGeom>
            <a:solidFill>
              <a:srgbClr val="F6F3FF">
                <a:alpha val="100000"/>
              </a:srgbClr>
            </a:solidFill>
            <a:ln/>
          </p:spPr>
        </p:sp>
        <p:sp>
          <p:nvSpPr>
            <p:cNvPr id="22" name="Text 13"/>
            <p:cNvSpPr/>
            <p:nvPr/>
          </p:nvSpPr>
          <p:spPr>
            <a:xfrm>
              <a:off x="10147521" y="7851140"/>
              <a:ext cx="46149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Regular" pitchFamily="34" charset="0"/>
                  <a:ea typeface="Inter Regular" pitchFamily="34" charset="-122"/>
                  <a:cs typeface="Inter Regular" pitchFamily="34" charset="-120"/>
                </a:rPr>
                <a:t>3.7x</a:t>
              </a:r>
              <a:endParaRPr lang="en-US" sz="1600" dirty="0"/>
            </a:p>
          </p:txBody>
        </p:sp>
      </p:grpSp>
      <p:grpSp>
        <p:nvGrpSpPr>
          <p:cNvPr id="33" name="Group 32">
            <a:extLst>
              <a:ext uri="{FF2B5EF4-FFF2-40B4-BE49-F238E27FC236}">
                <a16:creationId xmlns:a16="http://schemas.microsoft.com/office/drawing/2014/main" id="{3BFA8BC9-AF96-481E-B31A-1E504B86D34C}"/>
              </a:ext>
            </a:extLst>
          </p:cNvPr>
          <p:cNvGrpSpPr/>
          <p:nvPr/>
        </p:nvGrpSpPr>
        <p:grpSpPr>
          <a:xfrm>
            <a:off x="4540817" y="6676812"/>
            <a:ext cx="575806" cy="410633"/>
            <a:chOff x="11062035" y="7393940"/>
            <a:chExt cx="575806" cy="410633"/>
          </a:xfrm>
        </p:grpSpPr>
        <p:sp>
          <p:nvSpPr>
            <p:cNvPr id="18" name="Shape 9"/>
            <p:cNvSpPr/>
            <p:nvPr/>
          </p:nvSpPr>
          <p:spPr>
            <a:xfrm>
              <a:off x="11062035" y="7393940"/>
              <a:ext cx="558870" cy="381000"/>
            </a:xfrm>
            <a:prstGeom prst="roundRect">
              <a:avLst>
                <a:gd name="adj" fmla="val 19200"/>
              </a:avLst>
            </a:prstGeom>
            <a:solidFill>
              <a:srgbClr val="F6F3FF">
                <a:alpha val="100000"/>
              </a:srgbClr>
            </a:solidFill>
            <a:ln/>
          </p:spPr>
        </p:sp>
        <p:sp>
          <p:nvSpPr>
            <p:cNvPr id="23" name="Text 14"/>
            <p:cNvSpPr/>
            <p:nvPr/>
          </p:nvSpPr>
          <p:spPr>
            <a:xfrm>
              <a:off x="11163648" y="7432040"/>
              <a:ext cx="47419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Regular" pitchFamily="34" charset="0"/>
                  <a:ea typeface="Inter Regular" pitchFamily="34" charset="-122"/>
                  <a:cs typeface="Inter Regular" pitchFamily="34" charset="-120"/>
                </a:rPr>
                <a:t>4.0x</a:t>
              </a:r>
              <a:endParaRPr lang="en-US" sz="1600" dirty="0"/>
            </a:p>
          </p:txBody>
        </p:sp>
      </p:grpSp>
      <p:grpSp>
        <p:nvGrpSpPr>
          <p:cNvPr id="39" name="Group 38">
            <a:extLst>
              <a:ext uri="{FF2B5EF4-FFF2-40B4-BE49-F238E27FC236}">
                <a16:creationId xmlns:a16="http://schemas.microsoft.com/office/drawing/2014/main" id="{507B2D7E-80CF-40A8-81DD-FA2C9F670E53}"/>
              </a:ext>
            </a:extLst>
          </p:cNvPr>
          <p:cNvGrpSpPr/>
          <p:nvPr/>
        </p:nvGrpSpPr>
        <p:grpSpPr>
          <a:xfrm>
            <a:off x="5550720" y="6471495"/>
            <a:ext cx="558870" cy="410633"/>
            <a:chOff x="5550720" y="6471495"/>
            <a:chExt cx="558870" cy="410633"/>
          </a:xfrm>
        </p:grpSpPr>
        <p:sp>
          <p:nvSpPr>
            <p:cNvPr id="19" name="Shape 10"/>
            <p:cNvSpPr/>
            <p:nvPr/>
          </p:nvSpPr>
          <p:spPr>
            <a:xfrm>
              <a:off x="5550720" y="6471495"/>
              <a:ext cx="558870" cy="381000"/>
            </a:xfrm>
            <a:prstGeom prst="roundRect">
              <a:avLst>
                <a:gd name="adj" fmla="val 19200"/>
              </a:avLst>
            </a:prstGeom>
            <a:solidFill>
              <a:srgbClr val="EFEAFD">
                <a:alpha val="100000"/>
              </a:srgbClr>
            </a:solidFill>
            <a:ln/>
          </p:spPr>
        </p:sp>
        <p:sp>
          <p:nvSpPr>
            <p:cNvPr id="24" name="Text 15"/>
            <p:cNvSpPr/>
            <p:nvPr/>
          </p:nvSpPr>
          <p:spPr>
            <a:xfrm>
              <a:off x="5626930" y="6509595"/>
              <a:ext cx="47419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572092">
                      <a:alpha val="100000"/>
                    </a:srgbClr>
                  </a:solidFill>
                  <a:latin typeface="Inter Regular" pitchFamily="34" charset="0"/>
                  <a:ea typeface="Inter Regular" pitchFamily="34" charset="-122"/>
                  <a:cs typeface="Inter Regular" pitchFamily="34" charset="-120"/>
                </a:rPr>
                <a:t>4.3x</a:t>
              </a:r>
              <a:endParaRPr lang="en-US" sz="1600" dirty="0"/>
            </a:p>
          </p:txBody>
        </p:sp>
      </p:grpSp>
      <p:sp>
        <p:nvSpPr>
          <p:cNvPr id="26" name="Text 17"/>
          <p:cNvSpPr/>
          <p:nvPr/>
        </p:nvSpPr>
        <p:spPr>
          <a:xfrm>
            <a:off x="1524191" y="11366500"/>
            <a:ext cx="6609059"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"Unlocking Success: Your Marketing Dashboard" - A tool to visualize marketing efforts, showcasing metrics like conversion rates.</a:t>
            </a:r>
            <a:endParaRPr lang="en-US" sz="1600" dirty="0"/>
          </a:p>
        </p:txBody>
      </p:sp>
      <p:sp>
        <p:nvSpPr>
          <p:cNvPr id="27" name="Shape 18"/>
          <p:cNvSpPr/>
          <p:nvPr/>
        </p:nvSpPr>
        <p:spPr>
          <a:xfrm>
            <a:off x="15025978" y="4191000"/>
            <a:ext cx="6579422" cy="1295400"/>
          </a:xfrm>
          <a:prstGeom prst="rect">
            <a:avLst/>
          </a:prstGeom>
          <a:noFill/>
          <a:ln/>
        </p:spPr>
      </p:sp>
      <p:pic>
        <p:nvPicPr>
          <p:cNvPr id="28" name="Image 7"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025978" y="4191000"/>
            <a:ext cx="6579422" cy="1295400"/>
          </a:xfrm>
          <a:prstGeom prst="rect">
            <a:avLst/>
          </a:prstGeom>
        </p:spPr>
      </p:pic>
      <p:sp>
        <p:nvSpPr>
          <p:cNvPr id="29" name="Text 19"/>
          <p:cNvSpPr/>
          <p:nvPr/>
        </p:nvSpPr>
        <p:spPr>
          <a:xfrm>
            <a:off x="15851581" y="4508500"/>
            <a:ext cx="319233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CAC (Customer Acquisition Cost)</a:t>
            </a:r>
            <a:endParaRPr lang="en-US" sz="1600" dirty="0"/>
          </a:p>
        </p:txBody>
      </p:sp>
      <p:sp>
        <p:nvSpPr>
          <p:cNvPr id="30" name="Text 20"/>
          <p:cNvSpPr/>
          <p:nvPr/>
        </p:nvSpPr>
        <p:spPr>
          <a:xfrm>
            <a:off x="15445130" y="4927600"/>
            <a:ext cx="58088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888888">
                    <a:alpha val="100000"/>
                  </a:srgbClr>
                </a:solidFill>
                <a:latin typeface="Inter Regular" pitchFamily="34" charset="0"/>
                <a:ea typeface="Inter Regular" pitchFamily="34" charset="-122"/>
                <a:cs typeface="Inter Regular" pitchFamily="34" charset="-120"/>
              </a:rPr>
              <a:t>Average cost to acquire a new customer across all campaigns.</a:t>
            </a:r>
            <a:endParaRPr lang="en-US" sz="1600" dirty="0"/>
          </a:p>
        </p:txBody>
      </p:sp>
      <p:pic>
        <p:nvPicPr>
          <p:cNvPr id="32" name="Image 9" descr=" "/>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462256" y="4526496"/>
            <a:ext cx="245202" cy="256006"/>
          </a:xfrm>
          <a:prstGeom prst="rect">
            <a:avLst/>
          </a:prstGeom>
        </p:spPr>
      </p:pic>
      <p:pic>
        <p:nvPicPr>
          <p:cNvPr id="34" name="Image 11" descr=" "/>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025978" y="5740400"/>
            <a:ext cx="6579422" cy="1295400"/>
          </a:xfrm>
          <a:prstGeom prst="rect">
            <a:avLst/>
          </a:prstGeom>
        </p:spPr>
      </p:pic>
      <p:sp>
        <p:nvSpPr>
          <p:cNvPr id="35" name="Text 21"/>
          <p:cNvSpPr/>
          <p:nvPr/>
        </p:nvSpPr>
        <p:spPr>
          <a:xfrm>
            <a:off x="15851581" y="6057900"/>
            <a:ext cx="267156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ROAS (Return on Ad Spend)</a:t>
            </a:r>
            <a:endParaRPr lang="en-US" sz="1600" dirty="0"/>
          </a:p>
        </p:txBody>
      </p:sp>
      <p:sp>
        <p:nvSpPr>
          <p:cNvPr id="36" name="Text 22"/>
          <p:cNvSpPr/>
          <p:nvPr/>
        </p:nvSpPr>
        <p:spPr>
          <a:xfrm>
            <a:off x="15445130" y="6477000"/>
            <a:ext cx="424656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Revenue earned per dollar spent on paid ads.</a:t>
            </a:r>
            <a:endParaRPr lang="en-US" sz="1600" dirty="0"/>
          </a:p>
        </p:txBody>
      </p:sp>
      <p:pic>
        <p:nvPicPr>
          <p:cNvPr id="38" name="Image 13"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483235" y="6096000"/>
            <a:ext cx="228629" cy="228600"/>
          </a:xfrm>
          <a:prstGeom prst="rect">
            <a:avLst/>
          </a:prstGeom>
        </p:spPr>
      </p:pic>
      <p:pic>
        <p:nvPicPr>
          <p:cNvPr id="40" name="Image 15" descr=" "/>
          <p:cNvPicPr>
            <a:picLocks noChangeAspect="1"/>
          </p:cNvPicPr>
          <p:nvPr/>
        </p:nvPicPr>
        <p:blipFill>
          <a:blip r:embed="rId8">
            <a:extLst>
              <a:ext uri="{96DAC541-7B7A-43D3-8B79-37D633B846F1}">
                <asvg:svgBlip xmlns:asvg="http://schemas.microsoft.com/office/drawing/2016/SVG/main" r:embed="rId12"/>
              </a:ext>
            </a:extLst>
          </a:blip>
          <a:stretch>
            <a:fillRect/>
          </a:stretch>
        </p:blipFill>
        <p:spPr>
          <a:xfrm>
            <a:off x="15025978" y="7289800"/>
            <a:ext cx="6579422" cy="1295400"/>
          </a:xfrm>
          <a:prstGeom prst="rect">
            <a:avLst/>
          </a:prstGeom>
        </p:spPr>
      </p:pic>
      <p:sp>
        <p:nvSpPr>
          <p:cNvPr id="41" name="Text 23"/>
          <p:cNvSpPr/>
          <p:nvPr/>
        </p:nvSpPr>
        <p:spPr>
          <a:xfrm>
            <a:off x="15851581" y="7607300"/>
            <a:ext cx="230322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Website Traffic Sources</a:t>
            </a:r>
            <a:endParaRPr lang="en-US" sz="1600" dirty="0"/>
          </a:p>
        </p:txBody>
      </p:sp>
      <p:sp>
        <p:nvSpPr>
          <p:cNvPr id="42" name="Text 24"/>
          <p:cNvSpPr/>
          <p:nvPr/>
        </p:nvSpPr>
        <p:spPr>
          <a:xfrm>
            <a:off x="15445130" y="8026400"/>
            <a:ext cx="58088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Regular" pitchFamily="34" charset="0"/>
                <a:ea typeface="Inter Regular" pitchFamily="34" charset="-122"/>
                <a:cs typeface="Inter Regular" pitchFamily="34" charset="-120"/>
              </a:rPr>
              <a:t>Average cost to acquire a new customer across all campaigns.</a:t>
            </a:r>
            <a:endParaRPr lang="en-US" sz="1600" dirty="0"/>
          </a:p>
        </p:txBody>
      </p:sp>
      <p:pic>
        <p:nvPicPr>
          <p:cNvPr id="44" name="Image 1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473709" y="7635875"/>
            <a:ext cx="247681" cy="247650"/>
          </a:xfrm>
          <a:prstGeom prst="rect">
            <a:avLst/>
          </a:prstGeom>
        </p:spPr>
      </p:pic>
      <p:sp>
        <p:nvSpPr>
          <p:cNvPr id="45" name="Text 25"/>
          <p:cNvSpPr/>
          <p:nvPr/>
        </p:nvSpPr>
        <p:spPr>
          <a:xfrm>
            <a:off x="15025978" y="9436100"/>
            <a:ext cx="556752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Trend Average</a:t>
            </a:r>
            <a:endParaRPr lang="en-US" sz="1600" dirty="0"/>
          </a:p>
        </p:txBody>
      </p:sp>
      <p:sp>
        <p:nvSpPr>
          <p:cNvPr id="46" name="Text 26"/>
          <p:cNvSpPr/>
          <p:nvPr/>
        </p:nvSpPr>
        <p:spPr>
          <a:xfrm>
            <a:off x="15025978" y="9740900"/>
            <a:ext cx="5906238" cy="2235200"/>
          </a:xfrm>
          <a:prstGeom prst="rect">
            <a:avLst/>
          </a:prstGeom>
          <a:noFill/>
          <a:ln/>
        </p:spPr>
        <p:txBody>
          <a:bodyPr wrap="square" lIns="0" tIns="0" rIns="0" bIns="0" rtlCol="0" anchor="t"/>
          <a:lstStyle/>
          <a:p>
            <a:pPr marL="0" indent="0" algn="l">
              <a:lnSpc>
                <a:spcPts val="14400"/>
              </a:lnSpc>
              <a:buNone/>
            </a:pPr>
            <a:r>
              <a:rPr lang="en-US" sz="9600" kern="0" spc="-192" dirty="0">
                <a:solidFill>
                  <a:srgbClr val="000000">
                    <a:alpha val="100000"/>
                  </a:srgbClr>
                </a:solidFill>
                <a:latin typeface="Inter Regular" pitchFamily="34" charset="0"/>
                <a:ea typeface="Inter Regular" pitchFamily="34" charset="-122"/>
                <a:cs typeface="Inter Regular" pitchFamily="34" charset="-120"/>
              </a:rPr>
              <a:t>4.3x</a:t>
            </a:r>
            <a:endParaRPr lang="en-US" sz="9600" dirty="0"/>
          </a:p>
        </p:txBody>
      </p:sp>
      <p:sp>
        <p:nvSpPr>
          <p:cNvPr id="47" name="Text 27"/>
          <p:cNvSpPr/>
          <p:nvPr/>
        </p:nvSpPr>
        <p:spPr>
          <a:xfrm>
            <a:off x="15025978" y="11569700"/>
            <a:ext cx="5567529"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Strong upward trend and ROAS growth from Jan to May. ROAS plateau in June needs investigation.</a:t>
            </a:r>
            <a:endParaRPr lang="en-US" sz="1600" dirty="0"/>
          </a:p>
        </p:txBody>
      </p:sp>
      <p:sp>
        <p:nvSpPr>
          <p:cNvPr id="49" name="Rectangle: Rounded Corners 48">
            <a:extLst>
              <a:ext uri="{FF2B5EF4-FFF2-40B4-BE49-F238E27FC236}">
                <a16:creationId xmlns:a16="http://schemas.microsoft.com/office/drawing/2014/main" id="{DEE05E2E-6722-42AC-B1DF-452432789803}"/>
              </a:ext>
            </a:extLst>
          </p:cNvPr>
          <p:cNvSpPr/>
          <p:nvPr/>
        </p:nvSpPr>
        <p:spPr>
          <a:xfrm>
            <a:off x="1524191" y="4271348"/>
            <a:ext cx="1579230" cy="586825"/>
          </a:xfrm>
          <a:prstGeom prst="roundRect">
            <a:avLst>
              <a:gd name="adj" fmla="val 50000"/>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3CC6E2D5-D968-497C-AD1A-8BAC98543B91}"/>
              </a:ext>
            </a:extLst>
          </p:cNvPr>
          <p:cNvGrpSpPr/>
          <p:nvPr/>
        </p:nvGrpSpPr>
        <p:grpSpPr>
          <a:xfrm>
            <a:off x="6611430" y="6529493"/>
            <a:ext cx="558870" cy="410633"/>
            <a:chOff x="6685998" y="7251700"/>
            <a:chExt cx="558870" cy="410633"/>
          </a:xfrm>
        </p:grpSpPr>
        <p:sp>
          <p:nvSpPr>
            <p:cNvPr id="52" name="Shape 11">
              <a:extLst>
                <a:ext uri="{FF2B5EF4-FFF2-40B4-BE49-F238E27FC236}">
                  <a16:creationId xmlns:a16="http://schemas.microsoft.com/office/drawing/2014/main" id="{22C34198-B0FB-43D7-B5D6-0F8E104E8A4C}"/>
                </a:ext>
              </a:extLst>
            </p:cNvPr>
            <p:cNvSpPr/>
            <p:nvPr/>
          </p:nvSpPr>
          <p:spPr>
            <a:xfrm>
              <a:off x="6685998" y="7251700"/>
              <a:ext cx="558870" cy="381000"/>
            </a:xfrm>
            <a:prstGeom prst="roundRect">
              <a:avLst>
                <a:gd name="adj" fmla="val 19200"/>
              </a:avLst>
            </a:prstGeom>
            <a:solidFill>
              <a:srgbClr val="F6F3FF">
                <a:alpha val="100000"/>
              </a:srgbClr>
            </a:solidFill>
            <a:ln/>
          </p:spPr>
        </p:sp>
        <p:sp>
          <p:nvSpPr>
            <p:cNvPr id="53" name="Text 16">
              <a:extLst>
                <a:ext uri="{FF2B5EF4-FFF2-40B4-BE49-F238E27FC236}">
                  <a16:creationId xmlns:a16="http://schemas.microsoft.com/office/drawing/2014/main" id="{ED1DAB82-3A7E-4101-BFFA-B31501DA3437}"/>
                </a:ext>
              </a:extLst>
            </p:cNvPr>
            <p:cNvSpPr/>
            <p:nvPr/>
          </p:nvSpPr>
          <p:spPr>
            <a:xfrm>
              <a:off x="6762207" y="7289800"/>
              <a:ext cx="47419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Regular" pitchFamily="34" charset="0"/>
                  <a:ea typeface="Inter Regular" pitchFamily="34" charset="-122"/>
                  <a:cs typeface="Inter Regular" pitchFamily="34" charset="-120"/>
                </a:rPr>
                <a:t>4.2x</a:t>
              </a:r>
              <a:endParaRPr lang="en-US" sz="16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68733" y="3860800"/>
            <a:ext cx="7849581" cy="7848600"/>
          </a:xfrm>
          <a:prstGeom prst="rect">
            <a:avLst/>
          </a:prstGeom>
        </p:spPr>
      </p:pic>
      <p:pic>
        <p:nvPicPr>
          <p:cNvPr id="4"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78810" y="6070600"/>
            <a:ext cx="3429429" cy="3429000"/>
          </a:xfrm>
          <a:prstGeom prst="rect">
            <a:avLst/>
          </a:prstGeom>
        </p:spPr>
      </p:pic>
      <p:sp>
        <p:nvSpPr>
          <p:cNvPr id="5" name="Text 0"/>
          <p:cNvSpPr/>
          <p:nvPr/>
        </p:nvSpPr>
        <p:spPr>
          <a:xfrm>
            <a:off x="11456832" y="7200900"/>
            <a:ext cx="1803625"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45%</a:t>
            </a:r>
            <a:endParaRPr lang="en-US" sz="6000" dirty="0"/>
          </a:p>
        </p:txBody>
      </p:sp>
      <p:sp>
        <p:nvSpPr>
          <p:cNvPr id="6" name="Text 1"/>
          <p:cNvSpPr/>
          <p:nvPr/>
        </p:nvSpPr>
        <p:spPr>
          <a:xfrm>
            <a:off x="11507638" y="8064500"/>
            <a:ext cx="15157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Highly Satisfied</a:t>
            </a:r>
            <a:endParaRPr lang="en-US" sz="1600" dirty="0"/>
          </a:p>
        </p:txBody>
      </p:sp>
      <p:sp>
        <p:nvSpPr>
          <p:cNvPr id="10" name="Text 2"/>
          <p:cNvSpPr/>
          <p:nvPr/>
        </p:nvSpPr>
        <p:spPr>
          <a:xfrm>
            <a:off x="1524191" y="1524000"/>
            <a:ext cx="7125591"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Employee Engagement KPIs</a:t>
            </a:r>
            <a:endParaRPr lang="en-US" sz="6000" dirty="0"/>
          </a:p>
        </p:txBody>
      </p:sp>
      <p:sp>
        <p:nvSpPr>
          <p:cNvPr id="11" name="Text 3"/>
          <p:cNvSpPr/>
          <p:nvPr/>
        </p:nvSpPr>
        <p:spPr>
          <a:xfrm>
            <a:off x="1524191" y="3632200"/>
            <a:ext cx="6443939"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Track employee morale, retention, and feedback to identify engagement strengths and potential risk areas. Use insights to shape culture and improve employee experience.</a:t>
            </a:r>
            <a:endParaRPr lang="en-US" sz="1600" dirty="0"/>
          </a:p>
        </p:txBody>
      </p:sp>
      <p:sp>
        <p:nvSpPr>
          <p:cNvPr id="12" name="Text 4"/>
          <p:cNvSpPr/>
          <p:nvPr/>
        </p:nvSpPr>
        <p:spPr>
          <a:xfrm>
            <a:off x="1524191" y="11468100"/>
            <a:ext cx="6443939"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"Engaged employees are the heartbeat of a thriving organization, driving innovation and success."</a:t>
            </a:r>
            <a:endParaRPr lang="en-US" sz="1600" dirty="0"/>
          </a:p>
        </p:txBody>
      </p:sp>
      <p:pic>
        <p:nvPicPr>
          <p:cNvPr id="13"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18715" y="3429000"/>
            <a:ext cx="5144143" cy="2692400"/>
          </a:xfrm>
          <a:prstGeom prst="rect">
            <a:avLst/>
          </a:prstGeom>
        </p:spPr>
      </p:pic>
      <p:sp>
        <p:nvSpPr>
          <p:cNvPr id="14" name="Text 5"/>
          <p:cNvSpPr/>
          <p:nvPr/>
        </p:nvSpPr>
        <p:spPr>
          <a:xfrm>
            <a:off x="19611251" y="4013200"/>
            <a:ext cx="15157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Highly satisfied</a:t>
            </a:r>
            <a:endParaRPr lang="en-US" sz="1600" dirty="0"/>
          </a:p>
        </p:txBody>
      </p:sp>
      <p:sp>
        <p:nvSpPr>
          <p:cNvPr id="15" name="Shape 6"/>
          <p:cNvSpPr/>
          <p:nvPr/>
        </p:nvSpPr>
        <p:spPr>
          <a:xfrm>
            <a:off x="18455407" y="4064000"/>
            <a:ext cx="203225" cy="203200"/>
          </a:xfrm>
          <a:prstGeom prst="ellipse">
            <a:avLst/>
          </a:prstGeom>
          <a:solidFill>
            <a:srgbClr val="7D2DD4">
              <a:alpha val="100000"/>
            </a:srgbClr>
          </a:solidFill>
          <a:ln/>
        </p:spPr>
      </p:sp>
      <p:sp>
        <p:nvSpPr>
          <p:cNvPr id="16" name="Text 7"/>
          <p:cNvSpPr/>
          <p:nvPr/>
        </p:nvSpPr>
        <p:spPr>
          <a:xfrm>
            <a:off x="18760245" y="40132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Regular" pitchFamily="34" charset="0"/>
                <a:ea typeface="Inter Regular" pitchFamily="34" charset="-122"/>
                <a:cs typeface="Inter Regular" pitchFamily="34" charset="-120"/>
              </a:rPr>
              <a:t>65%</a:t>
            </a:r>
            <a:endParaRPr lang="en-US" sz="1600" dirty="0"/>
          </a:p>
        </p:txBody>
      </p:sp>
      <p:sp>
        <p:nvSpPr>
          <p:cNvPr id="17" name="Shape 8"/>
          <p:cNvSpPr/>
          <p:nvPr/>
        </p:nvSpPr>
        <p:spPr>
          <a:xfrm>
            <a:off x="18455407" y="4673600"/>
            <a:ext cx="203225" cy="203200"/>
          </a:xfrm>
          <a:prstGeom prst="ellipse">
            <a:avLst/>
          </a:prstGeom>
          <a:solidFill>
            <a:srgbClr val="9559F1">
              <a:alpha val="100000"/>
            </a:srgbClr>
          </a:solidFill>
          <a:ln/>
        </p:spPr>
      </p:sp>
      <p:sp>
        <p:nvSpPr>
          <p:cNvPr id="18" name="Text 9"/>
          <p:cNvSpPr/>
          <p:nvPr/>
        </p:nvSpPr>
        <p:spPr>
          <a:xfrm>
            <a:off x="18772946" y="4622800"/>
            <a:ext cx="47419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25%</a:t>
            </a:r>
            <a:endParaRPr lang="en-US" sz="1600" dirty="0"/>
          </a:p>
        </p:txBody>
      </p:sp>
      <p:sp>
        <p:nvSpPr>
          <p:cNvPr id="19" name="Text 10"/>
          <p:cNvSpPr/>
          <p:nvPr/>
        </p:nvSpPr>
        <p:spPr>
          <a:xfrm>
            <a:off x="19611251" y="4622800"/>
            <a:ext cx="198568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Moderately satisfied</a:t>
            </a:r>
            <a:endParaRPr lang="en-US" sz="1600" dirty="0"/>
          </a:p>
        </p:txBody>
      </p:sp>
      <p:sp>
        <p:nvSpPr>
          <p:cNvPr id="20" name="Shape 11"/>
          <p:cNvSpPr/>
          <p:nvPr/>
        </p:nvSpPr>
        <p:spPr>
          <a:xfrm>
            <a:off x="18455407" y="5283200"/>
            <a:ext cx="203225" cy="203200"/>
          </a:xfrm>
          <a:prstGeom prst="ellipse">
            <a:avLst/>
          </a:prstGeom>
          <a:solidFill>
            <a:srgbClr val="E1D7FD">
              <a:alpha val="100000"/>
            </a:srgbClr>
          </a:solidFill>
          <a:ln/>
        </p:spPr>
      </p:sp>
      <p:sp>
        <p:nvSpPr>
          <p:cNvPr id="21" name="Text 12"/>
          <p:cNvSpPr/>
          <p:nvPr/>
        </p:nvSpPr>
        <p:spPr>
          <a:xfrm>
            <a:off x="18798350" y="5232400"/>
            <a:ext cx="4487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Regular" pitchFamily="34" charset="0"/>
                <a:ea typeface="Inter Regular" pitchFamily="34" charset="-122"/>
                <a:cs typeface="Inter Regular" pitchFamily="34" charset="-120"/>
              </a:rPr>
              <a:t>10%</a:t>
            </a:r>
            <a:endParaRPr lang="en-US" sz="1600" dirty="0"/>
          </a:p>
        </p:txBody>
      </p:sp>
      <p:sp>
        <p:nvSpPr>
          <p:cNvPr id="22" name="Text 13"/>
          <p:cNvSpPr/>
          <p:nvPr/>
        </p:nvSpPr>
        <p:spPr>
          <a:xfrm>
            <a:off x="19611251" y="5232400"/>
            <a:ext cx="113467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Unsatisfied</a:t>
            </a:r>
            <a:endParaRPr lang="en-US" sz="1600" dirty="0"/>
          </a:p>
        </p:txBody>
      </p:sp>
      <p:pic>
        <p:nvPicPr>
          <p:cNvPr id="23" name="Image 7"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718715" y="6578600"/>
            <a:ext cx="5144143" cy="2247900"/>
          </a:xfrm>
          <a:prstGeom prst="rect">
            <a:avLst/>
          </a:prstGeom>
        </p:spPr>
      </p:pic>
      <p:pic>
        <p:nvPicPr>
          <p:cNvPr id="24" name="Image 8"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023553" y="6883400"/>
            <a:ext cx="508063" cy="508000"/>
          </a:xfrm>
          <a:prstGeom prst="rect">
            <a:avLst/>
          </a:prstGeom>
        </p:spPr>
      </p:pic>
      <p:pic>
        <p:nvPicPr>
          <p:cNvPr id="26" name="Image 10"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8163270" y="7023100"/>
            <a:ext cx="228629" cy="228600"/>
          </a:xfrm>
          <a:prstGeom prst="rect">
            <a:avLst/>
          </a:prstGeom>
        </p:spPr>
      </p:pic>
      <p:sp>
        <p:nvSpPr>
          <p:cNvPr id="27" name="Shape 14"/>
          <p:cNvSpPr/>
          <p:nvPr/>
        </p:nvSpPr>
        <p:spPr>
          <a:xfrm>
            <a:off x="21135442" y="6908800"/>
            <a:ext cx="1422578" cy="457200"/>
          </a:xfrm>
          <a:prstGeom prst="roundRect">
            <a:avLst>
              <a:gd name="adj" fmla="val 22000"/>
            </a:avLst>
          </a:prstGeom>
          <a:solidFill>
            <a:srgbClr val="F6F3FF">
              <a:alpha val="100000"/>
            </a:srgbClr>
          </a:solidFill>
          <a:ln/>
        </p:spPr>
      </p:sp>
      <p:pic>
        <p:nvPicPr>
          <p:cNvPr id="28" name="Image 1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023553" y="8064500"/>
            <a:ext cx="304838" cy="457200"/>
          </a:xfrm>
          <a:prstGeom prst="rect">
            <a:avLst/>
          </a:prstGeom>
        </p:spPr>
      </p:pic>
      <p:pic>
        <p:nvPicPr>
          <p:cNvPr id="29" name="Image 12" descr=" "/>
          <p:cNvPicPr>
            <a:picLocks noChangeAspect="1"/>
          </p:cNvPicPr>
          <p:nvPr/>
        </p:nvPicPr>
        <p:blipFill>
          <a:blip r:embed="rId15">
            <a:extLst>
              <a:ext uri="{96DAC541-7B7A-43D3-8B79-37D633B846F1}">
                <asvg:svgBlip xmlns:asvg="http://schemas.microsoft.com/office/drawing/2016/SVG/main" r:embed="rId17"/>
              </a:ext>
            </a:extLst>
          </a:blip>
          <a:stretch>
            <a:fillRect/>
          </a:stretch>
        </p:blipFill>
        <p:spPr>
          <a:xfrm>
            <a:off x="18493511" y="8064500"/>
            <a:ext cx="304838" cy="457200"/>
          </a:xfrm>
          <a:prstGeom prst="rect">
            <a:avLst/>
          </a:prstGeom>
        </p:spPr>
      </p:pic>
      <p:pic>
        <p:nvPicPr>
          <p:cNvPr id="30" name="Image 13"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8950769" y="8064500"/>
            <a:ext cx="317540" cy="457200"/>
          </a:xfrm>
          <a:prstGeom prst="rect">
            <a:avLst/>
          </a:prstGeom>
        </p:spPr>
      </p:pic>
      <p:pic>
        <p:nvPicPr>
          <p:cNvPr id="31" name="Image 14"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9420727" y="8064500"/>
            <a:ext cx="317540" cy="457200"/>
          </a:xfrm>
          <a:prstGeom prst="rect">
            <a:avLst/>
          </a:prstGeom>
        </p:spPr>
      </p:pic>
      <p:pic>
        <p:nvPicPr>
          <p:cNvPr id="32" name="Image 15" descr=" "/>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9890686" y="8064500"/>
            <a:ext cx="304838" cy="457200"/>
          </a:xfrm>
          <a:prstGeom prst="rect">
            <a:avLst/>
          </a:prstGeom>
        </p:spPr>
      </p:pic>
      <p:pic>
        <p:nvPicPr>
          <p:cNvPr id="33" name="Image 16"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20360645" y="8064500"/>
            <a:ext cx="304838" cy="457200"/>
          </a:xfrm>
          <a:prstGeom prst="rect">
            <a:avLst/>
          </a:prstGeom>
        </p:spPr>
      </p:pic>
      <p:pic>
        <p:nvPicPr>
          <p:cNvPr id="34" name="Image 17" descr=" "/>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20817902" y="8064500"/>
            <a:ext cx="317540" cy="457200"/>
          </a:xfrm>
          <a:prstGeom prst="rect">
            <a:avLst/>
          </a:prstGeom>
        </p:spPr>
      </p:pic>
      <p:pic>
        <p:nvPicPr>
          <p:cNvPr id="35" name="Image 18"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1287861" y="8064500"/>
            <a:ext cx="317540" cy="457200"/>
          </a:xfrm>
          <a:prstGeom prst="rect">
            <a:avLst/>
          </a:prstGeom>
        </p:spPr>
      </p:pic>
      <p:pic>
        <p:nvPicPr>
          <p:cNvPr id="36" name="Image 19"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1757819" y="8064500"/>
            <a:ext cx="304838" cy="457200"/>
          </a:xfrm>
          <a:prstGeom prst="rect">
            <a:avLst/>
          </a:prstGeom>
        </p:spPr>
      </p:pic>
      <p:pic>
        <p:nvPicPr>
          <p:cNvPr id="37" name="Image 20" descr=" "/>
          <p:cNvPicPr>
            <a:picLocks noChangeAspect="1"/>
          </p:cNvPicPr>
          <p:nvPr/>
        </p:nvPicPr>
        <p:blipFill>
          <a:blip r:embed="rId30">
            <a:extLst>
              <a:ext uri="{96DAC541-7B7A-43D3-8B79-37D633B846F1}">
                <asvg:svgBlip xmlns:asvg="http://schemas.microsoft.com/office/drawing/2016/SVG/main" r:embed="rId32"/>
              </a:ext>
            </a:extLst>
          </a:blip>
          <a:stretch>
            <a:fillRect/>
          </a:stretch>
        </p:blipFill>
        <p:spPr>
          <a:xfrm>
            <a:off x="22227778" y="8064500"/>
            <a:ext cx="304838" cy="457200"/>
          </a:xfrm>
          <a:prstGeom prst="rect">
            <a:avLst/>
          </a:prstGeom>
        </p:spPr>
      </p:pic>
      <p:sp>
        <p:nvSpPr>
          <p:cNvPr id="38" name="Text 15"/>
          <p:cNvSpPr/>
          <p:nvPr/>
        </p:nvSpPr>
        <p:spPr>
          <a:xfrm>
            <a:off x="18633229" y="6985000"/>
            <a:ext cx="19221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Pulse Survey Result</a:t>
            </a:r>
            <a:endParaRPr lang="en-US" sz="1600" dirty="0"/>
          </a:p>
        </p:txBody>
      </p:sp>
      <p:sp>
        <p:nvSpPr>
          <p:cNvPr id="39" name="Text 16"/>
          <p:cNvSpPr/>
          <p:nvPr/>
        </p:nvSpPr>
        <p:spPr>
          <a:xfrm>
            <a:off x="18023553" y="7518400"/>
            <a:ext cx="20491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Average engagement</a:t>
            </a:r>
            <a:endParaRPr lang="en-US" sz="1600" dirty="0"/>
          </a:p>
        </p:txBody>
      </p:sp>
      <p:sp>
        <p:nvSpPr>
          <p:cNvPr id="40" name="Text 17"/>
          <p:cNvSpPr/>
          <p:nvPr/>
        </p:nvSpPr>
        <p:spPr>
          <a:xfrm>
            <a:off x="21668908" y="6985000"/>
            <a:ext cx="62661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Medium" pitchFamily="34" charset="0"/>
                <a:ea typeface="Inter Medium" pitchFamily="34" charset="-122"/>
                <a:cs typeface="Inter Medium" pitchFamily="34" charset="-120"/>
              </a:rPr>
              <a:t>7.8/10</a:t>
            </a:r>
            <a:endParaRPr lang="en-US" sz="1600" dirty="0"/>
          </a:p>
        </p:txBody>
      </p:sp>
      <p:pic>
        <p:nvPicPr>
          <p:cNvPr id="41" name="Image 21"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1383123" y="7061200"/>
            <a:ext cx="190539" cy="152400"/>
          </a:xfrm>
          <a:prstGeom prst="rect">
            <a:avLst/>
          </a:prstGeom>
        </p:spPr>
      </p:pic>
      <p:pic>
        <p:nvPicPr>
          <p:cNvPr id="42" name="Image 22" descr=" "/>
          <p:cNvPicPr>
            <a:picLocks noChangeAspect="1"/>
          </p:cNvPicPr>
          <p:nvPr/>
        </p:nvPicPr>
        <p:blipFill>
          <a:blip r:embed="rId9">
            <a:extLst>
              <a:ext uri="{96DAC541-7B7A-43D3-8B79-37D633B846F1}">
                <asvg:svgBlip xmlns:asvg="http://schemas.microsoft.com/office/drawing/2016/SVG/main" r:embed="rId35"/>
              </a:ext>
            </a:extLst>
          </a:blip>
          <a:stretch>
            <a:fillRect/>
          </a:stretch>
        </p:blipFill>
        <p:spPr>
          <a:xfrm>
            <a:off x="17718715" y="9283700"/>
            <a:ext cx="5144143" cy="2247900"/>
          </a:xfrm>
          <a:prstGeom prst="rect">
            <a:avLst/>
          </a:prstGeom>
        </p:spPr>
      </p:pic>
      <p:pic>
        <p:nvPicPr>
          <p:cNvPr id="44" name="Image 24" descr=" "/>
          <p:cNvPicPr>
            <a:picLocks noChangeAspect="1"/>
          </p:cNvPicPr>
          <p:nvPr/>
        </p:nvPicPr>
        <p:blipFill>
          <a:blip r:embed="rId11">
            <a:extLst>
              <a:ext uri="{96DAC541-7B7A-43D3-8B79-37D633B846F1}">
                <asvg:svgBlip xmlns:asvg="http://schemas.microsoft.com/office/drawing/2016/SVG/main" r:embed="rId36"/>
              </a:ext>
            </a:extLst>
          </a:blip>
          <a:stretch>
            <a:fillRect/>
          </a:stretch>
        </p:blipFill>
        <p:spPr>
          <a:xfrm>
            <a:off x="18023553" y="9588500"/>
            <a:ext cx="508063" cy="508000"/>
          </a:xfrm>
          <a:prstGeom prst="rect">
            <a:avLst/>
          </a:prstGeom>
        </p:spPr>
      </p:pic>
      <p:pic>
        <p:nvPicPr>
          <p:cNvPr id="46" name="Image 2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8163270" y="9728200"/>
            <a:ext cx="228629" cy="228600"/>
          </a:xfrm>
          <a:prstGeom prst="rect">
            <a:avLst/>
          </a:prstGeom>
        </p:spPr>
      </p:pic>
      <p:sp>
        <p:nvSpPr>
          <p:cNvPr id="47" name="Shape 18"/>
          <p:cNvSpPr/>
          <p:nvPr/>
        </p:nvSpPr>
        <p:spPr>
          <a:xfrm>
            <a:off x="21135442" y="9613900"/>
            <a:ext cx="1422578" cy="457200"/>
          </a:xfrm>
          <a:prstGeom prst="roundRect">
            <a:avLst>
              <a:gd name="adj" fmla="val 22000"/>
            </a:avLst>
          </a:prstGeom>
          <a:solidFill>
            <a:srgbClr val="F6F3FF">
              <a:alpha val="100000"/>
            </a:srgbClr>
          </a:solidFill>
          <a:ln/>
        </p:spPr>
      </p:sp>
      <p:sp>
        <p:nvSpPr>
          <p:cNvPr id="48" name="Text 19"/>
          <p:cNvSpPr/>
          <p:nvPr/>
        </p:nvSpPr>
        <p:spPr>
          <a:xfrm>
            <a:off x="18633229" y="9690100"/>
            <a:ext cx="145221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Retention Rate</a:t>
            </a:r>
            <a:endParaRPr lang="en-US" sz="1600" dirty="0"/>
          </a:p>
        </p:txBody>
      </p:sp>
      <p:sp>
        <p:nvSpPr>
          <p:cNvPr id="49" name="Text 20"/>
          <p:cNvSpPr/>
          <p:nvPr/>
        </p:nvSpPr>
        <p:spPr>
          <a:xfrm>
            <a:off x="18023553" y="10223500"/>
            <a:ext cx="184596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12-month retention</a:t>
            </a:r>
            <a:endParaRPr lang="en-US" sz="1600" dirty="0"/>
          </a:p>
        </p:txBody>
      </p:sp>
      <p:sp>
        <p:nvSpPr>
          <p:cNvPr id="50" name="Text 21"/>
          <p:cNvSpPr/>
          <p:nvPr/>
        </p:nvSpPr>
        <p:spPr>
          <a:xfrm>
            <a:off x="21795924" y="9690100"/>
            <a:ext cx="4868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89%</a:t>
            </a:r>
            <a:endParaRPr lang="en-US" sz="1600" dirty="0"/>
          </a:p>
        </p:txBody>
      </p:sp>
      <p:pic>
        <p:nvPicPr>
          <p:cNvPr id="52" name="Image 28"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21510138" y="9747250"/>
            <a:ext cx="190524" cy="190500"/>
          </a:xfrm>
          <a:prstGeom prst="rect">
            <a:avLst/>
          </a:prstGeom>
        </p:spPr>
      </p:pic>
      <p:sp>
        <p:nvSpPr>
          <p:cNvPr id="53" name="Shape 22"/>
          <p:cNvSpPr/>
          <p:nvPr/>
        </p:nvSpPr>
        <p:spPr>
          <a:xfrm>
            <a:off x="22519915" y="10464800"/>
            <a:ext cx="63508" cy="63500"/>
          </a:xfrm>
          <a:prstGeom prst="ellipse">
            <a:avLst/>
          </a:prstGeom>
          <a:solidFill>
            <a:srgbClr val="B28EF7">
              <a:alpha val="100000"/>
            </a:srgbClr>
          </a:solidFill>
          <a:ln/>
        </p:spPr>
      </p:sp>
      <p:graphicFrame>
        <p:nvGraphicFramePr>
          <p:cNvPr id="54" name="Chart 53">
            <a:extLst>
              <a:ext uri="{FF2B5EF4-FFF2-40B4-BE49-F238E27FC236}">
                <a16:creationId xmlns:a16="http://schemas.microsoft.com/office/drawing/2014/main" id="{0F3D1B29-0058-4957-A279-B2F7D56B8475}"/>
              </a:ext>
            </a:extLst>
          </p:cNvPr>
          <p:cNvGraphicFramePr/>
          <p:nvPr>
            <p:extLst>
              <p:ext uri="{D42A27DB-BD31-4B8C-83A1-F6EECF244321}">
                <p14:modId xmlns:p14="http://schemas.microsoft.com/office/powerpoint/2010/main" val="1817172250"/>
              </p:ext>
            </p:extLst>
          </p:nvPr>
        </p:nvGraphicFramePr>
        <p:xfrm>
          <a:off x="7092676" y="4406776"/>
          <a:ext cx="10162655" cy="6775103"/>
        </p:xfrm>
        <a:graphic>
          <a:graphicData uri="http://schemas.openxmlformats.org/drawingml/2006/chart">
            <c:chart xmlns:c="http://schemas.openxmlformats.org/drawingml/2006/chart" xmlns:r="http://schemas.openxmlformats.org/officeDocument/2006/relationships" r:id="rId39"/>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013200"/>
            <a:ext cx="24387048" cy="9702800"/>
          </a:xfrm>
          <a:prstGeom prst="rect">
            <a:avLst/>
          </a:prstGeom>
          <a:solidFill>
            <a:srgbClr val="F6F3FF">
              <a:alpha val="100000"/>
            </a:srgbClr>
          </a:solidFill>
          <a:ln/>
        </p:spPr>
      </p:sp>
      <p:sp>
        <p:nvSpPr>
          <p:cNvPr id="3" name="Shape 1"/>
          <p:cNvSpPr/>
          <p:nvPr/>
        </p:nvSpPr>
        <p:spPr>
          <a:xfrm>
            <a:off x="1778222" y="4800600"/>
            <a:ext cx="101613" cy="101600"/>
          </a:xfrm>
          <a:prstGeom prst="ellipse">
            <a:avLst/>
          </a:prstGeom>
          <a:solidFill>
            <a:srgbClr val="EFEAFD">
              <a:alpha val="100000"/>
            </a:srgbClr>
          </a:solidFill>
          <a:ln/>
        </p:spPr>
      </p:sp>
      <p:sp>
        <p:nvSpPr>
          <p:cNvPr id="4" name="Shape 2"/>
          <p:cNvSpPr/>
          <p:nvPr/>
        </p:nvSpPr>
        <p:spPr>
          <a:xfrm>
            <a:off x="3505638" y="4800600"/>
            <a:ext cx="101613" cy="101600"/>
          </a:xfrm>
          <a:prstGeom prst="ellipse">
            <a:avLst/>
          </a:prstGeom>
          <a:solidFill>
            <a:srgbClr val="EFEAFD">
              <a:alpha val="100000"/>
            </a:srgbClr>
          </a:solidFill>
          <a:ln/>
        </p:spPr>
      </p:sp>
      <p:sp>
        <p:nvSpPr>
          <p:cNvPr id="5" name="Shape 3"/>
          <p:cNvSpPr/>
          <p:nvPr/>
        </p:nvSpPr>
        <p:spPr>
          <a:xfrm>
            <a:off x="5233054" y="4800600"/>
            <a:ext cx="101613" cy="101600"/>
          </a:xfrm>
          <a:prstGeom prst="ellipse">
            <a:avLst/>
          </a:prstGeom>
          <a:solidFill>
            <a:srgbClr val="EFEAFD">
              <a:alpha val="100000"/>
            </a:srgbClr>
          </a:solidFill>
          <a:ln/>
        </p:spPr>
      </p:sp>
      <p:sp>
        <p:nvSpPr>
          <p:cNvPr id="6" name="Shape 4"/>
          <p:cNvSpPr/>
          <p:nvPr/>
        </p:nvSpPr>
        <p:spPr>
          <a:xfrm>
            <a:off x="6960470" y="4800600"/>
            <a:ext cx="101613" cy="101600"/>
          </a:xfrm>
          <a:prstGeom prst="ellipse">
            <a:avLst/>
          </a:prstGeom>
          <a:solidFill>
            <a:srgbClr val="EFEAFD">
              <a:alpha val="100000"/>
            </a:srgbClr>
          </a:solidFill>
          <a:ln/>
        </p:spPr>
      </p:sp>
      <p:sp>
        <p:nvSpPr>
          <p:cNvPr id="7" name="Shape 5"/>
          <p:cNvSpPr/>
          <p:nvPr/>
        </p:nvSpPr>
        <p:spPr>
          <a:xfrm>
            <a:off x="8687886" y="4800600"/>
            <a:ext cx="101613" cy="101600"/>
          </a:xfrm>
          <a:prstGeom prst="ellipse">
            <a:avLst/>
          </a:prstGeom>
          <a:solidFill>
            <a:srgbClr val="EFEAFD">
              <a:alpha val="100000"/>
            </a:srgbClr>
          </a:solidFill>
          <a:ln/>
        </p:spPr>
      </p:sp>
      <p:sp>
        <p:nvSpPr>
          <p:cNvPr id="8" name="Shape 6"/>
          <p:cNvSpPr/>
          <p:nvPr/>
        </p:nvSpPr>
        <p:spPr>
          <a:xfrm>
            <a:off x="10415302" y="4800600"/>
            <a:ext cx="101613" cy="101600"/>
          </a:xfrm>
          <a:prstGeom prst="ellipse">
            <a:avLst/>
          </a:prstGeom>
          <a:solidFill>
            <a:srgbClr val="EFEAFD">
              <a:alpha val="100000"/>
            </a:srgbClr>
          </a:solidFill>
          <a:ln/>
        </p:spPr>
      </p:sp>
      <p:sp>
        <p:nvSpPr>
          <p:cNvPr id="9" name="Shape 7"/>
          <p:cNvSpPr/>
          <p:nvPr/>
        </p:nvSpPr>
        <p:spPr>
          <a:xfrm>
            <a:off x="12142718" y="4800600"/>
            <a:ext cx="101613" cy="101600"/>
          </a:xfrm>
          <a:prstGeom prst="ellipse">
            <a:avLst/>
          </a:prstGeom>
          <a:solidFill>
            <a:srgbClr val="EFEAFD">
              <a:alpha val="100000"/>
            </a:srgbClr>
          </a:solidFill>
          <a:ln/>
        </p:spPr>
      </p:sp>
      <p:sp>
        <p:nvSpPr>
          <p:cNvPr id="10" name="Shape 8"/>
          <p:cNvSpPr/>
          <p:nvPr/>
        </p:nvSpPr>
        <p:spPr>
          <a:xfrm>
            <a:off x="13870134" y="4800600"/>
            <a:ext cx="101613" cy="101600"/>
          </a:xfrm>
          <a:prstGeom prst="ellipse">
            <a:avLst/>
          </a:prstGeom>
          <a:solidFill>
            <a:srgbClr val="EFEAFD">
              <a:alpha val="100000"/>
            </a:srgbClr>
          </a:solidFill>
          <a:ln/>
        </p:spPr>
      </p:sp>
      <p:sp>
        <p:nvSpPr>
          <p:cNvPr id="11" name="Shape 9"/>
          <p:cNvSpPr/>
          <p:nvPr/>
        </p:nvSpPr>
        <p:spPr>
          <a:xfrm>
            <a:off x="17324965" y="4800600"/>
            <a:ext cx="101613" cy="101600"/>
          </a:xfrm>
          <a:prstGeom prst="ellipse">
            <a:avLst/>
          </a:prstGeom>
          <a:solidFill>
            <a:srgbClr val="EFEAFD">
              <a:alpha val="100000"/>
            </a:srgbClr>
          </a:solidFill>
          <a:ln/>
        </p:spPr>
      </p:sp>
      <p:sp>
        <p:nvSpPr>
          <p:cNvPr id="12" name="Shape 10"/>
          <p:cNvSpPr/>
          <p:nvPr/>
        </p:nvSpPr>
        <p:spPr>
          <a:xfrm>
            <a:off x="19052381" y="4800600"/>
            <a:ext cx="101613" cy="101600"/>
          </a:xfrm>
          <a:prstGeom prst="ellipse">
            <a:avLst/>
          </a:prstGeom>
          <a:solidFill>
            <a:srgbClr val="EFEAFD">
              <a:alpha val="100000"/>
            </a:srgbClr>
          </a:solidFill>
          <a:ln/>
        </p:spPr>
      </p:sp>
      <p:sp>
        <p:nvSpPr>
          <p:cNvPr id="13" name="Shape 11"/>
          <p:cNvSpPr/>
          <p:nvPr/>
        </p:nvSpPr>
        <p:spPr>
          <a:xfrm>
            <a:off x="20779797" y="4800600"/>
            <a:ext cx="101613" cy="101600"/>
          </a:xfrm>
          <a:prstGeom prst="ellipse">
            <a:avLst/>
          </a:prstGeom>
          <a:solidFill>
            <a:srgbClr val="EFEAFD">
              <a:alpha val="100000"/>
            </a:srgbClr>
          </a:solidFill>
          <a:ln/>
        </p:spPr>
      </p:sp>
      <p:sp>
        <p:nvSpPr>
          <p:cNvPr id="14" name="Shape 12"/>
          <p:cNvSpPr/>
          <p:nvPr/>
        </p:nvSpPr>
        <p:spPr>
          <a:xfrm>
            <a:off x="22507213" y="4800600"/>
            <a:ext cx="101613" cy="101600"/>
          </a:xfrm>
          <a:prstGeom prst="ellipse">
            <a:avLst/>
          </a:prstGeom>
          <a:solidFill>
            <a:srgbClr val="EFEAFD">
              <a:alpha val="100000"/>
            </a:srgbClr>
          </a:solidFill>
          <a:ln/>
        </p:spPr>
      </p:sp>
      <p:sp>
        <p:nvSpPr>
          <p:cNvPr id="15" name="Shape 13"/>
          <p:cNvSpPr/>
          <p:nvPr/>
        </p:nvSpPr>
        <p:spPr>
          <a:xfrm>
            <a:off x="1778222" y="6807200"/>
            <a:ext cx="101613" cy="101600"/>
          </a:xfrm>
          <a:prstGeom prst="ellipse">
            <a:avLst/>
          </a:prstGeom>
          <a:solidFill>
            <a:srgbClr val="EFEAFD">
              <a:alpha val="100000"/>
            </a:srgbClr>
          </a:solidFill>
          <a:ln/>
        </p:spPr>
      </p:sp>
      <p:sp>
        <p:nvSpPr>
          <p:cNvPr id="16" name="Shape 14"/>
          <p:cNvSpPr/>
          <p:nvPr/>
        </p:nvSpPr>
        <p:spPr>
          <a:xfrm>
            <a:off x="3505638" y="6807200"/>
            <a:ext cx="101613" cy="101600"/>
          </a:xfrm>
          <a:prstGeom prst="ellipse">
            <a:avLst/>
          </a:prstGeom>
          <a:solidFill>
            <a:srgbClr val="EFEAFD">
              <a:alpha val="100000"/>
            </a:srgbClr>
          </a:solidFill>
          <a:ln/>
        </p:spPr>
      </p:sp>
      <p:sp>
        <p:nvSpPr>
          <p:cNvPr id="17" name="Shape 15"/>
          <p:cNvSpPr/>
          <p:nvPr/>
        </p:nvSpPr>
        <p:spPr>
          <a:xfrm>
            <a:off x="5233054" y="6807200"/>
            <a:ext cx="101613" cy="101600"/>
          </a:xfrm>
          <a:prstGeom prst="ellipse">
            <a:avLst/>
          </a:prstGeom>
          <a:solidFill>
            <a:srgbClr val="EFEAFD">
              <a:alpha val="100000"/>
            </a:srgbClr>
          </a:solidFill>
          <a:ln/>
        </p:spPr>
      </p:sp>
      <p:sp>
        <p:nvSpPr>
          <p:cNvPr id="18" name="Shape 16"/>
          <p:cNvSpPr/>
          <p:nvPr/>
        </p:nvSpPr>
        <p:spPr>
          <a:xfrm>
            <a:off x="6960470" y="6807200"/>
            <a:ext cx="101613" cy="101600"/>
          </a:xfrm>
          <a:prstGeom prst="ellipse">
            <a:avLst/>
          </a:prstGeom>
          <a:solidFill>
            <a:srgbClr val="EFEAFD">
              <a:alpha val="100000"/>
            </a:srgbClr>
          </a:solidFill>
          <a:ln/>
        </p:spPr>
      </p:sp>
      <p:sp>
        <p:nvSpPr>
          <p:cNvPr id="19" name="Shape 17"/>
          <p:cNvSpPr/>
          <p:nvPr/>
        </p:nvSpPr>
        <p:spPr>
          <a:xfrm>
            <a:off x="8687886" y="6807200"/>
            <a:ext cx="101613" cy="101600"/>
          </a:xfrm>
          <a:prstGeom prst="ellipse">
            <a:avLst/>
          </a:prstGeom>
          <a:solidFill>
            <a:srgbClr val="EFEAFD">
              <a:alpha val="100000"/>
            </a:srgbClr>
          </a:solidFill>
          <a:ln/>
        </p:spPr>
      </p:sp>
      <p:sp>
        <p:nvSpPr>
          <p:cNvPr id="20" name="Shape 18"/>
          <p:cNvSpPr/>
          <p:nvPr/>
        </p:nvSpPr>
        <p:spPr>
          <a:xfrm>
            <a:off x="10415302" y="6807200"/>
            <a:ext cx="101613" cy="101600"/>
          </a:xfrm>
          <a:prstGeom prst="ellipse">
            <a:avLst/>
          </a:prstGeom>
          <a:solidFill>
            <a:srgbClr val="EFEAFD">
              <a:alpha val="100000"/>
            </a:srgbClr>
          </a:solidFill>
          <a:ln/>
        </p:spPr>
      </p:sp>
      <p:sp>
        <p:nvSpPr>
          <p:cNvPr id="21" name="Shape 19"/>
          <p:cNvSpPr/>
          <p:nvPr/>
        </p:nvSpPr>
        <p:spPr>
          <a:xfrm>
            <a:off x="12142718" y="6807200"/>
            <a:ext cx="101613" cy="101600"/>
          </a:xfrm>
          <a:prstGeom prst="ellipse">
            <a:avLst/>
          </a:prstGeom>
          <a:solidFill>
            <a:srgbClr val="EFEAFD">
              <a:alpha val="100000"/>
            </a:srgbClr>
          </a:solidFill>
          <a:ln/>
        </p:spPr>
      </p:sp>
      <p:sp>
        <p:nvSpPr>
          <p:cNvPr id="22" name="Shape 20"/>
          <p:cNvSpPr/>
          <p:nvPr/>
        </p:nvSpPr>
        <p:spPr>
          <a:xfrm>
            <a:off x="13870134" y="6807200"/>
            <a:ext cx="101613" cy="101600"/>
          </a:xfrm>
          <a:prstGeom prst="ellipse">
            <a:avLst/>
          </a:prstGeom>
          <a:solidFill>
            <a:srgbClr val="EFEAFD">
              <a:alpha val="100000"/>
            </a:srgbClr>
          </a:solidFill>
          <a:ln/>
        </p:spPr>
      </p:sp>
      <p:sp>
        <p:nvSpPr>
          <p:cNvPr id="23" name="Shape 21"/>
          <p:cNvSpPr/>
          <p:nvPr/>
        </p:nvSpPr>
        <p:spPr>
          <a:xfrm>
            <a:off x="15597549" y="6807200"/>
            <a:ext cx="101613" cy="101600"/>
          </a:xfrm>
          <a:prstGeom prst="ellipse">
            <a:avLst/>
          </a:prstGeom>
          <a:solidFill>
            <a:srgbClr val="EFEAFD">
              <a:alpha val="100000"/>
            </a:srgbClr>
          </a:solidFill>
          <a:ln/>
        </p:spPr>
      </p:sp>
      <p:sp>
        <p:nvSpPr>
          <p:cNvPr id="24" name="Shape 22"/>
          <p:cNvSpPr/>
          <p:nvPr/>
        </p:nvSpPr>
        <p:spPr>
          <a:xfrm>
            <a:off x="17324965" y="6807200"/>
            <a:ext cx="101613" cy="101600"/>
          </a:xfrm>
          <a:prstGeom prst="ellipse">
            <a:avLst/>
          </a:prstGeom>
          <a:solidFill>
            <a:srgbClr val="EFEAFD">
              <a:alpha val="100000"/>
            </a:srgbClr>
          </a:solidFill>
          <a:ln/>
        </p:spPr>
      </p:sp>
      <p:sp>
        <p:nvSpPr>
          <p:cNvPr id="25" name="Shape 23"/>
          <p:cNvSpPr/>
          <p:nvPr/>
        </p:nvSpPr>
        <p:spPr>
          <a:xfrm>
            <a:off x="19052381" y="6807200"/>
            <a:ext cx="101613" cy="101600"/>
          </a:xfrm>
          <a:prstGeom prst="ellipse">
            <a:avLst/>
          </a:prstGeom>
          <a:solidFill>
            <a:srgbClr val="EFEAFD">
              <a:alpha val="100000"/>
            </a:srgbClr>
          </a:solidFill>
          <a:ln/>
        </p:spPr>
      </p:sp>
      <p:sp>
        <p:nvSpPr>
          <p:cNvPr id="26" name="Shape 24"/>
          <p:cNvSpPr/>
          <p:nvPr/>
        </p:nvSpPr>
        <p:spPr>
          <a:xfrm>
            <a:off x="20779797" y="6807200"/>
            <a:ext cx="101613" cy="101600"/>
          </a:xfrm>
          <a:prstGeom prst="ellipse">
            <a:avLst/>
          </a:prstGeom>
          <a:solidFill>
            <a:srgbClr val="EFEAFD">
              <a:alpha val="100000"/>
            </a:srgbClr>
          </a:solidFill>
          <a:ln/>
        </p:spPr>
      </p:sp>
      <p:sp>
        <p:nvSpPr>
          <p:cNvPr id="27" name="Shape 25"/>
          <p:cNvSpPr/>
          <p:nvPr/>
        </p:nvSpPr>
        <p:spPr>
          <a:xfrm>
            <a:off x="22507213" y="6807200"/>
            <a:ext cx="101613" cy="101600"/>
          </a:xfrm>
          <a:prstGeom prst="ellipse">
            <a:avLst/>
          </a:prstGeom>
          <a:solidFill>
            <a:srgbClr val="EFEAFD">
              <a:alpha val="100000"/>
            </a:srgbClr>
          </a:solidFill>
          <a:ln/>
        </p:spPr>
      </p:sp>
      <p:sp>
        <p:nvSpPr>
          <p:cNvPr id="28" name="Shape 26"/>
          <p:cNvSpPr/>
          <p:nvPr/>
        </p:nvSpPr>
        <p:spPr>
          <a:xfrm>
            <a:off x="1778222" y="8813800"/>
            <a:ext cx="101613" cy="101600"/>
          </a:xfrm>
          <a:prstGeom prst="ellipse">
            <a:avLst/>
          </a:prstGeom>
          <a:solidFill>
            <a:srgbClr val="EFEAFD">
              <a:alpha val="100000"/>
            </a:srgbClr>
          </a:solidFill>
          <a:ln/>
        </p:spPr>
      </p:sp>
      <p:sp>
        <p:nvSpPr>
          <p:cNvPr id="29" name="Shape 27"/>
          <p:cNvSpPr/>
          <p:nvPr/>
        </p:nvSpPr>
        <p:spPr>
          <a:xfrm>
            <a:off x="3505638" y="8813800"/>
            <a:ext cx="101613" cy="101600"/>
          </a:xfrm>
          <a:prstGeom prst="ellipse">
            <a:avLst/>
          </a:prstGeom>
          <a:solidFill>
            <a:srgbClr val="EFEAFD">
              <a:alpha val="100000"/>
            </a:srgbClr>
          </a:solidFill>
          <a:ln/>
        </p:spPr>
      </p:sp>
      <p:sp>
        <p:nvSpPr>
          <p:cNvPr id="30" name="Shape 28"/>
          <p:cNvSpPr/>
          <p:nvPr/>
        </p:nvSpPr>
        <p:spPr>
          <a:xfrm>
            <a:off x="5233054" y="8813800"/>
            <a:ext cx="101613" cy="101600"/>
          </a:xfrm>
          <a:prstGeom prst="ellipse">
            <a:avLst/>
          </a:prstGeom>
          <a:solidFill>
            <a:srgbClr val="EFEAFD">
              <a:alpha val="100000"/>
            </a:srgbClr>
          </a:solidFill>
          <a:ln/>
        </p:spPr>
      </p:sp>
      <p:sp>
        <p:nvSpPr>
          <p:cNvPr id="31" name="Shape 29"/>
          <p:cNvSpPr/>
          <p:nvPr/>
        </p:nvSpPr>
        <p:spPr>
          <a:xfrm>
            <a:off x="6960470" y="8813800"/>
            <a:ext cx="101613" cy="101600"/>
          </a:xfrm>
          <a:prstGeom prst="ellipse">
            <a:avLst/>
          </a:prstGeom>
          <a:solidFill>
            <a:srgbClr val="EFEAFD">
              <a:alpha val="100000"/>
            </a:srgbClr>
          </a:solidFill>
          <a:ln/>
        </p:spPr>
      </p:sp>
      <p:sp>
        <p:nvSpPr>
          <p:cNvPr id="32" name="Shape 30"/>
          <p:cNvSpPr/>
          <p:nvPr/>
        </p:nvSpPr>
        <p:spPr>
          <a:xfrm>
            <a:off x="8687886" y="8813800"/>
            <a:ext cx="101613" cy="101600"/>
          </a:xfrm>
          <a:prstGeom prst="ellipse">
            <a:avLst/>
          </a:prstGeom>
          <a:solidFill>
            <a:srgbClr val="EFEAFD">
              <a:alpha val="100000"/>
            </a:srgbClr>
          </a:solidFill>
          <a:ln/>
        </p:spPr>
      </p:sp>
      <p:sp>
        <p:nvSpPr>
          <p:cNvPr id="33" name="Shape 31"/>
          <p:cNvSpPr/>
          <p:nvPr/>
        </p:nvSpPr>
        <p:spPr>
          <a:xfrm>
            <a:off x="10415302" y="8813800"/>
            <a:ext cx="101613" cy="101600"/>
          </a:xfrm>
          <a:prstGeom prst="ellipse">
            <a:avLst/>
          </a:prstGeom>
          <a:solidFill>
            <a:srgbClr val="EFEAFD">
              <a:alpha val="100000"/>
            </a:srgbClr>
          </a:solidFill>
          <a:ln/>
        </p:spPr>
      </p:sp>
      <p:sp>
        <p:nvSpPr>
          <p:cNvPr id="34" name="Shape 32"/>
          <p:cNvSpPr/>
          <p:nvPr/>
        </p:nvSpPr>
        <p:spPr>
          <a:xfrm>
            <a:off x="12142718" y="8813800"/>
            <a:ext cx="101613" cy="101600"/>
          </a:xfrm>
          <a:prstGeom prst="ellipse">
            <a:avLst/>
          </a:prstGeom>
          <a:solidFill>
            <a:srgbClr val="EFEAFD">
              <a:alpha val="100000"/>
            </a:srgbClr>
          </a:solidFill>
          <a:ln/>
        </p:spPr>
      </p:sp>
      <p:sp>
        <p:nvSpPr>
          <p:cNvPr id="35" name="Shape 33"/>
          <p:cNvSpPr/>
          <p:nvPr/>
        </p:nvSpPr>
        <p:spPr>
          <a:xfrm>
            <a:off x="13870134" y="8813800"/>
            <a:ext cx="101613" cy="101600"/>
          </a:xfrm>
          <a:prstGeom prst="ellipse">
            <a:avLst/>
          </a:prstGeom>
          <a:solidFill>
            <a:srgbClr val="EFEAFD">
              <a:alpha val="100000"/>
            </a:srgbClr>
          </a:solidFill>
          <a:ln/>
        </p:spPr>
      </p:sp>
      <p:sp>
        <p:nvSpPr>
          <p:cNvPr id="36" name="Shape 34"/>
          <p:cNvSpPr/>
          <p:nvPr/>
        </p:nvSpPr>
        <p:spPr>
          <a:xfrm>
            <a:off x="15597549" y="8813800"/>
            <a:ext cx="101613" cy="101600"/>
          </a:xfrm>
          <a:prstGeom prst="ellipse">
            <a:avLst/>
          </a:prstGeom>
          <a:solidFill>
            <a:srgbClr val="EFEAFD">
              <a:alpha val="100000"/>
            </a:srgbClr>
          </a:solidFill>
          <a:ln/>
        </p:spPr>
      </p:sp>
      <p:sp>
        <p:nvSpPr>
          <p:cNvPr id="37" name="Shape 35"/>
          <p:cNvSpPr/>
          <p:nvPr/>
        </p:nvSpPr>
        <p:spPr>
          <a:xfrm>
            <a:off x="17324965" y="8813800"/>
            <a:ext cx="101613" cy="101600"/>
          </a:xfrm>
          <a:prstGeom prst="ellipse">
            <a:avLst/>
          </a:prstGeom>
          <a:solidFill>
            <a:srgbClr val="EFEAFD">
              <a:alpha val="100000"/>
            </a:srgbClr>
          </a:solidFill>
          <a:ln/>
        </p:spPr>
      </p:sp>
      <p:sp>
        <p:nvSpPr>
          <p:cNvPr id="38" name="Shape 36"/>
          <p:cNvSpPr/>
          <p:nvPr/>
        </p:nvSpPr>
        <p:spPr>
          <a:xfrm>
            <a:off x="19052381" y="8813800"/>
            <a:ext cx="101613" cy="101600"/>
          </a:xfrm>
          <a:prstGeom prst="ellipse">
            <a:avLst/>
          </a:prstGeom>
          <a:solidFill>
            <a:srgbClr val="EFEAFD">
              <a:alpha val="100000"/>
            </a:srgbClr>
          </a:solidFill>
          <a:ln/>
        </p:spPr>
      </p:sp>
      <p:sp>
        <p:nvSpPr>
          <p:cNvPr id="39" name="Shape 37"/>
          <p:cNvSpPr/>
          <p:nvPr/>
        </p:nvSpPr>
        <p:spPr>
          <a:xfrm>
            <a:off x="20779797" y="8813800"/>
            <a:ext cx="101613" cy="101600"/>
          </a:xfrm>
          <a:prstGeom prst="ellipse">
            <a:avLst/>
          </a:prstGeom>
          <a:solidFill>
            <a:srgbClr val="EFEAFD">
              <a:alpha val="100000"/>
            </a:srgbClr>
          </a:solidFill>
          <a:ln/>
        </p:spPr>
      </p:sp>
      <p:sp>
        <p:nvSpPr>
          <p:cNvPr id="40" name="Shape 38"/>
          <p:cNvSpPr/>
          <p:nvPr/>
        </p:nvSpPr>
        <p:spPr>
          <a:xfrm>
            <a:off x="22507213" y="8813800"/>
            <a:ext cx="101613" cy="101600"/>
          </a:xfrm>
          <a:prstGeom prst="ellipse">
            <a:avLst/>
          </a:prstGeom>
          <a:solidFill>
            <a:srgbClr val="EFEAFD">
              <a:alpha val="100000"/>
            </a:srgbClr>
          </a:solidFill>
          <a:ln/>
        </p:spPr>
      </p:sp>
      <p:sp>
        <p:nvSpPr>
          <p:cNvPr id="41" name="Shape 39"/>
          <p:cNvSpPr/>
          <p:nvPr/>
        </p:nvSpPr>
        <p:spPr>
          <a:xfrm>
            <a:off x="1778222" y="10820400"/>
            <a:ext cx="101613" cy="101600"/>
          </a:xfrm>
          <a:prstGeom prst="ellipse">
            <a:avLst/>
          </a:prstGeom>
          <a:solidFill>
            <a:srgbClr val="EFEAFD">
              <a:alpha val="100000"/>
            </a:srgbClr>
          </a:solidFill>
          <a:ln/>
        </p:spPr>
      </p:sp>
      <p:sp>
        <p:nvSpPr>
          <p:cNvPr id="42" name="Shape 40"/>
          <p:cNvSpPr/>
          <p:nvPr/>
        </p:nvSpPr>
        <p:spPr>
          <a:xfrm>
            <a:off x="3505638" y="10820400"/>
            <a:ext cx="101613" cy="101600"/>
          </a:xfrm>
          <a:prstGeom prst="ellipse">
            <a:avLst/>
          </a:prstGeom>
          <a:solidFill>
            <a:srgbClr val="EFEAFD">
              <a:alpha val="100000"/>
            </a:srgbClr>
          </a:solidFill>
          <a:ln/>
        </p:spPr>
      </p:sp>
      <p:sp>
        <p:nvSpPr>
          <p:cNvPr id="43" name="Shape 41"/>
          <p:cNvSpPr/>
          <p:nvPr/>
        </p:nvSpPr>
        <p:spPr>
          <a:xfrm>
            <a:off x="5233054" y="10820400"/>
            <a:ext cx="101613" cy="101600"/>
          </a:xfrm>
          <a:prstGeom prst="ellipse">
            <a:avLst/>
          </a:prstGeom>
          <a:solidFill>
            <a:srgbClr val="EFEAFD">
              <a:alpha val="100000"/>
            </a:srgbClr>
          </a:solidFill>
          <a:ln/>
        </p:spPr>
      </p:sp>
      <p:sp>
        <p:nvSpPr>
          <p:cNvPr id="44" name="Shape 42"/>
          <p:cNvSpPr/>
          <p:nvPr/>
        </p:nvSpPr>
        <p:spPr>
          <a:xfrm>
            <a:off x="6960470" y="10820400"/>
            <a:ext cx="101613" cy="101600"/>
          </a:xfrm>
          <a:prstGeom prst="ellipse">
            <a:avLst/>
          </a:prstGeom>
          <a:solidFill>
            <a:srgbClr val="EFEAFD">
              <a:alpha val="100000"/>
            </a:srgbClr>
          </a:solidFill>
          <a:ln/>
        </p:spPr>
      </p:sp>
      <p:sp>
        <p:nvSpPr>
          <p:cNvPr id="45" name="Shape 43"/>
          <p:cNvSpPr/>
          <p:nvPr/>
        </p:nvSpPr>
        <p:spPr>
          <a:xfrm>
            <a:off x="8687886" y="10820400"/>
            <a:ext cx="101613" cy="101600"/>
          </a:xfrm>
          <a:prstGeom prst="ellipse">
            <a:avLst/>
          </a:prstGeom>
          <a:solidFill>
            <a:srgbClr val="EFEAFD">
              <a:alpha val="100000"/>
            </a:srgbClr>
          </a:solidFill>
          <a:ln/>
        </p:spPr>
      </p:sp>
      <p:sp>
        <p:nvSpPr>
          <p:cNvPr id="46" name="Shape 44"/>
          <p:cNvSpPr/>
          <p:nvPr/>
        </p:nvSpPr>
        <p:spPr>
          <a:xfrm>
            <a:off x="10415302" y="10820400"/>
            <a:ext cx="101613" cy="101600"/>
          </a:xfrm>
          <a:prstGeom prst="ellipse">
            <a:avLst/>
          </a:prstGeom>
          <a:solidFill>
            <a:srgbClr val="EFEAFD">
              <a:alpha val="100000"/>
            </a:srgbClr>
          </a:solidFill>
          <a:ln/>
        </p:spPr>
      </p:sp>
      <p:sp>
        <p:nvSpPr>
          <p:cNvPr id="47" name="Shape 45"/>
          <p:cNvSpPr/>
          <p:nvPr/>
        </p:nvSpPr>
        <p:spPr>
          <a:xfrm>
            <a:off x="12142718" y="10820400"/>
            <a:ext cx="101613" cy="101600"/>
          </a:xfrm>
          <a:prstGeom prst="ellipse">
            <a:avLst/>
          </a:prstGeom>
          <a:solidFill>
            <a:srgbClr val="EFEAFD">
              <a:alpha val="100000"/>
            </a:srgbClr>
          </a:solidFill>
          <a:ln/>
        </p:spPr>
      </p:sp>
      <p:sp>
        <p:nvSpPr>
          <p:cNvPr id="48" name="Shape 46"/>
          <p:cNvSpPr/>
          <p:nvPr/>
        </p:nvSpPr>
        <p:spPr>
          <a:xfrm>
            <a:off x="13870134" y="10820400"/>
            <a:ext cx="101613" cy="101600"/>
          </a:xfrm>
          <a:prstGeom prst="ellipse">
            <a:avLst/>
          </a:prstGeom>
          <a:solidFill>
            <a:srgbClr val="EFEAFD">
              <a:alpha val="100000"/>
            </a:srgbClr>
          </a:solidFill>
          <a:ln/>
        </p:spPr>
      </p:sp>
      <p:sp>
        <p:nvSpPr>
          <p:cNvPr id="49" name="Shape 47"/>
          <p:cNvSpPr/>
          <p:nvPr/>
        </p:nvSpPr>
        <p:spPr>
          <a:xfrm>
            <a:off x="15597549" y="10820400"/>
            <a:ext cx="101613" cy="101600"/>
          </a:xfrm>
          <a:prstGeom prst="ellipse">
            <a:avLst/>
          </a:prstGeom>
          <a:solidFill>
            <a:srgbClr val="EFEAFD">
              <a:alpha val="100000"/>
            </a:srgbClr>
          </a:solidFill>
          <a:ln/>
        </p:spPr>
      </p:sp>
      <p:sp>
        <p:nvSpPr>
          <p:cNvPr id="50" name="Shape 48"/>
          <p:cNvSpPr/>
          <p:nvPr/>
        </p:nvSpPr>
        <p:spPr>
          <a:xfrm>
            <a:off x="17324965" y="10820400"/>
            <a:ext cx="101613" cy="101600"/>
          </a:xfrm>
          <a:prstGeom prst="ellipse">
            <a:avLst/>
          </a:prstGeom>
          <a:solidFill>
            <a:srgbClr val="EFEAFD">
              <a:alpha val="100000"/>
            </a:srgbClr>
          </a:solidFill>
          <a:ln/>
        </p:spPr>
      </p:sp>
      <p:sp>
        <p:nvSpPr>
          <p:cNvPr id="51" name="Shape 49"/>
          <p:cNvSpPr/>
          <p:nvPr/>
        </p:nvSpPr>
        <p:spPr>
          <a:xfrm>
            <a:off x="19052381" y="10820400"/>
            <a:ext cx="101613" cy="101600"/>
          </a:xfrm>
          <a:prstGeom prst="ellipse">
            <a:avLst/>
          </a:prstGeom>
          <a:solidFill>
            <a:srgbClr val="EFEAFD">
              <a:alpha val="100000"/>
            </a:srgbClr>
          </a:solidFill>
          <a:ln/>
        </p:spPr>
      </p:sp>
      <p:sp>
        <p:nvSpPr>
          <p:cNvPr id="52" name="Shape 50"/>
          <p:cNvSpPr/>
          <p:nvPr/>
        </p:nvSpPr>
        <p:spPr>
          <a:xfrm>
            <a:off x="20779797" y="10820400"/>
            <a:ext cx="101613" cy="101600"/>
          </a:xfrm>
          <a:prstGeom prst="ellipse">
            <a:avLst/>
          </a:prstGeom>
          <a:solidFill>
            <a:srgbClr val="EFEAFD">
              <a:alpha val="100000"/>
            </a:srgbClr>
          </a:solidFill>
          <a:ln/>
        </p:spPr>
      </p:sp>
      <p:sp>
        <p:nvSpPr>
          <p:cNvPr id="53" name="Shape 51"/>
          <p:cNvSpPr/>
          <p:nvPr/>
        </p:nvSpPr>
        <p:spPr>
          <a:xfrm>
            <a:off x="22507213" y="10820400"/>
            <a:ext cx="101613" cy="101600"/>
          </a:xfrm>
          <a:prstGeom prst="ellipse">
            <a:avLst/>
          </a:prstGeom>
          <a:solidFill>
            <a:srgbClr val="EFEAFD">
              <a:alpha val="100000"/>
            </a:srgbClr>
          </a:solidFill>
          <a:ln/>
        </p:spPr>
      </p:sp>
      <p:sp>
        <p:nvSpPr>
          <p:cNvPr id="54" name="Shape 52"/>
          <p:cNvSpPr/>
          <p:nvPr/>
        </p:nvSpPr>
        <p:spPr>
          <a:xfrm>
            <a:off x="1778222" y="12827000"/>
            <a:ext cx="101613" cy="101600"/>
          </a:xfrm>
          <a:prstGeom prst="ellipse">
            <a:avLst/>
          </a:prstGeom>
          <a:solidFill>
            <a:srgbClr val="EFEAFD">
              <a:alpha val="100000"/>
            </a:srgbClr>
          </a:solidFill>
          <a:ln/>
        </p:spPr>
      </p:sp>
      <p:sp>
        <p:nvSpPr>
          <p:cNvPr id="55" name="Shape 53"/>
          <p:cNvSpPr/>
          <p:nvPr/>
        </p:nvSpPr>
        <p:spPr>
          <a:xfrm>
            <a:off x="3505638" y="12827000"/>
            <a:ext cx="101613" cy="101600"/>
          </a:xfrm>
          <a:prstGeom prst="ellipse">
            <a:avLst/>
          </a:prstGeom>
          <a:solidFill>
            <a:srgbClr val="EFEAFD">
              <a:alpha val="100000"/>
            </a:srgbClr>
          </a:solidFill>
          <a:ln/>
        </p:spPr>
      </p:sp>
      <p:sp>
        <p:nvSpPr>
          <p:cNvPr id="56" name="Shape 54"/>
          <p:cNvSpPr/>
          <p:nvPr/>
        </p:nvSpPr>
        <p:spPr>
          <a:xfrm>
            <a:off x="5233054" y="12827000"/>
            <a:ext cx="101613" cy="101600"/>
          </a:xfrm>
          <a:prstGeom prst="ellipse">
            <a:avLst/>
          </a:prstGeom>
          <a:solidFill>
            <a:srgbClr val="EFEAFD">
              <a:alpha val="100000"/>
            </a:srgbClr>
          </a:solidFill>
          <a:ln/>
        </p:spPr>
      </p:sp>
      <p:sp>
        <p:nvSpPr>
          <p:cNvPr id="57" name="Shape 55"/>
          <p:cNvSpPr/>
          <p:nvPr/>
        </p:nvSpPr>
        <p:spPr>
          <a:xfrm>
            <a:off x="6960470" y="12827000"/>
            <a:ext cx="101613" cy="101600"/>
          </a:xfrm>
          <a:prstGeom prst="ellipse">
            <a:avLst/>
          </a:prstGeom>
          <a:solidFill>
            <a:srgbClr val="EFEAFD">
              <a:alpha val="100000"/>
            </a:srgbClr>
          </a:solidFill>
          <a:ln/>
        </p:spPr>
      </p:sp>
      <p:sp>
        <p:nvSpPr>
          <p:cNvPr id="58" name="Shape 56"/>
          <p:cNvSpPr/>
          <p:nvPr/>
        </p:nvSpPr>
        <p:spPr>
          <a:xfrm>
            <a:off x="8687886" y="12827000"/>
            <a:ext cx="101613" cy="101600"/>
          </a:xfrm>
          <a:prstGeom prst="ellipse">
            <a:avLst/>
          </a:prstGeom>
          <a:solidFill>
            <a:srgbClr val="EFEAFD">
              <a:alpha val="100000"/>
            </a:srgbClr>
          </a:solidFill>
          <a:ln/>
        </p:spPr>
      </p:sp>
      <p:sp>
        <p:nvSpPr>
          <p:cNvPr id="59" name="Shape 57"/>
          <p:cNvSpPr/>
          <p:nvPr/>
        </p:nvSpPr>
        <p:spPr>
          <a:xfrm>
            <a:off x="10415302" y="12827000"/>
            <a:ext cx="101613" cy="101600"/>
          </a:xfrm>
          <a:prstGeom prst="ellipse">
            <a:avLst/>
          </a:prstGeom>
          <a:solidFill>
            <a:srgbClr val="EFEAFD">
              <a:alpha val="100000"/>
            </a:srgbClr>
          </a:solidFill>
          <a:ln/>
        </p:spPr>
      </p:sp>
      <p:sp>
        <p:nvSpPr>
          <p:cNvPr id="60" name="Shape 58"/>
          <p:cNvSpPr/>
          <p:nvPr/>
        </p:nvSpPr>
        <p:spPr>
          <a:xfrm>
            <a:off x="12142718" y="12827000"/>
            <a:ext cx="101613" cy="101600"/>
          </a:xfrm>
          <a:prstGeom prst="ellipse">
            <a:avLst/>
          </a:prstGeom>
          <a:solidFill>
            <a:srgbClr val="EFEAFD">
              <a:alpha val="100000"/>
            </a:srgbClr>
          </a:solidFill>
          <a:ln/>
        </p:spPr>
      </p:sp>
      <p:sp>
        <p:nvSpPr>
          <p:cNvPr id="61" name="Shape 59"/>
          <p:cNvSpPr/>
          <p:nvPr/>
        </p:nvSpPr>
        <p:spPr>
          <a:xfrm>
            <a:off x="13870134" y="12827000"/>
            <a:ext cx="101613" cy="101600"/>
          </a:xfrm>
          <a:prstGeom prst="ellipse">
            <a:avLst/>
          </a:prstGeom>
          <a:solidFill>
            <a:srgbClr val="EFEAFD">
              <a:alpha val="100000"/>
            </a:srgbClr>
          </a:solidFill>
          <a:ln/>
        </p:spPr>
      </p:sp>
      <p:sp>
        <p:nvSpPr>
          <p:cNvPr id="62" name="Shape 60"/>
          <p:cNvSpPr/>
          <p:nvPr/>
        </p:nvSpPr>
        <p:spPr>
          <a:xfrm>
            <a:off x="15597549" y="12827000"/>
            <a:ext cx="101613" cy="101600"/>
          </a:xfrm>
          <a:prstGeom prst="ellipse">
            <a:avLst/>
          </a:prstGeom>
          <a:solidFill>
            <a:srgbClr val="EFEAFD">
              <a:alpha val="100000"/>
            </a:srgbClr>
          </a:solidFill>
          <a:ln/>
        </p:spPr>
      </p:sp>
      <p:sp>
        <p:nvSpPr>
          <p:cNvPr id="63" name="Shape 61"/>
          <p:cNvSpPr/>
          <p:nvPr/>
        </p:nvSpPr>
        <p:spPr>
          <a:xfrm>
            <a:off x="17324965" y="12827000"/>
            <a:ext cx="101613" cy="101600"/>
          </a:xfrm>
          <a:prstGeom prst="ellipse">
            <a:avLst/>
          </a:prstGeom>
          <a:solidFill>
            <a:srgbClr val="EFEAFD">
              <a:alpha val="100000"/>
            </a:srgbClr>
          </a:solidFill>
          <a:ln/>
        </p:spPr>
      </p:sp>
      <p:sp>
        <p:nvSpPr>
          <p:cNvPr id="64" name="Shape 62"/>
          <p:cNvSpPr/>
          <p:nvPr/>
        </p:nvSpPr>
        <p:spPr>
          <a:xfrm>
            <a:off x="19052381" y="12827000"/>
            <a:ext cx="101613" cy="101600"/>
          </a:xfrm>
          <a:prstGeom prst="ellipse">
            <a:avLst/>
          </a:prstGeom>
          <a:solidFill>
            <a:srgbClr val="EFEAFD">
              <a:alpha val="100000"/>
            </a:srgbClr>
          </a:solidFill>
          <a:ln/>
        </p:spPr>
      </p:sp>
      <p:sp>
        <p:nvSpPr>
          <p:cNvPr id="65" name="Shape 63"/>
          <p:cNvSpPr/>
          <p:nvPr/>
        </p:nvSpPr>
        <p:spPr>
          <a:xfrm>
            <a:off x="20779797" y="12827000"/>
            <a:ext cx="101613" cy="101600"/>
          </a:xfrm>
          <a:prstGeom prst="ellipse">
            <a:avLst/>
          </a:prstGeom>
          <a:solidFill>
            <a:srgbClr val="EFEAFD">
              <a:alpha val="100000"/>
            </a:srgbClr>
          </a:solidFill>
          <a:ln/>
        </p:spPr>
      </p:sp>
      <p:sp>
        <p:nvSpPr>
          <p:cNvPr id="66" name="Shape 64"/>
          <p:cNvSpPr/>
          <p:nvPr/>
        </p:nvSpPr>
        <p:spPr>
          <a:xfrm>
            <a:off x="22507213" y="12827000"/>
            <a:ext cx="101613" cy="101600"/>
          </a:xfrm>
          <a:prstGeom prst="ellipse">
            <a:avLst/>
          </a:prstGeom>
          <a:solidFill>
            <a:srgbClr val="EFEAFD">
              <a:alpha val="100000"/>
            </a:srgbClr>
          </a:solidFill>
          <a:ln/>
        </p:spPr>
      </p:sp>
      <p:sp>
        <p:nvSpPr>
          <p:cNvPr id="67" name="Text 65"/>
          <p:cNvSpPr/>
          <p:nvPr/>
        </p:nvSpPr>
        <p:spPr>
          <a:xfrm>
            <a:off x="1524191" y="1524000"/>
            <a:ext cx="6998575"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Project  Management KPIs</a:t>
            </a:r>
            <a:endParaRPr lang="en-US" sz="6000" dirty="0"/>
          </a:p>
        </p:txBody>
      </p:sp>
      <p:sp>
        <p:nvSpPr>
          <p:cNvPr id="68" name="Text 66"/>
          <p:cNvSpPr/>
          <p:nvPr/>
        </p:nvSpPr>
        <p:spPr>
          <a:xfrm>
            <a:off x="15038680" y="2438400"/>
            <a:ext cx="7904621"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Monitor active projects by tracking delivery timelines, risk status, and overall velocity. Quickly spot delays or at-risk initiatives to take corrective action early.</a:t>
            </a:r>
            <a:endParaRPr lang="en-US" sz="1600" dirty="0"/>
          </a:p>
        </p:txBody>
      </p:sp>
      <p:sp>
        <p:nvSpPr>
          <p:cNvPr id="69" name="Shape 67"/>
          <p:cNvSpPr/>
          <p:nvPr/>
        </p:nvSpPr>
        <p:spPr>
          <a:xfrm>
            <a:off x="1473384" y="6172200"/>
            <a:ext cx="21338667" cy="5080000"/>
          </a:xfrm>
          <a:prstGeom prst="rect">
            <a:avLst/>
          </a:prstGeom>
          <a:noFill/>
          <a:ln/>
        </p:spPr>
      </p:sp>
      <p:pic>
        <p:nvPicPr>
          <p:cNvPr id="70"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3384" y="8712200"/>
            <a:ext cx="5334667" cy="1270000"/>
          </a:xfrm>
          <a:prstGeom prst="rect">
            <a:avLst/>
          </a:prstGeom>
        </p:spPr>
      </p:pic>
      <p:pic>
        <p:nvPicPr>
          <p:cNvPr id="71"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73384" y="9982200"/>
            <a:ext cx="5334667" cy="1270000"/>
          </a:xfrm>
          <a:prstGeom prst="rect">
            <a:avLst/>
          </a:prstGeom>
        </p:spPr>
      </p:pic>
      <p:pic>
        <p:nvPicPr>
          <p:cNvPr id="72" name="Image 2" descr=" "/>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6808051" y="8712200"/>
            <a:ext cx="5334667" cy="1270000"/>
          </a:xfrm>
          <a:prstGeom prst="rect">
            <a:avLst/>
          </a:prstGeom>
        </p:spPr>
      </p:pic>
      <p:pic>
        <p:nvPicPr>
          <p:cNvPr id="73" name="Image 3" descr=" "/>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6808051" y="9982200"/>
            <a:ext cx="5334667" cy="1270000"/>
          </a:xfrm>
          <a:prstGeom prst="rect">
            <a:avLst/>
          </a:prstGeom>
        </p:spPr>
      </p:pic>
      <p:pic>
        <p:nvPicPr>
          <p:cNvPr id="74" name="Image 4" descr=" "/>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12142718" y="8712200"/>
            <a:ext cx="5334667" cy="1270000"/>
          </a:xfrm>
          <a:prstGeom prst="rect">
            <a:avLst/>
          </a:prstGeom>
        </p:spPr>
      </p:pic>
      <p:pic>
        <p:nvPicPr>
          <p:cNvPr id="75" name="Image 5" descr=" "/>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12142718" y="9982200"/>
            <a:ext cx="5334667" cy="1270000"/>
          </a:xfrm>
          <a:prstGeom prst="rect">
            <a:avLst/>
          </a:prstGeom>
        </p:spPr>
      </p:pic>
      <p:pic>
        <p:nvPicPr>
          <p:cNvPr id="76" name="Image 6" descr=" "/>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17477384" y="8712200"/>
            <a:ext cx="5334667" cy="1270000"/>
          </a:xfrm>
          <a:prstGeom prst="rect">
            <a:avLst/>
          </a:prstGeom>
        </p:spPr>
      </p:pic>
      <p:pic>
        <p:nvPicPr>
          <p:cNvPr id="77" name="Image 7"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477384" y="9982200"/>
            <a:ext cx="5334667" cy="1270000"/>
          </a:xfrm>
          <a:prstGeom prst="rect">
            <a:avLst/>
          </a:prstGeom>
        </p:spPr>
      </p:pic>
      <p:pic>
        <p:nvPicPr>
          <p:cNvPr id="78" name="Image 8"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473384" y="6172200"/>
            <a:ext cx="5334667" cy="1270000"/>
          </a:xfrm>
          <a:prstGeom prst="rect">
            <a:avLst/>
          </a:prstGeom>
        </p:spPr>
      </p:pic>
      <p:pic>
        <p:nvPicPr>
          <p:cNvPr id="79" name="Image 9"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808051" y="6172200"/>
            <a:ext cx="5334667" cy="1270000"/>
          </a:xfrm>
          <a:prstGeom prst="rect">
            <a:avLst/>
          </a:prstGeom>
        </p:spPr>
      </p:pic>
      <p:pic>
        <p:nvPicPr>
          <p:cNvPr id="80" name="Image 10"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2142718" y="6172200"/>
            <a:ext cx="5334667" cy="1270000"/>
          </a:xfrm>
          <a:prstGeom prst="rect">
            <a:avLst/>
          </a:prstGeom>
        </p:spPr>
      </p:pic>
      <p:pic>
        <p:nvPicPr>
          <p:cNvPr id="81" name="Image 11"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7477384" y="6172200"/>
            <a:ext cx="5334667" cy="1270000"/>
          </a:xfrm>
          <a:prstGeom prst="rect">
            <a:avLst/>
          </a:prstGeom>
        </p:spPr>
      </p:pic>
      <p:pic>
        <p:nvPicPr>
          <p:cNvPr id="82" name="Image 12" descr=" "/>
          <p:cNvPicPr>
            <a:picLocks noChangeAspect="1"/>
          </p:cNvPicPr>
          <p:nvPr/>
        </p:nvPicPr>
        <p:blipFill>
          <a:blip r:embed="rId3">
            <a:extLst>
              <a:ext uri="{96DAC541-7B7A-43D3-8B79-37D633B846F1}">
                <asvg:svgBlip xmlns:asvg="http://schemas.microsoft.com/office/drawing/2016/SVG/main" r:embed="rId22"/>
              </a:ext>
            </a:extLst>
          </a:blip>
          <a:stretch>
            <a:fillRect/>
          </a:stretch>
        </p:blipFill>
        <p:spPr>
          <a:xfrm>
            <a:off x="1473384" y="7442200"/>
            <a:ext cx="5334667" cy="1270000"/>
          </a:xfrm>
          <a:prstGeom prst="rect">
            <a:avLst/>
          </a:prstGeom>
        </p:spPr>
      </p:pic>
      <p:pic>
        <p:nvPicPr>
          <p:cNvPr id="83" name="Image 13" descr=" "/>
          <p:cNvPicPr>
            <a:picLocks noChangeAspect="1"/>
          </p:cNvPicPr>
          <p:nvPr/>
        </p:nvPicPr>
        <p:blipFill>
          <a:blip r:embed="rId3">
            <a:extLst>
              <a:ext uri="{96DAC541-7B7A-43D3-8B79-37D633B846F1}">
                <asvg:svgBlip xmlns:asvg="http://schemas.microsoft.com/office/drawing/2016/SVG/main" r:embed="rId23"/>
              </a:ext>
            </a:extLst>
          </a:blip>
          <a:stretch>
            <a:fillRect/>
          </a:stretch>
        </p:blipFill>
        <p:spPr>
          <a:xfrm>
            <a:off x="6808051" y="7442200"/>
            <a:ext cx="5334667" cy="1270000"/>
          </a:xfrm>
          <a:prstGeom prst="rect">
            <a:avLst/>
          </a:prstGeom>
        </p:spPr>
      </p:pic>
      <p:pic>
        <p:nvPicPr>
          <p:cNvPr id="84" name="Image 14" descr=" "/>
          <p:cNvPicPr>
            <a:picLocks noChangeAspect="1"/>
          </p:cNvPicPr>
          <p:nvPr/>
        </p:nvPicPr>
        <p:blipFill>
          <a:blip r:embed="rId3">
            <a:extLst>
              <a:ext uri="{96DAC541-7B7A-43D3-8B79-37D633B846F1}">
                <asvg:svgBlip xmlns:asvg="http://schemas.microsoft.com/office/drawing/2016/SVG/main" r:embed="rId24"/>
              </a:ext>
            </a:extLst>
          </a:blip>
          <a:stretch>
            <a:fillRect/>
          </a:stretch>
        </p:blipFill>
        <p:spPr>
          <a:xfrm>
            <a:off x="12142718" y="7442200"/>
            <a:ext cx="5334667" cy="1270000"/>
          </a:xfrm>
          <a:prstGeom prst="rect">
            <a:avLst/>
          </a:prstGeom>
        </p:spPr>
      </p:pic>
      <p:sp>
        <p:nvSpPr>
          <p:cNvPr id="85" name="Shape 68"/>
          <p:cNvSpPr/>
          <p:nvPr/>
        </p:nvSpPr>
        <p:spPr>
          <a:xfrm>
            <a:off x="6808051" y="7696200"/>
            <a:ext cx="10491511" cy="3302000"/>
          </a:xfrm>
          <a:prstGeom prst="rect">
            <a:avLst/>
          </a:prstGeom>
          <a:noFill/>
          <a:ln/>
        </p:spPr>
      </p:sp>
      <p:sp>
        <p:nvSpPr>
          <p:cNvPr id="86" name="Shape 69"/>
          <p:cNvSpPr/>
          <p:nvPr/>
        </p:nvSpPr>
        <p:spPr>
          <a:xfrm>
            <a:off x="6808051" y="7696200"/>
            <a:ext cx="12702" cy="3302000"/>
          </a:xfrm>
          <a:prstGeom prst="rect">
            <a:avLst/>
          </a:prstGeom>
          <a:noFill/>
          <a:ln/>
        </p:spPr>
      </p:sp>
      <p:pic>
        <p:nvPicPr>
          <p:cNvPr id="87" name="Image 15"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801700" y="7689850"/>
            <a:ext cx="12702" cy="774700"/>
          </a:xfrm>
          <a:prstGeom prst="rect">
            <a:avLst/>
          </a:prstGeom>
        </p:spPr>
      </p:pic>
      <p:pic>
        <p:nvPicPr>
          <p:cNvPr id="88" name="Image 16"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801700" y="8959850"/>
            <a:ext cx="12702" cy="774700"/>
          </a:xfrm>
          <a:prstGeom prst="rect">
            <a:avLst/>
          </a:prstGeom>
        </p:spPr>
      </p:pic>
      <p:pic>
        <p:nvPicPr>
          <p:cNvPr id="89" name="Image 17"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801700" y="10229850"/>
            <a:ext cx="12702" cy="774700"/>
          </a:xfrm>
          <a:prstGeom prst="rect">
            <a:avLst/>
          </a:prstGeom>
        </p:spPr>
      </p:pic>
      <p:sp>
        <p:nvSpPr>
          <p:cNvPr id="90" name="Shape 70"/>
          <p:cNvSpPr/>
          <p:nvPr/>
        </p:nvSpPr>
        <p:spPr>
          <a:xfrm>
            <a:off x="12130016" y="7696200"/>
            <a:ext cx="12702" cy="3302000"/>
          </a:xfrm>
          <a:prstGeom prst="rect">
            <a:avLst/>
          </a:prstGeom>
          <a:noFill/>
          <a:ln/>
        </p:spPr>
      </p:sp>
      <p:pic>
        <p:nvPicPr>
          <p:cNvPr id="91" name="Image 18"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2123665" y="7689850"/>
            <a:ext cx="12702" cy="774700"/>
          </a:xfrm>
          <a:prstGeom prst="rect">
            <a:avLst/>
          </a:prstGeom>
        </p:spPr>
      </p:pic>
      <p:pic>
        <p:nvPicPr>
          <p:cNvPr id="92" name="Image 19"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2123665" y="8959850"/>
            <a:ext cx="12702" cy="774700"/>
          </a:xfrm>
          <a:prstGeom prst="rect">
            <a:avLst/>
          </a:prstGeom>
        </p:spPr>
      </p:pic>
      <p:pic>
        <p:nvPicPr>
          <p:cNvPr id="93" name="Image 20"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2123665" y="10229850"/>
            <a:ext cx="12702" cy="774700"/>
          </a:xfrm>
          <a:prstGeom prst="rect">
            <a:avLst/>
          </a:prstGeom>
        </p:spPr>
      </p:pic>
      <p:sp>
        <p:nvSpPr>
          <p:cNvPr id="94" name="Shape 71"/>
          <p:cNvSpPr/>
          <p:nvPr/>
        </p:nvSpPr>
        <p:spPr>
          <a:xfrm>
            <a:off x="17451981" y="7696200"/>
            <a:ext cx="12702" cy="3302000"/>
          </a:xfrm>
          <a:prstGeom prst="rect">
            <a:avLst/>
          </a:prstGeom>
          <a:noFill/>
          <a:ln/>
        </p:spPr>
      </p:sp>
      <p:pic>
        <p:nvPicPr>
          <p:cNvPr id="95" name="Image 21"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7445630" y="7689850"/>
            <a:ext cx="12702" cy="774700"/>
          </a:xfrm>
          <a:prstGeom prst="rect">
            <a:avLst/>
          </a:prstGeom>
        </p:spPr>
      </p:pic>
      <p:pic>
        <p:nvPicPr>
          <p:cNvPr id="96" name="Image 22"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7445630" y="8959850"/>
            <a:ext cx="12702" cy="774700"/>
          </a:xfrm>
          <a:prstGeom prst="rect">
            <a:avLst/>
          </a:prstGeom>
        </p:spPr>
      </p:pic>
      <p:pic>
        <p:nvPicPr>
          <p:cNvPr id="97" name="Image 23"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7445630" y="10229850"/>
            <a:ext cx="12702" cy="774700"/>
          </a:xfrm>
          <a:prstGeom prst="rect">
            <a:avLst/>
          </a:prstGeom>
        </p:spPr>
      </p:pic>
      <p:pic>
        <p:nvPicPr>
          <p:cNvPr id="98" name="Image 24" descr=" "/>
          <p:cNvPicPr>
            <a:picLocks noChangeAspect="1"/>
          </p:cNvPicPr>
          <p:nvPr/>
        </p:nvPicPr>
        <p:blipFill>
          <a:blip r:embed="rId3">
            <a:extLst>
              <a:ext uri="{96DAC541-7B7A-43D3-8B79-37D633B846F1}">
                <asvg:svgBlip xmlns:asvg="http://schemas.microsoft.com/office/drawing/2016/SVG/main" r:embed="rId27"/>
              </a:ext>
            </a:extLst>
          </a:blip>
          <a:stretch>
            <a:fillRect/>
          </a:stretch>
        </p:blipFill>
        <p:spPr>
          <a:xfrm>
            <a:off x="17477384" y="7442200"/>
            <a:ext cx="5334667" cy="1270000"/>
          </a:xfrm>
          <a:prstGeom prst="rect">
            <a:avLst/>
          </a:prstGeom>
        </p:spPr>
      </p:pic>
      <p:sp>
        <p:nvSpPr>
          <p:cNvPr id="99" name="Text 72"/>
          <p:cNvSpPr/>
          <p:nvPr/>
        </p:nvSpPr>
        <p:spPr>
          <a:xfrm>
            <a:off x="3708864" y="6616700"/>
            <a:ext cx="94838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Project</a:t>
            </a:r>
            <a:endParaRPr lang="en-US" sz="2000" dirty="0"/>
          </a:p>
        </p:txBody>
      </p:sp>
      <p:sp>
        <p:nvSpPr>
          <p:cNvPr id="100" name="Text 73"/>
          <p:cNvSpPr/>
          <p:nvPr/>
        </p:nvSpPr>
        <p:spPr>
          <a:xfrm>
            <a:off x="8967321" y="6616700"/>
            <a:ext cx="116431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On Track</a:t>
            </a:r>
            <a:endParaRPr lang="en-US" sz="2000" dirty="0"/>
          </a:p>
        </p:txBody>
      </p:sp>
      <p:sp>
        <p:nvSpPr>
          <p:cNvPr id="101" name="Text 74"/>
          <p:cNvSpPr/>
          <p:nvPr/>
        </p:nvSpPr>
        <p:spPr>
          <a:xfrm>
            <a:off x="14543318" y="6616700"/>
            <a:ext cx="60544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Risk</a:t>
            </a:r>
            <a:endParaRPr lang="en-US" sz="2000" dirty="0"/>
          </a:p>
        </p:txBody>
      </p:sp>
      <p:sp>
        <p:nvSpPr>
          <p:cNvPr id="102" name="Text 75"/>
          <p:cNvSpPr/>
          <p:nvPr/>
        </p:nvSpPr>
        <p:spPr>
          <a:xfrm>
            <a:off x="19623953" y="6616700"/>
            <a:ext cx="1126207"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6F6F6">
                    <a:alpha val="100000"/>
                  </a:srgbClr>
                </a:solidFill>
                <a:latin typeface="Inter Bold" pitchFamily="34" charset="0"/>
                <a:ea typeface="Inter Bold" pitchFamily="34" charset="-122"/>
                <a:cs typeface="Inter Bold" pitchFamily="34" charset="-120"/>
              </a:rPr>
              <a:t>Timeline</a:t>
            </a:r>
            <a:endParaRPr lang="en-US" sz="2000" dirty="0"/>
          </a:p>
        </p:txBody>
      </p:sp>
      <p:sp>
        <p:nvSpPr>
          <p:cNvPr id="103" name="Text 76"/>
          <p:cNvSpPr/>
          <p:nvPr/>
        </p:nvSpPr>
        <p:spPr>
          <a:xfrm>
            <a:off x="3480235" y="7886700"/>
            <a:ext cx="143104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Migration A</a:t>
            </a:r>
            <a:endParaRPr lang="en-US" sz="2000" dirty="0"/>
          </a:p>
        </p:txBody>
      </p:sp>
      <p:sp>
        <p:nvSpPr>
          <p:cNvPr id="104" name="Text 77"/>
          <p:cNvSpPr/>
          <p:nvPr/>
        </p:nvSpPr>
        <p:spPr>
          <a:xfrm>
            <a:off x="14556019" y="7886700"/>
            <a:ext cx="58003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Low</a:t>
            </a:r>
            <a:endParaRPr lang="en-US" sz="2000" dirty="0"/>
          </a:p>
        </p:txBody>
      </p:sp>
      <p:sp>
        <p:nvSpPr>
          <p:cNvPr id="105" name="Text 78"/>
          <p:cNvSpPr/>
          <p:nvPr/>
        </p:nvSpPr>
        <p:spPr>
          <a:xfrm>
            <a:off x="19395324" y="7886700"/>
            <a:ext cx="158346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On Schedule</a:t>
            </a:r>
            <a:endParaRPr lang="en-US" sz="2000" dirty="0"/>
          </a:p>
        </p:txBody>
      </p:sp>
      <p:sp>
        <p:nvSpPr>
          <p:cNvPr id="106" name="Text 79"/>
          <p:cNvSpPr/>
          <p:nvPr/>
        </p:nvSpPr>
        <p:spPr>
          <a:xfrm>
            <a:off x="3594549" y="9156700"/>
            <a:ext cx="1177014"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Launch B</a:t>
            </a:r>
            <a:endParaRPr lang="en-US" sz="2000" dirty="0"/>
          </a:p>
        </p:txBody>
      </p:sp>
      <p:sp>
        <p:nvSpPr>
          <p:cNvPr id="107" name="Text 80"/>
          <p:cNvSpPr/>
          <p:nvPr/>
        </p:nvSpPr>
        <p:spPr>
          <a:xfrm>
            <a:off x="3505638" y="10426700"/>
            <a:ext cx="135483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Upgrade C</a:t>
            </a:r>
            <a:endParaRPr lang="en-US" sz="2000" dirty="0"/>
          </a:p>
        </p:txBody>
      </p:sp>
      <p:sp>
        <p:nvSpPr>
          <p:cNvPr id="108" name="Text 81"/>
          <p:cNvSpPr/>
          <p:nvPr/>
        </p:nvSpPr>
        <p:spPr>
          <a:xfrm>
            <a:off x="9132441" y="9156700"/>
            <a:ext cx="732458"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 No</a:t>
            </a:r>
            <a:endParaRPr lang="en-US" sz="2000" dirty="0"/>
          </a:p>
        </p:txBody>
      </p:sp>
      <p:sp>
        <p:nvSpPr>
          <p:cNvPr id="109" name="Text 82"/>
          <p:cNvSpPr/>
          <p:nvPr/>
        </p:nvSpPr>
        <p:spPr>
          <a:xfrm>
            <a:off x="14327391" y="9156700"/>
            <a:ext cx="103729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Medium</a:t>
            </a:r>
            <a:endParaRPr lang="en-US" sz="2000" dirty="0"/>
          </a:p>
        </p:txBody>
      </p:sp>
      <p:sp>
        <p:nvSpPr>
          <p:cNvPr id="110" name="Text 83"/>
          <p:cNvSpPr/>
          <p:nvPr/>
        </p:nvSpPr>
        <p:spPr>
          <a:xfrm>
            <a:off x="14556019" y="10426700"/>
            <a:ext cx="58003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Low</a:t>
            </a:r>
            <a:endParaRPr lang="en-US" sz="2000" dirty="0"/>
          </a:p>
        </p:txBody>
      </p:sp>
      <p:sp>
        <p:nvSpPr>
          <p:cNvPr id="111" name="Text 84"/>
          <p:cNvSpPr/>
          <p:nvPr/>
        </p:nvSpPr>
        <p:spPr>
          <a:xfrm>
            <a:off x="19204800" y="9156700"/>
            <a:ext cx="196451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Slightly Delayed</a:t>
            </a:r>
            <a:endParaRPr lang="en-US" sz="2000" dirty="0"/>
          </a:p>
        </p:txBody>
      </p:sp>
      <p:sp>
        <p:nvSpPr>
          <p:cNvPr id="112" name="Text 85"/>
          <p:cNvSpPr/>
          <p:nvPr/>
        </p:nvSpPr>
        <p:spPr>
          <a:xfrm>
            <a:off x="19026978" y="10426700"/>
            <a:ext cx="2307455"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454545">
                    <a:alpha val="100000"/>
                  </a:srgbClr>
                </a:solidFill>
                <a:latin typeface="Inter Medium" pitchFamily="34" charset="0"/>
                <a:ea typeface="Inter Medium" pitchFamily="34" charset="-122"/>
                <a:cs typeface="Inter Medium" pitchFamily="34" charset="-120"/>
              </a:rPr>
              <a:t>Ahead of Schedule</a:t>
            </a:r>
            <a:endParaRPr lang="en-US" sz="2000" dirty="0"/>
          </a:p>
        </p:txBody>
      </p:sp>
      <p:pic>
        <p:nvPicPr>
          <p:cNvPr id="113" name="Image 25"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229129" y="8705850"/>
            <a:ext cx="13476384" cy="12700"/>
          </a:xfrm>
          <a:prstGeom prst="rect">
            <a:avLst/>
          </a:prstGeom>
        </p:spPr>
      </p:pic>
      <p:pic>
        <p:nvPicPr>
          <p:cNvPr id="114" name="Image 26"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229129" y="9975850"/>
            <a:ext cx="13476384" cy="12700"/>
          </a:xfrm>
          <a:prstGeom prst="rect">
            <a:avLst/>
          </a:prstGeom>
        </p:spPr>
      </p:pic>
      <p:sp>
        <p:nvSpPr>
          <p:cNvPr id="115" name="Shape 86"/>
          <p:cNvSpPr/>
          <p:nvPr/>
        </p:nvSpPr>
        <p:spPr>
          <a:xfrm>
            <a:off x="8878410" y="7861300"/>
            <a:ext cx="1181248" cy="457200"/>
          </a:xfrm>
          <a:prstGeom prst="roundRect">
            <a:avLst>
              <a:gd name="adj" fmla="val 22000"/>
            </a:avLst>
          </a:prstGeom>
          <a:solidFill>
            <a:srgbClr val="F6F3FF">
              <a:alpha val="100000"/>
            </a:srgbClr>
          </a:solidFill>
          <a:ln/>
        </p:spPr>
      </p:sp>
      <p:sp>
        <p:nvSpPr>
          <p:cNvPr id="116" name="Text 87"/>
          <p:cNvSpPr/>
          <p:nvPr/>
        </p:nvSpPr>
        <p:spPr>
          <a:xfrm>
            <a:off x="9259457" y="7899400"/>
            <a:ext cx="51653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9559F1">
                    <a:alpha val="100000"/>
                  </a:srgbClr>
                </a:solidFill>
                <a:latin typeface="Inter Medium" pitchFamily="34" charset="0"/>
                <a:ea typeface="Inter Medium" pitchFamily="34" charset="-122"/>
                <a:cs typeface="Inter Medium" pitchFamily="34" charset="-120"/>
              </a:rPr>
              <a:t>Yes</a:t>
            </a:r>
            <a:endParaRPr lang="en-US" sz="2000" dirty="0"/>
          </a:p>
        </p:txBody>
      </p:sp>
      <p:sp>
        <p:nvSpPr>
          <p:cNvPr id="117" name="Shape 88"/>
          <p:cNvSpPr/>
          <p:nvPr/>
        </p:nvSpPr>
        <p:spPr>
          <a:xfrm>
            <a:off x="8878410" y="9131300"/>
            <a:ext cx="1181248" cy="457200"/>
          </a:xfrm>
          <a:prstGeom prst="roundRect">
            <a:avLst>
              <a:gd name="adj" fmla="val 22000"/>
            </a:avLst>
          </a:prstGeom>
          <a:solidFill>
            <a:srgbClr val="F6F3FF">
              <a:alpha val="100000"/>
            </a:srgbClr>
          </a:solidFill>
          <a:ln/>
        </p:spPr>
      </p:sp>
      <p:sp>
        <p:nvSpPr>
          <p:cNvPr id="118" name="Text 89"/>
          <p:cNvSpPr/>
          <p:nvPr/>
        </p:nvSpPr>
        <p:spPr>
          <a:xfrm>
            <a:off x="9297562" y="9169400"/>
            <a:ext cx="42762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CBB7FB">
                    <a:alpha val="100000"/>
                  </a:srgbClr>
                </a:solidFill>
                <a:latin typeface="Inter Medium" pitchFamily="34" charset="0"/>
                <a:ea typeface="Inter Medium" pitchFamily="34" charset="-122"/>
                <a:cs typeface="Inter Medium" pitchFamily="34" charset="-120"/>
              </a:rPr>
              <a:t>No</a:t>
            </a:r>
            <a:endParaRPr lang="en-US" sz="2000" dirty="0"/>
          </a:p>
        </p:txBody>
      </p:sp>
      <p:sp>
        <p:nvSpPr>
          <p:cNvPr id="119" name="Shape 90"/>
          <p:cNvSpPr/>
          <p:nvPr/>
        </p:nvSpPr>
        <p:spPr>
          <a:xfrm>
            <a:off x="8878410" y="10388600"/>
            <a:ext cx="1181248" cy="457200"/>
          </a:xfrm>
          <a:prstGeom prst="roundRect">
            <a:avLst>
              <a:gd name="adj" fmla="val 22000"/>
            </a:avLst>
          </a:prstGeom>
          <a:solidFill>
            <a:srgbClr val="F6F3FF">
              <a:alpha val="100000"/>
            </a:srgbClr>
          </a:solidFill>
          <a:ln/>
        </p:spPr>
      </p:sp>
      <p:sp>
        <p:nvSpPr>
          <p:cNvPr id="120" name="Text 91"/>
          <p:cNvSpPr/>
          <p:nvPr/>
        </p:nvSpPr>
        <p:spPr>
          <a:xfrm>
            <a:off x="9259457" y="10426700"/>
            <a:ext cx="516531"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9559F1">
                    <a:alpha val="100000"/>
                  </a:srgbClr>
                </a:solidFill>
                <a:latin typeface="Inter Medium" pitchFamily="34" charset="0"/>
                <a:ea typeface="Inter Medium" pitchFamily="34" charset="-122"/>
                <a:cs typeface="Inter Medium" pitchFamily="34" charset="-120"/>
              </a:rPr>
              <a:t>Yes</a:t>
            </a:r>
            <a:endParaRPr lang="en-US" sz="2000" dirty="0"/>
          </a:p>
        </p:txBody>
      </p:sp>
      <p:pic>
        <p:nvPicPr>
          <p:cNvPr id="121" name="Image 27"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473384" y="6172200"/>
            <a:ext cx="21338667" cy="508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511489" y="1524000"/>
            <a:ext cx="5664908"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Strategic Growth Metrics</a:t>
            </a:r>
            <a:endParaRPr lang="en-US" sz="6000" dirty="0"/>
          </a:p>
        </p:txBody>
      </p:sp>
      <p:sp>
        <p:nvSpPr>
          <p:cNvPr id="3" name="Text 1"/>
          <p:cNvSpPr/>
          <p:nvPr/>
        </p:nvSpPr>
        <p:spPr>
          <a:xfrm>
            <a:off x="15025978" y="1524000"/>
            <a:ext cx="790462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 visual snapshot of your company’s financial health over time.</a:t>
            </a:r>
            <a:endParaRPr lang="en-US" sz="1600" dirty="0"/>
          </a:p>
        </p:txBody>
      </p:sp>
      <p:grpSp>
        <p:nvGrpSpPr>
          <p:cNvPr id="61" name="Group 60">
            <a:extLst>
              <a:ext uri="{FF2B5EF4-FFF2-40B4-BE49-F238E27FC236}">
                <a16:creationId xmlns:a16="http://schemas.microsoft.com/office/drawing/2014/main" id="{8B57C3D8-8FBE-45B8-81A2-D2F26A6C4FA1}"/>
              </a:ext>
            </a:extLst>
          </p:cNvPr>
          <p:cNvGrpSpPr/>
          <p:nvPr/>
        </p:nvGrpSpPr>
        <p:grpSpPr>
          <a:xfrm>
            <a:off x="1511489" y="4318000"/>
            <a:ext cx="7862283" cy="3683000"/>
            <a:chOff x="1511489" y="4318000"/>
            <a:chExt cx="7862283" cy="3683000"/>
          </a:xfrm>
        </p:grpSpPr>
        <p:pic>
          <p:nvPicPr>
            <p:cNvPr id="4"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11489" y="4318000"/>
              <a:ext cx="7862283" cy="3683000"/>
            </a:xfrm>
            <a:prstGeom prst="rect">
              <a:avLst/>
            </a:prstGeom>
          </p:spPr>
        </p:pic>
        <p:grpSp>
          <p:nvGrpSpPr>
            <p:cNvPr id="58" name="Group 57">
              <a:extLst>
                <a:ext uri="{FF2B5EF4-FFF2-40B4-BE49-F238E27FC236}">
                  <a16:creationId xmlns:a16="http://schemas.microsoft.com/office/drawing/2014/main" id="{37F85278-FBB9-4034-AFB6-8975AF736824}"/>
                </a:ext>
              </a:extLst>
            </p:cNvPr>
            <p:cNvGrpSpPr/>
            <p:nvPr/>
          </p:nvGrpSpPr>
          <p:grpSpPr>
            <a:xfrm>
              <a:off x="2140224" y="6242050"/>
              <a:ext cx="6617527" cy="1231900"/>
              <a:chOff x="2140224" y="6242050"/>
              <a:chExt cx="6617527" cy="1231900"/>
            </a:xfrm>
          </p:grpSpPr>
          <p:pic>
            <p:nvPicPr>
              <p:cNvPr id="5"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40224" y="6254750"/>
                <a:ext cx="6617527" cy="1219200"/>
              </a:xfrm>
              <a:prstGeom prst="rect">
                <a:avLst/>
              </a:prstGeom>
            </p:spPr>
          </p:pic>
          <p:pic>
            <p:nvPicPr>
              <p:cNvPr id="6"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91224" y="6242050"/>
                <a:ext cx="12702" cy="1231900"/>
              </a:xfrm>
              <a:prstGeom prst="rect">
                <a:avLst/>
              </a:prstGeom>
            </p:spPr>
          </p:pic>
          <p:pic>
            <p:nvPicPr>
              <p:cNvPr id="7"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69246" y="6242050"/>
                <a:ext cx="12702" cy="1231900"/>
              </a:xfrm>
              <a:prstGeom prst="rect">
                <a:avLst/>
              </a:prstGeom>
            </p:spPr>
          </p:pic>
          <p:pic>
            <p:nvPicPr>
              <p:cNvPr id="8" name="Image 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47268" y="6242050"/>
                <a:ext cx="12702" cy="1231900"/>
              </a:xfrm>
              <a:prstGeom prst="rect">
                <a:avLst/>
              </a:prstGeom>
            </p:spPr>
          </p:pic>
          <p:pic>
            <p:nvPicPr>
              <p:cNvPr id="9" name="Image 5"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5291" y="6242050"/>
                <a:ext cx="12702" cy="1231900"/>
              </a:xfrm>
              <a:prstGeom prst="rect">
                <a:avLst/>
              </a:prstGeom>
            </p:spPr>
          </p:pic>
          <p:pic>
            <p:nvPicPr>
              <p:cNvPr id="10"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03313" y="6242050"/>
                <a:ext cx="12702" cy="1231900"/>
              </a:xfrm>
              <a:prstGeom prst="rect">
                <a:avLst/>
              </a:prstGeom>
            </p:spPr>
          </p:pic>
          <p:pic>
            <p:nvPicPr>
              <p:cNvPr id="11" name="Image 7"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81335" y="6242050"/>
                <a:ext cx="12702" cy="1231900"/>
              </a:xfrm>
              <a:prstGeom prst="rect">
                <a:avLst/>
              </a:prstGeom>
            </p:spPr>
          </p:pic>
        </p:grpSp>
        <p:graphicFrame>
          <p:nvGraphicFramePr>
            <p:cNvPr id="60" name="Chart 59">
              <a:extLst>
                <a:ext uri="{FF2B5EF4-FFF2-40B4-BE49-F238E27FC236}">
                  <a16:creationId xmlns:a16="http://schemas.microsoft.com/office/drawing/2014/main" id="{9CE9C4A4-0F1B-48E6-9E0F-9FA92C4282C6}"/>
                </a:ext>
              </a:extLst>
            </p:cNvPr>
            <p:cNvGraphicFramePr/>
            <p:nvPr>
              <p:extLst>
                <p:ext uri="{D42A27DB-BD31-4B8C-83A1-F6EECF244321}">
                  <p14:modId xmlns:p14="http://schemas.microsoft.com/office/powerpoint/2010/main" val="2298816842"/>
                </p:ext>
              </p:extLst>
            </p:nvPr>
          </p:nvGraphicFramePr>
          <p:xfrm>
            <a:off x="1934876" y="5379082"/>
            <a:ext cx="7005916" cy="2492379"/>
          </p:xfrm>
          <a:graphic>
            <a:graphicData uri="http://schemas.openxmlformats.org/drawingml/2006/chart">
              <c:chart xmlns:c="http://schemas.openxmlformats.org/drawingml/2006/chart" xmlns:r="http://schemas.openxmlformats.org/officeDocument/2006/relationships" r:id="rId9"/>
            </a:graphicData>
          </a:graphic>
        </p:graphicFrame>
        <p:pic>
          <p:nvPicPr>
            <p:cNvPr id="13" name="Image 9" descr=" "/>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46568" y="4953000"/>
              <a:ext cx="482660" cy="482600"/>
            </a:xfrm>
            <a:prstGeom prst="rect">
              <a:avLst/>
            </a:prstGeom>
          </p:spPr>
        </p:pic>
        <p:pic>
          <p:nvPicPr>
            <p:cNvPr id="15" name="Image 11"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79296" y="5085711"/>
              <a:ext cx="217198" cy="217171"/>
            </a:xfrm>
            <a:prstGeom prst="rect">
              <a:avLst/>
            </a:prstGeom>
          </p:spPr>
        </p:pic>
        <p:pic>
          <p:nvPicPr>
            <p:cNvPr id="16" name="Image 12"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808051" y="4953000"/>
              <a:ext cx="1930641" cy="508000"/>
            </a:xfrm>
            <a:prstGeom prst="rect">
              <a:avLst/>
            </a:prstGeom>
          </p:spPr>
        </p:pic>
        <p:sp>
          <p:nvSpPr>
            <p:cNvPr id="17" name="Text 2"/>
            <p:cNvSpPr/>
            <p:nvPr/>
          </p:nvSpPr>
          <p:spPr>
            <a:xfrm>
              <a:off x="2730841" y="5041900"/>
              <a:ext cx="255725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Monthly Market Expansion</a:t>
              </a:r>
              <a:endParaRPr lang="en-US" sz="1600" dirty="0"/>
            </a:p>
          </p:txBody>
        </p:sp>
        <p:sp>
          <p:nvSpPr>
            <p:cNvPr id="18" name="Text 3"/>
            <p:cNvSpPr/>
            <p:nvPr/>
          </p:nvSpPr>
          <p:spPr>
            <a:xfrm>
              <a:off x="2146568" y="5753100"/>
              <a:ext cx="254455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6 Month Market Expansion</a:t>
              </a:r>
              <a:endParaRPr lang="en-US" sz="1600" dirty="0"/>
            </a:p>
          </p:txBody>
        </p:sp>
        <p:sp>
          <p:nvSpPr>
            <p:cNvPr id="19" name="Text 4"/>
            <p:cNvSpPr/>
            <p:nvPr/>
          </p:nvSpPr>
          <p:spPr>
            <a:xfrm>
              <a:off x="7417727" y="5054600"/>
              <a:ext cx="118548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Accelerated</a:t>
              </a:r>
              <a:endParaRPr lang="en-US" sz="1600" dirty="0"/>
            </a:p>
          </p:txBody>
        </p:sp>
        <p:sp>
          <p:nvSpPr>
            <p:cNvPr id="20" name="Shape 5"/>
            <p:cNvSpPr/>
            <p:nvPr/>
          </p:nvSpPr>
          <p:spPr>
            <a:xfrm>
              <a:off x="7290711" y="6223000"/>
              <a:ext cx="101613" cy="101600"/>
            </a:xfrm>
            <a:prstGeom prst="ellipse">
              <a:avLst/>
            </a:prstGeom>
            <a:solidFill>
              <a:srgbClr val="9574D2">
                <a:alpha val="100000"/>
              </a:srgbClr>
            </a:solidFill>
            <a:ln/>
          </p:spPr>
        </p:sp>
        <p:pic>
          <p:nvPicPr>
            <p:cNvPr id="21" name="Image 13"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74784" y="5105400"/>
              <a:ext cx="177822" cy="203200"/>
            </a:xfrm>
            <a:prstGeom prst="rect">
              <a:avLst/>
            </a:prstGeom>
          </p:spPr>
        </p:pic>
      </p:grpSp>
      <p:sp>
        <p:nvSpPr>
          <p:cNvPr id="22" name="Text 6"/>
          <p:cNvSpPr/>
          <p:nvPr/>
        </p:nvSpPr>
        <p:spPr>
          <a:xfrm>
            <a:off x="1511489" y="8585200"/>
            <a:ext cx="7930024"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An insightful overview of your company's expansion into new markets or regions, showcasing growth trends and strategic milestones over time. Growth accelerated in Q2 with strategic entry into 3 new regions.</a:t>
            </a:r>
            <a:endParaRPr lang="en-US" sz="1600" dirty="0"/>
          </a:p>
        </p:txBody>
      </p:sp>
      <p:sp>
        <p:nvSpPr>
          <p:cNvPr id="23" name="Text 7"/>
          <p:cNvSpPr/>
          <p:nvPr/>
        </p:nvSpPr>
        <p:spPr>
          <a:xfrm>
            <a:off x="1511489" y="10083800"/>
            <a:ext cx="2286286"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9559F1">
                    <a:alpha val="100000"/>
                  </a:srgbClr>
                </a:solidFill>
                <a:latin typeface="Inter Medium" pitchFamily="34" charset="0"/>
                <a:ea typeface="Inter Medium" pitchFamily="34" charset="-122"/>
                <a:cs typeface="Inter Medium" pitchFamily="34" charset="-120"/>
              </a:rPr>
              <a:t>90%+</a:t>
            </a:r>
            <a:endParaRPr lang="en-US" sz="6000" dirty="0"/>
          </a:p>
        </p:txBody>
      </p:sp>
      <p:sp>
        <p:nvSpPr>
          <p:cNvPr id="24" name="Text 8"/>
          <p:cNvSpPr/>
          <p:nvPr/>
        </p:nvSpPr>
        <p:spPr>
          <a:xfrm>
            <a:off x="3594549" y="10160000"/>
            <a:ext cx="122358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Medium" pitchFamily="34" charset="0"/>
                <a:ea typeface="Inter Medium" pitchFamily="34" charset="-122"/>
                <a:cs typeface="Inter Medium" pitchFamily="34" charset="-120"/>
              </a:rPr>
              <a:t>completion in Q2.</a:t>
            </a:r>
            <a:endParaRPr lang="en-US" sz="1600" dirty="0"/>
          </a:p>
        </p:txBody>
      </p:sp>
      <p:grpSp>
        <p:nvGrpSpPr>
          <p:cNvPr id="12" name="Group 11">
            <a:extLst>
              <a:ext uri="{FF2B5EF4-FFF2-40B4-BE49-F238E27FC236}">
                <a16:creationId xmlns:a16="http://schemas.microsoft.com/office/drawing/2014/main" id="{46AD654A-7A08-4071-9447-9E15C88363AD}"/>
              </a:ext>
            </a:extLst>
          </p:cNvPr>
          <p:cNvGrpSpPr/>
          <p:nvPr/>
        </p:nvGrpSpPr>
        <p:grpSpPr>
          <a:xfrm>
            <a:off x="13171546" y="4057650"/>
            <a:ext cx="8946152" cy="5865283"/>
            <a:chOff x="13171546" y="4057650"/>
            <a:chExt cx="8946152" cy="5865283"/>
          </a:xfrm>
        </p:grpSpPr>
        <p:graphicFrame>
          <p:nvGraphicFramePr>
            <p:cNvPr id="59" name="Chart 58">
              <a:extLst>
                <a:ext uri="{FF2B5EF4-FFF2-40B4-BE49-F238E27FC236}">
                  <a16:creationId xmlns:a16="http://schemas.microsoft.com/office/drawing/2014/main" id="{5FF373D0-7AEF-4625-80AB-CC6F41A0A0DF}"/>
                </a:ext>
              </a:extLst>
            </p:cNvPr>
            <p:cNvGraphicFramePr/>
            <p:nvPr>
              <p:extLst>
                <p:ext uri="{D42A27DB-BD31-4B8C-83A1-F6EECF244321}">
                  <p14:modId xmlns:p14="http://schemas.microsoft.com/office/powerpoint/2010/main" val="2502702228"/>
                </p:ext>
              </p:extLst>
            </p:nvPr>
          </p:nvGraphicFramePr>
          <p:xfrm>
            <a:off x="13171546" y="4470400"/>
            <a:ext cx="8946152" cy="5452533"/>
          </p:xfrm>
          <a:graphic>
            <a:graphicData uri="http://schemas.openxmlformats.org/drawingml/2006/chart">
              <c:chart xmlns:c="http://schemas.openxmlformats.org/drawingml/2006/chart" xmlns:r="http://schemas.openxmlformats.org/officeDocument/2006/relationships" r:id="rId18"/>
            </a:graphicData>
          </a:graphic>
        </p:graphicFrame>
        <p:pic>
          <p:nvPicPr>
            <p:cNvPr id="26" name="Image 15"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3241405" y="4057650"/>
              <a:ext cx="12702" cy="5727700"/>
            </a:xfrm>
            <a:prstGeom prst="rect">
              <a:avLst/>
            </a:prstGeom>
          </p:spPr>
        </p:pic>
        <p:pic>
          <p:nvPicPr>
            <p:cNvPr id="27" name="Image 16" descr=" "/>
            <p:cNvPicPr>
              <a:picLocks noChangeAspect="1"/>
            </p:cNvPicPr>
            <p:nvPr/>
          </p:nvPicPr>
          <p:blipFill>
            <a:blip r:embed="rId19">
              <a:extLst>
                <a:ext uri="{96DAC541-7B7A-43D3-8B79-37D633B846F1}">
                  <asvg:svgBlip xmlns:asvg="http://schemas.microsoft.com/office/drawing/2016/SVG/main" r:embed="rId21"/>
                </a:ext>
              </a:extLst>
            </a:blip>
            <a:stretch>
              <a:fillRect/>
            </a:stretch>
          </p:blipFill>
          <p:spPr>
            <a:xfrm>
              <a:off x="14740192" y="4057650"/>
              <a:ext cx="12702" cy="5727700"/>
            </a:xfrm>
            <a:prstGeom prst="rect">
              <a:avLst/>
            </a:prstGeom>
          </p:spPr>
        </p:pic>
        <p:pic>
          <p:nvPicPr>
            <p:cNvPr id="28" name="Image 17" descr=" "/>
            <p:cNvPicPr>
              <a:picLocks noChangeAspect="1"/>
            </p:cNvPicPr>
            <p:nvPr/>
          </p:nvPicPr>
          <p:blipFill>
            <a:blip r:embed="rId19">
              <a:extLst>
                <a:ext uri="{96DAC541-7B7A-43D3-8B79-37D633B846F1}">
                  <asvg:svgBlip xmlns:asvg="http://schemas.microsoft.com/office/drawing/2016/SVG/main" r:embed="rId22"/>
                </a:ext>
              </a:extLst>
            </a:blip>
            <a:stretch>
              <a:fillRect/>
            </a:stretch>
          </p:blipFill>
          <p:spPr>
            <a:xfrm>
              <a:off x="16226278" y="4057650"/>
              <a:ext cx="12702" cy="5727700"/>
            </a:xfrm>
            <a:prstGeom prst="rect">
              <a:avLst/>
            </a:prstGeom>
          </p:spPr>
        </p:pic>
        <p:pic>
          <p:nvPicPr>
            <p:cNvPr id="29" name="Image 18" descr=" "/>
            <p:cNvPicPr>
              <a:picLocks noChangeAspect="1"/>
            </p:cNvPicPr>
            <p:nvPr/>
          </p:nvPicPr>
          <p:blipFill>
            <a:blip r:embed="rId19">
              <a:extLst>
                <a:ext uri="{96DAC541-7B7A-43D3-8B79-37D633B846F1}">
                  <asvg:svgBlip xmlns:asvg="http://schemas.microsoft.com/office/drawing/2016/SVG/main" r:embed="rId23"/>
                </a:ext>
              </a:extLst>
            </a:blip>
            <a:stretch>
              <a:fillRect/>
            </a:stretch>
          </p:blipFill>
          <p:spPr>
            <a:xfrm>
              <a:off x="17648856" y="4057650"/>
              <a:ext cx="12702" cy="5727700"/>
            </a:xfrm>
            <a:prstGeom prst="rect">
              <a:avLst/>
            </a:prstGeom>
          </p:spPr>
        </p:pic>
        <p:pic>
          <p:nvPicPr>
            <p:cNvPr id="30" name="Image 19" descr=" "/>
            <p:cNvPicPr>
              <a:picLocks noChangeAspect="1"/>
            </p:cNvPicPr>
            <p:nvPr/>
          </p:nvPicPr>
          <p:blipFill>
            <a:blip r:embed="rId19">
              <a:extLst>
                <a:ext uri="{96DAC541-7B7A-43D3-8B79-37D633B846F1}">
                  <asvg:svgBlip xmlns:asvg="http://schemas.microsoft.com/office/drawing/2016/SVG/main" r:embed="rId24"/>
                </a:ext>
              </a:extLst>
            </a:blip>
            <a:stretch>
              <a:fillRect/>
            </a:stretch>
          </p:blipFill>
          <p:spPr>
            <a:xfrm>
              <a:off x="19071434" y="4057650"/>
              <a:ext cx="12702" cy="5727700"/>
            </a:xfrm>
            <a:prstGeom prst="rect">
              <a:avLst/>
            </a:prstGeom>
          </p:spPr>
        </p:pic>
        <p:pic>
          <p:nvPicPr>
            <p:cNvPr id="31" name="Image 20" descr=" "/>
            <p:cNvPicPr>
              <a:picLocks noChangeAspect="1"/>
            </p:cNvPicPr>
            <p:nvPr/>
          </p:nvPicPr>
          <p:blipFill>
            <a:blip r:embed="rId19">
              <a:extLst>
                <a:ext uri="{96DAC541-7B7A-43D3-8B79-37D633B846F1}">
                  <asvg:svgBlip xmlns:asvg="http://schemas.microsoft.com/office/drawing/2016/SVG/main" r:embed="rId25"/>
                </a:ext>
              </a:extLst>
            </a:blip>
            <a:stretch>
              <a:fillRect/>
            </a:stretch>
          </p:blipFill>
          <p:spPr>
            <a:xfrm>
              <a:off x="20557519" y="4057650"/>
              <a:ext cx="12702" cy="5727700"/>
            </a:xfrm>
            <a:prstGeom prst="rect">
              <a:avLst/>
            </a:prstGeom>
          </p:spPr>
        </p:pic>
        <p:pic>
          <p:nvPicPr>
            <p:cNvPr id="39" name="Image 28" descr=" "/>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3577997" y="4470400"/>
              <a:ext cx="825603" cy="406400"/>
            </a:xfrm>
            <a:prstGeom prst="rect">
              <a:avLst/>
            </a:prstGeom>
          </p:spPr>
        </p:pic>
        <p:sp>
          <p:nvSpPr>
            <p:cNvPr id="40" name="Text 9"/>
            <p:cNvSpPr/>
            <p:nvPr/>
          </p:nvSpPr>
          <p:spPr>
            <a:xfrm>
              <a:off x="13819327" y="4521200"/>
              <a:ext cx="39798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3/4</a:t>
              </a:r>
              <a:endParaRPr lang="en-US" sz="1600" dirty="0"/>
            </a:p>
          </p:txBody>
        </p:sp>
        <p:pic>
          <p:nvPicPr>
            <p:cNvPr id="41" name="Image 29" descr=" "/>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076784" y="4470400"/>
              <a:ext cx="825603" cy="406400"/>
            </a:xfrm>
            <a:prstGeom prst="rect">
              <a:avLst/>
            </a:prstGeom>
          </p:spPr>
        </p:pic>
        <p:sp>
          <p:nvSpPr>
            <p:cNvPr id="42" name="Text 10"/>
            <p:cNvSpPr/>
            <p:nvPr/>
          </p:nvSpPr>
          <p:spPr>
            <a:xfrm>
              <a:off x="15330816" y="4521200"/>
              <a:ext cx="39798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5/4</a:t>
              </a:r>
              <a:endParaRPr lang="en-US" sz="1600" dirty="0"/>
            </a:p>
          </p:txBody>
        </p:sp>
        <p:pic>
          <p:nvPicPr>
            <p:cNvPr id="43" name="Image 30" descr=" "/>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6575572" y="4470400"/>
              <a:ext cx="825603" cy="406400"/>
            </a:xfrm>
            <a:prstGeom prst="rect">
              <a:avLst/>
            </a:prstGeom>
          </p:spPr>
        </p:pic>
        <p:sp>
          <p:nvSpPr>
            <p:cNvPr id="44" name="Text 11"/>
            <p:cNvSpPr/>
            <p:nvPr/>
          </p:nvSpPr>
          <p:spPr>
            <a:xfrm>
              <a:off x="16829603" y="4521200"/>
              <a:ext cx="38528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5/5</a:t>
              </a:r>
              <a:endParaRPr lang="en-US" sz="1600" dirty="0"/>
            </a:p>
          </p:txBody>
        </p:sp>
        <p:pic>
          <p:nvPicPr>
            <p:cNvPr id="45" name="Image 31" descr=" "/>
            <p:cNvPicPr>
              <a:picLocks noChangeAspect="1"/>
            </p:cNvPicPr>
            <p:nvPr/>
          </p:nvPicPr>
          <p:blipFill>
            <a:blip r:embed="rId30">
              <a:extLst>
                <a:ext uri="{96DAC541-7B7A-43D3-8B79-37D633B846F1}">
                  <asvg:svgBlip xmlns:asvg="http://schemas.microsoft.com/office/drawing/2016/SVG/main" r:embed="rId32"/>
                </a:ext>
              </a:extLst>
            </a:blip>
            <a:stretch>
              <a:fillRect/>
            </a:stretch>
          </p:blipFill>
          <p:spPr>
            <a:xfrm>
              <a:off x="17998149" y="4470400"/>
              <a:ext cx="825603" cy="406400"/>
            </a:xfrm>
            <a:prstGeom prst="rect">
              <a:avLst/>
            </a:prstGeom>
          </p:spPr>
        </p:pic>
        <p:sp>
          <p:nvSpPr>
            <p:cNvPr id="46" name="Text 12"/>
            <p:cNvSpPr/>
            <p:nvPr/>
          </p:nvSpPr>
          <p:spPr>
            <a:xfrm>
              <a:off x="18252181" y="4521200"/>
              <a:ext cx="38528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6/5</a:t>
              </a:r>
              <a:endParaRPr lang="en-US" sz="1600" dirty="0"/>
            </a:p>
          </p:txBody>
        </p:sp>
        <p:pic>
          <p:nvPicPr>
            <p:cNvPr id="47" name="Image 32" descr=" "/>
            <p:cNvPicPr>
              <a:picLocks noChangeAspect="1"/>
            </p:cNvPicPr>
            <p:nvPr/>
          </p:nvPicPr>
          <p:blipFill>
            <a:blip r:embed="rId30">
              <a:extLst>
                <a:ext uri="{96DAC541-7B7A-43D3-8B79-37D633B846F1}">
                  <asvg:svgBlip xmlns:asvg="http://schemas.microsoft.com/office/drawing/2016/SVG/main" r:embed="rId33"/>
                </a:ext>
              </a:extLst>
            </a:blip>
            <a:stretch>
              <a:fillRect/>
            </a:stretch>
          </p:blipFill>
          <p:spPr>
            <a:xfrm>
              <a:off x="19420727" y="4470400"/>
              <a:ext cx="825603" cy="406400"/>
            </a:xfrm>
            <a:prstGeom prst="rect">
              <a:avLst/>
            </a:prstGeom>
          </p:spPr>
        </p:pic>
        <p:sp>
          <p:nvSpPr>
            <p:cNvPr id="48" name="Text 13"/>
            <p:cNvSpPr/>
            <p:nvPr/>
          </p:nvSpPr>
          <p:spPr>
            <a:xfrm>
              <a:off x="19674759" y="4521200"/>
              <a:ext cx="39798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6/6</a:t>
              </a:r>
              <a:endParaRPr lang="en-US" sz="1600" dirty="0"/>
            </a:p>
          </p:txBody>
        </p:sp>
        <p:pic>
          <p:nvPicPr>
            <p:cNvPr id="49" name="Image 33" descr=" "/>
            <p:cNvPicPr>
              <a:picLocks noChangeAspect="1"/>
            </p:cNvPicPr>
            <p:nvPr/>
          </p:nvPicPr>
          <p:blipFill>
            <a:blip r:embed="rId30">
              <a:extLst>
                <a:ext uri="{96DAC541-7B7A-43D3-8B79-37D633B846F1}">
                  <asvg:svgBlip xmlns:asvg="http://schemas.microsoft.com/office/drawing/2016/SVG/main" r:embed="rId34"/>
                </a:ext>
              </a:extLst>
            </a:blip>
            <a:stretch>
              <a:fillRect/>
            </a:stretch>
          </p:blipFill>
          <p:spPr>
            <a:xfrm>
              <a:off x="20906813" y="4470400"/>
              <a:ext cx="825603" cy="406400"/>
            </a:xfrm>
            <a:prstGeom prst="rect">
              <a:avLst/>
            </a:prstGeom>
          </p:spPr>
        </p:pic>
        <p:sp>
          <p:nvSpPr>
            <p:cNvPr id="50" name="Text 14"/>
            <p:cNvSpPr/>
            <p:nvPr/>
          </p:nvSpPr>
          <p:spPr>
            <a:xfrm>
              <a:off x="21160845" y="4521200"/>
              <a:ext cx="38528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7/6</a:t>
              </a:r>
              <a:endParaRPr lang="en-US" sz="16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11489" y="15240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Weekly Executive Summary View</a:t>
            </a:r>
            <a:endParaRPr lang="en-US" sz="6000" dirty="0"/>
          </a:p>
        </p:txBody>
      </p:sp>
      <p:sp>
        <p:nvSpPr>
          <p:cNvPr id="3" name="Text 1"/>
          <p:cNvSpPr/>
          <p:nvPr/>
        </p:nvSpPr>
        <p:spPr>
          <a:xfrm>
            <a:off x="15025978" y="1524000"/>
            <a:ext cx="7904621"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 streamlined, color-coded dashboard for weekly executive briefings. Highlights key wins, risks, and flatlines from each business area in a single glance.</a:t>
            </a:r>
            <a:endParaRPr lang="en-US" sz="1600" dirty="0"/>
          </a:p>
        </p:txBody>
      </p:sp>
      <p:sp>
        <p:nvSpPr>
          <p:cNvPr id="28" name="Shape 15"/>
          <p:cNvSpPr/>
          <p:nvPr/>
        </p:nvSpPr>
        <p:spPr>
          <a:xfrm>
            <a:off x="16283435" y="3606800"/>
            <a:ext cx="6579422" cy="1295400"/>
          </a:xfrm>
          <a:prstGeom prst="rect">
            <a:avLst/>
          </a:prstGeom>
          <a:noFill/>
          <a:ln/>
        </p:spPr>
      </p:sp>
      <p:pic>
        <p:nvPicPr>
          <p:cNvPr id="29" name="Image 1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83435" y="3606800"/>
            <a:ext cx="6579422" cy="1295400"/>
          </a:xfrm>
          <a:prstGeom prst="rect">
            <a:avLst/>
          </a:prstGeom>
        </p:spPr>
      </p:pic>
      <p:sp>
        <p:nvSpPr>
          <p:cNvPr id="30" name="Text 16"/>
          <p:cNvSpPr/>
          <p:nvPr/>
        </p:nvSpPr>
        <p:spPr>
          <a:xfrm>
            <a:off x="17109038" y="3924300"/>
            <a:ext cx="273507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Role-Based Views on the Go</a:t>
            </a:r>
            <a:endParaRPr lang="en-US" sz="1600" dirty="0"/>
          </a:p>
        </p:txBody>
      </p:sp>
      <p:sp>
        <p:nvSpPr>
          <p:cNvPr id="31" name="Text 17"/>
          <p:cNvSpPr/>
          <p:nvPr/>
        </p:nvSpPr>
        <p:spPr>
          <a:xfrm>
            <a:off x="16702588" y="4343400"/>
            <a:ext cx="564373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Filter metrics by department, team, or location with one tap.</a:t>
            </a:r>
            <a:endParaRPr lang="en-US" sz="1600" dirty="0"/>
          </a:p>
        </p:txBody>
      </p:sp>
      <p:sp>
        <p:nvSpPr>
          <p:cNvPr id="33" name="Shape 18"/>
          <p:cNvSpPr/>
          <p:nvPr/>
        </p:nvSpPr>
        <p:spPr>
          <a:xfrm>
            <a:off x="16283435" y="5156200"/>
            <a:ext cx="6579422" cy="1295400"/>
          </a:xfrm>
          <a:prstGeom prst="rect">
            <a:avLst/>
          </a:prstGeom>
          <a:noFill/>
          <a:ln/>
        </p:spPr>
      </p:sp>
      <p:pic>
        <p:nvPicPr>
          <p:cNvPr id="34" name="Image 1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83435" y="5156200"/>
            <a:ext cx="6579422" cy="1295400"/>
          </a:xfrm>
          <a:prstGeom prst="rect">
            <a:avLst/>
          </a:prstGeom>
        </p:spPr>
      </p:pic>
      <p:sp>
        <p:nvSpPr>
          <p:cNvPr id="35" name="Text 19"/>
          <p:cNvSpPr/>
          <p:nvPr/>
        </p:nvSpPr>
        <p:spPr>
          <a:xfrm>
            <a:off x="17109038" y="5473700"/>
            <a:ext cx="239213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Mini Reports &amp; KPI Cards</a:t>
            </a:r>
            <a:endParaRPr lang="en-US" sz="1600" dirty="0"/>
          </a:p>
        </p:txBody>
      </p:sp>
      <p:sp>
        <p:nvSpPr>
          <p:cNvPr id="36" name="Text 20"/>
          <p:cNvSpPr/>
          <p:nvPr/>
        </p:nvSpPr>
        <p:spPr>
          <a:xfrm>
            <a:off x="16702588" y="5892800"/>
            <a:ext cx="479273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Scrollable cards showcase the top 3–5 key metrics.</a:t>
            </a:r>
            <a:endParaRPr lang="en-US" sz="1600" dirty="0"/>
          </a:p>
        </p:txBody>
      </p:sp>
      <p:pic>
        <p:nvPicPr>
          <p:cNvPr id="38" name="Image 15"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727991" y="5499100"/>
            <a:ext cx="254032" cy="254000"/>
          </a:xfrm>
          <a:prstGeom prst="rect">
            <a:avLst/>
          </a:prstGeom>
        </p:spPr>
      </p:pic>
      <p:pic>
        <p:nvPicPr>
          <p:cNvPr id="39" name="Image 16"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778797" y="5562600"/>
            <a:ext cx="203225" cy="101600"/>
          </a:xfrm>
          <a:prstGeom prst="rect">
            <a:avLst/>
          </a:prstGeom>
        </p:spPr>
      </p:pic>
      <p:pic>
        <p:nvPicPr>
          <p:cNvPr id="40" name="Image 1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918515" y="5562600"/>
            <a:ext cx="63508" cy="63500"/>
          </a:xfrm>
          <a:prstGeom prst="rect">
            <a:avLst/>
          </a:prstGeom>
        </p:spPr>
      </p:pic>
      <p:sp>
        <p:nvSpPr>
          <p:cNvPr id="41" name="Shape 21"/>
          <p:cNvSpPr/>
          <p:nvPr/>
        </p:nvSpPr>
        <p:spPr>
          <a:xfrm>
            <a:off x="16283435" y="6705600"/>
            <a:ext cx="6579422" cy="1295400"/>
          </a:xfrm>
          <a:prstGeom prst="rect">
            <a:avLst/>
          </a:prstGeom>
          <a:noFill/>
          <a:ln/>
        </p:spPr>
      </p:sp>
      <p:pic>
        <p:nvPicPr>
          <p:cNvPr id="42" name="Image 18" descr=" "/>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16283435" y="6705600"/>
            <a:ext cx="6579422" cy="1295400"/>
          </a:xfrm>
          <a:prstGeom prst="rect">
            <a:avLst/>
          </a:prstGeom>
        </p:spPr>
      </p:pic>
      <p:sp>
        <p:nvSpPr>
          <p:cNvPr id="43" name="Text 22"/>
          <p:cNvSpPr/>
          <p:nvPr/>
        </p:nvSpPr>
        <p:spPr>
          <a:xfrm>
            <a:off x="17109038" y="7023100"/>
            <a:ext cx="28874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Secure Mobile Login &amp; Access</a:t>
            </a:r>
            <a:endParaRPr lang="en-US" sz="1600" dirty="0"/>
          </a:p>
        </p:txBody>
      </p:sp>
      <p:sp>
        <p:nvSpPr>
          <p:cNvPr id="44" name="Text 23"/>
          <p:cNvSpPr/>
          <p:nvPr/>
        </p:nvSpPr>
        <p:spPr>
          <a:xfrm>
            <a:off x="16702588" y="7442200"/>
            <a:ext cx="439898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SSO and encryption ensure mobile data safety.</a:t>
            </a:r>
            <a:endParaRPr lang="en-US" sz="1600" dirty="0"/>
          </a:p>
        </p:txBody>
      </p:sp>
      <p:pic>
        <p:nvPicPr>
          <p:cNvPr id="46" name="Image 20"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6753394" y="7035800"/>
            <a:ext cx="203225" cy="266700"/>
          </a:xfrm>
          <a:prstGeom prst="rect">
            <a:avLst/>
          </a:prstGeom>
        </p:spPr>
      </p:pic>
      <p:sp>
        <p:nvSpPr>
          <p:cNvPr id="47" name="Shape 24"/>
          <p:cNvSpPr/>
          <p:nvPr/>
        </p:nvSpPr>
        <p:spPr>
          <a:xfrm>
            <a:off x="16283435" y="8255000"/>
            <a:ext cx="6579422" cy="1295400"/>
          </a:xfrm>
          <a:prstGeom prst="rect">
            <a:avLst/>
          </a:prstGeom>
          <a:noFill/>
          <a:ln/>
        </p:spPr>
      </p:sp>
      <p:pic>
        <p:nvPicPr>
          <p:cNvPr id="48" name="Image 21" descr=" "/>
          <p:cNvPicPr>
            <a:picLocks noChangeAspect="1"/>
          </p:cNvPicPr>
          <p:nvPr/>
        </p:nvPicPr>
        <p:blipFill>
          <a:blip r:embed="rId5">
            <a:extLst>
              <a:ext uri="{96DAC541-7B7A-43D3-8B79-37D633B846F1}">
                <asvg:svgBlip xmlns:asvg="http://schemas.microsoft.com/office/drawing/2016/SVG/main" r:embed="rId16"/>
              </a:ext>
            </a:extLst>
          </a:blip>
          <a:stretch>
            <a:fillRect/>
          </a:stretch>
        </p:blipFill>
        <p:spPr>
          <a:xfrm>
            <a:off x="16283435" y="8255000"/>
            <a:ext cx="6579422" cy="1295400"/>
          </a:xfrm>
          <a:prstGeom prst="rect">
            <a:avLst/>
          </a:prstGeom>
        </p:spPr>
      </p:pic>
      <p:sp>
        <p:nvSpPr>
          <p:cNvPr id="49" name="Text 25"/>
          <p:cNvSpPr/>
          <p:nvPr/>
        </p:nvSpPr>
        <p:spPr>
          <a:xfrm>
            <a:off x="17109038" y="8572500"/>
            <a:ext cx="19475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Update in Real Time</a:t>
            </a:r>
            <a:endParaRPr lang="en-US" sz="1600" dirty="0"/>
          </a:p>
        </p:txBody>
      </p:sp>
      <p:sp>
        <p:nvSpPr>
          <p:cNvPr id="50" name="Text 26"/>
          <p:cNvSpPr/>
          <p:nvPr/>
        </p:nvSpPr>
        <p:spPr>
          <a:xfrm>
            <a:off x="16702588" y="8991600"/>
            <a:ext cx="531349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Metrics sync live with the dashboard, no refresh needed.</a:t>
            </a:r>
            <a:endParaRPr lang="en-US" sz="1600" dirty="0"/>
          </a:p>
        </p:txBody>
      </p:sp>
      <p:pic>
        <p:nvPicPr>
          <p:cNvPr id="52" name="Image 23"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6727991" y="8597900"/>
            <a:ext cx="254032" cy="254000"/>
          </a:xfrm>
          <a:prstGeom prst="rect">
            <a:avLst/>
          </a:prstGeom>
        </p:spPr>
      </p:pic>
      <p:pic>
        <p:nvPicPr>
          <p:cNvPr id="53" name="Image 24"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842305" y="8667750"/>
            <a:ext cx="82560" cy="69850"/>
          </a:xfrm>
          <a:prstGeom prst="rect">
            <a:avLst/>
          </a:prstGeom>
        </p:spPr>
      </p:pic>
      <p:grpSp>
        <p:nvGrpSpPr>
          <p:cNvPr id="56" name="Group 55">
            <a:extLst>
              <a:ext uri="{FF2B5EF4-FFF2-40B4-BE49-F238E27FC236}">
                <a16:creationId xmlns:a16="http://schemas.microsoft.com/office/drawing/2014/main" id="{6752A18D-0A2B-4CE1-B3BC-E53884B1EB43}"/>
              </a:ext>
            </a:extLst>
          </p:cNvPr>
          <p:cNvGrpSpPr/>
          <p:nvPr/>
        </p:nvGrpSpPr>
        <p:grpSpPr>
          <a:xfrm>
            <a:off x="1536892" y="3581400"/>
            <a:ext cx="13374772" cy="8407400"/>
            <a:chOff x="1536892" y="3581400"/>
            <a:chExt cx="13374772" cy="8407400"/>
          </a:xfrm>
        </p:grpSpPr>
        <p:pic>
          <p:nvPicPr>
            <p:cNvPr id="5" name="Image 1"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36892" y="3581400"/>
              <a:ext cx="13374772" cy="8407400"/>
            </a:xfrm>
            <a:prstGeom prst="rect">
              <a:avLst/>
            </a:prstGeom>
          </p:spPr>
        </p:pic>
        <p:pic>
          <p:nvPicPr>
            <p:cNvPr id="8" name="Image 4"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393482" y="5669214"/>
              <a:ext cx="9566776" cy="4602147"/>
            </a:xfrm>
            <a:prstGeom prst="rect">
              <a:avLst/>
            </a:prstGeom>
          </p:spPr>
        </p:pic>
        <p:pic>
          <p:nvPicPr>
            <p:cNvPr id="6" name="Image 2"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071359" y="5600700"/>
              <a:ext cx="4305838" cy="4305300"/>
            </a:xfrm>
            <a:prstGeom prst="rect">
              <a:avLst/>
            </a:prstGeom>
          </p:spPr>
        </p:pic>
        <p:pic>
          <p:nvPicPr>
            <p:cNvPr id="7" name="Image 3"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6630229" y="6159500"/>
              <a:ext cx="3188098" cy="3187700"/>
            </a:xfrm>
            <a:prstGeom prst="rect">
              <a:avLst/>
            </a:prstGeom>
          </p:spPr>
        </p:pic>
        <p:pic>
          <p:nvPicPr>
            <p:cNvPr id="9" name="Image 5"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901387" y="6527800"/>
              <a:ext cx="2451406" cy="2451100"/>
            </a:xfrm>
            <a:prstGeom prst="rect">
              <a:avLst/>
            </a:prstGeom>
          </p:spPr>
        </p:pic>
        <p:pic>
          <p:nvPicPr>
            <p:cNvPr id="10" name="Image 6" descr=" "/>
            <p:cNvPicPr>
              <a:picLocks noChangeAspect="1"/>
            </p:cNvPicPr>
            <p:nvPr/>
          </p:nvPicPr>
          <p:blipFill>
            <a:blip r:embed="rId29">
              <a:extLst>
                <a:ext uri="{96DAC541-7B7A-43D3-8B79-37D633B846F1}">
                  <asvg:svgBlip xmlns:asvg="http://schemas.microsoft.com/office/drawing/2016/SVG/main" r:embed="rId31"/>
                </a:ext>
              </a:extLst>
            </a:blip>
            <a:stretch>
              <a:fillRect/>
            </a:stretch>
          </p:blipFill>
          <p:spPr>
            <a:xfrm>
              <a:off x="9449981" y="8978900"/>
              <a:ext cx="2451406" cy="2451100"/>
            </a:xfrm>
            <a:prstGeom prst="rect">
              <a:avLst/>
            </a:prstGeom>
          </p:spPr>
        </p:pic>
        <p:pic>
          <p:nvPicPr>
            <p:cNvPr id="11" name="Image 7" descr=" "/>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998575" y="6527800"/>
              <a:ext cx="2451406" cy="2451100"/>
            </a:xfrm>
            <a:prstGeom prst="rect">
              <a:avLst/>
            </a:prstGeom>
          </p:spPr>
        </p:pic>
        <p:sp>
          <p:nvSpPr>
            <p:cNvPr id="12" name="Shape 2"/>
            <p:cNvSpPr/>
            <p:nvPr/>
          </p:nvSpPr>
          <p:spPr>
            <a:xfrm>
              <a:off x="8687886" y="6908800"/>
              <a:ext cx="381048" cy="381000"/>
            </a:xfrm>
            <a:prstGeom prst="ellipse">
              <a:avLst/>
            </a:prstGeom>
            <a:noFill/>
            <a:ln/>
          </p:spPr>
        </p:sp>
        <p:pic>
          <p:nvPicPr>
            <p:cNvPr id="14" name="Image 9" descr=" "/>
            <p:cNvPicPr>
              <a:picLocks noChangeAspect="1"/>
            </p:cNvPicPr>
            <p:nvPr/>
          </p:nvPicPr>
          <p:blipFill>
            <a:blip r:embed="rId29">
              <a:extLst>
                <a:ext uri="{96DAC541-7B7A-43D3-8B79-37D633B846F1}">
                  <asvg:svgBlip xmlns:asvg="http://schemas.microsoft.com/office/drawing/2016/SVG/main" r:embed="rId34"/>
                </a:ext>
              </a:extLst>
            </a:blip>
            <a:stretch>
              <a:fillRect/>
            </a:stretch>
          </p:blipFill>
          <p:spPr>
            <a:xfrm>
              <a:off x="4547168" y="4140200"/>
              <a:ext cx="2451406" cy="2451100"/>
            </a:xfrm>
            <a:prstGeom prst="rect">
              <a:avLst/>
            </a:prstGeom>
          </p:spPr>
        </p:pic>
        <p:pic>
          <p:nvPicPr>
            <p:cNvPr id="15" name="Image 10" descr=" "/>
            <p:cNvPicPr>
              <a:picLocks noChangeAspect="1"/>
            </p:cNvPicPr>
            <p:nvPr/>
          </p:nvPicPr>
          <p:blipFill>
            <a:blip r:embed="rId29">
              <a:extLst>
                <a:ext uri="{96DAC541-7B7A-43D3-8B79-37D633B846F1}">
                  <asvg:svgBlip xmlns:asvg="http://schemas.microsoft.com/office/drawing/2016/SVG/main" r:embed="rId35"/>
                </a:ext>
              </a:extLst>
            </a:blip>
            <a:stretch>
              <a:fillRect/>
            </a:stretch>
          </p:blipFill>
          <p:spPr>
            <a:xfrm>
              <a:off x="2095762" y="6527800"/>
              <a:ext cx="2451406" cy="2451100"/>
            </a:xfrm>
            <a:prstGeom prst="rect">
              <a:avLst/>
            </a:prstGeom>
          </p:spPr>
        </p:pic>
        <p:sp>
          <p:nvSpPr>
            <p:cNvPr id="16" name="Text 3"/>
            <p:cNvSpPr/>
            <p:nvPr/>
          </p:nvSpPr>
          <p:spPr>
            <a:xfrm>
              <a:off x="2908664" y="7454900"/>
              <a:ext cx="90604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Financial</a:t>
              </a:r>
              <a:endParaRPr lang="en-US" sz="1600" dirty="0"/>
            </a:p>
          </p:txBody>
        </p:sp>
        <p:sp>
          <p:nvSpPr>
            <p:cNvPr id="17" name="Text 4"/>
            <p:cNvSpPr/>
            <p:nvPr/>
          </p:nvSpPr>
          <p:spPr>
            <a:xfrm>
              <a:off x="2553019" y="7759700"/>
              <a:ext cx="160463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Revenue Growth</a:t>
              </a:r>
              <a:endParaRPr lang="en-US" sz="1600" dirty="0"/>
            </a:p>
          </p:txBody>
        </p:sp>
        <p:sp>
          <p:nvSpPr>
            <p:cNvPr id="18" name="Text 5"/>
            <p:cNvSpPr/>
            <p:nvPr/>
          </p:nvSpPr>
          <p:spPr>
            <a:xfrm>
              <a:off x="7383856" y="7302500"/>
              <a:ext cx="1668142"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Customer Satisfaction</a:t>
              </a:r>
              <a:endParaRPr lang="en-US" sz="1600" dirty="0"/>
            </a:p>
          </p:txBody>
        </p:sp>
        <p:sp>
          <p:nvSpPr>
            <p:cNvPr id="19" name="Text 6"/>
            <p:cNvSpPr/>
            <p:nvPr/>
          </p:nvSpPr>
          <p:spPr>
            <a:xfrm>
              <a:off x="7709864" y="7912100"/>
              <a:ext cx="107116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E1D7FD">
                      <a:alpha val="100000"/>
                    </a:srgbClr>
                  </a:solidFill>
                  <a:latin typeface="Inter Regular" pitchFamily="34" charset="0"/>
                  <a:ea typeface="Inter Regular" pitchFamily="34" charset="-122"/>
                  <a:cs typeface="Inter Regular" pitchFamily="34" charset="-120"/>
                </a:rPr>
                <a:t>NPS Score</a:t>
              </a:r>
              <a:endParaRPr lang="en-US" sz="1600" dirty="0"/>
            </a:p>
          </p:txBody>
        </p:sp>
        <p:sp>
          <p:nvSpPr>
            <p:cNvPr id="20" name="Text 7"/>
            <p:cNvSpPr/>
            <p:nvPr/>
          </p:nvSpPr>
          <p:spPr>
            <a:xfrm>
              <a:off x="10135867" y="9906000"/>
              <a:ext cx="116007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Operational</a:t>
              </a:r>
              <a:endParaRPr lang="en-US" sz="1600" dirty="0"/>
            </a:p>
          </p:txBody>
        </p:sp>
        <p:sp>
          <p:nvSpPr>
            <p:cNvPr id="21" name="Text 8"/>
            <p:cNvSpPr/>
            <p:nvPr/>
          </p:nvSpPr>
          <p:spPr>
            <a:xfrm>
              <a:off x="9754819" y="10210800"/>
              <a:ext cx="190947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Average Cycle Time</a:t>
              </a:r>
              <a:endParaRPr lang="en-US" sz="1600" dirty="0"/>
            </a:p>
          </p:txBody>
        </p:sp>
        <p:sp>
          <p:nvSpPr>
            <p:cNvPr id="22" name="Text 9"/>
            <p:cNvSpPr/>
            <p:nvPr/>
          </p:nvSpPr>
          <p:spPr>
            <a:xfrm>
              <a:off x="4754628" y="4914900"/>
              <a:ext cx="2049189"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Employee Engagement</a:t>
              </a:r>
              <a:endParaRPr lang="en-US" sz="1600" dirty="0"/>
            </a:p>
          </p:txBody>
        </p:sp>
        <p:sp>
          <p:nvSpPr>
            <p:cNvPr id="23" name="Text 10"/>
            <p:cNvSpPr/>
            <p:nvPr/>
          </p:nvSpPr>
          <p:spPr>
            <a:xfrm>
              <a:off x="5233054" y="5524500"/>
              <a:ext cx="116007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Pulse Score</a:t>
              </a:r>
              <a:endParaRPr lang="en-US" sz="1600" dirty="0"/>
            </a:p>
          </p:txBody>
        </p:sp>
        <p:sp>
          <p:nvSpPr>
            <p:cNvPr id="24" name="Text 11"/>
            <p:cNvSpPr/>
            <p:nvPr/>
          </p:nvSpPr>
          <p:spPr>
            <a:xfrm>
              <a:off x="12197758" y="7302500"/>
              <a:ext cx="1871367" cy="372533"/>
            </a:xfrm>
            <a:prstGeom prst="rect">
              <a:avLst/>
            </a:prstGeom>
            <a:noFill/>
            <a:ln/>
          </p:spPr>
          <p:txBody>
            <a:bodyPr wrap="square" lIns="0" tIns="0" rIns="0" bIns="0" rtlCol="0" anchor="t"/>
            <a:lstStyle/>
            <a:p>
              <a:pPr marL="0" indent="0" algn="ctr">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Strategic Progress</a:t>
              </a:r>
              <a:endParaRPr lang="en-US" sz="1600" dirty="0"/>
            </a:p>
          </p:txBody>
        </p:sp>
        <p:sp>
          <p:nvSpPr>
            <p:cNvPr id="25" name="Text 12"/>
            <p:cNvSpPr/>
            <p:nvPr/>
          </p:nvSpPr>
          <p:spPr>
            <a:xfrm>
              <a:off x="12286669" y="7607300"/>
              <a:ext cx="1693545"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Strategic Goals Completion Rate</a:t>
              </a:r>
              <a:endParaRPr lang="en-US" sz="1600" dirty="0"/>
            </a:p>
          </p:txBody>
        </p:sp>
        <p:sp>
          <p:nvSpPr>
            <p:cNvPr id="26" name="Shape 13"/>
            <p:cNvSpPr/>
            <p:nvPr/>
          </p:nvSpPr>
          <p:spPr>
            <a:xfrm>
              <a:off x="10783648" y="7924800"/>
              <a:ext cx="76210" cy="76200"/>
            </a:xfrm>
            <a:prstGeom prst="ellipse">
              <a:avLst/>
            </a:prstGeom>
            <a:solidFill>
              <a:srgbClr val="DBCAFB">
                <a:alpha val="100000"/>
              </a:srgbClr>
            </a:solidFill>
            <a:ln/>
          </p:spPr>
        </p:sp>
        <p:sp>
          <p:nvSpPr>
            <p:cNvPr id="27" name="Shape 14"/>
            <p:cNvSpPr/>
            <p:nvPr/>
          </p:nvSpPr>
          <p:spPr>
            <a:xfrm>
              <a:off x="5715714" y="7937500"/>
              <a:ext cx="76210" cy="76200"/>
            </a:xfrm>
            <a:prstGeom prst="ellipse">
              <a:avLst/>
            </a:prstGeom>
            <a:solidFill>
              <a:srgbClr val="DBCAFB">
                <a:alpha val="100000"/>
              </a:srgbClr>
            </a:solidFill>
            <a:ln/>
          </p:spPr>
        </p:sp>
        <p:pic>
          <p:nvPicPr>
            <p:cNvPr id="55" name="Graphic 54">
              <a:extLst>
                <a:ext uri="{FF2B5EF4-FFF2-40B4-BE49-F238E27FC236}">
                  <a16:creationId xmlns:a16="http://schemas.microsoft.com/office/drawing/2014/main" id="{036344F6-22D5-4554-A6C8-DA0F6C0A1B37}"/>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8735657" y="6769042"/>
              <a:ext cx="381000" cy="381000"/>
            </a:xfrm>
            <a:prstGeom prst="rect">
              <a:avLst/>
            </a:prstGeom>
          </p:spPr>
        </p:pic>
      </p:grpSp>
      <p:pic>
        <p:nvPicPr>
          <p:cNvPr id="57" name="Graphic 56">
            <a:extLst>
              <a:ext uri="{FF2B5EF4-FFF2-40B4-BE49-F238E27FC236}">
                <a16:creationId xmlns:a16="http://schemas.microsoft.com/office/drawing/2014/main" id="{211BE746-E919-4F6B-A8E2-BFDBE5FC03CE}"/>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6728451" y="3965575"/>
            <a:ext cx="228600" cy="228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7035800"/>
            <a:ext cx="24387048" cy="7035800"/>
          </a:xfrm>
          <a:prstGeom prst="rect">
            <a:avLst/>
          </a:prstGeom>
          <a:solidFill>
            <a:srgbClr val="F6F3FF">
              <a:alpha val="100000"/>
            </a:srgbClr>
          </a:solidFill>
          <a:ln/>
        </p:spPr>
        <p:txBody>
          <a:bodyPr/>
          <a:lstStyle/>
          <a:p>
            <a:r>
              <a:rPr lang="en-US" dirty="0"/>
              <a:t>a</a:t>
            </a:r>
          </a:p>
        </p:txBody>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377950"/>
            <a:ext cx="24387048" cy="5664200"/>
          </a:xfrm>
          <a:prstGeom prst="rect">
            <a:avLst/>
          </a:prstGeom>
        </p:spPr>
      </p:pic>
      <p:sp>
        <p:nvSpPr>
          <p:cNvPr id="4" name="Text 1"/>
          <p:cNvSpPr/>
          <p:nvPr/>
        </p:nvSpPr>
        <p:spPr>
          <a:xfrm>
            <a:off x="1524191" y="1524000"/>
            <a:ext cx="21592699"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a:t>
            </a:r>
            <a:r>
              <a:rPr lang="en-US" sz="6000" kern="0" spc="-240" dirty="0">
                <a:solidFill>
                  <a:srgbClr val="9559F1">
                    <a:alpha val="100000"/>
                  </a:srgbClr>
                </a:solidFill>
                <a:latin typeface="Inter Medium" pitchFamily="34" charset="0"/>
                <a:ea typeface="Inter Medium" pitchFamily="34" charset="-122"/>
                <a:cs typeface="Inter Medium" pitchFamily="34" charset="-120"/>
              </a:rPr>
              <a:t>Start with a template as your base</a:t>
            </a:r>
            <a:r>
              <a:rPr lang="en-US" sz="6000" kern="0" spc="-240" dirty="0">
                <a:solidFill>
                  <a:srgbClr val="000000">
                    <a:alpha val="100000"/>
                  </a:srgbClr>
                </a:solidFill>
                <a:latin typeface="Inter Medium" pitchFamily="34" charset="0"/>
                <a:ea typeface="Inter Medium" pitchFamily="34" charset="-122"/>
                <a:cs typeface="Inter Medium" pitchFamily="34" charset="-120"/>
              </a:rPr>
              <a:t>. Then, refine it into a robust decision-making tool designed for your team."</a:t>
            </a:r>
            <a:endParaRPr lang="en-US" sz="6000" dirty="0"/>
          </a:p>
        </p:txBody>
      </p:sp>
      <p:sp>
        <p:nvSpPr>
          <p:cNvPr id="5" name="Text 2"/>
          <p:cNvSpPr/>
          <p:nvPr/>
        </p:nvSpPr>
        <p:spPr>
          <a:xfrm>
            <a:off x="16054807" y="5486400"/>
            <a:ext cx="6875793"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Empower teams to design dashboards that reflect their unique workflows. With drag-and-drop widgets and flexible data views, each department can monitor what matters most without extra dev time.</a:t>
            </a:r>
            <a:endParaRPr lang="en-US" sz="1600" dirty="0"/>
          </a:p>
        </p:txBody>
      </p:sp>
      <p:sp>
        <p:nvSpPr>
          <p:cNvPr id="6" name="Text 3"/>
          <p:cNvSpPr/>
          <p:nvPr/>
        </p:nvSpPr>
        <p:spPr>
          <a:xfrm>
            <a:off x="1981448" y="5867400"/>
            <a:ext cx="371309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Customizable KPI Dashboard Template</a:t>
            </a:r>
            <a:endParaRPr lang="en-US" sz="1600" dirty="0"/>
          </a:p>
        </p:txBody>
      </p:sp>
      <p:sp>
        <p:nvSpPr>
          <p:cNvPr id="7" name="Shape 4"/>
          <p:cNvSpPr/>
          <p:nvPr/>
        </p:nvSpPr>
        <p:spPr>
          <a:xfrm>
            <a:off x="1727416" y="5613400"/>
            <a:ext cx="4153419" cy="812800"/>
          </a:xfrm>
          <a:prstGeom prst="roundRect">
            <a:avLst>
              <a:gd name="adj" fmla="val 93375"/>
            </a:avLst>
          </a:prstGeom>
          <a:noFill/>
          <a:ln w="12700">
            <a:solidFill>
              <a:srgbClr val="000000"/>
            </a:solidFill>
            <a:prstDash val="solid"/>
          </a:ln>
        </p:spPr>
      </p:sp>
      <p:pic>
        <p:nvPicPr>
          <p:cNvPr id="9"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78222" y="7607300"/>
            <a:ext cx="6731841" cy="2413000"/>
          </a:xfrm>
          <a:prstGeom prst="rect">
            <a:avLst/>
          </a:prstGeom>
        </p:spPr>
      </p:pic>
      <p:sp>
        <p:nvSpPr>
          <p:cNvPr id="10" name="Text 5"/>
          <p:cNvSpPr/>
          <p:nvPr/>
        </p:nvSpPr>
        <p:spPr>
          <a:xfrm>
            <a:off x="2819752" y="8204200"/>
            <a:ext cx="234132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Drag-and-Drop Widgets</a:t>
            </a:r>
            <a:endParaRPr lang="en-US" sz="1600" dirty="0"/>
          </a:p>
        </p:txBody>
      </p:sp>
      <p:sp>
        <p:nvSpPr>
          <p:cNvPr id="11" name="Text 6"/>
          <p:cNvSpPr/>
          <p:nvPr/>
        </p:nvSpPr>
        <p:spPr>
          <a:xfrm>
            <a:off x="2413302" y="8864600"/>
            <a:ext cx="514837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E1D7FD">
                    <a:alpha val="100000"/>
                  </a:srgbClr>
                </a:solidFill>
                <a:latin typeface="Inter Medium" pitchFamily="34" charset="0"/>
                <a:ea typeface="Inter Medium" pitchFamily="34" charset="-122"/>
                <a:cs typeface="Inter Medium" pitchFamily="34" charset="-120"/>
              </a:rPr>
              <a:t>Rearrange KPIs based on each team member's roles to improve clarity and focus.</a:t>
            </a:r>
            <a:endParaRPr lang="en-US" sz="1600" dirty="0"/>
          </a:p>
        </p:txBody>
      </p:sp>
      <p:sp>
        <p:nvSpPr>
          <p:cNvPr id="12" name="Shape 7"/>
          <p:cNvSpPr/>
          <p:nvPr/>
        </p:nvSpPr>
        <p:spPr>
          <a:xfrm>
            <a:off x="7493937" y="8166100"/>
            <a:ext cx="381048" cy="381000"/>
          </a:xfrm>
          <a:prstGeom prst="ellipse">
            <a:avLst/>
          </a:prstGeom>
          <a:noFill/>
          <a:ln/>
        </p:spPr>
      </p:sp>
      <p:pic>
        <p:nvPicPr>
          <p:cNvPr id="15" name="Image 5"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84891" y="8276115"/>
            <a:ext cx="215834" cy="215578"/>
          </a:xfrm>
          <a:prstGeom prst="rect">
            <a:avLst/>
          </a:prstGeom>
        </p:spPr>
      </p:pic>
      <p:pic>
        <p:nvPicPr>
          <p:cNvPr id="17" name="Image 7"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78222" y="10147300"/>
            <a:ext cx="6731841" cy="2413000"/>
          </a:xfrm>
          <a:prstGeom prst="rect">
            <a:avLst/>
          </a:prstGeom>
        </p:spPr>
      </p:pic>
      <p:sp>
        <p:nvSpPr>
          <p:cNvPr id="18" name="Text 8"/>
          <p:cNvSpPr/>
          <p:nvPr/>
        </p:nvSpPr>
        <p:spPr>
          <a:xfrm>
            <a:off x="2819752" y="10744200"/>
            <a:ext cx="185866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Real-Time Updates</a:t>
            </a:r>
            <a:endParaRPr lang="en-US" sz="1600" dirty="0"/>
          </a:p>
        </p:txBody>
      </p:sp>
      <p:sp>
        <p:nvSpPr>
          <p:cNvPr id="19" name="Text 9"/>
          <p:cNvSpPr/>
          <p:nvPr/>
        </p:nvSpPr>
        <p:spPr>
          <a:xfrm>
            <a:off x="2413302" y="11404600"/>
            <a:ext cx="514837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EFEAFD">
                    <a:alpha val="100000"/>
                  </a:srgbClr>
                </a:solidFill>
                <a:latin typeface="Inter Medium" pitchFamily="34" charset="0"/>
                <a:ea typeface="Inter Medium" pitchFamily="34" charset="-122"/>
                <a:cs typeface="Inter Medium" pitchFamily="34" charset="-120"/>
              </a:rPr>
              <a:t>Synchronize your data with sources in real-time, ensuring you have the most up-to-date information.</a:t>
            </a:r>
            <a:endParaRPr lang="en-US" sz="1600" dirty="0"/>
          </a:p>
        </p:txBody>
      </p:sp>
      <p:sp>
        <p:nvSpPr>
          <p:cNvPr id="20" name="Shape 10"/>
          <p:cNvSpPr/>
          <p:nvPr/>
        </p:nvSpPr>
        <p:spPr>
          <a:xfrm>
            <a:off x="7493937" y="10706100"/>
            <a:ext cx="381048" cy="381000"/>
          </a:xfrm>
          <a:prstGeom prst="ellipse">
            <a:avLst/>
          </a:prstGeom>
          <a:noFill/>
          <a:ln/>
        </p:spPr>
      </p:sp>
      <p:pic>
        <p:nvPicPr>
          <p:cNvPr id="23"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22828" y="10753725"/>
            <a:ext cx="285786" cy="285750"/>
          </a:xfrm>
          <a:prstGeom prst="rect">
            <a:avLst/>
          </a:prstGeom>
        </p:spPr>
      </p:pic>
      <p:pic>
        <p:nvPicPr>
          <p:cNvPr id="25"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37080" y="7607300"/>
            <a:ext cx="6731841" cy="2413000"/>
          </a:xfrm>
          <a:prstGeom prst="rect">
            <a:avLst/>
          </a:prstGeom>
        </p:spPr>
      </p:pic>
      <p:sp>
        <p:nvSpPr>
          <p:cNvPr id="26" name="Text 11"/>
          <p:cNvSpPr/>
          <p:nvPr/>
        </p:nvSpPr>
        <p:spPr>
          <a:xfrm>
            <a:off x="9678610" y="8204200"/>
            <a:ext cx="198568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Flexible Chart Types</a:t>
            </a:r>
            <a:endParaRPr lang="en-US" sz="1600" dirty="0"/>
          </a:p>
        </p:txBody>
      </p:sp>
      <p:sp>
        <p:nvSpPr>
          <p:cNvPr id="27" name="Text 12"/>
          <p:cNvSpPr/>
          <p:nvPr/>
        </p:nvSpPr>
        <p:spPr>
          <a:xfrm>
            <a:off x="9272159" y="8864600"/>
            <a:ext cx="514837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E1D7FD">
                    <a:alpha val="100000"/>
                  </a:srgbClr>
                </a:solidFill>
                <a:latin typeface="Inter Medium" pitchFamily="34" charset="0"/>
                <a:ea typeface="Inter Medium" pitchFamily="34" charset="-122"/>
                <a:cs typeface="Inter Medium" pitchFamily="34" charset="-120"/>
              </a:rPr>
              <a:t>Easily switch between line, bar, and gauge views to visualize your data.</a:t>
            </a:r>
            <a:endParaRPr lang="en-US" sz="1600" dirty="0"/>
          </a:p>
        </p:txBody>
      </p:sp>
      <p:sp>
        <p:nvSpPr>
          <p:cNvPr id="28" name="Shape 13"/>
          <p:cNvSpPr/>
          <p:nvPr/>
        </p:nvSpPr>
        <p:spPr>
          <a:xfrm>
            <a:off x="14352794" y="8166100"/>
            <a:ext cx="381048" cy="381000"/>
          </a:xfrm>
          <a:prstGeom prst="ellipse">
            <a:avLst/>
          </a:prstGeom>
          <a:noFill/>
          <a:ln/>
        </p:spPr>
      </p:sp>
      <p:pic>
        <p:nvPicPr>
          <p:cNvPr id="31" name="Image 15"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297562" y="8312150"/>
            <a:ext cx="254032" cy="25400"/>
          </a:xfrm>
          <a:prstGeom prst="rect">
            <a:avLst/>
          </a:prstGeom>
        </p:spPr>
      </p:pic>
      <p:pic>
        <p:nvPicPr>
          <p:cNvPr id="32" name="Image 16"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449981" y="8235950"/>
            <a:ext cx="101613" cy="101600"/>
          </a:xfrm>
          <a:prstGeom prst="rect">
            <a:avLst/>
          </a:prstGeom>
        </p:spPr>
      </p:pic>
      <p:pic>
        <p:nvPicPr>
          <p:cNvPr id="33" name="Image 17"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302636" y="8375650"/>
            <a:ext cx="254032" cy="25400"/>
          </a:xfrm>
          <a:prstGeom prst="rect">
            <a:avLst/>
          </a:prstGeom>
        </p:spPr>
      </p:pic>
      <p:pic>
        <p:nvPicPr>
          <p:cNvPr id="34" name="Image 18"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302636" y="8375650"/>
            <a:ext cx="101613" cy="101600"/>
          </a:xfrm>
          <a:prstGeom prst="rect">
            <a:avLst/>
          </a:prstGeom>
        </p:spPr>
      </p:pic>
      <p:pic>
        <p:nvPicPr>
          <p:cNvPr id="36" name="Image 20"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637080" y="10147300"/>
            <a:ext cx="6731841" cy="2413000"/>
          </a:xfrm>
          <a:prstGeom prst="rect">
            <a:avLst/>
          </a:prstGeom>
        </p:spPr>
      </p:pic>
      <p:sp>
        <p:nvSpPr>
          <p:cNvPr id="37" name="Text 14"/>
          <p:cNvSpPr/>
          <p:nvPr/>
        </p:nvSpPr>
        <p:spPr>
          <a:xfrm>
            <a:off x="9678610" y="10744200"/>
            <a:ext cx="12489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Smart Alerts</a:t>
            </a:r>
            <a:endParaRPr lang="en-US" sz="1600" dirty="0"/>
          </a:p>
        </p:txBody>
      </p:sp>
      <p:sp>
        <p:nvSpPr>
          <p:cNvPr id="38" name="Text 15"/>
          <p:cNvSpPr/>
          <p:nvPr/>
        </p:nvSpPr>
        <p:spPr>
          <a:xfrm>
            <a:off x="9272159" y="11404600"/>
            <a:ext cx="514837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EFEAFD">
                    <a:alpha val="100000"/>
                  </a:srgbClr>
                </a:solidFill>
                <a:latin typeface="Inter Medium" pitchFamily="34" charset="0"/>
                <a:ea typeface="Inter Medium" pitchFamily="34" charset="-122"/>
                <a:cs typeface="Inter Medium" pitchFamily="34" charset="-120"/>
              </a:rPr>
              <a:t>Establish clear thresholds and define specific triggers to ensure optimal performance.</a:t>
            </a:r>
            <a:endParaRPr lang="en-US" sz="1600" dirty="0"/>
          </a:p>
        </p:txBody>
      </p:sp>
      <p:sp>
        <p:nvSpPr>
          <p:cNvPr id="39" name="Shape 16"/>
          <p:cNvSpPr/>
          <p:nvPr/>
        </p:nvSpPr>
        <p:spPr>
          <a:xfrm>
            <a:off x="14352794" y="10706100"/>
            <a:ext cx="381048" cy="381000"/>
          </a:xfrm>
          <a:prstGeom prst="ellipse">
            <a:avLst/>
          </a:prstGeom>
          <a:noFill/>
          <a:ln/>
        </p:spPr>
      </p:sp>
      <p:pic>
        <p:nvPicPr>
          <p:cNvPr id="42" name="Image 23"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297559" y="10769600"/>
            <a:ext cx="254038" cy="254000"/>
          </a:xfrm>
          <a:prstGeom prst="rect">
            <a:avLst/>
          </a:prstGeom>
        </p:spPr>
      </p:pic>
      <p:pic>
        <p:nvPicPr>
          <p:cNvPr id="43" name="Image 24"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9310264" y="10769600"/>
            <a:ext cx="228629" cy="254000"/>
          </a:xfrm>
          <a:prstGeom prst="rect">
            <a:avLst/>
          </a:prstGeom>
        </p:spPr>
      </p:pic>
      <p:pic>
        <p:nvPicPr>
          <p:cNvPr id="45" name="Image 26"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95937" y="7607300"/>
            <a:ext cx="6731841" cy="2413000"/>
          </a:xfrm>
          <a:prstGeom prst="rect">
            <a:avLst/>
          </a:prstGeom>
        </p:spPr>
      </p:pic>
      <p:sp>
        <p:nvSpPr>
          <p:cNvPr id="46" name="Text 17"/>
          <p:cNvSpPr/>
          <p:nvPr/>
        </p:nvSpPr>
        <p:spPr>
          <a:xfrm>
            <a:off x="16537467" y="8204200"/>
            <a:ext cx="1820561"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Department Filters</a:t>
            </a:r>
            <a:endParaRPr lang="en-US" sz="1600" dirty="0"/>
          </a:p>
        </p:txBody>
      </p:sp>
      <p:sp>
        <p:nvSpPr>
          <p:cNvPr id="47" name="Text 18"/>
          <p:cNvSpPr/>
          <p:nvPr/>
        </p:nvSpPr>
        <p:spPr>
          <a:xfrm>
            <a:off x="16131016" y="8864600"/>
            <a:ext cx="514837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E1D7FD">
                    <a:alpha val="100000"/>
                  </a:srgbClr>
                </a:solidFill>
                <a:latin typeface="Inter Medium" pitchFamily="34" charset="0"/>
                <a:ea typeface="Inter Medium" pitchFamily="34" charset="-122"/>
                <a:cs typeface="Inter Medium" pitchFamily="34" charset="-120"/>
              </a:rPr>
              <a:t>Easily filter results by team or region to find what you need.</a:t>
            </a:r>
            <a:endParaRPr lang="en-US" sz="1600" dirty="0"/>
          </a:p>
        </p:txBody>
      </p:sp>
      <p:sp>
        <p:nvSpPr>
          <p:cNvPr id="48" name="Shape 19"/>
          <p:cNvSpPr/>
          <p:nvPr/>
        </p:nvSpPr>
        <p:spPr>
          <a:xfrm>
            <a:off x="21211651" y="8166100"/>
            <a:ext cx="381048" cy="381000"/>
          </a:xfrm>
          <a:prstGeom prst="ellipse">
            <a:avLst/>
          </a:prstGeom>
          <a:noFill/>
          <a:ln/>
        </p:spPr>
      </p:sp>
      <p:pic>
        <p:nvPicPr>
          <p:cNvPr id="51" name="Image 29"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181822" y="8242269"/>
            <a:ext cx="203225" cy="228662"/>
          </a:xfrm>
          <a:prstGeom prst="rect">
            <a:avLst/>
          </a:prstGeom>
        </p:spPr>
      </p:pic>
      <p:pic>
        <p:nvPicPr>
          <p:cNvPr id="53" name="Image 31"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5495937" y="10147300"/>
            <a:ext cx="6731841" cy="2413000"/>
          </a:xfrm>
          <a:prstGeom prst="rect">
            <a:avLst/>
          </a:prstGeom>
        </p:spPr>
      </p:pic>
      <p:sp>
        <p:nvSpPr>
          <p:cNvPr id="54" name="Text 20"/>
          <p:cNvSpPr/>
          <p:nvPr/>
        </p:nvSpPr>
        <p:spPr>
          <a:xfrm>
            <a:off x="16537467" y="10744200"/>
            <a:ext cx="227781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Mobile-Ready Interface</a:t>
            </a:r>
            <a:endParaRPr lang="en-US" sz="1600" dirty="0"/>
          </a:p>
        </p:txBody>
      </p:sp>
      <p:sp>
        <p:nvSpPr>
          <p:cNvPr id="55" name="Text 21"/>
          <p:cNvSpPr/>
          <p:nvPr/>
        </p:nvSpPr>
        <p:spPr>
          <a:xfrm>
            <a:off x="16131016" y="11404600"/>
            <a:ext cx="5148377"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EFEAFD">
                    <a:alpha val="100000"/>
                  </a:srgbClr>
                </a:solidFill>
                <a:latin typeface="Inter Medium" pitchFamily="34" charset="0"/>
                <a:ea typeface="Inter Medium" pitchFamily="34" charset="-122"/>
                <a:cs typeface="Inter Medium" pitchFamily="34" charset="-120"/>
              </a:rPr>
              <a:t>A responsive, user-friendly dashboard that adapts to different devices.</a:t>
            </a:r>
            <a:endParaRPr lang="en-US" sz="1600" dirty="0"/>
          </a:p>
        </p:txBody>
      </p:sp>
      <p:sp>
        <p:nvSpPr>
          <p:cNvPr id="56" name="Shape 22"/>
          <p:cNvSpPr/>
          <p:nvPr/>
        </p:nvSpPr>
        <p:spPr>
          <a:xfrm>
            <a:off x="21211651" y="10706100"/>
            <a:ext cx="381048" cy="381000"/>
          </a:xfrm>
          <a:prstGeom prst="ellipse">
            <a:avLst/>
          </a:prstGeom>
          <a:noFill/>
          <a:ln/>
        </p:spPr>
      </p:sp>
      <p:pic>
        <p:nvPicPr>
          <p:cNvPr id="59" name="Image 34"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6207226" y="10782300"/>
            <a:ext cx="152419" cy="228600"/>
          </a:xfrm>
          <a:prstGeom prst="rect">
            <a:avLst/>
          </a:prstGeom>
        </p:spPr>
      </p:pic>
      <p:pic>
        <p:nvPicPr>
          <p:cNvPr id="60" name="Image 35"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6270734" y="10947400"/>
            <a:ext cx="25403" cy="25400"/>
          </a:xfrm>
          <a:prstGeom prst="rect">
            <a:avLst/>
          </a:prstGeom>
        </p:spPr>
      </p:pic>
      <p:pic>
        <p:nvPicPr>
          <p:cNvPr id="62" name="Graphic 61">
            <a:extLst>
              <a:ext uri="{FF2B5EF4-FFF2-40B4-BE49-F238E27FC236}">
                <a16:creationId xmlns:a16="http://schemas.microsoft.com/office/drawing/2014/main" id="{03A127C0-4C2D-4722-BEEE-5DA05CBE3721}"/>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21279393" y="10733405"/>
            <a:ext cx="381000" cy="381000"/>
          </a:xfrm>
          <a:prstGeom prst="rect">
            <a:avLst/>
          </a:prstGeom>
        </p:spPr>
      </p:pic>
      <p:pic>
        <p:nvPicPr>
          <p:cNvPr id="63" name="Graphic 62">
            <a:extLst>
              <a:ext uri="{FF2B5EF4-FFF2-40B4-BE49-F238E27FC236}">
                <a16:creationId xmlns:a16="http://schemas.microsoft.com/office/drawing/2014/main" id="{5D092E14-354D-42FB-BD37-1BC3AF2E12BC}"/>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21279393" y="8210550"/>
            <a:ext cx="381000" cy="381000"/>
          </a:xfrm>
          <a:prstGeom prst="rect">
            <a:avLst/>
          </a:prstGeom>
        </p:spPr>
      </p:pic>
      <p:pic>
        <p:nvPicPr>
          <p:cNvPr id="66" name="Graphic 65">
            <a:extLst>
              <a:ext uri="{FF2B5EF4-FFF2-40B4-BE49-F238E27FC236}">
                <a16:creationId xmlns:a16="http://schemas.microsoft.com/office/drawing/2014/main" id="{5B85FDC7-F2FC-4B2E-B84F-C92415AE64F6}"/>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4361333" y="10708016"/>
            <a:ext cx="381000" cy="381000"/>
          </a:xfrm>
          <a:prstGeom prst="rect">
            <a:avLst/>
          </a:prstGeom>
        </p:spPr>
      </p:pic>
      <p:pic>
        <p:nvPicPr>
          <p:cNvPr id="67" name="Graphic 66">
            <a:extLst>
              <a:ext uri="{FF2B5EF4-FFF2-40B4-BE49-F238E27FC236}">
                <a16:creationId xmlns:a16="http://schemas.microsoft.com/office/drawing/2014/main" id="{4FEC33DF-39D0-4243-9347-027C136D2381}"/>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4361333" y="8185161"/>
            <a:ext cx="381000" cy="381000"/>
          </a:xfrm>
          <a:prstGeom prst="rect">
            <a:avLst/>
          </a:prstGeom>
        </p:spPr>
      </p:pic>
      <p:pic>
        <p:nvPicPr>
          <p:cNvPr id="68" name="Graphic 67">
            <a:extLst>
              <a:ext uri="{FF2B5EF4-FFF2-40B4-BE49-F238E27FC236}">
                <a16:creationId xmlns:a16="http://schemas.microsoft.com/office/drawing/2014/main" id="{E74116C7-FC23-44E5-B57B-FCC6F1CF9A10}"/>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7497175" y="10695824"/>
            <a:ext cx="381000" cy="381000"/>
          </a:xfrm>
          <a:prstGeom prst="rect">
            <a:avLst/>
          </a:prstGeom>
        </p:spPr>
      </p:pic>
      <p:pic>
        <p:nvPicPr>
          <p:cNvPr id="69" name="Graphic 68">
            <a:extLst>
              <a:ext uri="{FF2B5EF4-FFF2-40B4-BE49-F238E27FC236}">
                <a16:creationId xmlns:a16="http://schemas.microsoft.com/office/drawing/2014/main" id="{823900E6-BD49-40E2-820B-0F4516312DC2}"/>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7497175" y="8172969"/>
            <a:ext cx="381000" cy="381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11489" y="4013200"/>
            <a:ext cx="21364070" cy="7848600"/>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65521" y="4267200"/>
            <a:ext cx="20856007" cy="7340600"/>
          </a:xfrm>
          <a:prstGeom prst="rect">
            <a:avLst/>
          </a:prstGeom>
        </p:spPr>
      </p:pic>
      <p:pic>
        <p:nvPicPr>
          <p:cNvPr id="5"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0518" y="4762500"/>
            <a:ext cx="6350794" cy="6350000"/>
          </a:xfrm>
          <a:prstGeom prst="rect">
            <a:avLst/>
          </a:prstGeom>
        </p:spPr>
      </p:pic>
      <p:pic>
        <p:nvPicPr>
          <p:cNvPr id="6"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37492" y="5346700"/>
            <a:ext cx="5169546" cy="5168900"/>
          </a:xfrm>
          <a:prstGeom prst="rect">
            <a:avLst/>
          </a:prstGeom>
        </p:spPr>
      </p:pic>
      <p:pic>
        <p:nvPicPr>
          <p:cNvPr id="7"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07451" y="5816600"/>
            <a:ext cx="4242330" cy="4241800"/>
          </a:xfrm>
          <a:prstGeom prst="rect">
            <a:avLst/>
          </a:prstGeom>
        </p:spPr>
      </p:pic>
      <p:pic>
        <p:nvPicPr>
          <p:cNvPr id="8" name="Image 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88899" y="5448300"/>
            <a:ext cx="279435" cy="279400"/>
          </a:xfrm>
          <a:prstGeom prst="rect">
            <a:avLst/>
          </a:prstGeom>
        </p:spPr>
      </p:pic>
      <p:sp>
        <p:nvSpPr>
          <p:cNvPr id="9" name="Text 0"/>
          <p:cNvSpPr/>
          <p:nvPr/>
        </p:nvSpPr>
        <p:spPr>
          <a:xfrm>
            <a:off x="5855432" y="7200900"/>
            <a:ext cx="140564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Churn Rate</a:t>
            </a:r>
            <a:endParaRPr lang="en-US" sz="2000" dirty="0"/>
          </a:p>
        </p:txBody>
      </p:sp>
      <p:sp>
        <p:nvSpPr>
          <p:cNvPr id="10" name="Text 1"/>
          <p:cNvSpPr/>
          <p:nvPr/>
        </p:nvSpPr>
        <p:spPr>
          <a:xfrm>
            <a:off x="4767329" y="7747000"/>
            <a:ext cx="3497170" cy="982133"/>
          </a:xfrm>
          <a:prstGeom prst="rect">
            <a:avLst/>
          </a:prstGeom>
          <a:noFill/>
          <a:ln/>
        </p:spPr>
        <p:txBody>
          <a:bodyPr wrap="square" lIns="0" tIns="0" rIns="0" bIns="0" rtlCol="0" anchor="t"/>
          <a:lstStyle/>
          <a:p>
            <a:pPr marL="0" indent="0" algn="ctr">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Churn rate shows the percentage of customers who stop using a service, aiding retention evaluation.</a:t>
            </a:r>
            <a:endParaRPr lang="en-US" sz="1600" dirty="0"/>
          </a:p>
        </p:txBody>
      </p:sp>
      <p:sp>
        <p:nvSpPr>
          <p:cNvPr id="11" name="Shape 2"/>
          <p:cNvSpPr/>
          <p:nvPr/>
        </p:nvSpPr>
        <p:spPr>
          <a:xfrm>
            <a:off x="2807051" y="7658100"/>
            <a:ext cx="952619" cy="558800"/>
          </a:xfrm>
          <a:prstGeom prst="roundRect">
            <a:avLst>
              <a:gd name="adj" fmla="val 18000"/>
            </a:avLst>
          </a:prstGeom>
          <a:solidFill>
            <a:srgbClr val="FFFFFF">
              <a:alpha val="100000"/>
            </a:srgbClr>
          </a:solidFill>
          <a:ln/>
        </p:spPr>
      </p:sp>
      <p:sp>
        <p:nvSpPr>
          <p:cNvPr id="12" name="Text 3"/>
          <p:cNvSpPr/>
          <p:nvPr/>
        </p:nvSpPr>
        <p:spPr>
          <a:xfrm>
            <a:off x="2984873" y="7747000"/>
            <a:ext cx="68165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&gt; 5%</a:t>
            </a:r>
            <a:endParaRPr lang="en-US" sz="2000" dirty="0"/>
          </a:p>
        </p:txBody>
      </p:sp>
      <p:pic>
        <p:nvPicPr>
          <p:cNvPr id="14" name="Image 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15302" y="5283200"/>
            <a:ext cx="5309264" cy="5308600"/>
          </a:xfrm>
          <a:prstGeom prst="rect">
            <a:avLst/>
          </a:prstGeom>
        </p:spPr>
      </p:pic>
      <p:pic>
        <p:nvPicPr>
          <p:cNvPr id="15" name="Image 9"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910664" y="5778500"/>
            <a:ext cx="4318540" cy="4318000"/>
          </a:xfrm>
          <a:prstGeom prst="rect">
            <a:avLst/>
          </a:prstGeom>
        </p:spPr>
      </p:pic>
      <p:pic>
        <p:nvPicPr>
          <p:cNvPr id="16" name="Image 10"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291711" y="6159500"/>
            <a:ext cx="3556445" cy="3556000"/>
          </a:xfrm>
          <a:prstGeom prst="rect">
            <a:avLst/>
          </a:prstGeom>
        </p:spPr>
      </p:pic>
      <p:pic>
        <p:nvPicPr>
          <p:cNvPr id="17" name="Image 11"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968321" y="5854700"/>
            <a:ext cx="228629" cy="228600"/>
          </a:xfrm>
          <a:prstGeom prst="rect">
            <a:avLst/>
          </a:prstGeom>
        </p:spPr>
      </p:pic>
      <p:sp>
        <p:nvSpPr>
          <p:cNvPr id="18" name="Text 4"/>
          <p:cNvSpPr/>
          <p:nvPr/>
        </p:nvSpPr>
        <p:spPr>
          <a:xfrm>
            <a:off x="12104613" y="7200900"/>
            <a:ext cx="202802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Revenue Growth</a:t>
            </a:r>
            <a:endParaRPr lang="en-US" sz="2000" dirty="0"/>
          </a:p>
        </p:txBody>
      </p:sp>
      <p:sp>
        <p:nvSpPr>
          <p:cNvPr id="19" name="Text 5"/>
          <p:cNvSpPr/>
          <p:nvPr/>
        </p:nvSpPr>
        <p:spPr>
          <a:xfrm>
            <a:off x="11715098" y="7747000"/>
            <a:ext cx="2709672" cy="1286933"/>
          </a:xfrm>
          <a:prstGeom prst="rect">
            <a:avLst/>
          </a:prstGeom>
          <a:noFill/>
          <a:ln/>
        </p:spPr>
        <p:txBody>
          <a:bodyPr wrap="square" lIns="0" tIns="0" rIns="0" bIns="0" rtlCol="0" anchor="t"/>
          <a:lstStyle/>
          <a:p>
            <a:pPr marL="0" indent="0" algn="ctr">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Revenue growth reflects increased sales income over time, highlighting successful customer retention.</a:t>
            </a:r>
            <a:endParaRPr lang="en-US" sz="1600" dirty="0"/>
          </a:p>
        </p:txBody>
      </p:sp>
      <p:sp>
        <p:nvSpPr>
          <p:cNvPr id="20" name="Shape 6"/>
          <p:cNvSpPr/>
          <p:nvPr/>
        </p:nvSpPr>
        <p:spPr>
          <a:xfrm>
            <a:off x="9792924" y="7658100"/>
            <a:ext cx="952619" cy="558800"/>
          </a:xfrm>
          <a:prstGeom prst="roundRect">
            <a:avLst>
              <a:gd name="adj" fmla="val 18000"/>
            </a:avLst>
          </a:prstGeom>
          <a:solidFill>
            <a:srgbClr val="FFFFFF">
              <a:alpha val="100000"/>
            </a:srgbClr>
          </a:solidFill>
          <a:ln/>
        </p:spPr>
      </p:sp>
      <p:sp>
        <p:nvSpPr>
          <p:cNvPr id="21" name="Text 7"/>
          <p:cNvSpPr/>
          <p:nvPr/>
        </p:nvSpPr>
        <p:spPr>
          <a:xfrm>
            <a:off x="9907238" y="7747000"/>
            <a:ext cx="79596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&gt; 10%</a:t>
            </a:r>
            <a:endParaRPr lang="en-US" sz="2000" dirty="0"/>
          </a:p>
        </p:txBody>
      </p:sp>
      <p:pic>
        <p:nvPicPr>
          <p:cNvPr id="23" name="Image 13"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6448556" y="5638800"/>
            <a:ext cx="4597975" cy="4597400"/>
          </a:xfrm>
          <a:prstGeom prst="rect">
            <a:avLst/>
          </a:prstGeom>
        </p:spPr>
      </p:pic>
      <p:pic>
        <p:nvPicPr>
          <p:cNvPr id="24" name="Image 14"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6880410" y="6070600"/>
            <a:ext cx="3734267" cy="3733800"/>
          </a:xfrm>
          <a:prstGeom prst="rect">
            <a:avLst/>
          </a:prstGeom>
        </p:spPr>
      </p:pic>
      <p:pic>
        <p:nvPicPr>
          <p:cNvPr id="25" name="Image 15"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7210651" y="6400800"/>
            <a:ext cx="3073784" cy="3073400"/>
          </a:xfrm>
          <a:prstGeom prst="rect">
            <a:avLst/>
          </a:prstGeom>
        </p:spPr>
      </p:pic>
      <p:pic>
        <p:nvPicPr>
          <p:cNvPr id="26" name="Image 16"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8658632" y="6134100"/>
            <a:ext cx="203225" cy="203200"/>
          </a:xfrm>
          <a:prstGeom prst="rect">
            <a:avLst/>
          </a:prstGeom>
        </p:spPr>
      </p:pic>
      <p:sp>
        <p:nvSpPr>
          <p:cNvPr id="27" name="Text 8"/>
          <p:cNvSpPr/>
          <p:nvPr/>
        </p:nvSpPr>
        <p:spPr>
          <a:xfrm>
            <a:off x="17968512" y="7200900"/>
            <a:ext cx="1570763" cy="846667"/>
          </a:xfrm>
          <a:prstGeom prst="rect">
            <a:avLst/>
          </a:prstGeom>
          <a:noFill/>
          <a:ln/>
        </p:spPr>
        <p:txBody>
          <a:bodyPr wrap="square" lIns="0" tIns="0" rIns="0" bIns="0" rtlCol="0" anchor="t"/>
          <a:lstStyle/>
          <a:p>
            <a:pPr marL="0" indent="0" algn="ctr">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Customer Satisfaction</a:t>
            </a:r>
            <a:endParaRPr lang="en-US" sz="2000" dirty="0"/>
          </a:p>
        </p:txBody>
      </p:sp>
      <p:sp>
        <p:nvSpPr>
          <p:cNvPr id="28" name="Text 9"/>
          <p:cNvSpPr/>
          <p:nvPr/>
        </p:nvSpPr>
        <p:spPr>
          <a:xfrm>
            <a:off x="17494320" y="7962900"/>
            <a:ext cx="2506447" cy="982133"/>
          </a:xfrm>
          <a:prstGeom prst="rect">
            <a:avLst/>
          </a:prstGeom>
          <a:noFill/>
          <a:ln/>
        </p:spPr>
        <p:txBody>
          <a:bodyPr wrap="square" lIns="0" tIns="0" rIns="0" bIns="0" rtlCol="0" anchor="t"/>
          <a:lstStyle/>
          <a:p>
            <a:pPr marL="0" indent="0" algn="ctr">
              <a:lnSpc>
                <a:spcPts val="2400"/>
              </a:lnSpc>
              <a:buNone/>
            </a:pPr>
            <a:r>
              <a:rPr lang="en-US" sz="1600" kern="0" spc="-32" dirty="0">
                <a:solidFill>
                  <a:srgbClr val="B9B9B9">
                    <a:alpha val="100000"/>
                  </a:srgbClr>
                </a:solidFill>
                <a:latin typeface="Inter Regular" pitchFamily="34" charset="0"/>
                <a:ea typeface="Inter Regular" pitchFamily="34" charset="-122"/>
                <a:cs typeface="Inter Regular" pitchFamily="34" charset="-120"/>
              </a:rPr>
              <a:t>Customer satisfaction is crucial for business success.</a:t>
            </a:r>
            <a:endParaRPr lang="en-US" sz="1600" dirty="0"/>
          </a:p>
        </p:txBody>
      </p:sp>
      <p:sp>
        <p:nvSpPr>
          <p:cNvPr id="29" name="Shape 10"/>
          <p:cNvSpPr/>
          <p:nvPr/>
        </p:nvSpPr>
        <p:spPr>
          <a:xfrm>
            <a:off x="15826178" y="7658100"/>
            <a:ext cx="952619" cy="558800"/>
          </a:xfrm>
          <a:prstGeom prst="roundRect">
            <a:avLst>
              <a:gd name="adj" fmla="val 18000"/>
            </a:avLst>
          </a:prstGeom>
          <a:solidFill>
            <a:srgbClr val="FFFFFF">
              <a:alpha val="100000"/>
            </a:srgbClr>
          </a:solidFill>
          <a:ln/>
        </p:spPr>
      </p:sp>
      <p:sp>
        <p:nvSpPr>
          <p:cNvPr id="30" name="Text 11"/>
          <p:cNvSpPr/>
          <p:nvPr/>
        </p:nvSpPr>
        <p:spPr>
          <a:xfrm>
            <a:off x="15927791" y="7747000"/>
            <a:ext cx="84677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&lt; 60%</a:t>
            </a:r>
            <a:endParaRPr lang="en-US" sz="2000" dirty="0"/>
          </a:p>
        </p:txBody>
      </p:sp>
      <p:sp>
        <p:nvSpPr>
          <p:cNvPr id="31" name="Text 12"/>
          <p:cNvSpPr/>
          <p:nvPr/>
        </p:nvSpPr>
        <p:spPr>
          <a:xfrm>
            <a:off x="1524191" y="1524000"/>
            <a:ext cx="5398175"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KPI Alerts </a:t>
            </a:r>
            <a:endParaRPr lang="en-US" sz="6000" dirty="0"/>
          </a:p>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&amp; Thresholds</a:t>
            </a:r>
            <a:endParaRPr lang="en-US" sz="6000" dirty="0"/>
          </a:p>
        </p:txBody>
      </p:sp>
      <p:sp>
        <p:nvSpPr>
          <p:cNvPr id="32" name="Text 13"/>
          <p:cNvSpPr/>
          <p:nvPr/>
        </p:nvSpPr>
        <p:spPr>
          <a:xfrm>
            <a:off x="16016702" y="1524000"/>
            <a:ext cx="6926599"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Define thresholds to automatically flag performance shifts. Alerts help teams act quickly when metrics fall below targets or exceed expectations—without waiting for manual reviews.</a:t>
            </a:r>
            <a:endParaRPr lang="en-US" sz="1600" dirty="0"/>
          </a:p>
        </p:txBody>
      </p:sp>
      <p:sp>
        <p:nvSpPr>
          <p:cNvPr id="33" name="Text 14"/>
          <p:cNvSpPr/>
          <p:nvPr/>
        </p:nvSpPr>
        <p:spPr>
          <a:xfrm>
            <a:off x="15923557" y="12141200"/>
            <a:ext cx="6952002" cy="372533"/>
          </a:xfrm>
          <a:prstGeom prst="rect">
            <a:avLst/>
          </a:prstGeom>
          <a:noFill/>
          <a:ln/>
        </p:spPr>
        <p:txBody>
          <a:bodyPr wrap="square" lIns="0" tIns="0" rIns="0" bIns="0" rtlCol="0" anchor="t"/>
          <a:lstStyle/>
          <a:p>
            <a:pPr marL="0" indent="0" algn="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Proactive insights = faster response. Set your thresholds, let the data talk.</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chemeClr val="tx1"/>
        </a:solidFill>
        <a:effectLst/>
      </p:bgPr>
    </p:bg>
    <p:spTree>
      <p:nvGrpSpPr>
        <p:cNvPr id="1" name=""/>
        <p:cNvGrpSpPr/>
        <p:nvPr/>
      </p:nvGrpSpPr>
      <p:grpSpPr>
        <a:xfrm>
          <a:off x="0" y="0"/>
          <a:ext cx="0" cy="0"/>
          <a:chOff x="0" y="0"/>
          <a:chExt cx="0" cy="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4419600"/>
            <a:ext cx="6554019" cy="3441700"/>
          </a:xfrm>
          <a:prstGeom prst="rect">
            <a:avLst/>
          </a:prstGeom>
        </p:spPr>
      </p:pic>
      <p:pic>
        <p:nvPicPr>
          <p:cNvPr id="4"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4191" y="7988300"/>
            <a:ext cx="6554019" cy="3441700"/>
          </a:xfrm>
          <a:prstGeom prst="rect">
            <a:avLst/>
          </a:prstGeom>
        </p:spPr>
      </p:pic>
      <p:pic>
        <p:nvPicPr>
          <p:cNvPr id="5"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05226" y="4419600"/>
            <a:ext cx="6554019" cy="3441700"/>
          </a:xfrm>
          <a:prstGeom prst="rect">
            <a:avLst/>
          </a:prstGeom>
        </p:spPr>
      </p:pic>
      <p:pic>
        <p:nvPicPr>
          <p:cNvPr id="6"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05226" y="7988300"/>
            <a:ext cx="6554019" cy="3441700"/>
          </a:xfrm>
          <a:prstGeom prst="rect">
            <a:avLst/>
          </a:prstGeom>
        </p:spPr>
      </p:pic>
      <p:pic>
        <p:nvPicPr>
          <p:cNvPr id="7"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38292" y="6921500"/>
            <a:ext cx="1879835" cy="1879600"/>
          </a:xfrm>
          <a:prstGeom prst="rect">
            <a:avLst/>
          </a:prstGeom>
        </p:spPr>
      </p:pic>
      <p:sp>
        <p:nvSpPr>
          <p:cNvPr id="8" name="Text 0"/>
          <p:cNvSpPr/>
          <p:nvPr/>
        </p:nvSpPr>
        <p:spPr>
          <a:xfrm>
            <a:off x="4521765" y="5765800"/>
            <a:ext cx="65624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CRM</a:t>
            </a:r>
            <a:endParaRPr lang="en-US" sz="2000" dirty="0"/>
          </a:p>
        </p:txBody>
      </p:sp>
      <p:sp>
        <p:nvSpPr>
          <p:cNvPr id="9" name="Text 1"/>
          <p:cNvSpPr/>
          <p:nvPr/>
        </p:nvSpPr>
        <p:spPr>
          <a:xfrm>
            <a:off x="11240905" y="5765800"/>
            <a:ext cx="554636"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ERP</a:t>
            </a:r>
            <a:endParaRPr lang="en-US" sz="2000" dirty="0"/>
          </a:p>
        </p:txBody>
      </p:sp>
      <p:sp>
        <p:nvSpPr>
          <p:cNvPr id="10" name="Text 2"/>
          <p:cNvSpPr/>
          <p:nvPr/>
        </p:nvSpPr>
        <p:spPr>
          <a:xfrm>
            <a:off x="7396558" y="7797800"/>
            <a:ext cx="1363304"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KPI Dashboard</a:t>
            </a:r>
            <a:endParaRPr lang="en-US" sz="1600" dirty="0"/>
          </a:p>
        </p:txBody>
      </p:sp>
      <p:pic>
        <p:nvPicPr>
          <p:cNvPr id="12"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951194" y="7340600"/>
            <a:ext cx="254032" cy="254000"/>
          </a:xfrm>
          <a:prstGeom prst="rect">
            <a:avLst/>
          </a:prstGeom>
        </p:spPr>
      </p:pic>
      <p:pic>
        <p:nvPicPr>
          <p:cNvPr id="13" name="Image 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02000" y="7404100"/>
            <a:ext cx="203225" cy="101600"/>
          </a:xfrm>
          <a:prstGeom prst="rect">
            <a:avLst/>
          </a:prstGeom>
        </p:spPr>
      </p:pic>
      <p:pic>
        <p:nvPicPr>
          <p:cNvPr id="14" name="Image 9"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141718" y="7404100"/>
            <a:ext cx="63508" cy="63500"/>
          </a:xfrm>
          <a:prstGeom prst="rect">
            <a:avLst/>
          </a:prstGeom>
        </p:spPr>
      </p:pic>
      <p:sp>
        <p:nvSpPr>
          <p:cNvPr id="15" name="Text 3"/>
          <p:cNvSpPr/>
          <p:nvPr/>
        </p:nvSpPr>
        <p:spPr>
          <a:xfrm>
            <a:off x="10618527" y="9347200"/>
            <a:ext cx="1812093"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Google Sheets</a:t>
            </a:r>
            <a:endParaRPr lang="en-US" sz="2000" dirty="0"/>
          </a:p>
        </p:txBody>
      </p:sp>
      <p:sp>
        <p:nvSpPr>
          <p:cNvPr id="16" name="Text 4"/>
          <p:cNvSpPr/>
          <p:nvPr/>
        </p:nvSpPr>
        <p:spPr>
          <a:xfrm>
            <a:off x="4509064" y="9347200"/>
            <a:ext cx="656249"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HRIS</a:t>
            </a:r>
            <a:endParaRPr lang="en-US" sz="2000" dirty="0"/>
          </a:p>
        </p:txBody>
      </p:sp>
      <p:sp>
        <p:nvSpPr>
          <p:cNvPr id="17" name="Text 5"/>
          <p:cNvSpPr/>
          <p:nvPr/>
        </p:nvSpPr>
        <p:spPr>
          <a:xfrm>
            <a:off x="3099187" y="6197600"/>
            <a:ext cx="348446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Customer Relationship Management.</a:t>
            </a:r>
            <a:endParaRPr lang="en-US" sz="1600" dirty="0"/>
          </a:p>
        </p:txBody>
      </p:sp>
      <p:sp>
        <p:nvSpPr>
          <p:cNvPr id="18" name="Text 6"/>
          <p:cNvSpPr/>
          <p:nvPr/>
        </p:nvSpPr>
        <p:spPr>
          <a:xfrm>
            <a:off x="10097762" y="6197600"/>
            <a:ext cx="282398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Enterprise Resource Planning.</a:t>
            </a:r>
            <a:endParaRPr lang="en-US" sz="1600" dirty="0"/>
          </a:p>
        </p:txBody>
      </p:sp>
      <p:sp>
        <p:nvSpPr>
          <p:cNvPr id="19" name="Text 7"/>
          <p:cNvSpPr/>
          <p:nvPr/>
        </p:nvSpPr>
        <p:spPr>
          <a:xfrm>
            <a:off x="10161270" y="9779000"/>
            <a:ext cx="27223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Advanced data tracking tool.</a:t>
            </a:r>
            <a:endParaRPr lang="en-US" sz="1600" dirty="0"/>
          </a:p>
        </p:txBody>
      </p:sp>
      <p:pic>
        <p:nvPicPr>
          <p:cNvPr id="40" name="Graphic 39">
            <a:extLst>
              <a:ext uri="{FF2B5EF4-FFF2-40B4-BE49-F238E27FC236}">
                <a16:creationId xmlns:a16="http://schemas.microsoft.com/office/drawing/2014/main" id="{5FF8D5D8-A161-406E-A855-5A9EBE1E470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191078" y="4645554"/>
            <a:ext cx="5431012" cy="2974446"/>
          </a:xfrm>
          <a:prstGeom prst="rect">
            <a:avLst/>
          </a:prstGeom>
        </p:spPr>
      </p:pic>
      <p:sp>
        <p:nvSpPr>
          <p:cNvPr id="20" name="Text 8"/>
          <p:cNvSpPr/>
          <p:nvPr/>
        </p:nvSpPr>
        <p:spPr>
          <a:xfrm>
            <a:off x="3086486" y="9779000"/>
            <a:ext cx="349717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Human Resource Information System</a:t>
            </a:r>
            <a:endParaRPr lang="en-US" sz="1600" dirty="0"/>
          </a:p>
        </p:txBody>
      </p:sp>
      <p:sp>
        <p:nvSpPr>
          <p:cNvPr id="21" name="Text 9"/>
          <p:cNvSpPr/>
          <p:nvPr/>
        </p:nvSpPr>
        <p:spPr>
          <a:xfrm>
            <a:off x="1511489" y="15240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FFFFFF">
                    <a:alpha val="100000"/>
                  </a:srgbClr>
                </a:solidFill>
                <a:latin typeface="Inter Medium" pitchFamily="34" charset="0"/>
                <a:ea typeface="Inter Medium" pitchFamily="34" charset="-122"/>
                <a:cs typeface="Inter Medium" pitchFamily="34" charset="-120"/>
              </a:rPr>
              <a:t>Data Source Integration Map</a:t>
            </a:r>
            <a:endParaRPr lang="en-US" sz="6000" dirty="0"/>
          </a:p>
        </p:txBody>
      </p:sp>
      <p:sp>
        <p:nvSpPr>
          <p:cNvPr id="22" name="Text 10"/>
          <p:cNvSpPr/>
          <p:nvPr/>
        </p:nvSpPr>
        <p:spPr>
          <a:xfrm>
            <a:off x="16067508" y="1524000"/>
            <a:ext cx="686309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KPI dashboards consolidate data from multiple trusted sources CRM, ERP, HRIS, and spreadsheets ensuring leadership has a real-time, unified view of performance. Data flows are secure, structured, and automated.</a:t>
            </a:r>
            <a:endParaRPr lang="en-US" sz="1600" dirty="0"/>
          </a:p>
        </p:txBody>
      </p:sp>
      <p:sp>
        <p:nvSpPr>
          <p:cNvPr id="23" name="Text 11"/>
          <p:cNvSpPr/>
          <p:nvPr/>
        </p:nvSpPr>
        <p:spPr>
          <a:xfrm>
            <a:off x="16067508" y="10820400"/>
            <a:ext cx="5351602"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"KPI dashboards provide real-time performance insights from secure, automated sources like CRM and ERP."</a:t>
            </a:r>
            <a:endParaRPr lang="en-US" sz="1600" dirty="0"/>
          </a:p>
        </p:txBody>
      </p:sp>
      <p:sp>
        <p:nvSpPr>
          <p:cNvPr id="24" name="Text 12"/>
          <p:cNvSpPr/>
          <p:nvPr/>
        </p:nvSpPr>
        <p:spPr>
          <a:xfrm>
            <a:off x="17896537" y="5003800"/>
            <a:ext cx="330664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Medium" pitchFamily="34" charset="0"/>
                <a:ea typeface="Inter Medium" pitchFamily="34" charset="-122"/>
                <a:cs typeface="Inter Medium" pitchFamily="34" charset="-120"/>
              </a:rPr>
              <a:t>Customer data, leads, conversions</a:t>
            </a:r>
            <a:endParaRPr lang="en-US" sz="1600" dirty="0"/>
          </a:p>
        </p:txBody>
      </p:sp>
      <p:sp>
        <p:nvSpPr>
          <p:cNvPr id="25" name="Text 13"/>
          <p:cNvSpPr/>
          <p:nvPr/>
        </p:nvSpPr>
        <p:spPr>
          <a:xfrm>
            <a:off x="17032829" y="5003800"/>
            <a:ext cx="52499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CRM</a:t>
            </a:r>
            <a:endParaRPr lang="en-US" sz="1600" dirty="0"/>
          </a:p>
        </p:txBody>
      </p:sp>
      <p:pic>
        <p:nvPicPr>
          <p:cNvPr id="26" name="Image 1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721640" y="5080000"/>
            <a:ext cx="200050" cy="171450"/>
          </a:xfrm>
          <a:prstGeom prst="rect">
            <a:avLst/>
          </a:prstGeom>
        </p:spPr>
      </p:pic>
      <p:sp>
        <p:nvSpPr>
          <p:cNvPr id="27" name="Text 14"/>
          <p:cNvSpPr/>
          <p:nvPr/>
        </p:nvSpPr>
        <p:spPr>
          <a:xfrm>
            <a:off x="17045530" y="5613400"/>
            <a:ext cx="4487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ERP</a:t>
            </a:r>
            <a:endParaRPr lang="en-US" sz="1600" dirty="0"/>
          </a:p>
        </p:txBody>
      </p:sp>
      <p:pic>
        <p:nvPicPr>
          <p:cNvPr id="28" name="Image 11"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6772446" y="5708650"/>
            <a:ext cx="57157" cy="114300"/>
          </a:xfrm>
          <a:prstGeom prst="rect">
            <a:avLst/>
          </a:prstGeom>
        </p:spPr>
      </p:pic>
      <p:pic>
        <p:nvPicPr>
          <p:cNvPr id="29" name="Image 12"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6729578" y="5665787"/>
            <a:ext cx="200050" cy="200025"/>
          </a:xfrm>
          <a:prstGeom prst="rect">
            <a:avLst/>
          </a:prstGeom>
        </p:spPr>
      </p:pic>
      <p:sp>
        <p:nvSpPr>
          <p:cNvPr id="30" name="Text 15"/>
          <p:cNvSpPr/>
          <p:nvPr/>
        </p:nvSpPr>
        <p:spPr>
          <a:xfrm>
            <a:off x="17896537" y="5613400"/>
            <a:ext cx="338285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Medium" pitchFamily="34" charset="0"/>
                <a:ea typeface="Inter Medium" pitchFamily="34" charset="-122"/>
                <a:cs typeface="Inter Medium" pitchFamily="34" charset="-120"/>
              </a:rPr>
              <a:t>Financials, operations, supply chain</a:t>
            </a:r>
            <a:endParaRPr lang="en-US" sz="1600" dirty="0"/>
          </a:p>
        </p:txBody>
      </p:sp>
      <p:sp>
        <p:nvSpPr>
          <p:cNvPr id="31" name="Text 16"/>
          <p:cNvSpPr/>
          <p:nvPr/>
        </p:nvSpPr>
        <p:spPr>
          <a:xfrm>
            <a:off x="17032829" y="6223000"/>
            <a:ext cx="52499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HRIS</a:t>
            </a:r>
            <a:endParaRPr lang="en-US" sz="1600" dirty="0"/>
          </a:p>
        </p:txBody>
      </p:sp>
      <p:pic>
        <p:nvPicPr>
          <p:cNvPr id="32" name="Image 13"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6781179" y="6377781"/>
            <a:ext cx="71446" cy="52388"/>
          </a:xfrm>
          <a:prstGeom prst="rect">
            <a:avLst/>
          </a:prstGeom>
        </p:spPr>
      </p:pic>
      <p:pic>
        <p:nvPicPr>
          <p:cNvPr id="33" name="Image 14"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6743074" y="6282531"/>
            <a:ext cx="147656" cy="185738"/>
          </a:xfrm>
          <a:prstGeom prst="rect">
            <a:avLst/>
          </a:prstGeom>
        </p:spPr>
      </p:pic>
      <p:sp>
        <p:nvSpPr>
          <p:cNvPr id="34" name="Text 17"/>
          <p:cNvSpPr/>
          <p:nvPr/>
        </p:nvSpPr>
        <p:spPr>
          <a:xfrm>
            <a:off x="17896537" y="6223000"/>
            <a:ext cx="330664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Medium" pitchFamily="34" charset="0"/>
                <a:ea typeface="Inter Medium" pitchFamily="34" charset="-122"/>
                <a:cs typeface="Inter Medium" pitchFamily="34" charset="-120"/>
              </a:rPr>
              <a:t>Engagement, headcount, retention</a:t>
            </a:r>
            <a:endParaRPr lang="en-US" sz="1600" dirty="0"/>
          </a:p>
        </p:txBody>
      </p:sp>
      <p:sp>
        <p:nvSpPr>
          <p:cNvPr id="35" name="Text 18"/>
          <p:cNvSpPr/>
          <p:nvPr/>
        </p:nvSpPr>
        <p:spPr>
          <a:xfrm>
            <a:off x="17045530" y="6832600"/>
            <a:ext cx="3471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GS</a:t>
            </a:r>
            <a:endParaRPr lang="en-US" sz="1600" dirty="0"/>
          </a:p>
        </p:txBody>
      </p:sp>
      <p:pic>
        <p:nvPicPr>
          <p:cNvPr id="36" name="Image 15"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781972" y="6937375"/>
            <a:ext cx="95262" cy="95250"/>
          </a:xfrm>
          <a:prstGeom prst="rect">
            <a:avLst/>
          </a:prstGeom>
        </p:spPr>
      </p:pic>
      <p:pic>
        <p:nvPicPr>
          <p:cNvPr id="37" name="Image 16"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6734342" y="6899275"/>
            <a:ext cx="190524" cy="171450"/>
          </a:xfrm>
          <a:prstGeom prst="rect">
            <a:avLst/>
          </a:prstGeom>
        </p:spPr>
      </p:pic>
      <p:sp>
        <p:nvSpPr>
          <p:cNvPr id="38" name="Text 19"/>
          <p:cNvSpPr/>
          <p:nvPr/>
        </p:nvSpPr>
        <p:spPr>
          <a:xfrm>
            <a:off x="17896537" y="6832600"/>
            <a:ext cx="320503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Medium" pitchFamily="34" charset="0"/>
                <a:ea typeface="Inter Medium" pitchFamily="34" charset="-122"/>
                <a:cs typeface="Inter Medium" pitchFamily="34" charset="-120"/>
              </a:rPr>
              <a:t>Ad hoc or departmental reporting</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02327" y="0"/>
            <a:ext cx="15584848" cy="13716000"/>
          </a:xfrm>
          <a:prstGeom prst="rect">
            <a:avLst/>
          </a:prstGeom>
          <a:solidFill>
            <a:srgbClr val="EFEAFD">
              <a:alpha val="100000"/>
            </a:srgbClr>
          </a:solidFill>
          <a:ln/>
        </p:spPr>
      </p:sp>
      <p:sp>
        <p:nvSpPr>
          <p:cNvPr id="3" name="Text 1"/>
          <p:cNvSpPr/>
          <p:nvPr/>
        </p:nvSpPr>
        <p:spPr>
          <a:xfrm>
            <a:off x="1524191" y="1524000"/>
            <a:ext cx="7481235"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Real-Time Dashboard Tools</a:t>
            </a:r>
            <a:endParaRPr lang="en-US" sz="6000" dirty="0"/>
          </a:p>
        </p:txBody>
      </p:sp>
      <p:sp>
        <p:nvSpPr>
          <p:cNvPr id="4" name="Text 2"/>
          <p:cNvSpPr/>
          <p:nvPr/>
        </p:nvSpPr>
        <p:spPr>
          <a:xfrm>
            <a:off x="1524191" y="3352800"/>
            <a:ext cx="6164504"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These tools support real-time KPI dashboards through seamless data integration, visualization, and collaboration. Choose based on scalability, audience, and reporting complexity.</a:t>
            </a:r>
            <a:endParaRPr lang="en-US" sz="1600" dirty="0"/>
          </a:p>
        </p:txBody>
      </p:sp>
      <p:sp>
        <p:nvSpPr>
          <p:cNvPr id="5" name="Text 3"/>
          <p:cNvSpPr/>
          <p:nvPr/>
        </p:nvSpPr>
        <p:spPr>
          <a:xfrm>
            <a:off x="1524191" y="11099800"/>
            <a:ext cx="521188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Most tools support APIs, real-time sync, and mobile access for exec reporting.</a:t>
            </a:r>
            <a:endParaRPr lang="en-US" sz="1600" dirty="0"/>
          </a:p>
        </p:txBody>
      </p:sp>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9992" y="5922181"/>
            <a:ext cx="805397" cy="1403201"/>
          </a:xfrm>
          <a:prstGeom prst="rect">
            <a:avLst/>
          </a:prstGeom>
        </p:spPr>
      </p:pic>
      <p:pic>
        <p:nvPicPr>
          <p:cNvPr id="7"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27059" y="5499100"/>
            <a:ext cx="2297741" cy="1826295"/>
          </a:xfrm>
          <a:prstGeom prst="rect">
            <a:avLst/>
          </a:prstGeom>
        </p:spPr>
      </p:pic>
      <p:pic>
        <p:nvPicPr>
          <p:cNvPr id="8"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71518" y="6457045"/>
            <a:ext cx="281116" cy="301644"/>
          </a:xfrm>
          <a:prstGeom prst="rect">
            <a:avLst/>
          </a:prstGeom>
        </p:spPr>
      </p:pic>
      <p:pic>
        <p:nvPicPr>
          <p:cNvPr id="9"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74096" y="6684187"/>
            <a:ext cx="783926" cy="791666"/>
          </a:xfrm>
          <a:prstGeom prst="rect">
            <a:avLst/>
          </a:prstGeom>
        </p:spPr>
      </p:pic>
      <p:pic>
        <p:nvPicPr>
          <p:cNvPr id="10"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97361" y="7907654"/>
            <a:ext cx="6337720" cy="1972518"/>
          </a:xfrm>
          <a:prstGeom prst="rect">
            <a:avLst/>
          </a:prstGeom>
        </p:spPr>
      </p:pic>
      <p:pic>
        <p:nvPicPr>
          <p:cNvPr id="12" name="Image 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62883" y="2819400"/>
            <a:ext cx="4115314" cy="4114800"/>
          </a:xfrm>
          <a:prstGeom prst="rect">
            <a:avLst/>
          </a:prstGeom>
        </p:spPr>
      </p:pic>
      <p:sp>
        <p:nvSpPr>
          <p:cNvPr id="13" name="Text 4"/>
          <p:cNvSpPr/>
          <p:nvPr/>
        </p:nvSpPr>
        <p:spPr>
          <a:xfrm>
            <a:off x="10770946" y="4191000"/>
            <a:ext cx="31415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Financial operations &amp; executive dashboards</a:t>
            </a:r>
            <a:endParaRPr lang="en-US" sz="1600" dirty="0"/>
          </a:p>
        </p:txBody>
      </p:sp>
      <p:sp>
        <p:nvSpPr>
          <p:cNvPr id="14" name="Text 5"/>
          <p:cNvSpPr/>
          <p:nvPr/>
        </p:nvSpPr>
        <p:spPr>
          <a:xfrm>
            <a:off x="10770946" y="56388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Strength</a:t>
            </a:r>
            <a:endParaRPr lang="en-US" sz="1600" dirty="0"/>
          </a:p>
        </p:txBody>
      </p:sp>
      <p:sp>
        <p:nvSpPr>
          <p:cNvPr id="15" name="Text 6"/>
          <p:cNvSpPr/>
          <p:nvPr/>
        </p:nvSpPr>
        <p:spPr>
          <a:xfrm>
            <a:off x="10770946" y="6019800"/>
            <a:ext cx="171894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Enterprise scaling</a:t>
            </a:r>
            <a:endParaRPr lang="en-US" sz="1600" dirty="0"/>
          </a:p>
        </p:txBody>
      </p:sp>
      <p:sp>
        <p:nvSpPr>
          <p:cNvPr id="16" name="Text 7"/>
          <p:cNvSpPr/>
          <p:nvPr/>
        </p:nvSpPr>
        <p:spPr>
          <a:xfrm>
            <a:off x="10770946" y="37592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Power BI</a:t>
            </a:r>
            <a:endParaRPr lang="en-US" sz="1600" dirty="0"/>
          </a:p>
        </p:txBody>
      </p:sp>
      <p:pic>
        <p:nvPicPr>
          <p:cNvPr id="24" name="Image 14" descr=" "/>
          <p:cNvPicPr>
            <a:picLocks noChangeAspect="1"/>
          </p:cNvPicPr>
          <p:nvPr/>
        </p:nvPicPr>
        <p:blipFill>
          <a:blip r:embed="rId13">
            <a:extLst>
              <a:ext uri="{96DAC541-7B7A-43D3-8B79-37D633B846F1}">
                <asvg:svgBlip xmlns:asvg="http://schemas.microsoft.com/office/drawing/2016/SVG/main" r:embed="rId15"/>
              </a:ext>
            </a:extLst>
          </a:blip>
          <a:stretch>
            <a:fillRect/>
          </a:stretch>
        </p:blipFill>
        <p:spPr>
          <a:xfrm>
            <a:off x="14505213" y="2819400"/>
            <a:ext cx="4115314" cy="4114800"/>
          </a:xfrm>
          <a:prstGeom prst="rect">
            <a:avLst/>
          </a:prstGeom>
        </p:spPr>
      </p:pic>
      <p:sp>
        <p:nvSpPr>
          <p:cNvPr id="25" name="Text 8"/>
          <p:cNvSpPr/>
          <p:nvPr/>
        </p:nvSpPr>
        <p:spPr>
          <a:xfrm>
            <a:off x="15013276" y="4191000"/>
            <a:ext cx="31415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Finance teams and data analysts working with cloud data</a:t>
            </a:r>
            <a:endParaRPr lang="en-US" sz="1600" dirty="0"/>
          </a:p>
        </p:txBody>
      </p:sp>
      <p:sp>
        <p:nvSpPr>
          <p:cNvPr id="26" name="Text 9"/>
          <p:cNvSpPr/>
          <p:nvPr/>
        </p:nvSpPr>
        <p:spPr>
          <a:xfrm>
            <a:off x="15013276" y="56388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Strength</a:t>
            </a:r>
            <a:endParaRPr lang="en-US" sz="1600" dirty="0"/>
          </a:p>
        </p:txBody>
      </p:sp>
      <p:sp>
        <p:nvSpPr>
          <p:cNvPr id="27" name="Text 10"/>
          <p:cNvSpPr/>
          <p:nvPr/>
        </p:nvSpPr>
        <p:spPr>
          <a:xfrm>
            <a:off x="15013276" y="6019800"/>
            <a:ext cx="30399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Spreadsheet-native dashboards</a:t>
            </a:r>
            <a:endParaRPr lang="en-US" sz="1600" dirty="0"/>
          </a:p>
        </p:txBody>
      </p:sp>
      <p:sp>
        <p:nvSpPr>
          <p:cNvPr id="28" name="Text 11"/>
          <p:cNvSpPr/>
          <p:nvPr/>
        </p:nvSpPr>
        <p:spPr>
          <a:xfrm>
            <a:off x="15013276" y="3759200"/>
            <a:ext cx="66471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Sigma</a:t>
            </a:r>
            <a:endParaRPr lang="en-US" sz="1600" dirty="0"/>
          </a:p>
        </p:txBody>
      </p:sp>
      <p:grpSp>
        <p:nvGrpSpPr>
          <p:cNvPr id="141" name="Group 140">
            <a:extLst>
              <a:ext uri="{FF2B5EF4-FFF2-40B4-BE49-F238E27FC236}">
                <a16:creationId xmlns:a16="http://schemas.microsoft.com/office/drawing/2014/main" id="{4D3B125E-ED77-48BC-A649-8465D81DB707}"/>
              </a:ext>
            </a:extLst>
          </p:cNvPr>
          <p:cNvGrpSpPr/>
          <p:nvPr/>
        </p:nvGrpSpPr>
        <p:grpSpPr>
          <a:xfrm>
            <a:off x="15066129" y="3442308"/>
            <a:ext cx="352364" cy="74978"/>
            <a:chOff x="15066129" y="3442308"/>
            <a:chExt cx="352364" cy="74978"/>
          </a:xfrm>
        </p:grpSpPr>
        <p:pic>
          <p:nvPicPr>
            <p:cNvPr id="30" name="Image 16"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145291" y="3445669"/>
              <a:ext cx="15040" cy="67859"/>
            </a:xfrm>
            <a:prstGeom prst="rect">
              <a:avLst/>
            </a:prstGeom>
          </p:spPr>
        </p:pic>
        <p:pic>
          <p:nvPicPr>
            <p:cNvPr id="31" name="Image 17"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5258483" y="3445669"/>
              <a:ext cx="82870" cy="67915"/>
            </a:xfrm>
            <a:prstGeom prst="rect">
              <a:avLst/>
            </a:prstGeom>
          </p:spPr>
        </p:pic>
        <p:pic>
          <p:nvPicPr>
            <p:cNvPr id="32" name="Image 18"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5343710" y="3445669"/>
              <a:ext cx="74783" cy="67915"/>
            </a:xfrm>
            <a:prstGeom prst="rect">
              <a:avLst/>
            </a:prstGeom>
          </p:spPr>
        </p:pic>
        <p:pic>
          <p:nvPicPr>
            <p:cNvPr id="33" name="Image 19" descr=" "/>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5173925" y="3442643"/>
              <a:ext cx="75459" cy="73968"/>
            </a:xfrm>
            <a:prstGeom prst="rect">
              <a:avLst/>
            </a:prstGeom>
          </p:spPr>
        </p:pic>
        <p:pic>
          <p:nvPicPr>
            <p:cNvPr id="34" name="Image 20" descr=" "/>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066129" y="3442308"/>
              <a:ext cx="65691" cy="74978"/>
            </a:xfrm>
            <a:prstGeom prst="rect">
              <a:avLst/>
            </a:prstGeom>
          </p:spPr>
        </p:pic>
      </p:grpSp>
      <p:pic>
        <p:nvPicPr>
          <p:cNvPr id="36" name="Image 22" descr=" "/>
          <p:cNvPicPr>
            <a:picLocks noChangeAspect="1"/>
          </p:cNvPicPr>
          <p:nvPr/>
        </p:nvPicPr>
        <p:blipFill>
          <a:blip r:embed="rId13">
            <a:extLst>
              <a:ext uri="{96DAC541-7B7A-43D3-8B79-37D633B846F1}">
                <asvg:svgBlip xmlns:asvg="http://schemas.microsoft.com/office/drawing/2016/SVG/main" r:embed="rId26"/>
              </a:ext>
            </a:extLst>
          </a:blip>
          <a:stretch>
            <a:fillRect/>
          </a:stretch>
        </p:blipFill>
        <p:spPr>
          <a:xfrm>
            <a:off x="18747543" y="2819400"/>
            <a:ext cx="4115314" cy="4114800"/>
          </a:xfrm>
          <a:prstGeom prst="rect">
            <a:avLst/>
          </a:prstGeom>
        </p:spPr>
      </p:pic>
      <p:sp>
        <p:nvSpPr>
          <p:cNvPr id="37" name="Text 12"/>
          <p:cNvSpPr/>
          <p:nvPr/>
        </p:nvSpPr>
        <p:spPr>
          <a:xfrm>
            <a:off x="19255607" y="4191000"/>
            <a:ext cx="31415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Marketing, growth &amp; web analytics</a:t>
            </a:r>
            <a:endParaRPr lang="en-US" sz="1600" dirty="0"/>
          </a:p>
        </p:txBody>
      </p:sp>
      <p:sp>
        <p:nvSpPr>
          <p:cNvPr id="38" name="Text 13"/>
          <p:cNvSpPr/>
          <p:nvPr/>
        </p:nvSpPr>
        <p:spPr>
          <a:xfrm>
            <a:off x="19255607" y="56388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Strength</a:t>
            </a:r>
            <a:endParaRPr lang="en-US" sz="1600" dirty="0"/>
          </a:p>
        </p:txBody>
      </p:sp>
      <p:sp>
        <p:nvSpPr>
          <p:cNvPr id="39" name="Text 14"/>
          <p:cNvSpPr/>
          <p:nvPr/>
        </p:nvSpPr>
        <p:spPr>
          <a:xfrm>
            <a:off x="19255607" y="6019800"/>
            <a:ext cx="220160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Clean web dashboards</a:t>
            </a:r>
            <a:endParaRPr lang="en-US" sz="1600" dirty="0"/>
          </a:p>
        </p:txBody>
      </p:sp>
      <p:sp>
        <p:nvSpPr>
          <p:cNvPr id="40" name="Text 15"/>
          <p:cNvSpPr/>
          <p:nvPr/>
        </p:nvSpPr>
        <p:spPr>
          <a:xfrm>
            <a:off x="19255607" y="3759200"/>
            <a:ext cx="14395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Google Looker</a:t>
            </a:r>
            <a:endParaRPr lang="en-US" sz="1600" dirty="0"/>
          </a:p>
        </p:txBody>
      </p:sp>
      <p:grpSp>
        <p:nvGrpSpPr>
          <p:cNvPr id="140" name="Group 139">
            <a:extLst>
              <a:ext uri="{FF2B5EF4-FFF2-40B4-BE49-F238E27FC236}">
                <a16:creationId xmlns:a16="http://schemas.microsoft.com/office/drawing/2014/main" id="{29DF1670-D271-41B8-B04C-710705CA296C}"/>
              </a:ext>
            </a:extLst>
          </p:cNvPr>
          <p:cNvGrpSpPr/>
          <p:nvPr/>
        </p:nvGrpSpPr>
        <p:grpSpPr>
          <a:xfrm>
            <a:off x="19313545" y="3363354"/>
            <a:ext cx="188955" cy="268642"/>
            <a:chOff x="19313545" y="3363354"/>
            <a:chExt cx="188955" cy="268642"/>
          </a:xfrm>
        </p:grpSpPr>
        <p:pic>
          <p:nvPicPr>
            <p:cNvPr id="42" name="Image 24"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9369685" y="3380042"/>
              <a:ext cx="27103" cy="59891"/>
            </a:xfrm>
            <a:prstGeom prst="rect">
              <a:avLst/>
            </a:prstGeom>
          </p:spPr>
        </p:pic>
        <p:pic>
          <p:nvPicPr>
            <p:cNvPr id="43" name="Image 25"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9313558" y="3363354"/>
              <a:ext cx="67843" cy="83238"/>
            </a:xfrm>
            <a:prstGeom prst="rect">
              <a:avLst/>
            </a:prstGeom>
          </p:spPr>
        </p:pic>
        <p:pic>
          <p:nvPicPr>
            <p:cNvPr id="44" name="Image 26"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9313545" y="3443077"/>
              <a:ext cx="188955" cy="188919"/>
            </a:xfrm>
            <a:prstGeom prst="rect">
              <a:avLst/>
            </a:prstGeom>
          </p:spPr>
        </p:pic>
      </p:grpSp>
      <p:pic>
        <p:nvPicPr>
          <p:cNvPr id="46" name="Image 28" descr=" "/>
          <p:cNvPicPr>
            <a:picLocks noChangeAspect="1"/>
          </p:cNvPicPr>
          <p:nvPr/>
        </p:nvPicPr>
        <p:blipFill>
          <a:blip r:embed="rId13">
            <a:extLst>
              <a:ext uri="{96DAC541-7B7A-43D3-8B79-37D633B846F1}">
                <asvg:svgBlip xmlns:asvg="http://schemas.microsoft.com/office/drawing/2016/SVG/main" r:embed="rId33"/>
              </a:ext>
            </a:extLst>
          </a:blip>
          <a:stretch>
            <a:fillRect/>
          </a:stretch>
        </p:blipFill>
        <p:spPr>
          <a:xfrm>
            <a:off x="10262883" y="7061200"/>
            <a:ext cx="4115314" cy="4114800"/>
          </a:xfrm>
          <a:prstGeom prst="rect">
            <a:avLst/>
          </a:prstGeom>
        </p:spPr>
      </p:pic>
      <p:sp>
        <p:nvSpPr>
          <p:cNvPr id="47" name="Text 16"/>
          <p:cNvSpPr/>
          <p:nvPr/>
        </p:nvSpPr>
        <p:spPr>
          <a:xfrm>
            <a:off x="10770946" y="8432800"/>
            <a:ext cx="314152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Multi-source visual storytelling</a:t>
            </a:r>
            <a:endParaRPr lang="en-US" sz="1600" dirty="0"/>
          </a:p>
        </p:txBody>
      </p:sp>
      <p:sp>
        <p:nvSpPr>
          <p:cNvPr id="48" name="Text 17"/>
          <p:cNvSpPr/>
          <p:nvPr/>
        </p:nvSpPr>
        <p:spPr>
          <a:xfrm>
            <a:off x="10770946" y="98806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Strength</a:t>
            </a:r>
            <a:endParaRPr lang="en-US" sz="1600" dirty="0"/>
          </a:p>
        </p:txBody>
      </p:sp>
      <p:sp>
        <p:nvSpPr>
          <p:cNvPr id="49" name="Text 18"/>
          <p:cNvSpPr/>
          <p:nvPr/>
        </p:nvSpPr>
        <p:spPr>
          <a:xfrm>
            <a:off x="10770946" y="10261600"/>
            <a:ext cx="246834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Rich visuals &amp; interactivity</a:t>
            </a:r>
            <a:endParaRPr lang="en-US" sz="1600" dirty="0"/>
          </a:p>
        </p:txBody>
      </p:sp>
      <p:sp>
        <p:nvSpPr>
          <p:cNvPr id="50" name="Text 19"/>
          <p:cNvSpPr/>
          <p:nvPr/>
        </p:nvSpPr>
        <p:spPr>
          <a:xfrm>
            <a:off x="10770946" y="8001000"/>
            <a:ext cx="81713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Tableau</a:t>
            </a:r>
            <a:endParaRPr lang="en-US" sz="1600" dirty="0"/>
          </a:p>
        </p:txBody>
      </p:sp>
      <p:grpSp>
        <p:nvGrpSpPr>
          <p:cNvPr id="139" name="Group 138">
            <a:extLst>
              <a:ext uri="{FF2B5EF4-FFF2-40B4-BE49-F238E27FC236}">
                <a16:creationId xmlns:a16="http://schemas.microsoft.com/office/drawing/2014/main" id="{92A7A8C8-CE48-45BD-BAFE-A4AAD45430CA}"/>
              </a:ext>
            </a:extLst>
          </p:cNvPr>
          <p:cNvGrpSpPr/>
          <p:nvPr/>
        </p:nvGrpSpPr>
        <p:grpSpPr>
          <a:xfrm>
            <a:off x="10770959" y="7598618"/>
            <a:ext cx="310909" cy="275134"/>
            <a:chOff x="10770959" y="7598618"/>
            <a:chExt cx="310909" cy="275134"/>
          </a:xfrm>
        </p:grpSpPr>
        <p:pic>
          <p:nvPicPr>
            <p:cNvPr id="52" name="Image 30" descr=" "/>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0800554" y="7598618"/>
              <a:ext cx="91317" cy="95560"/>
            </a:xfrm>
            <a:prstGeom prst="rect">
              <a:avLst/>
            </a:prstGeom>
          </p:spPr>
        </p:pic>
        <p:pic>
          <p:nvPicPr>
            <p:cNvPr id="53" name="Image 31" descr=" "/>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0960949" y="7598618"/>
              <a:ext cx="91317" cy="95560"/>
            </a:xfrm>
            <a:prstGeom prst="rect">
              <a:avLst/>
            </a:prstGeom>
          </p:spPr>
        </p:pic>
        <p:pic>
          <p:nvPicPr>
            <p:cNvPr id="54" name="Image 32" descr=" "/>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0875207" y="7666025"/>
              <a:ext cx="102413" cy="109060"/>
            </a:xfrm>
            <a:prstGeom prst="rect">
              <a:avLst/>
            </a:prstGeom>
          </p:spPr>
        </p:pic>
        <p:pic>
          <p:nvPicPr>
            <p:cNvPr id="55" name="Image 33" descr=" "/>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1017101" y="7686253"/>
              <a:ext cx="64767" cy="69242"/>
            </a:xfrm>
            <a:prstGeom prst="rect">
              <a:avLst/>
            </a:prstGeom>
          </p:spPr>
        </p:pic>
        <p:pic>
          <p:nvPicPr>
            <p:cNvPr id="56" name="Image 34" descr=" "/>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0770959" y="7688089"/>
              <a:ext cx="61089" cy="64932"/>
            </a:xfrm>
            <a:prstGeom prst="rect">
              <a:avLst/>
            </a:prstGeom>
          </p:spPr>
        </p:pic>
        <p:pic>
          <p:nvPicPr>
            <p:cNvPr id="57" name="Image 35" descr=" "/>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0800554" y="7746299"/>
              <a:ext cx="91317" cy="95560"/>
            </a:xfrm>
            <a:prstGeom prst="rect">
              <a:avLst/>
            </a:prstGeom>
          </p:spPr>
        </p:pic>
        <p:pic>
          <p:nvPicPr>
            <p:cNvPr id="58" name="Image 36" descr=" "/>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960949" y="7746299"/>
              <a:ext cx="91317" cy="95560"/>
            </a:xfrm>
            <a:prstGeom prst="rect">
              <a:avLst/>
            </a:prstGeom>
          </p:spPr>
        </p:pic>
        <p:pic>
          <p:nvPicPr>
            <p:cNvPr id="59" name="Image 37" descr=" "/>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894346" y="7804510"/>
              <a:ext cx="64767" cy="69242"/>
            </a:xfrm>
            <a:prstGeom prst="rect">
              <a:avLst/>
            </a:prstGeom>
          </p:spPr>
        </p:pic>
      </p:grpSp>
      <p:pic>
        <p:nvPicPr>
          <p:cNvPr id="61" name="Image 39" descr=" "/>
          <p:cNvPicPr>
            <a:picLocks noChangeAspect="1"/>
          </p:cNvPicPr>
          <p:nvPr/>
        </p:nvPicPr>
        <p:blipFill>
          <a:blip r:embed="rId13">
            <a:extLst>
              <a:ext uri="{96DAC541-7B7A-43D3-8B79-37D633B846F1}">
                <asvg:svgBlip xmlns:asvg="http://schemas.microsoft.com/office/drawing/2016/SVG/main" r:embed="rId50"/>
              </a:ext>
            </a:extLst>
          </a:blip>
          <a:stretch>
            <a:fillRect/>
          </a:stretch>
        </p:blipFill>
        <p:spPr>
          <a:xfrm>
            <a:off x="14505213" y="7061200"/>
            <a:ext cx="4115314" cy="4114800"/>
          </a:xfrm>
          <a:prstGeom prst="rect">
            <a:avLst/>
          </a:prstGeom>
        </p:spPr>
      </p:pic>
      <p:sp>
        <p:nvSpPr>
          <p:cNvPr id="62" name="Text 20"/>
          <p:cNvSpPr/>
          <p:nvPr/>
        </p:nvSpPr>
        <p:spPr>
          <a:xfrm>
            <a:off x="15013276" y="8432800"/>
            <a:ext cx="31415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Startup dashboards, KPIs on-the-go</a:t>
            </a:r>
            <a:endParaRPr lang="en-US" sz="1600" dirty="0"/>
          </a:p>
        </p:txBody>
      </p:sp>
      <p:sp>
        <p:nvSpPr>
          <p:cNvPr id="63" name="Text 21"/>
          <p:cNvSpPr/>
          <p:nvPr/>
        </p:nvSpPr>
        <p:spPr>
          <a:xfrm>
            <a:off x="15013276" y="98806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Strength</a:t>
            </a:r>
            <a:endParaRPr lang="en-US" sz="1600" dirty="0"/>
          </a:p>
        </p:txBody>
      </p:sp>
      <p:sp>
        <p:nvSpPr>
          <p:cNvPr id="64" name="Text 22"/>
          <p:cNvSpPr/>
          <p:nvPr/>
        </p:nvSpPr>
        <p:spPr>
          <a:xfrm>
            <a:off x="15013276" y="10261600"/>
            <a:ext cx="24937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Mobile-friendly, fast setup</a:t>
            </a:r>
            <a:endParaRPr lang="en-US" sz="1600" dirty="0"/>
          </a:p>
        </p:txBody>
      </p:sp>
      <p:sp>
        <p:nvSpPr>
          <p:cNvPr id="65" name="Text 23"/>
          <p:cNvSpPr/>
          <p:nvPr/>
        </p:nvSpPr>
        <p:spPr>
          <a:xfrm>
            <a:off x="15013276" y="8001000"/>
            <a:ext cx="85524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Databox</a:t>
            </a:r>
            <a:endParaRPr lang="en-US" sz="1600" dirty="0"/>
          </a:p>
        </p:txBody>
      </p:sp>
      <p:pic>
        <p:nvPicPr>
          <p:cNvPr id="132" name="Image 105" descr=" "/>
          <p:cNvPicPr>
            <a:picLocks noChangeAspect="1"/>
          </p:cNvPicPr>
          <p:nvPr/>
        </p:nvPicPr>
        <p:blipFill>
          <a:blip r:embed="rId13">
            <a:extLst>
              <a:ext uri="{96DAC541-7B7A-43D3-8B79-37D633B846F1}">
                <asvg:svgBlip xmlns:asvg="http://schemas.microsoft.com/office/drawing/2016/SVG/main" r:embed="rId51"/>
              </a:ext>
            </a:extLst>
          </a:blip>
          <a:stretch>
            <a:fillRect/>
          </a:stretch>
        </p:blipFill>
        <p:spPr>
          <a:xfrm>
            <a:off x="18747543" y="7061200"/>
            <a:ext cx="4115314" cy="4114800"/>
          </a:xfrm>
          <a:prstGeom prst="rect">
            <a:avLst/>
          </a:prstGeom>
        </p:spPr>
      </p:pic>
      <p:sp>
        <p:nvSpPr>
          <p:cNvPr id="133" name="Text 25"/>
          <p:cNvSpPr/>
          <p:nvPr/>
        </p:nvSpPr>
        <p:spPr>
          <a:xfrm>
            <a:off x="19255607" y="8432800"/>
            <a:ext cx="3141526"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Department-level reporting, smaller teams</a:t>
            </a:r>
            <a:endParaRPr lang="en-US" sz="1600" dirty="0"/>
          </a:p>
        </p:txBody>
      </p:sp>
      <p:sp>
        <p:nvSpPr>
          <p:cNvPr id="134" name="Text 26"/>
          <p:cNvSpPr/>
          <p:nvPr/>
        </p:nvSpPr>
        <p:spPr>
          <a:xfrm>
            <a:off x="19255607" y="98806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Strength</a:t>
            </a:r>
            <a:endParaRPr lang="en-US" sz="1600" dirty="0"/>
          </a:p>
        </p:txBody>
      </p:sp>
      <p:sp>
        <p:nvSpPr>
          <p:cNvPr id="135" name="Text 27"/>
          <p:cNvSpPr/>
          <p:nvPr/>
        </p:nvSpPr>
        <p:spPr>
          <a:xfrm>
            <a:off x="19255607" y="10261600"/>
            <a:ext cx="24937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Lightweight, customizable</a:t>
            </a:r>
            <a:endParaRPr lang="en-US" sz="1600" dirty="0"/>
          </a:p>
        </p:txBody>
      </p:sp>
      <p:sp>
        <p:nvSpPr>
          <p:cNvPr id="136" name="Text 28"/>
          <p:cNvSpPr/>
          <p:nvPr/>
        </p:nvSpPr>
        <p:spPr>
          <a:xfrm>
            <a:off x="19255607" y="8001000"/>
            <a:ext cx="81713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Klipfolio</a:t>
            </a:r>
            <a:endParaRPr lang="en-US" sz="1600" dirty="0"/>
          </a:p>
        </p:txBody>
      </p:sp>
      <p:pic>
        <p:nvPicPr>
          <p:cNvPr id="143" name="Graphic 142">
            <a:extLst>
              <a:ext uri="{FF2B5EF4-FFF2-40B4-BE49-F238E27FC236}">
                <a16:creationId xmlns:a16="http://schemas.microsoft.com/office/drawing/2014/main" id="{6B581B3C-4707-45C3-ABEB-F378E9B24822}"/>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9233179" y="7660311"/>
            <a:ext cx="228600" cy="228600"/>
          </a:xfrm>
          <a:prstGeom prst="rect">
            <a:avLst/>
          </a:prstGeom>
        </p:spPr>
      </p:pic>
      <p:pic>
        <p:nvPicPr>
          <p:cNvPr id="145" name="Graphic 144">
            <a:extLst>
              <a:ext uri="{FF2B5EF4-FFF2-40B4-BE49-F238E27FC236}">
                <a16:creationId xmlns:a16="http://schemas.microsoft.com/office/drawing/2014/main" id="{799FA20C-5C3B-469E-B0D3-C620318C71FC}"/>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15002104" y="7613259"/>
            <a:ext cx="209550" cy="228600"/>
          </a:xfrm>
          <a:prstGeom prst="rect">
            <a:avLst/>
          </a:prstGeom>
        </p:spPr>
      </p:pic>
      <p:pic>
        <p:nvPicPr>
          <p:cNvPr id="147" name="Graphic 146">
            <a:extLst>
              <a:ext uri="{FF2B5EF4-FFF2-40B4-BE49-F238E27FC236}">
                <a16:creationId xmlns:a16="http://schemas.microsoft.com/office/drawing/2014/main" id="{E1BF2180-8C13-47DC-8547-E161D31FD383}"/>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10789973" y="3404973"/>
            <a:ext cx="171450" cy="228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4" name="Text 1"/>
          <p:cNvSpPr/>
          <p:nvPr/>
        </p:nvSpPr>
        <p:spPr>
          <a:xfrm>
            <a:off x="1524191" y="1524000"/>
            <a:ext cx="6719140"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Mobile Dashboard Access</a:t>
            </a:r>
            <a:endParaRPr lang="en-US" sz="6000" dirty="0"/>
          </a:p>
        </p:txBody>
      </p:sp>
      <p:sp>
        <p:nvSpPr>
          <p:cNvPr id="5" name="Text 2"/>
          <p:cNvSpPr/>
          <p:nvPr/>
        </p:nvSpPr>
        <p:spPr>
          <a:xfrm>
            <a:off x="15038680" y="1524000"/>
            <a:ext cx="790462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Empower managers and executives with real-time dashboard access from their mobile devices. Whether in meetings or on the move, key insights remain just a tap away driving faster, smarter decisions.</a:t>
            </a:r>
            <a:endParaRPr lang="en-US" sz="1600" dirty="0"/>
          </a:p>
        </p:txBody>
      </p:sp>
      <p:pic>
        <p:nvPicPr>
          <p:cNvPr id="7"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3517900"/>
            <a:ext cx="21351369" cy="9118600"/>
          </a:xfrm>
          <a:prstGeom prst="rect">
            <a:avLst/>
          </a:prstGeom>
        </p:spPr>
      </p:pic>
      <p:pic>
        <p:nvPicPr>
          <p:cNvPr id="10"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64708" y="10375900"/>
            <a:ext cx="3124591" cy="736600"/>
          </a:xfrm>
          <a:prstGeom prst="rect">
            <a:avLst/>
          </a:prstGeom>
        </p:spPr>
      </p:pic>
      <p:pic>
        <p:nvPicPr>
          <p:cNvPr id="11" name="Image 5" descr=" "/>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16092911" y="10375900"/>
            <a:ext cx="3124591" cy="736600"/>
          </a:xfrm>
          <a:prstGeom prst="rect">
            <a:avLst/>
          </a:prstGeom>
        </p:spPr>
      </p:pic>
      <p:pic>
        <p:nvPicPr>
          <p:cNvPr id="12" name="Image 6" descr=" "/>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4801200" y="6324600"/>
            <a:ext cx="3124591" cy="736600"/>
          </a:xfrm>
          <a:prstGeom prst="rect">
            <a:avLst/>
          </a:prstGeom>
        </p:spPr>
      </p:pic>
      <p:pic>
        <p:nvPicPr>
          <p:cNvPr id="13" name="Image 7"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207226" y="6400800"/>
            <a:ext cx="3277010" cy="736600"/>
          </a:xfrm>
          <a:prstGeom prst="rect">
            <a:avLst/>
          </a:prstGeom>
        </p:spPr>
      </p:pic>
      <p:pic>
        <p:nvPicPr>
          <p:cNvPr id="14" name="Image 8"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78810" y="4025900"/>
            <a:ext cx="3124591" cy="736600"/>
          </a:xfrm>
          <a:prstGeom prst="rect">
            <a:avLst/>
          </a:prstGeom>
        </p:spPr>
      </p:pic>
      <p:sp>
        <p:nvSpPr>
          <p:cNvPr id="15" name="Text 4"/>
          <p:cNvSpPr/>
          <p:nvPr/>
        </p:nvSpPr>
        <p:spPr>
          <a:xfrm>
            <a:off x="5093337" y="10591800"/>
            <a:ext cx="273507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Instant Alerts &amp; Notifications</a:t>
            </a:r>
            <a:endParaRPr lang="en-US" sz="1600" dirty="0"/>
          </a:p>
        </p:txBody>
      </p:sp>
      <p:sp>
        <p:nvSpPr>
          <p:cNvPr id="16" name="Text 5"/>
          <p:cNvSpPr/>
          <p:nvPr/>
        </p:nvSpPr>
        <p:spPr>
          <a:xfrm>
            <a:off x="16715289" y="10591800"/>
            <a:ext cx="19475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F4F4F">
                    <a:alpha val="100000"/>
                  </a:srgbClr>
                </a:solidFill>
                <a:latin typeface="Inter Medium" pitchFamily="34" charset="0"/>
                <a:ea typeface="Inter Medium" pitchFamily="34" charset="-122"/>
                <a:cs typeface="Inter Medium" pitchFamily="34" charset="-120"/>
              </a:rPr>
              <a:t>Update in Real Time</a:t>
            </a:r>
            <a:endParaRPr lang="en-US" sz="1600" dirty="0"/>
          </a:p>
        </p:txBody>
      </p:sp>
      <p:sp>
        <p:nvSpPr>
          <p:cNvPr id="17" name="Text 6"/>
          <p:cNvSpPr/>
          <p:nvPr/>
        </p:nvSpPr>
        <p:spPr>
          <a:xfrm>
            <a:off x="5029829" y="6540500"/>
            <a:ext cx="273507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F4F4F">
                    <a:alpha val="100000"/>
                  </a:srgbClr>
                </a:solidFill>
                <a:latin typeface="Inter Medium" pitchFamily="34" charset="0"/>
                <a:ea typeface="Inter Medium" pitchFamily="34" charset="-122"/>
                <a:cs typeface="Inter Medium" pitchFamily="34" charset="-120"/>
              </a:rPr>
              <a:t>Role-Based Views on the Go</a:t>
            </a:r>
            <a:endParaRPr lang="en-US" sz="1600" dirty="0"/>
          </a:p>
        </p:txBody>
      </p:sp>
      <p:sp>
        <p:nvSpPr>
          <p:cNvPr id="18" name="Text 7"/>
          <p:cNvSpPr/>
          <p:nvPr/>
        </p:nvSpPr>
        <p:spPr>
          <a:xfrm>
            <a:off x="16435854" y="6616700"/>
            <a:ext cx="288749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4F4F4F">
                    <a:alpha val="100000"/>
                  </a:srgbClr>
                </a:solidFill>
                <a:latin typeface="Inter Medium" pitchFamily="34" charset="0"/>
                <a:ea typeface="Inter Medium" pitchFamily="34" charset="-122"/>
                <a:cs typeface="Inter Medium" pitchFamily="34" charset="-120"/>
              </a:rPr>
              <a:t>Secure Mobile Login &amp; Access</a:t>
            </a:r>
            <a:endParaRPr lang="en-US" sz="1600" dirty="0"/>
          </a:p>
        </p:txBody>
      </p:sp>
      <p:sp>
        <p:nvSpPr>
          <p:cNvPr id="19" name="Text 8"/>
          <p:cNvSpPr/>
          <p:nvPr/>
        </p:nvSpPr>
        <p:spPr>
          <a:xfrm>
            <a:off x="10872559" y="4241800"/>
            <a:ext cx="239213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Mini Reports &amp; KPI Cards</a:t>
            </a:r>
            <a:endParaRPr lang="en-US" sz="1600" dirty="0"/>
          </a:p>
        </p:txBody>
      </p:sp>
      <p:sp>
        <p:nvSpPr>
          <p:cNvPr id="20" name="Text 9"/>
          <p:cNvSpPr/>
          <p:nvPr/>
        </p:nvSpPr>
        <p:spPr>
          <a:xfrm>
            <a:off x="4830837" y="11264900"/>
            <a:ext cx="3192332"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Get notified when KPIs cross thresholds or targets are hit.</a:t>
            </a:r>
            <a:endParaRPr lang="en-US" sz="1600" dirty="0"/>
          </a:p>
        </p:txBody>
      </p:sp>
      <p:sp>
        <p:nvSpPr>
          <p:cNvPr id="21" name="Text 10"/>
          <p:cNvSpPr/>
          <p:nvPr/>
        </p:nvSpPr>
        <p:spPr>
          <a:xfrm>
            <a:off x="15716098" y="11264900"/>
            <a:ext cx="3878218"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Metrics sync live with the web dashboard no delays or refresh required.</a:t>
            </a:r>
            <a:endParaRPr lang="en-US" sz="1600" dirty="0"/>
          </a:p>
        </p:txBody>
      </p:sp>
      <p:sp>
        <p:nvSpPr>
          <p:cNvPr id="22" name="Text 11"/>
          <p:cNvSpPr/>
          <p:nvPr/>
        </p:nvSpPr>
        <p:spPr>
          <a:xfrm>
            <a:off x="4767329" y="7213600"/>
            <a:ext cx="3192332"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Filter metrics by department, team, or location with one tap.</a:t>
            </a:r>
            <a:endParaRPr lang="en-US" sz="1600" dirty="0"/>
          </a:p>
        </p:txBody>
      </p:sp>
      <p:sp>
        <p:nvSpPr>
          <p:cNvPr id="23" name="Text 12"/>
          <p:cNvSpPr/>
          <p:nvPr/>
        </p:nvSpPr>
        <p:spPr>
          <a:xfrm>
            <a:off x="16071742" y="7289800"/>
            <a:ext cx="3560678"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Encrypted access and SSO support keep data safe on mobile devices.</a:t>
            </a:r>
            <a:endParaRPr lang="en-US" sz="1600" dirty="0"/>
          </a:p>
        </p:txBody>
      </p:sp>
      <p:sp>
        <p:nvSpPr>
          <p:cNvPr id="24" name="Text 13"/>
          <p:cNvSpPr/>
          <p:nvPr/>
        </p:nvSpPr>
        <p:spPr>
          <a:xfrm>
            <a:off x="10190907" y="4914900"/>
            <a:ext cx="3700396" cy="677333"/>
          </a:xfrm>
          <a:prstGeom prst="rect">
            <a:avLst/>
          </a:prstGeom>
          <a:noFill/>
          <a:ln/>
        </p:spPr>
        <p:txBody>
          <a:bodyPr wrap="square" lIns="0" tIns="0" rIns="0" bIns="0" rtlCol="0" anchor="t"/>
          <a:lstStyle/>
          <a:p>
            <a:pPr marL="0" indent="0" algn="ctr">
              <a:lnSpc>
                <a:spcPts val="2400"/>
              </a:lnSpc>
              <a:buNone/>
            </a:pPr>
            <a:r>
              <a:rPr lang="en-US" sz="1600" kern="0" spc="-32" dirty="0">
                <a:solidFill>
                  <a:srgbClr val="4F4F4F">
                    <a:alpha val="100000"/>
                  </a:srgbClr>
                </a:solidFill>
                <a:latin typeface="Inter Medium" pitchFamily="34" charset="0"/>
                <a:ea typeface="Inter Medium" pitchFamily="34" charset="-122"/>
                <a:cs typeface="Inter Medium" pitchFamily="34" charset="-120"/>
              </a:rPr>
              <a:t>Compact, scrollable cards highlight the top 3–5 metrics that matter most.</a:t>
            </a:r>
            <a:endParaRPr lang="en-US" sz="1600" dirty="0"/>
          </a:p>
        </p:txBody>
      </p:sp>
      <p:pic>
        <p:nvPicPr>
          <p:cNvPr id="25" name="Image 9"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03813" y="6400800"/>
            <a:ext cx="6274584" cy="6273800"/>
          </a:xfrm>
          <a:prstGeom prst="rect">
            <a:avLst/>
          </a:prstGeom>
        </p:spPr>
      </p:pic>
      <p:pic>
        <p:nvPicPr>
          <p:cNvPr id="26" name="Image 10"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919440" y="6699250"/>
            <a:ext cx="1879835" cy="1384300"/>
          </a:xfrm>
          <a:prstGeom prst="rect">
            <a:avLst/>
          </a:prstGeom>
        </p:spPr>
      </p:pic>
      <p:pic>
        <p:nvPicPr>
          <p:cNvPr id="27" name="Image 11"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333741" y="6775450"/>
            <a:ext cx="1879835" cy="1384300"/>
          </a:xfrm>
          <a:prstGeom prst="rect">
            <a:avLst/>
          </a:prstGeom>
        </p:spPr>
      </p:pic>
      <p:pic>
        <p:nvPicPr>
          <p:cNvPr id="28" name="Image 12"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322668" y="6819714"/>
            <a:ext cx="5436726" cy="4819824"/>
          </a:xfrm>
          <a:prstGeom prst="rect">
            <a:avLst/>
          </a:prstGeom>
        </p:spPr>
      </p:pic>
      <p:pic>
        <p:nvPicPr>
          <p:cNvPr id="30" name="Image 14"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914755" y="10211650"/>
            <a:ext cx="286728" cy="327651"/>
          </a:xfrm>
          <a:prstGeom prst="rect">
            <a:avLst/>
          </a:prstGeom>
        </p:spPr>
      </p:pic>
      <p:pic>
        <p:nvPicPr>
          <p:cNvPr id="31" name="Image 15"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1037680" y="6540500"/>
            <a:ext cx="2102510" cy="1571985"/>
          </a:xfrm>
          <a:prstGeom prst="rect">
            <a:avLst/>
          </a:prstGeom>
        </p:spPr>
      </p:pic>
      <p:pic>
        <p:nvPicPr>
          <p:cNvPr id="32" name="Image 16"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644699" y="8141469"/>
            <a:ext cx="2792836" cy="2792493"/>
          </a:xfrm>
          <a:prstGeom prst="rect">
            <a:avLst/>
          </a:prstGeom>
        </p:spPr>
      </p:pic>
      <p:sp>
        <p:nvSpPr>
          <p:cNvPr id="33" name="Shape 14"/>
          <p:cNvSpPr/>
          <p:nvPr/>
        </p:nvSpPr>
        <p:spPr>
          <a:xfrm>
            <a:off x="10951944" y="8448613"/>
            <a:ext cx="2178416" cy="2178144"/>
          </a:xfrm>
          <a:prstGeom prst="ellipse">
            <a:avLst/>
          </a:prstGeom>
          <a:solidFill>
            <a:srgbClr val="F6F3FF">
              <a:alpha val="100000"/>
            </a:srgbClr>
          </a:solidFill>
          <a:ln/>
        </p:spPr>
      </p:sp>
      <p:pic>
        <p:nvPicPr>
          <p:cNvPr id="34" name="Image 17"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913839" y="8410513"/>
            <a:ext cx="2254631" cy="2254343"/>
          </a:xfrm>
          <a:prstGeom prst="rect">
            <a:avLst/>
          </a:prstGeom>
        </p:spPr>
      </p:pic>
      <p:pic>
        <p:nvPicPr>
          <p:cNvPr id="35" name="Image 18"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1901387" y="8661400"/>
            <a:ext cx="279435" cy="279400"/>
          </a:xfrm>
          <a:prstGeom prst="rect">
            <a:avLst/>
          </a:prstGeom>
        </p:spPr>
      </p:pic>
      <p:pic>
        <p:nvPicPr>
          <p:cNvPr id="37" name="Image 20"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0194711" y="8209731"/>
            <a:ext cx="136542" cy="136519"/>
          </a:xfrm>
          <a:prstGeom prst="rect">
            <a:avLst/>
          </a:prstGeom>
        </p:spPr>
      </p:pic>
      <p:pic>
        <p:nvPicPr>
          <p:cNvPr id="38" name="Image 21"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0143880" y="8363316"/>
            <a:ext cx="238180" cy="102394"/>
          </a:xfrm>
          <a:prstGeom prst="rect">
            <a:avLst/>
          </a:prstGeom>
        </p:spPr>
      </p:pic>
      <p:pic>
        <p:nvPicPr>
          <p:cNvPr id="40" name="Image 23"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2109326" y="7129797"/>
            <a:ext cx="85339" cy="307175"/>
          </a:xfrm>
          <a:prstGeom prst="rect">
            <a:avLst/>
          </a:prstGeom>
        </p:spPr>
      </p:pic>
      <p:pic>
        <p:nvPicPr>
          <p:cNvPr id="41" name="Image 24"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1998386" y="7232191"/>
            <a:ext cx="85339" cy="204781"/>
          </a:xfrm>
          <a:prstGeom prst="rect">
            <a:avLst/>
          </a:prstGeom>
        </p:spPr>
      </p:pic>
      <p:pic>
        <p:nvPicPr>
          <p:cNvPr id="42" name="Image 25" descr=" "/>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1887446" y="7351644"/>
            <a:ext cx="85339" cy="85328"/>
          </a:xfrm>
          <a:prstGeom prst="rect">
            <a:avLst/>
          </a:prstGeom>
        </p:spPr>
      </p:pic>
      <p:pic>
        <p:nvPicPr>
          <p:cNvPr id="44" name="Image 27" descr=" "/>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3682611" y="8158535"/>
            <a:ext cx="273072" cy="358372"/>
          </a:xfrm>
          <a:prstGeom prst="rect">
            <a:avLst/>
          </a:prstGeom>
        </p:spPr>
      </p:pic>
      <p:pic>
        <p:nvPicPr>
          <p:cNvPr id="46" name="Image 29" descr=" "/>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3921188" y="10226154"/>
            <a:ext cx="298673" cy="298642"/>
          </a:xfrm>
          <a:prstGeom prst="rect">
            <a:avLst/>
          </a:prstGeom>
        </p:spPr>
      </p:pic>
      <p:pic>
        <p:nvPicPr>
          <p:cNvPr id="47" name="Image 30" descr=" "/>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982948" y="10598150"/>
            <a:ext cx="1600400" cy="165100"/>
          </a:xfrm>
          <a:prstGeom prst="rect">
            <a:avLst/>
          </a:prstGeom>
        </p:spPr>
      </p:pic>
      <p:pic>
        <p:nvPicPr>
          <p:cNvPr id="48" name="Image 31" descr=" "/>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4498862" y="10598150"/>
            <a:ext cx="1600400" cy="165100"/>
          </a:xfrm>
          <a:prstGeom prst="rect">
            <a:avLst/>
          </a:prstGeom>
        </p:spPr>
      </p:pic>
      <p:pic>
        <p:nvPicPr>
          <p:cNvPr id="49" name="Image 32" descr=" "/>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2034754" y="5613400"/>
            <a:ext cx="12702" cy="793750"/>
          </a:xfrm>
          <a:prstGeom prst="rect">
            <a:avLst/>
          </a:prstGeom>
        </p:spPr>
      </p:pic>
      <p:pic>
        <p:nvPicPr>
          <p:cNvPr id="50" name="Image 33" descr=" "/>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0566555" y="6375400"/>
            <a:ext cx="3068599" cy="471072"/>
          </a:xfrm>
          <a:prstGeom prst="rect">
            <a:avLst/>
          </a:prstGeom>
        </p:spPr>
      </p:pic>
      <p:pic>
        <p:nvPicPr>
          <p:cNvPr id="52" name="Graphic 51">
            <a:extLst>
              <a:ext uri="{FF2B5EF4-FFF2-40B4-BE49-F238E27FC236}">
                <a16:creationId xmlns:a16="http://schemas.microsoft.com/office/drawing/2014/main" id="{DFAE7075-6865-480D-AE48-FCABC062DB5A}"/>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22018429" y="3929380"/>
            <a:ext cx="381000" cy="381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3606800"/>
            <a:ext cx="24387048" cy="10109200"/>
          </a:xfrm>
          <a:prstGeom prst="rect">
            <a:avLst/>
          </a:prstGeom>
          <a:solidFill>
            <a:srgbClr val="888888">
              <a:alpha val="10000"/>
            </a:srgbClr>
          </a:solidFill>
          <a:ln/>
        </p:spPr>
      </p:sp>
      <p:sp>
        <p:nvSpPr>
          <p:cNvPr id="3" name="Shape 1"/>
          <p:cNvSpPr/>
          <p:nvPr/>
        </p:nvSpPr>
        <p:spPr>
          <a:xfrm>
            <a:off x="1778222" y="4597400"/>
            <a:ext cx="101613" cy="101600"/>
          </a:xfrm>
          <a:prstGeom prst="ellipse">
            <a:avLst/>
          </a:prstGeom>
          <a:solidFill>
            <a:srgbClr val="151417">
              <a:alpha val="100000"/>
            </a:srgbClr>
          </a:solidFill>
          <a:ln/>
        </p:spPr>
      </p:sp>
      <p:sp>
        <p:nvSpPr>
          <p:cNvPr id="4" name="Shape 2"/>
          <p:cNvSpPr/>
          <p:nvPr/>
        </p:nvSpPr>
        <p:spPr>
          <a:xfrm>
            <a:off x="3505638" y="4597400"/>
            <a:ext cx="101613" cy="101600"/>
          </a:xfrm>
          <a:prstGeom prst="ellipse">
            <a:avLst/>
          </a:prstGeom>
          <a:solidFill>
            <a:srgbClr val="151417">
              <a:alpha val="100000"/>
            </a:srgbClr>
          </a:solidFill>
          <a:ln/>
        </p:spPr>
      </p:sp>
      <p:sp>
        <p:nvSpPr>
          <p:cNvPr id="5" name="Shape 3"/>
          <p:cNvSpPr/>
          <p:nvPr/>
        </p:nvSpPr>
        <p:spPr>
          <a:xfrm>
            <a:off x="5233054" y="4597400"/>
            <a:ext cx="101613" cy="101600"/>
          </a:xfrm>
          <a:prstGeom prst="ellipse">
            <a:avLst/>
          </a:prstGeom>
          <a:solidFill>
            <a:srgbClr val="151417">
              <a:alpha val="100000"/>
            </a:srgbClr>
          </a:solidFill>
          <a:ln/>
        </p:spPr>
      </p:sp>
      <p:sp>
        <p:nvSpPr>
          <p:cNvPr id="6" name="Shape 4"/>
          <p:cNvSpPr/>
          <p:nvPr/>
        </p:nvSpPr>
        <p:spPr>
          <a:xfrm>
            <a:off x="6960470" y="4597400"/>
            <a:ext cx="101613" cy="101600"/>
          </a:xfrm>
          <a:prstGeom prst="ellipse">
            <a:avLst/>
          </a:prstGeom>
          <a:solidFill>
            <a:srgbClr val="151417">
              <a:alpha val="100000"/>
            </a:srgbClr>
          </a:solidFill>
          <a:ln/>
        </p:spPr>
      </p:sp>
      <p:sp>
        <p:nvSpPr>
          <p:cNvPr id="7" name="Shape 5"/>
          <p:cNvSpPr/>
          <p:nvPr/>
        </p:nvSpPr>
        <p:spPr>
          <a:xfrm>
            <a:off x="8687886" y="4597400"/>
            <a:ext cx="101613" cy="101600"/>
          </a:xfrm>
          <a:prstGeom prst="ellipse">
            <a:avLst/>
          </a:prstGeom>
          <a:solidFill>
            <a:srgbClr val="151417">
              <a:alpha val="100000"/>
            </a:srgbClr>
          </a:solidFill>
          <a:ln/>
        </p:spPr>
      </p:sp>
      <p:sp>
        <p:nvSpPr>
          <p:cNvPr id="8" name="Shape 6"/>
          <p:cNvSpPr/>
          <p:nvPr/>
        </p:nvSpPr>
        <p:spPr>
          <a:xfrm>
            <a:off x="10415302" y="4597400"/>
            <a:ext cx="101613" cy="101600"/>
          </a:xfrm>
          <a:prstGeom prst="ellipse">
            <a:avLst/>
          </a:prstGeom>
          <a:solidFill>
            <a:srgbClr val="151417">
              <a:alpha val="100000"/>
            </a:srgbClr>
          </a:solidFill>
          <a:ln/>
        </p:spPr>
      </p:sp>
      <p:sp>
        <p:nvSpPr>
          <p:cNvPr id="9" name="Shape 7"/>
          <p:cNvSpPr/>
          <p:nvPr/>
        </p:nvSpPr>
        <p:spPr>
          <a:xfrm>
            <a:off x="12142718" y="4597400"/>
            <a:ext cx="101613" cy="101600"/>
          </a:xfrm>
          <a:prstGeom prst="ellipse">
            <a:avLst/>
          </a:prstGeom>
          <a:solidFill>
            <a:srgbClr val="151417">
              <a:alpha val="100000"/>
            </a:srgbClr>
          </a:solidFill>
          <a:ln/>
        </p:spPr>
      </p:sp>
      <p:sp>
        <p:nvSpPr>
          <p:cNvPr id="10" name="Shape 8"/>
          <p:cNvSpPr/>
          <p:nvPr/>
        </p:nvSpPr>
        <p:spPr>
          <a:xfrm>
            <a:off x="13870134" y="4597400"/>
            <a:ext cx="101613" cy="101600"/>
          </a:xfrm>
          <a:prstGeom prst="ellipse">
            <a:avLst/>
          </a:prstGeom>
          <a:solidFill>
            <a:srgbClr val="151417">
              <a:alpha val="100000"/>
            </a:srgbClr>
          </a:solidFill>
          <a:ln/>
        </p:spPr>
      </p:sp>
      <p:sp>
        <p:nvSpPr>
          <p:cNvPr id="11" name="Shape 9"/>
          <p:cNvSpPr/>
          <p:nvPr/>
        </p:nvSpPr>
        <p:spPr>
          <a:xfrm>
            <a:off x="15597549" y="4597400"/>
            <a:ext cx="101613" cy="101600"/>
          </a:xfrm>
          <a:prstGeom prst="ellipse">
            <a:avLst/>
          </a:prstGeom>
          <a:solidFill>
            <a:srgbClr val="151417">
              <a:alpha val="100000"/>
            </a:srgbClr>
          </a:solidFill>
          <a:ln/>
        </p:spPr>
      </p:sp>
      <p:sp>
        <p:nvSpPr>
          <p:cNvPr id="12" name="Shape 10"/>
          <p:cNvSpPr/>
          <p:nvPr/>
        </p:nvSpPr>
        <p:spPr>
          <a:xfrm>
            <a:off x="17324965" y="4597400"/>
            <a:ext cx="101613" cy="101600"/>
          </a:xfrm>
          <a:prstGeom prst="ellipse">
            <a:avLst/>
          </a:prstGeom>
          <a:solidFill>
            <a:srgbClr val="151417">
              <a:alpha val="100000"/>
            </a:srgbClr>
          </a:solidFill>
          <a:ln/>
        </p:spPr>
      </p:sp>
      <p:sp>
        <p:nvSpPr>
          <p:cNvPr id="13" name="Shape 11"/>
          <p:cNvSpPr/>
          <p:nvPr/>
        </p:nvSpPr>
        <p:spPr>
          <a:xfrm>
            <a:off x="19052381" y="4597400"/>
            <a:ext cx="101613" cy="101600"/>
          </a:xfrm>
          <a:prstGeom prst="ellipse">
            <a:avLst/>
          </a:prstGeom>
          <a:solidFill>
            <a:srgbClr val="151417">
              <a:alpha val="100000"/>
            </a:srgbClr>
          </a:solidFill>
          <a:ln/>
        </p:spPr>
      </p:sp>
      <p:sp>
        <p:nvSpPr>
          <p:cNvPr id="14" name="Shape 12"/>
          <p:cNvSpPr/>
          <p:nvPr/>
        </p:nvSpPr>
        <p:spPr>
          <a:xfrm>
            <a:off x="20779797" y="4597400"/>
            <a:ext cx="101613" cy="101600"/>
          </a:xfrm>
          <a:prstGeom prst="ellipse">
            <a:avLst/>
          </a:prstGeom>
          <a:solidFill>
            <a:srgbClr val="151417">
              <a:alpha val="100000"/>
            </a:srgbClr>
          </a:solidFill>
          <a:ln/>
        </p:spPr>
      </p:sp>
      <p:sp>
        <p:nvSpPr>
          <p:cNvPr id="15" name="Shape 13"/>
          <p:cNvSpPr/>
          <p:nvPr/>
        </p:nvSpPr>
        <p:spPr>
          <a:xfrm>
            <a:off x="22507213" y="4597400"/>
            <a:ext cx="101613" cy="101600"/>
          </a:xfrm>
          <a:prstGeom prst="ellipse">
            <a:avLst/>
          </a:prstGeom>
          <a:solidFill>
            <a:srgbClr val="151417">
              <a:alpha val="100000"/>
            </a:srgbClr>
          </a:solidFill>
          <a:ln/>
        </p:spPr>
      </p:sp>
      <p:sp>
        <p:nvSpPr>
          <p:cNvPr id="16" name="Shape 14"/>
          <p:cNvSpPr/>
          <p:nvPr/>
        </p:nvSpPr>
        <p:spPr>
          <a:xfrm>
            <a:off x="1778222" y="6604000"/>
            <a:ext cx="101613" cy="101600"/>
          </a:xfrm>
          <a:prstGeom prst="ellipse">
            <a:avLst/>
          </a:prstGeom>
          <a:solidFill>
            <a:srgbClr val="151417">
              <a:alpha val="100000"/>
            </a:srgbClr>
          </a:solidFill>
          <a:ln/>
        </p:spPr>
      </p:sp>
      <p:sp>
        <p:nvSpPr>
          <p:cNvPr id="17" name="Shape 15"/>
          <p:cNvSpPr/>
          <p:nvPr/>
        </p:nvSpPr>
        <p:spPr>
          <a:xfrm>
            <a:off x="3505638" y="6604000"/>
            <a:ext cx="101613" cy="101600"/>
          </a:xfrm>
          <a:prstGeom prst="ellipse">
            <a:avLst/>
          </a:prstGeom>
          <a:solidFill>
            <a:srgbClr val="151417">
              <a:alpha val="100000"/>
            </a:srgbClr>
          </a:solidFill>
          <a:ln/>
        </p:spPr>
      </p:sp>
      <p:sp>
        <p:nvSpPr>
          <p:cNvPr id="18" name="Shape 16"/>
          <p:cNvSpPr/>
          <p:nvPr/>
        </p:nvSpPr>
        <p:spPr>
          <a:xfrm>
            <a:off x="5233054" y="6604000"/>
            <a:ext cx="101613" cy="101600"/>
          </a:xfrm>
          <a:prstGeom prst="ellipse">
            <a:avLst/>
          </a:prstGeom>
          <a:solidFill>
            <a:srgbClr val="151417">
              <a:alpha val="100000"/>
            </a:srgbClr>
          </a:solidFill>
          <a:ln/>
        </p:spPr>
      </p:sp>
      <p:sp>
        <p:nvSpPr>
          <p:cNvPr id="19" name="Shape 17"/>
          <p:cNvSpPr/>
          <p:nvPr/>
        </p:nvSpPr>
        <p:spPr>
          <a:xfrm>
            <a:off x="6960470" y="6604000"/>
            <a:ext cx="101613" cy="101600"/>
          </a:xfrm>
          <a:prstGeom prst="ellipse">
            <a:avLst/>
          </a:prstGeom>
          <a:solidFill>
            <a:srgbClr val="151417">
              <a:alpha val="100000"/>
            </a:srgbClr>
          </a:solidFill>
          <a:ln/>
        </p:spPr>
      </p:sp>
      <p:sp>
        <p:nvSpPr>
          <p:cNvPr id="20" name="Shape 18"/>
          <p:cNvSpPr/>
          <p:nvPr/>
        </p:nvSpPr>
        <p:spPr>
          <a:xfrm>
            <a:off x="8687886" y="6604000"/>
            <a:ext cx="101613" cy="101600"/>
          </a:xfrm>
          <a:prstGeom prst="ellipse">
            <a:avLst/>
          </a:prstGeom>
          <a:solidFill>
            <a:srgbClr val="151417">
              <a:alpha val="100000"/>
            </a:srgbClr>
          </a:solidFill>
          <a:ln/>
        </p:spPr>
      </p:sp>
      <p:sp>
        <p:nvSpPr>
          <p:cNvPr id="21" name="Shape 19"/>
          <p:cNvSpPr/>
          <p:nvPr/>
        </p:nvSpPr>
        <p:spPr>
          <a:xfrm>
            <a:off x="10415302" y="6604000"/>
            <a:ext cx="101613" cy="101600"/>
          </a:xfrm>
          <a:prstGeom prst="ellipse">
            <a:avLst/>
          </a:prstGeom>
          <a:solidFill>
            <a:srgbClr val="151417">
              <a:alpha val="100000"/>
            </a:srgbClr>
          </a:solidFill>
          <a:ln/>
        </p:spPr>
      </p:sp>
      <p:sp>
        <p:nvSpPr>
          <p:cNvPr id="22" name="Shape 20"/>
          <p:cNvSpPr/>
          <p:nvPr/>
        </p:nvSpPr>
        <p:spPr>
          <a:xfrm>
            <a:off x="12142718" y="6604000"/>
            <a:ext cx="101613" cy="101600"/>
          </a:xfrm>
          <a:prstGeom prst="ellipse">
            <a:avLst/>
          </a:prstGeom>
          <a:solidFill>
            <a:srgbClr val="151417">
              <a:alpha val="100000"/>
            </a:srgbClr>
          </a:solidFill>
          <a:ln/>
        </p:spPr>
      </p:sp>
      <p:sp>
        <p:nvSpPr>
          <p:cNvPr id="23" name="Shape 21"/>
          <p:cNvSpPr/>
          <p:nvPr/>
        </p:nvSpPr>
        <p:spPr>
          <a:xfrm>
            <a:off x="13870134" y="6604000"/>
            <a:ext cx="101613" cy="101600"/>
          </a:xfrm>
          <a:prstGeom prst="ellipse">
            <a:avLst/>
          </a:prstGeom>
          <a:solidFill>
            <a:srgbClr val="151417">
              <a:alpha val="100000"/>
            </a:srgbClr>
          </a:solidFill>
          <a:ln/>
        </p:spPr>
      </p:sp>
      <p:sp>
        <p:nvSpPr>
          <p:cNvPr id="24" name="Shape 22"/>
          <p:cNvSpPr/>
          <p:nvPr/>
        </p:nvSpPr>
        <p:spPr>
          <a:xfrm>
            <a:off x="15597549" y="6604000"/>
            <a:ext cx="101613" cy="101600"/>
          </a:xfrm>
          <a:prstGeom prst="ellipse">
            <a:avLst/>
          </a:prstGeom>
          <a:solidFill>
            <a:srgbClr val="151417">
              <a:alpha val="100000"/>
            </a:srgbClr>
          </a:solidFill>
          <a:ln/>
        </p:spPr>
      </p:sp>
      <p:sp>
        <p:nvSpPr>
          <p:cNvPr id="25" name="Shape 23"/>
          <p:cNvSpPr/>
          <p:nvPr/>
        </p:nvSpPr>
        <p:spPr>
          <a:xfrm>
            <a:off x="17324965" y="6604000"/>
            <a:ext cx="101613" cy="101600"/>
          </a:xfrm>
          <a:prstGeom prst="ellipse">
            <a:avLst/>
          </a:prstGeom>
          <a:solidFill>
            <a:srgbClr val="151417">
              <a:alpha val="100000"/>
            </a:srgbClr>
          </a:solidFill>
          <a:ln/>
        </p:spPr>
      </p:sp>
      <p:sp>
        <p:nvSpPr>
          <p:cNvPr id="26" name="Shape 24"/>
          <p:cNvSpPr/>
          <p:nvPr/>
        </p:nvSpPr>
        <p:spPr>
          <a:xfrm>
            <a:off x="19052381" y="6604000"/>
            <a:ext cx="101613" cy="101600"/>
          </a:xfrm>
          <a:prstGeom prst="ellipse">
            <a:avLst/>
          </a:prstGeom>
          <a:solidFill>
            <a:srgbClr val="151417">
              <a:alpha val="100000"/>
            </a:srgbClr>
          </a:solidFill>
          <a:ln/>
        </p:spPr>
      </p:sp>
      <p:sp>
        <p:nvSpPr>
          <p:cNvPr id="27" name="Shape 25"/>
          <p:cNvSpPr/>
          <p:nvPr/>
        </p:nvSpPr>
        <p:spPr>
          <a:xfrm>
            <a:off x="20779797" y="6604000"/>
            <a:ext cx="101613" cy="101600"/>
          </a:xfrm>
          <a:prstGeom prst="ellipse">
            <a:avLst/>
          </a:prstGeom>
          <a:solidFill>
            <a:srgbClr val="151417">
              <a:alpha val="100000"/>
            </a:srgbClr>
          </a:solidFill>
          <a:ln/>
        </p:spPr>
      </p:sp>
      <p:sp>
        <p:nvSpPr>
          <p:cNvPr id="28" name="Shape 26"/>
          <p:cNvSpPr/>
          <p:nvPr/>
        </p:nvSpPr>
        <p:spPr>
          <a:xfrm>
            <a:off x="22507213" y="6604000"/>
            <a:ext cx="101613" cy="101600"/>
          </a:xfrm>
          <a:prstGeom prst="ellipse">
            <a:avLst/>
          </a:prstGeom>
          <a:solidFill>
            <a:srgbClr val="151417">
              <a:alpha val="100000"/>
            </a:srgbClr>
          </a:solidFill>
          <a:ln/>
        </p:spPr>
      </p:sp>
      <p:sp>
        <p:nvSpPr>
          <p:cNvPr id="29" name="Shape 27"/>
          <p:cNvSpPr/>
          <p:nvPr/>
        </p:nvSpPr>
        <p:spPr>
          <a:xfrm>
            <a:off x="1778222" y="8610600"/>
            <a:ext cx="101613" cy="101600"/>
          </a:xfrm>
          <a:prstGeom prst="ellipse">
            <a:avLst/>
          </a:prstGeom>
          <a:solidFill>
            <a:srgbClr val="151417">
              <a:alpha val="100000"/>
            </a:srgbClr>
          </a:solidFill>
          <a:ln/>
        </p:spPr>
      </p:sp>
      <p:sp>
        <p:nvSpPr>
          <p:cNvPr id="30" name="Shape 28"/>
          <p:cNvSpPr/>
          <p:nvPr/>
        </p:nvSpPr>
        <p:spPr>
          <a:xfrm>
            <a:off x="3505638" y="8610600"/>
            <a:ext cx="101613" cy="101600"/>
          </a:xfrm>
          <a:prstGeom prst="ellipse">
            <a:avLst/>
          </a:prstGeom>
          <a:solidFill>
            <a:srgbClr val="151417">
              <a:alpha val="100000"/>
            </a:srgbClr>
          </a:solidFill>
          <a:ln/>
        </p:spPr>
      </p:sp>
      <p:sp>
        <p:nvSpPr>
          <p:cNvPr id="31" name="Shape 29"/>
          <p:cNvSpPr/>
          <p:nvPr/>
        </p:nvSpPr>
        <p:spPr>
          <a:xfrm>
            <a:off x="5233054" y="8610600"/>
            <a:ext cx="101613" cy="101600"/>
          </a:xfrm>
          <a:prstGeom prst="ellipse">
            <a:avLst/>
          </a:prstGeom>
          <a:solidFill>
            <a:srgbClr val="151417">
              <a:alpha val="100000"/>
            </a:srgbClr>
          </a:solidFill>
          <a:ln/>
        </p:spPr>
      </p:sp>
      <p:sp>
        <p:nvSpPr>
          <p:cNvPr id="32" name="Shape 30"/>
          <p:cNvSpPr/>
          <p:nvPr/>
        </p:nvSpPr>
        <p:spPr>
          <a:xfrm>
            <a:off x="6960470" y="8610600"/>
            <a:ext cx="101613" cy="101600"/>
          </a:xfrm>
          <a:prstGeom prst="ellipse">
            <a:avLst/>
          </a:prstGeom>
          <a:solidFill>
            <a:srgbClr val="151417">
              <a:alpha val="100000"/>
            </a:srgbClr>
          </a:solidFill>
          <a:ln/>
        </p:spPr>
      </p:sp>
      <p:sp>
        <p:nvSpPr>
          <p:cNvPr id="33" name="Shape 31"/>
          <p:cNvSpPr/>
          <p:nvPr/>
        </p:nvSpPr>
        <p:spPr>
          <a:xfrm>
            <a:off x="8687886" y="8610600"/>
            <a:ext cx="101613" cy="101600"/>
          </a:xfrm>
          <a:prstGeom prst="ellipse">
            <a:avLst/>
          </a:prstGeom>
          <a:solidFill>
            <a:srgbClr val="151417">
              <a:alpha val="100000"/>
            </a:srgbClr>
          </a:solidFill>
          <a:ln/>
        </p:spPr>
      </p:sp>
      <p:sp>
        <p:nvSpPr>
          <p:cNvPr id="34" name="Shape 32"/>
          <p:cNvSpPr/>
          <p:nvPr/>
        </p:nvSpPr>
        <p:spPr>
          <a:xfrm>
            <a:off x="10415302" y="8610600"/>
            <a:ext cx="101613" cy="101600"/>
          </a:xfrm>
          <a:prstGeom prst="ellipse">
            <a:avLst/>
          </a:prstGeom>
          <a:solidFill>
            <a:srgbClr val="151417">
              <a:alpha val="100000"/>
            </a:srgbClr>
          </a:solidFill>
          <a:ln/>
        </p:spPr>
      </p:sp>
      <p:sp>
        <p:nvSpPr>
          <p:cNvPr id="35" name="Shape 33"/>
          <p:cNvSpPr/>
          <p:nvPr/>
        </p:nvSpPr>
        <p:spPr>
          <a:xfrm>
            <a:off x="12142718" y="8610600"/>
            <a:ext cx="101613" cy="101600"/>
          </a:xfrm>
          <a:prstGeom prst="ellipse">
            <a:avLst/>
          </a:prstGeom>
          <a:solidFill>
            <a:srgbClr val="151417">
              <a:alpha val="100000"/>
            </a:srgbClr>
          </a:solidFill>
          <a:ln/>
        </p:spPr>
      </p:sp>
      <p:sp>
        <p:nvSpPr>
          <p:cNvPr id="36" name="Shape 34"/>
          <p:cNvSpPr/>
          <p:nvPr/>
        </p:nvSpPr>
        <p:spPr>
          <a:xfrm>
            <a:off x="13870134" y="8610600"/>
            <a:ext cx="101613" cy="101600"/>
          </a:xfrm>
          <a:prstGeom prst="ellipse">
            <a:avLst/>
          </a:prstGeom>
          <a:solidFill>
            <a:srgbClr val="151417">
              <a:alpha val="100000"/>
            </a:srgbClr>
          </a:solidFill>
          <a:ln/>
        </p:spPr>
      </p:sp>
      <p:sp>
        <p:nvSpPr>
          <p:cNvPr id="37" name="Shape 35"/>
          <p:cNvSpPr/>
          <p:nvPr/>
        </p:nvSpPr>
        <p:spPr>
          <a:xfrm>
            <a:off x="15597549" y="8610600"/>
            <a:ext cx="101613" cy="101600"/>
          </a:xfrm>
          <a:prstGeom prst="ellipse">
            <a:avLst/>
          </a:prstGeom>
          <a:solidFill>
            <a:srgbClr val="151417">
              <a:alpha val="100000"/>
            </a:srgbClr>
          </a:solidFill>
          <a:ln/>
        </p:spPr>
      </p:sp>
      <p:sp>
        <p:nvSpPr>
          <p:cNvPr id="38" name="Shape 36"/>
          <p:cNvSpPr/>
          <p:nvPr/>
        </p:nvSpPr>
        <p:spPr>
          <a:xfrm>
            <a:off x="17324965" y="8610600"/>
            <a:ext cx="101613" cy="101600"/>
          </a:xfrm>
          <a:prstGeom prst="ellipse">
            <a:avLst/>
          </a:prstGeom>
          <a:solidFill>
            <a:srgbClr val="151417">
              <a:alpha val="100000"/>
            </a:srgbClr>
          </a:solidFill>
          <a:ln/>
        </p:spPr>
      </p:sp>
      <p:sp>
        <p:nvSpPr>
          <p:cNvPr id="39" name="Shape 37"/>
          <p:cNvSpPr/>
          <p:nvPr/>
        </p:nvSpPr>
        <p:spPr>
          <a:xfrm>
            <a:off x="19052381" y="8610600"/>
            <a:ext cx="101613" cy="101600"/>
          </a:xfrm>
          <a:prstGeom prst="ellipse">
            <a:avLst/>
          </a:prstGeom>
          <a:solidFill>
            <a:srgbClr val="151417">
              <a:alpha val="100000"/>
            </a:srgbClr>
          </a:solidFill>
          <a:ln/>
        </p:spPr>
      </p:sp>
      <p:sp>
        <p:nvSpPr>
          <p:cNvPr id="40" name="Shape 38"/>
          <p:cNvSpPr/>
          <p:nvPr/>
        </p:nvSpPr>
        <p:spPr>
          <a:xfrm>
            <a:off x="20779797" y="8610600"/>
            <a:ext cx="101613" cy="101600"/>
          </a:xfrm>
          <a:prstGeom prst="ellipse">
            <a:avLst/>
          </a:prstGeom>
          <a:solidFill>
            <a:srgbClr val="151417">
              <a:alpha val="100000"/>
            </a:srgbClr>
          </a:solidFill>
          <a:ln/>
        </p:spPr>
      </p:sp>
      <p:sp>
        <p:nvSpPr>
          <p:cNvPr id="41" name="Shape 39"/>
          <p:cNvSpPr/>
          <p:nvPr/>
        </p:nvSpPr>
        <p:spPr>
          <a:xfrm>
            <a:off x="22507213" y="8610600"/>
            <a:ext cx="101613" cy="101600"/>
          </a:xfrm>
          <a:prstGeom prst="ellipse">
            <a:avLst/>
          </a:prstGeom>
          <a:solidFill>
            <a:srgbClr val="151417">
              <a:alpha val="100000"/>
            </a:srgbClr>
          </a:solidFill>
          <a:ln/>
        </p:spPr>
      </p:sp>
      <p:sp>
        <p:nvSpPr>
          <p:cNvPr id="42" name="Shape 40"/>
          <p:cNvSpPr/>
          <p:nvPr/>
        </p:nvSpPr>
        <p:spPr>
          <a:xfrm>
            <a:off x="1778222" y="10617200"/>
            <a:ext cx="101613" cy="101600"/>
          </a:xfrm>
          <a:prstGeom prst="ellipse">
            <a:avLst/>
          </a:prstGeom>
          <a:solidFill>
            <a:srgbClr val="151417">
              <a:alpha val="100000"/>
            </a:srgbClr>
          </a:solidFill>
          <a:ln/>
        </p:spPr>
      </p:sp>
      <p:sp>
        <p:nvSpPr>
          <p:cNvPr id="43" name="Shape 41"/>
          <p:cNvSpPr/>
          <p:nvPr/>
        </p:nvSpPr>
        <p:spPr>
          <a:xfrm>
            <a:off x="3505638" y="10617200"/>
            <a:ext cx="101613" cy="101600"/>
          </a:xfrm>
          <a:prstGeom prst="ellipse">
            <a:avLst/>
          </a:prstGeom>
          <a:solidFill>
            <a:srgbClr val="151417">
              <a:alpha val="100000"/>
            </a:srgbClr>
          </a:solidFill>
          <a:ln/>
        </p:spPr>
      </p:sp>
      <p:sp>
        <p:nvSpPr>
          <p:cNvPr id="44" name="Shape 42"/>
          <p:cNvSpPr/>
          <p:nvPr/>
        </p:nvSpPr>
        <p:spPr>
          <a:xfrm>
            <a:off x="5233054" y="10617200"/>
            <a:ext cx="101613" cy="101600"/>
          </a:xfrm>
          <a:prstGeom prst="ellipse">
            <a:avLst/>
          </a:prstGeom>
          <a:solidFill>
            <a:srgbClr val="151417">
              <a:alpha val="100000"/>
            </a:srgbClr>
          </a:solidFill>
          <a:ln/>
        </p:spPr>
      </p:sp>
      <p:sp>
        <p:nvSpPr>
          <p:cNvPr id="45" name="Shape 43"/>
          <p:cNvSpPr/>
          <p:nvPr/>
        </p:nvSpPr>
        <p:spPr>
          <a:xfrm>
            <a:off x="6960470" y="10617200"/>
            <a:ext cx="101613" cy="101600"/>
          </a:xfrm>
          <a:prstGeom prst="ellipse">
            <a:avLst/>
          </a:prstGeom>
          <a:solidFill>
            <a:srgbClr val="151417">
              <a:alpha val="100000"/>
            </a:srgbClr>
          </a:solidFill>
          <a:ln/>
        </p:spPr>
      </p:sp>
      <p:sp>
        <p:nvSpPr>
          <p:cNvPr id="46" name="Shape 44"/>
          <p:cNvSpPr/>
          <p:nvPr/>
        </p:nvSpPr>
        <p:spPr>
          <a:xfrm>
            <a:off x="8687886" y="10617200"/>
            <a:ext cx="101613" cy="101600"/>
          </a:xfrm>
          <a:prstGeom prst="ellipse">
            <a:avLst/>
          </a:prstGeom>
          <a:solidFill>
            <a:srgbClr val="151417">
              <a:alpha val="100000"/>
            </a:srgbClr>
          </a:solidFill>
          <a:ln/>
        </p:spPr>
      </p:sp>
      <p:sp>
        <p:nvSpPr>
          <p:cNvPr id="47" name="Shape 45"/>
          <p:cNvSpPr/>
          <p:nvPr/>
        </p:nvSpPr>
        <p:spPr>
          <a:xfrm>
            <a:off x="10415302" y="10617200"/>
            <a:ext cx="101613" cy="101600"/>
          </a:xfrm>
          <a:prstGeom prst="ellipse">
            <a:avLst/>
          </a:prstGeom>
          <a:solidFill>
            <a:srgbClr val="151417">
              <a:alpha val="100000"/>
            </a:srgbClr>
          </a:solidFill>
          <a:ln/>
        </p:spPr>
      </p:sp>
      <p:sp>
        <p:nvSpPr>
          <p:cNvPr id="48" name="Shape 46"/>
          <p:cNvSpPr/>
          <p:nvPr/>
        </p:nvSpPr>
        <p:spPr>
          <a:xfrm>
            <a:off x="12142718" y="10617200"/>
            <a:ext cx="101613" cy="101600"/>
          </a:xfrm>
          <a:prstGeom prst="ellipse">
            <a:avLst/>
          </a:prstGeom>
          <a:solidFill>
            <a:srgbClr val="151417">
              <a:alpha val="100000"/>
            </a:srgbClr>
          </a:solidFill>
          <a:ln/>
        </p:spPr>
      </p:sp>
      <p:sp>
        <p:nvSpPr>
          <p:cNvPr id="49" name="Shape 47"/>
          <p:cNvSpPr/>
          <p:nvPr/>
        </p:nvSpPr>
        <p:spPr>
          <a:xfrm>
            <a:off x="13870134" y="10617200"/>
            <a:ext cx="101613" cy="101600"/>
          </a:xfrm>
          <a:prstGeom prst="ellipse">
            <a:avLst/>
          </a:prstGeom>
          <a:solidFill>
            <a:srgbClr val="151417">
              <a:alpha val="100000"/>
            </a:srgbClr>
          </a:solidFill>
          <a:ln/>
        </p:spPr>
      </p:sp>
      <p:sp>
        <p:nvSpPr>
          <p:cNvPr id="50" name="Shape 48"/>
          <p:cNvSpPr/>
          <p:nvPr/>
        </p:nvSpPr>
        <p:spPr>
          <a:xfrm>
            <a:off x="15597549" y="10617200"/>
            <a:ext cx="101613" cy="101600"/>
          </a:xfrm>
          <a:prstGeom prst="ellipse">
            <a:avLst/>
          </a:prstGeom>
          <a:solidFill>
            <a:srgbClr val="151417">
              <a:alpha val="100000"/>
            </a:srgbClr>
          </a:solidFill>
          <a:ln/>
        </p:spPr>
      </p:sp>
      <p:sp>
        <p:nvSpPr>
          <p:cNvPr id="51" name="Shape 49"/>
          <p:cNvSpPr/>
          <p:nvPr/>
        </p:nvSpPr>
        <p:spPr>
          <a:xfrm>
            <a:off x="17324965" y="10617200"/>
            <a:ext cx="101613" cy="101600"/>
          </a:xfrm>
          <a:prstGeom prst="ellipse">
            <a:avLst/>
          </a:prstGeom>
          <a:solidFill>
            <a:srgbClr val="151417">
              <a:alpha val="100000"/>
            </a:srgbClr>
          </a:solidFill>
          <a:ln/>
        </p:spPr>
      </p:sp>
      <p:sp>
        <p:nvSpPr>
          <p:cNvPr id="52" name="Shape 50"/>
          <p:cNvSpPr/>
          <p:nvPr/>
        </p:nvSpPr>
        <p:spPr>
          <a:xfrm>
            <a:off x="19052381" y="10617200"/>
            <a:ext cx="101613" cy="101600"/>
          </a:xfrm>
          <a:prstGeom prst="ellipse">
            <a:avLst/>
          </a:prstGeom>
          <a:solidFill>
            <a:srgbClr val="151417">
              <a:alpha val="100000"/>
            </a:srgbClr>
          </a:solidFill>
          <a:ln/>
        </p:spPr>
      </p:sp>
      <p:sp>
        <p:nvSpPr>
          <p:cNvPr id="53" name="Shape 51"/>
          <p:cNvSpPr/>
          <p:nvPr/>
        </p:nvSpPr>
        <p:spPr>
          <a:xfrm>
            <a:off x="20779797" y="10617200"/>
            <a:ext cx="101613" cy="101600"/>
          </a:xfrm>
          <a:prstGeom prst="ellipse">
            <a:avLst/>
          </a:prstGeom>
          <a:solidFill>
            <a:srgbClr val="151417">
              <a:alpha val="100000"/>
            </a:srgbClr>
          </a:solidFill>
          <a:ln/>
        </p:spPr>
      </p:sp>
      <p:sp>
        <p:nvSpPr>
          <p:cNvPr id="54" name="Shape 52"/>
          <p:cNvSpPr/>
          <p:nvPr/>
        </p:nvSpPr>
        <p:spPr>
          <a:xfrm>
            <a:off x="22507213" y="10617200"/>
            <a:ext cx="101613" cy="101600"/>
          </a:xfrm>
          <a:prstGeom prst="ellipse">
            <a:avLst/>
          </a:prstGeom>
          <a:solidFill>
            <a:srgbClr val="151417">
              <a:alpha val="100000"/>
            </a:srgbClr>
          </a:solidFill>
          <a:ln/>
        </p:spPr>
      </p:sp>
      <p:sp>
        <p:nvSpPr>
          <p:cNvPr id="55" name="Shape 53"/>
          <p:cNvSpPr/>
          <p:nvPr/>
        </p:nvSpPr>
        <p:spPr>
          <a:xfrm>
            <a:off x="1778222" y="12623800"/>
            <a:ext cx="101613" cy="101600"/>
          </a:xfrm>
          <a:prstGeom prst="ellipse">
            <a:avLst/>
          </a:prstGeom>
          <a:solidFill>
            <a:srgbClr val="151417">
              <a:alpha val="100000"/>
            </a:srgbClr>
          </a:solidFill>
          <a:ln/>
        </p:spPr>
      </p:sp>
      <p:sp>
        <p:nvSpPr>
          <p:cNvPr id="56" name="Shape 54"/>
          <p:cNvSpPr/>
          <p:nvPr/>
        </p:nvSpPr>
        <p:spPr>
          <a:xfrm>
            <a:off x="3505638" y="12623800"/>
            <a:ext cx="101613" cy="101600"/>
          </a:xfrm>
          <a:prstGeom prst="ellipse">
            <a:avLst/>
          </a:prstGeom>
          <a:solidFill>
            <a:srgbClr val="151417">
              <a:alpha val="100000"/>
            </a:srgbClr>
          </a:solidFill>
          <a:ln/>
        </p:spPr>
      </p:sp>
      <p:sp>
        <p:nvSpPr>
          <p:cNvPr id="57" name="Shape 55"/>
          <p:cNvSpPr/>
          <p:nvPr/>
        </p:nvSpPr>
        <p:spPr>
          <a:xfrm>
            <a:off x="5233054" y="12623800"/>
            <a:ext cx="101613" cy="101600"/>
          </a:xfrm>
          <a:prstGeom prst="ellipse">
            <a:avLst/>
          </a:prstGeom>
          <a:solidFill>
            <a:srgbClr val="151417">
              <a:alpha val="100000"/>
            </a:srgbClr>
          </a:solidFill>
          <a:ln/>
        </p:spPr>
      </p:sp>
      <p:sp>
        <p:nvSpPr>
          <p:cNvPr id="58" name="Shape 56"/>
          <p:cNvSpPr/>
          <p:nvPr/>
        </p:nvSpPr>
        <p:spPr>
          <a:xfrm>
            <a:off x="6960470" y="12623800"/>
            <a:ext cx="101613" cy="101600"/>
          </a:xfrm>
          <a:prstGeom prst="ellipse">
            <a:avLst/>
          </a:prstGeom>
          <a:solidFill>
            <a:srgbClr val="151417">
              <a:alpha val="100000"/>
            </a:srgbClr>
          </a:solidFill>
          <a:ln/>
        </p:spPr>
      </p:sp>
      <p:sp>
        <p:nvSpPr>
          <p:cNvPr id="59" name="Shape 57"/>
          <p:cNvSpPr/>
          <p:nvPr/>
        </p:nvSpPr>
        <p:spPr>
          <a:xfrm>
            <a:off x="8687886" y="12623800"/>
            <a:ext cx="101613" cy="101600"/>
          </a:xfrm>
          <a:prstGeom prst="ellipse">
            <a:avLst/>
          </a:prstGeom>
          <a:solidFill>
            <a:srgbClr val="151417">
              <a:alpha val="100000"/>
            </a:srgbClr>
          </a:solidFill>
          <a:ln/>
        </p:spPr>
      </p:sp>
      <p:sp>
        <p:nvSpPr>
          <p:cNvPr id="60" name="Shape 58"/>
          <p:cNvSpPr/>
          <p:nvPr/>
        </p:nvSpPr>
        <p:spPr>
          <a:xfrm>
            <a:off x="10415302" y="12623800"/>
            <a:ext cx="101613" cy="101600"/>
          </a:xfrm>
          <a:prstGeom prst="ellipse">
            <a:avLst/>
          </a:prstGeom>
          <a:solidFill>
            <a:srgbClr val="151417">
              <a:alpha val="100000"/>
            </a:srgbClr>
          </a:solidFill>
          <a:ln/>
        </p:spPr>
      </p:sp>
      <p:sp>
        <p:nvSpPr>
          <p:cNvPr id="61" name="Shape 59"/>
          <p:cNvSpPr/>
          <p:nvPr/>
        </p:nvSpPr>
        <p:spPr>
          <a:xfrm>
            <a:off x="12142718" y="12623800"/>
            <a:ext cx="101613" cy="101600"/>
          </a:xfrm>
          <a:prstGeom prst="ellipse">
            <a:avLst/>
          </a:prstGeom>
          <a:solidFill>
            <a:srgbClr val="151417">
              <a:alpha val="100000"/>
            </a:srgbClr>
          </a:solidFill>
          <a:ln/>
        </p:spPr>
      </p:sp>
      <p:sp>
        <p:nvSpPr>
          <p:cNvPr id="62" name="Shape 60"/>
          <p:cNvSpPr/>
          <p:nvPr/>
        </p:nvSpPr>
        <p:spPr>
          <a:xfrm>
            <a:off x="13870134" y="12623800"/>
            <a:ext cx="101613" cy="101600"/>
          </a:xfrm>
          <a:prstGeom prst="ellipse">
            <a:avLst/>
          </a:prstGeom>
          <a:solidFill>
            <a:srgbClr val="151417">
              <a:alpha val="100000"/>
            </a:srgbClr>
          </a:solidFill>
          <a:ln/>
        </p:spPr>
      </p:sp>
      <p:sp>
        <p:nvSpPr>
          <p:cNvPr id="63" name="Shape 61"/>
          <p:cNvSpPr/>
          <p:nvPr/>
        </p:nvSpPr>
        <p:spPr>
          <a:xfrm>
            <a:off x="15597549" y="12623800"/>
            <a:ext cx="101613" cy="101600"/>
          </a:xfrm>
          <a:prstGeom prst="ellipse">
            <a:avLst/>
          </a:prstGeom>
          <a:solidFill>
            <a:srgbClr val="151417">
              <a:alpha val="100000"/>
            </a:srgbClr>
          </a:solidFill>
          <a:ln/>
        </p:spPr>
      </p:sp>
      <p:sp>
        <p:nvSpPr>
          <p:cNvPr id="64" name="Shape 62"/>
          <p:cNvSpPr/>
          <p:nvPr/>
        </p:nvSpPr>
        <p:spPr>
          <a:xfrm>
            <a:off x="17324965" y="12623800"/>
            <a:ext cx="101613" cy="101600"/>
          </a:xfrm>
          <a:prstGeom prst="ellipse">
            <a:avLst/>
          </a:prstGeom>
          <a:solidFill>
            <a:srgbClr val="151417">
              <a:alpha val="100000"/>
            </a:srgbClr>
          </a:solidFill>
          <a:ln/>
        </p:spPr>
      </p:sp>
      <p:sp>
        <p:nvSpPr>
          <p:cNvPr id="65" name="Shape 63"/>
          <p:cNvSpPr/>
          <p:nvPr/>
        </p:nvSpPr>
        <p:spPr>
          <a:xfrm>
            <a:off x="19052381" y="12623800"/>
            <a:ext cx="101613" cy="101600"/>
          </a:xfrm>
          <a:prstGeom prst="ellipse">
            <a:avLst/>
          </a:prstGeom>
          <a:solidFill>
            <a:srgbClr val="151417">
              <a:alpha val="100000"/>
            </a:srgbClr>
          </a:solidFill>
          <a:ln/>
        </p:spPr>
      </p:sp>
      <p:sp>
        <p:nvSpPr>
          <p:cNvPr id="66" name="Shape 64"/>
          <p:cNvSpPr/>
          <p:nvPr/>
        </p:nvSpPr>
        <p:spPr>
          <a:xfrm>
            <a:off x="20779797" y="12623800"/>
            <a:ext cx="101613" cy="101600"/>
          </a:xfrm>
          <a:prstGeom prst="ellipse">
            <a:avLst/>
          </a:prstGeom>
          <a:solidFill>
            <a:srgbClr val="151417">
              <a:alpha val="100000"/>
            </a:srgbClr>
          </a:solidFill>
          <a:ln/>
        </p:spPr>
      </p:sp>
      <p:sp>
        <p:nvSpPr>
          <p:cNvPr id="67" name="Shape 65"/>
          <p:cNvSpPr/>
          <p:nvPr/>
        </p:nvSpPr>
        <p:spPr>
          <a:xfrm>
            <a:off x="22507213" y="12623800"/>
            <a:ext cx="101613" cy="101600"/>
          </a:xfrm>
          <a:prstGeom prst="ellipse">
            <a:avLst/>
          </a:prstGeom>
          <a:solidFill>
            <a:srgbClr val="151417">
              <a:alpha val="100000"/>
            </a:srgbClr>
          </a:solidFill>
          <a:ln/>
        </p:spPr>
      </p:sp>
      <p:pic>
        <p:nvPicPr>
          <p:cNvPr id="69"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8222" y="4419600"/>
            <a:ext cx="8027403" cy="8026400"/>
          </a:xfrm>
          <a:prstGeom prst="rect">
            <a:avLst/>
          </a:prstGeom>
        </p:spPr>
      </p:pic>
      <p:pic>
        <p:nvPicPr>
          <p:cNvPr id="70"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32654" y="7162800"/>
            <a:ext cx="4305838" cy="4305300"/>
          </a:xfrm>
          <a:prstGeom prst="rect">
            <a:avLst/>
          </a:prstGeom>
        </p:spPr>
      </p:pic>
      <p:pic>
        <p:nvPicPr>
          <p:cNvPr id="71"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91524" y="7721600"/>
            <a:ext cx="3188098" cy="3187700"/>
          </a:xfrm>
          <a:prstGeom prst="rect">
            <a:avLst/>
          </a:prstGeom>
        </p:spPr>
      </p:pic>
      <p:sp>
        <p:nvSpPr>
          <p:cNvPr id="72" name="Text 66"/>
          <p:cNvSpPr/>
          <p:nvPr/>
        </p:nvSpPr>
        <p:spPr>
          <a:xfrm>
            <a:off x="3073784" y="5156200"/>
            <a:ext cx="222701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End-to-End Encryption</a:t>
            </a:r>
            <a:endParaRPr lang="en-US" sz="1600" dirty="0"/>
          </a:p>
        </p:txBody>
      </p:sp>
      <p:sp>
        <p:nvSpPr>
          <p:cNvPr id="73" name="Text 67"/>
          <p:cNvSpPr/>
          <p:nvPr/>
        </p:nvSpPr>
        <p:spPr>
          <a:xfrm>
            <a:off x="2413302" y="5994400"/>
            <a:ext cx="6824986"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End-to-end encryption is a secure communication method that ensures only the sender and the recipient can read the messages, preventing any third parties from accessing the data.</a:t>
            </a:r>
            <a:endParaRPr lang="en-US" sz="1600" dirty="0"/>
          </a:p>
        </p:txBody>
      </p:sp>
      <p:sp>
        <p:nvSpPr>
          <p:cNvPr id="74" name="Text 68"/>
          <p:cNvSpPr/>
          <p:nvPr/>
        </p:nvSpPr>
        <p:spPr>
          <a:xfrm>
            <a:off x="7290711" y="11430000"/>
            <a:ext cx="1964512"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Data encryption</a:t>
            </a:r>
            <a:endParaRPr lang="en-US" sz="2000" dirty="0"/>
          </a:p>
        </p:txBody>
      </p:sp>
      <p:sp>
        <p:nvSpPr>
          <p:cNvPr id="75" name="Text 69"/>
          <p:cNvSpPr/>
          <p:nvPr/>
        </p:nvSpPr>
        <p:spPr>
          <a:xfrm>
            <a:off x="2413302" y="11468100"/>
            <a:ext cx="140140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Security Layer</a:t>
            </a:r>
            <a:endParaRPr lang="en-US" sz="1600" dirty="0"/>
          </a:p>
        </p:txBody>
      </p:sp>
      <p:pic>
        <p:nvPicPr>
          <p:cNvPr id="76"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47968" y="5054600"/>
            <a:ext cx="1422578" cy="457200"/>
          </a:xfrm>
          <a:prstGeom prst="rect">
            <a:avLst/>
          </a:prstGeom>
        </p:spPr>
      </p:pic>
      <p:sp>
        <p:nvSpPr>
          <p:cNvPr id="77" name="Text 70"/>
          <p:cNvSpPr/>
          <p:nvPr/>
        </p:nvSpPr>
        <p:spPr>
          <a:xfrm>
            <a:off x="8281435" y="5130800"/>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6F3FF">
                    <a:alpha val="100000"/>
                  </a:srgbClr>
                </a:solidFill>
                <a:latin typeface="Inter Medium" pitchFamily="34" charset="0"/>
                <a:ea typeface="Inter Medium" pitchFamily="34" charset="-122"/>
                <a:cs typeface="Inter Medium" pitchFamily="34" charset="-120"/>
              </a:rPr>
              <a:t>Enable</a:t>
            </a:r>
            <a:endParaRPr lang="en-US" sz="1600" dirty="0"/>
          </a:p>
        </p:txBody>
      </p:sp>
      <p:pic>
        <p:nvPicPr>
          <p:cNvPr id="79"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95727" y="5181495"/>
            <a:ext cx="204630" cy="204440"/>
          </a:xfrm>
          <a:prstGeom prst="rect">
            <a:avLst/>
          </a:prstGeom>
        </p:spPr>
      </p:pic>
      <p:pic>
        <p:nvPicPr>
          <p:cNvPr id="80"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64108" y="9302750"/>
            <a:ext cx="6642930" cy="38100"/>
          </a:xfrm>
          <a:prstGeom prst="rect">
            <a:avLst/>
          </a:prstGeom>
        </p:spPr>
      </p:pic>
      <p:pic>
        <p:nvPicPr>
          <p:cNvPr id="81" name="Image 8"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750394" y="8280400"/>
            <a:ext cx="2070359" cy="2070100"/>
          </a:xfrm>
          <a:prstGeom prst="rect">
            <a:avLst/>
          </a:prstGeom>
        </p:spPr>
      </p:pic>
      <p:sp>
        <p:nvSpPr>
          <p:cNvPr id="82" name="Shape 71"/>
          <p:cNvSpPr/>
          <p:nvPr/>
        </p:nvSpPr>
        <p:spPr>
          <a:xfrm>
            <a:off x="4928216" y="8458200"/>
            <a:ext cx="1727416" cy="1727200"/>
          </a:xfrm>
          <a:prstGeom prst="ellipse">
            <a:avLst/>
          </a:prstGeom>
          <a:solidFill>
            <a:srgbClr val="F6F3FF">
              <a:alpha val="100000"/>
            </a:srgbClr>
          </a:solidFill>
          <a:ln/>
        </p:spPr>
      </p:sp>
      <p:pic>
        <p:nvPicPr>
          <p:cNvPr id="84" name="Image 10"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520957" y="8983135"/>
            <a:ext cx="541934" cy="677335"/>
          </a:xfrm>
          <a:prstGeom prst="rect">
            <a:avLst/>
          </a:prstGeom>
        </p:spPr>
      </p:pic>
      <p:pic>
        <p:nvPicPr>
          <p:cNvPr id="86" name="Image 12"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413302" y="5054600"/>
            <a:ext cx="508063" cy="508000"/>
          </a:xfrm>
          <a:prstGeom prst="rect">
            <a:avLst/>
          </a:prstGeom>
        </p:spPr>
      </p:pic>
      <p:pic>
        <p:nvPicPr>
          <p:cNvPr id="88" name="Image 14"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565721" y="5181600"/>
            <a:ext cx="203225" cy="254000"/>
          </a:xfrm>
          <a:prstGeom prst="rect">
            <a:avLst/>
          </a:prstGeom>
        </p:spPr>
      </p:pic>
      <p:pic>
        <p:nvPicPr>
          <p:cNvPr id="90" name="Image 16"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059657" y="4419600"/>
            <a:ext cx="4013702" cy="8026400"/>
          </a:xfrm>
          <a:prstGeom prst="rect">
            <a:avLst/>
          </a:prstGeom>
        </p:spPr>
      </p:pic>
      <p:sp>
        <p:nvSpPr>
          <p:cNvPr id="91" name="Text 72"/>
          <p:cNvSpPr/>
          <p:nvPr/>
        </p:nvSpPr>
        <p:spPr>
          <a:xfrm>
            <a:off x="10694737" y="5765800"/>
            <a:ext cx="1884069"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Role-Based Access Control</a:t>
            </a:r>
            <a:endParaRPr lang="en-US" sz="1600" dirty="0"/>
          </a:p>
        </p:txBody>
      </p:sp>
      <p:sp>
        <p:nvSpPr>
          <p:cNvPr id="92" name="Text 73"/>
          <p:cNvSpPr/>
          <p:nvPr/>
        </p:nvSpPr>
        <p:spPr>
          <a:xfrm>
            <a:off x="10694737" y="6578600"/>
            <a:ext cx="2849389" cy="15917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Regular" pitchFamily="34" charset="0"/>
                <a:ea typeface="Inter Regular" pitchFamily="34" charset="-122"/>
                <a:cs typeface="Inter Regular" pitchFamily="34" charset="-120"/>
              </a:rPr>
              <a:t>RBAC assigns permissions to roles, simplifying access management and ensuring users have appropriate access based on their roles.</a:t>
            </a:r>
            <a:endParaRPr lang="en-US" sz="1600" dirty="0"/>
          </a:p>
        </p:txBody>
      </p:sp>
      <p:pic>
        <p:nvPicPr>
          <p:cNvPr id="93" name="Image 17"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1329816" y="9131300"/>
            <a:ext cx="1473384" cy="1473200"/>
          </a:xfrm>
          <a:prstGeom prst="rect">
            <a:avLst/>
          </a:prstGeom>
        </p:spPr>
      </p:pic>
      <p:pic>
        <p:nvPicPr>
          <p:cNvPr id="94" name="Image 18"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1647356" y="9448800"/>
            <a:ext cx="838305" cy="838200"/>
          </a:xfrm>
          <a:prstGeom prst="rect">
            <a:avLst/>
          </a:prstGeom>
        </p:spPr>
      </p:pic>
      <p:pic>
        <p:nvPicPr>
          <p:cNvPr id="95" name="Image 19"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2003000" y="9499600"/>
            <a:ext cx="127016" cy="127000"/>
          </a:xfrm>
          <a:prstGeom prst="rect">
            <a:avLst/>
          </a:prstGeom>
        </p:spPr>
      </p:pic>
      <p:pic>
        <p:nvPicPr>
          <p:cNvPr id="96" name="Image 20"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1469534" y="9271000"/>
            <a:ext cx="1193949" cy="1193800"/>
          </a:xfrm>
          <a:prstGeom prst="rect">
            <a:avLst/>
          </a:prstGeom>
        </p:spPr>
      </p:pic>
      <p:pic>
        <p:nvPicPr>
          <p:cNvPr id="97" name="Image 21"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151994" y="11353800"/>
            <a:ext cx="1816327" cy="457200"/>
          </a:xfrm>
          <a:prstGeom prst="rect">
            <a:avLst/>
          </a:prstGeom>
        </p:spPr>
      </p:pic>
      <p:sp>
        <p:nvSpPr>
          <p:cNvPr id="98" name="Text 74"/>
          <p:cNvSpPr/>
          <p:nvPr/>
        </p:nvSpPr>
        <p:spPr>
          <a:xfrm>
            <a:off x="11685461" y="11430000"/>
            <a:ext cx="11219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6F3FF">
                    <a:alpha val="100000"/>
                  </a:srgbClr>
                </a:solidFill>
                <a:latin typeface="Inter Medium" pitchFamily="34" charset="0"/>
                <a:ea typeface="Inter Medium" pitchFamily="34" charset="-122"/>
                <a:cs typeface="Inter Medium" pitchFamily="34" charset="-120"/>
              </a:rPr>
              <a:t>Configured</a:t>
            </a:r>
            <a:endParaRPr lang="en-US" sz="1600" dirty="0"/>
          </a:p>
        </p:txBody>
      </p:sp>
      <p:pic>
        <p:nvPicPr>
          <p:cNvPr id="100" name="Image 23"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1399675" y="11487150"/>
            <a:ext cx="190524" cy="190500"/>
          </a:xfrm>
          <a:prstGeom prst="rect">
            <a:avLst/>
          </a:prstGeom>
        </p:spPr>
      </p:pic>
      <p:pic>
        <p:nvPicPr>
          <p:cNvPr id="101" name="Image 24"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10186673" y="9131300"/>
            <a:ext cx="1016127" cy="1473200"/>
          </a:xfrm>
          <a:prstGeom prst="rect">
            <a:avLst/>
          </a:prstGeom>
        </p:spPr>
      </p:pic>
      <p:pic>
        <p:nvPicPr>
          <p:cNvPr id="102" name="Image 25" descr=" "/>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2930216" y="9131300"/>
            <a:ext cx="1016127" cy="1473200"/>
          </a:xfrm>
          <a:prstGeom prst="rect">
            <a:avLst/>
          </a:prstGeom>
        </p:spPr>
      </p:pic>
      <p:pic>
        <p:nvPicPr>
          <p:cNvPr id="104" name="Image 27" descr=" "/>
          <p:cNvPicPr>
            <a:picLocks noChangeAspect="1"/>
          </p:cNvPicPr>
          <p:nvPr/>
        </p:nvPicPr>
        <p:blipFill>
          <a:blip r:embed="rId19">
            <a:extLst>
              <a:ext uri="{96DAC541-7B7A-43D3-8B79-37D633B846F1}">
                <asvg:svgBlip xmlns:asvg="http://schemas.microsoft.com/office/drawing/2016/SVG/main" r:embed="rId41"/>
              </a:ext>
            </a:extLst>
          </a:blip>
          <a:stretch>
            <a:fillRect/>
          </a:stretch>
        </p:blipFill>
        <p:spPr>
          <a:xfrm>
            <a:off x="10694737" y="5054600"/>
            <a:ext cx="508063" cy="508000"/>
          </a:xfrm>
          <a:prstGeom prst="rect">
            <a:avLst/>
          </a:prstGeom>
        </p:spPr>
      </p:pic>
      <p:pic>
        <p:nvPicPr>
          <p:cNvPr id="106" name="Image 29" descr=" "/>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0859857" y="5207000"/>
            <a:ext cx="177822" cy="203200"/>
          </a:xfrm>
          <a:prstGeom prst="rect">
            <a:avLst/>
          </a:prstGeom>
        </p:spPr>
      </p:pic>
      <p:pic>
        <p:nvPicPr>
          <p:cNvPr id="108" name="Image 31" descr=" "/>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4327391" y="4419600"/>
            <a:ext cx="3759670" cy="3759200"/>
          </a:xfrm>
          <a:prstGeom prst="rect">
            <a:avLst/>
          </a:prstGeom>
        </p:spPr>
      </p:pic>
      <p:pic>
        <p:nvPicPr>
          <p:cNvPr id="109" name="Image 32" descr=" "/>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4962470" y="6242050"/>
            <a:ext cx="2502213" cy="622300"/>
          </a:xfrm>
          <a:prstGeom prst="rect">
            <a:avLst/>
          </a:prstGeom>
        </p:spPr>
      </p:pic>
      <p:pic>
        <p:nvPicPr>
          <p:cNvPr id="110" name="Image 33" descr=" "/>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4961436" y="6232525"/>
            <a:ext cx="2503247" cy="481800"/>
          </a:xfrm>
          <a:prstGeom prst="rect">
            <a:avLst/>
          </a:prstGeom>
        </p:spPr>
      </p:pic>
      <p:sp>
        <p:nvSpPr>
          <p:cNvPr id="111" name="Text 75"/>
          <p:cNvSpPr/>
          <p:nvPr/>
        </p:nvSpPr>
        <p:spPr>
          <a:xfrm>
            <a:off x="14962470" y="5689600"/>
            <a:ext cx="225241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Automated Daily Syncs</a:t>
            </a:r>
            <a:endParaRPr lang="en-US" sz="1600" dirty="0"/>
          </a:p>
        </p:txBody>
      </p:sp>
      <p:pic>
        <p:nvPicPr>
          <p:cNvPr id="112" name="Image 34" descr=" "/>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4962470" y="7086600"/>
            <a:ext cx="1422578" cy="457200"/>
          </a:xfrm>
          <a:prstGeom prst="rect">
            <a:avLst/>
          </a:prstGeom>
        </p:spPr>
      </p:pic>
      <p:sp>
        <p:nvSpPr>
          <p:cNvPr id="113" name="Text 76"/>
          <p:cNvSpPr/>
          <p:nvPr/>
        </p:nvSpPr>
        <p:spPr>
          <a:xfrm>
            <a:off x="15495937" y="7162800"/>
            <a:ext cx="66471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6F3FF">
                    <a:alpha val="100000"/>
                  </a:srgbClr>
                </a:solidFill>
                <a:latin typeface="Inter Medium" pitchFamily="34" charset="0"/>
                <a:ea typeface="Inter Medium" pitchFamily="34" charset="-122"/>
                <a:cs typeface="Inter Medium" pitchFamily="34" charset="-120"/>
              </a:rPr>
              <a:t>Active</a:t>
            </a:r>
            <a:endParaRPr lang="en-US" sz="1600" dirty="0"/>
          </a:p>
        </p:txBody>
      </p:sp>
      <p:pic>
        <p:nvPicPr>
          <p:cNvPr id="115" name="Image 3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10229" y="7213495"/>
            <a:ext cx="204630" cy="204440"/>
          </a:xfrm>
          <a:prstGeom prst="rect">
            <a:avLst/>
          </a:prstGeom>
        </p:spPr>
      </p:pic>
      <p:pic>
        <p:nvPicPr>
          <p:cNvPr id="117" name="Image 38" descr=" "/>
          <p:cNvPicPr>
            <a:picLocks noChangeAspect="1"/>
          </p:cNvPicPr>
          <p:nvPr/>
        </p:nvPicPr>
        <p:blipFill>
          <a:blip r:embed="rId19">
            <a:extLst>
              <a:ext uri="{96DAC541-7B7A-43D3-8B79-37D633B846F1}">
                <asvg:svgBlip xmlns:asvg="http://schemas.microsoft.com/office/drawing/2016/SVG/main" r:embed="rId52"/>
              </a:ext>
            </a:extLst>
          </a:blip>
          <a:stretch>
            <a:fillRect/>
          </a:stretch>
        </p:blipFill>
        <p:spPr>
          <a:xfrm>
            <a:off x="14962470" y="5054600"/>
            <a:ext cx="508063" cy="508000"/>
          </a:xfrm>
          <a:prstGeom prst="rect">
            <a:avLst/>
          </a:prstGeom>
        </p:spPr>
      </p:pic>
      <p:pic>
        <p:nvPicPr>
          <p:cNvPr id="119" name="Image 40" descr=" "/>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5091471" y="5183584"/>
            <a:ext cx="250064" cy="250031"/>
          </a:xfrm>
          <a:prstGeom prst="rect">
            <a:avLst/>
          </a:prstGeom>
        </p:spPr>
      </p:pic>
      <p:pic>
        <p:nvPicPr>
          <p:cNvPr id="121" name="Image 42" descr=" "/>
          <p:cNvPicPr>
            <a:picLocks noChangeAspect="1"/>
          </p:cNvPicPr>
          <p:nvPr/>
        </p:nvPicPr>
        <p:blipFill>
          <a:blip r:embed="rId44">
            <a:extLst>
              <a:ext uri="{96DAC541-7B7A-43D3-8B79-37D633B846F1}">
                <asvg:svgBlip xmlns:asvg="http://schemas.microsoft.com/office/drawing/2016/SVG/main" r:embed="rId55"/>
              </a:ext>
            </a:extLst>
          </a:blip>
          <a:stretch>
            <a:fillRect/>
          </a:stretch>
        </p:blipFill>
        <p:spPr>
          <a:xfrm>
            <a:off x="18341092" y="4419600"/>
            <a:ext cx="3759670" cy="3759200"/>
          </a:xfrm>
          <a:prstGeom prst="rect">
            <a:avLst/>
          </a:prstGeom>
        </p:spPr>
      </p:pic>
      <p:sp>
        <p:nvSpPr>
          <p:cNvPr id="122" name="Text 77"/>
          <p:cNvSpPr/>
          <p:nvPr/>
        </p:nvSpPr>
        <p:spPr>
          <a:xfrm>
            <a:off x="18976172" y="5689600"/>
            <a:ext cx="175705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Audit-Ready Logs</a:t>
            </a:r>
            <a:endParaRPr lang="en-US" sz="1600" dirty="0"/>
          </a:p>
        </p:txBody>
      </p:sp>
      <p:pic>
        <p:nvPicPr>
          <p:cNvPr id="123" name="Image 43" descr=" "/>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18976502" y="6667004"/>
            <a:ext cx="203720" cy="203696"/>
          </a:xfrm>
          <a:prstGeom prst="rect">
            <a:avLst/>
          </a:prstGeom>
        </p:spPr>
      </p:pic>
      <p:pic>
        <p:nvPicPr>
          <p:cNvPr id="124" name="Image 44" descr=" "/>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18976502" y="6410158"/>
            <a:ext cx="203720" cy="203696"/>
          </a:xfrm>
          <a:prstGeom prst="rect">
            <a:avLst/>
          </a:prstGeom>
        </p:spPr>
      </p:pic>
      <p:pic>
        <p:nvPicPr>
          <p:cNvPr id="125" name="Image 45" descr=" "/>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18976502" y="6152976"/>
            <a:ext cx="203720" cy="203696"/>
          </a:xfrm>
          <a:prstGeom prst="rect">
            <a:avLst/>
          </a:prstGeom>
        </p:spPr>
      </p:pic>
      <p:pic>
        <p:nvPicPr>
          <p:cNvPr id="126" name="Image 46" descr=" "/>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9235384" y="6667004"/>
            <a:ext cx="203720" cy="203696"/>
          </a:xfrm>
          <a:prstGeom prst="rect">
            <a:avLst/>
          </a:prstGeom>
        </p:spPr>
      </p:pic>
      <p:pic>
        <p:nvPicPr>
          <p:cNvPr id="127" name="Image 47" descr=" "/>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9235384" y="6410158"/>
            <a:ext cx="203720" cy="203696"/>
          </a:xfrm>
          <a:prstGeom prst="rect">
            <a:avLst/>
          </a:prstGeom>
        </p:spPr>
      </p:pic>
      <p:pic>
        <p:nvPicPr>
          <p:cNvPr id="128" name="Image 48" descr=" "/>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19235384" y="6152976"/>
            <a:ext cx="203720" cy="203696"/>
          </a:xfrm>
          <a:prstGeom prst="rect">
            <a:avLst/>
          </a:prstGeom>
        </p:spPr>
      </p:pic>
      <p:pic>
        <p:nvPicPr>
          <p:cNvPr id="129" name="Image 49" descr=" "/>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19494265" y="6667004"/>
            <a:ext cx="203720" cy="203696"/>
          </a:xfrm>
          <a:prstGeom prst="rect">
            <a:avLst/>
          </a:prstGeom>
        </p:spPr>
      </p:pic>
      <p:pic>
        <p:nvPicPr>
          <p:cNvPr id="130" name="Image 50" descr=" "/>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9494265" y="6410158"/>
            <a:ext cx="203720" cy="203696"/>
          </a:xfrm>
          <a:prstGeom prst="rect">
            <a:avLst/>
          </a:prstGeom>
        </p:spPr>
      </p:pic>
      <p:pic>
        <p:nvPicPr>
          <p:cNvPr id="131" name="Image 51" descr=" "/>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19494265" y="6152976"/>
            <a:ext cx="203720" cy="203696"/>
          </a:xfrm>
          <a:prstGeom prst="rect">
            <a:avLst/>
          </a:prstGeom>
        </p:spPr>
      </p:pic>
      <p:pic>
        <p:nvPicPr>
          <p:cNvPr id="132" name="Image 52" descr=" "/>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19753145" y="6667004"/>
            <a:ext cx="203720" cy="203696"/>
          </a:xfrm>
          <a:prstGeom prst="rect">
            <a:avLst/>
          </a:prstGeom>
        </p:spPr>
      </p:pic>
      <p:pic>
        <p:nvPicPr>
          <p:cNvPr id="133" name="Image 53" descr=" "/>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19753145" y="6410158"/>
            <a:ext cx="203720" cy="203696"/>
          </a:xfrm>
          <a:prstGeom prst="rect">
            <a:avLst/>
          </a:prstGeom>
        </p:spPr>
      </p:pic>
      <p:pic>
        <p:nvPicPr>
          <p:cNvPr id="134" name="Image 54" descr=" "/>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19753145" y="6152976"/>
            <a:ext cx="203720" cy="203696"/>
          </a:xfrm>
          <a:prstGeom prst="rect">
            <a:avLst/>
          </a:prstGeom>
        </p:spPr>
      </p:pic>
      <p:pic>
        <p:nvPicPr>
          <p:cNvPr id="135" name="Image 55" descr=" "/>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20012027" y="6667004"/>
            <a:ext cx="203720" cy="203696"/>
          </a:xfrm>
          <a:prstGeom prst="rect">
            <a:avLst/>
          </a:prstGeom>
        </p:spPr>
      </p:pic>
      <p:pic>
        <p:nvPicPr>
          <p:cNvPr id="136" name="Image 56" descr=" "/>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20012027" y="6410158"/>
            <a:ext cx="203720" cy="203696"/>
          </a:xfrm>
          <a:prstGeom prst="rect">
            <a:avLst/>
          </a:prstGeom>
        </p:spPr>
      </p:pic>
      <p:pic>
        <p:nvPicPr>
          <p:cNvPr id="137" name="Image 57" descr=" "/>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20012027" y="6152976"/>
            <a:ext cx="203720" cy="203696"/>
          </a:xfrm>
          <a:prstGeom prst="rect">
            <a:avLst/>
          </a:prstGeom>
        </p:spPr>
      </p:pic>
      <p:pic>
        <p:nvPicPr>
          <p:cNvPr id="138" name="Image 58" descr=" "/>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20271239" y="6667004"/>
            <a:ext cx="203720" cy="203696"/>
          </a:xfrm>
          <a:prstGeom prst="rect">
            <a:avLst/>
          </a:prstGeom>
        </p:spPr>
      </p:pic>
      <p:pic>
        <p:nvPicPr>
          <p:cNvPr id="139" name="Image 59" descr=" "/>
          <p:cNvPicPr>
            <a:picLocks noChangeAspect="1"/>
          </p:cNvPicPr>
          <p:nvPr/>
        </p:nvPicPr>
        <p:blipFill>
          <a:blip r:embed="rId56">
            <a:extLst>
              <a:ext uri="{96DAC541-7B7A-43D3-8B79-37D633B846F1}">
                <asvg:svgBlip xmlns:asvg="http://schemas.microsoft.com/office/drawing/2016/SVG/main" r:embed="rId88"/>
              </a:ext>
            </a:extLst>
          </a:blip>
          <a:stretch>
            <a:fillRect/>
          </a:stretch>
        </p:blipFill>
        <p:spPr>
          <a:xfrm>
            <a:off x="20526096" y="6667004"/>
            <a:ext cx="203720" cy="203696"/>
          </a:xfrm>
          <a:prstGeom prst="rect">
            <a:avLst/>
          </a:prstGeom>
        </p:spPr>
      </p:pic>
      <p:pic>
        <p:nvPicPr>
          <p:cNvPr id="140" name="Image 60" descr=" "/>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20780952" y="6667004"/>
            <a:ext cx="203720" cy="203696"/>
          </a:xfrm>
          <a:prstGeom prst="rect">
            <a:avLst/>
          </a:prstGeom>
        </p:spPr>
      </p:pic>
      <p:pic>
        <p:nvPicPr>
          <p:cNvPr id="141" name="Image 61" descr=" "/>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21035809" y="6667004"/>
            <a:ext cx="203720" cy="203696"/>
          </a:xfrm>
          <a:prstGeom prst="rect">
            <a:avLst/>
          </a:prstGeom>
        </p:spPr>
      </p:pic>
      <p:pic>
        <p:nvPicPr>
          <p:cNvPr id="142" name="Image 62" descr=" "/>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21290665" y="6667004"/>
            <a:ext cx="203720" cy="203696"/>
          </a:xfrm>
          <a:prstGeom prst="rect">
            <a:avLst/>
          </a:prstGeom>
        </p:spPr>
      </p:pic>
      <p:pic>
        <p:nvPicPr>
          <p:cNvPr id="143" name="Image 63" descr=" "/>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20270909" y="6410158"/>
            <a:ext cx="203720" cy="203696"/>
          </a:xfrm>
          <a:prstGeom prst="rect">
            <a:avLst/>
          </a:prstGeom>
        </p:spPr>
      </p:pic>
      <p:pic>
        <p:nvPicPr>
          <p:cNvPr id="144" name="Image 64" descr=" "/>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20525765" y="6410158"/>
            <a:ext cx="203720" cy="203696"/>
          </a:xfrm>
          <a:prstGeom prst="rect">
            <a:avLst/>
          </a:prstGeom>
        </p:spPr>
      </p:pic>
      <p:pic>
        <p:nvPicPr>
          <p:cNvPr id="145" name="Image 65" descr=" "/>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20780622" y="6410158"/>
            <a:ext cx="203720" cy="203696"/>
          </a:xfrm>
          <a:prstGeom prst="rect">
            <a:avLst/>
          </a:prstGeom>
        </p:spPr>
      </p:pic>
      <p:pic>
        <p:nvPicPr>
          <p:cNvPr id="146" name="Image 66" descr=" "/>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21035479" y="6410158"/>
            <a:ext cx="203720" cy="203696"/>
          </a:xfrm>
          <a:prstGeom prst="rect">
            <a:avLst/>
          </a:prstGeom>
        </p:spPr>
      </p:pic>
      <p:pic>
        <p:nvPicPr>
          <p:cNvPr id="147" name="Image 67" descr=" "/>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21290335" y="6410158"/>
            <a:ext cx="203720" cy="203696"/>
          </a:xfrm>
          <a:prstGeom prst="rect">
            <a:avLst/>
          </a:prstGeom>
        </p:spPr>
      </p:pic>
      <p:pic>
        <p:nvPicPr>
          <p:cNvPr id="148" name="Image 68" descr=" "/>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20270909" y="6152976"/>
            <a:ext cx="203720" cy="203696"/>
          </a:xfrm>
          <a:prstGeom prst="rect">
            <a:avLst/>
          </a:prstGeom>
        </p:spPr>
      </p:pic>
      <p:pic>
        <p:nvPicPr>
          <p:cNvPr id="149" name="Image 69" descr=" "/>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20525765" y="6152976"/>
            <a:ext cx="203720" cy="203696"/>
          </a:xfrm>
          <a:prstGeom prst="rect">
            <a:avLst/>
          </a:prstGeom>
        </p:spPr>
      </p:pic>
      <p:pic>
        <p:nvPicPr>
          <p:cNvPr id="150" name="Image 70" descr=" "/>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20780622" y="6152976"/>
            <a:ext cx="203720" cy="203696"/>
          </a:xfrm>
          <a:prstGeom prst="rect">
            <a:avLst/>
          </a:prstGeom>
        </p:spPr>
      </p:pic>
      <p:pic>
        <p:nvPicPr>
          <p:cNvPr id="151" name="Image 71" descr=" "/>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21035479" y="6152976"/>
            <a:ext cx="203720" cy="203696"/>
          </a:xfrm>
          <a:prstGeom prst="rect">
            <a:avLst/>
          </a:prstGeom>
        </p:spPr>
      </p:pic>
      <p:pic>
        <p:nvPicPr>
          <p:cNvPr id="152" name="Image 72" descr=" "/>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21290335" y="6152976"/>
            <a:ext cx="203720" cy="203696"/>
          </a:xfrm>
          <a:prstGeom prst="rect">
            <a:avLst/>
          </a:prstGeom>
        </p:spPr>
      </p:pic>
      <p:pic>
        <p:nvPicPr>
          <p:cNvPr id="153" name="Image 73" descr=" "/>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18976172" y="7086600"/>
            <a:ext cx="1498787" cy="457200"/>
          </a:xfrm>
          <a:prstGeom prst="rect">
            <a:avLst/>
          </a:prstGeom>
        </p:spPr>
      </p:pic>
      <p:sp>
        <p:nvSpPr>
          <p:cNvPr id="154" name="Text 78"/>
          <p:cNvSpPr/>
          <p:nvPr/>
        </p:nvSpPr>
        <p:spPr>
          <a:xfrm>
            <a:off x="19509638" y="7162800"/>
            <a:ext cx="80443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6F3FF">
                    <a:alpha val="100000"/>
                  </a:srgbClr>
                </a:solidFill>
                <a:latin typeface="Inter Medium" pitchFamily="34" charset="0"/>
                <a:ea typeface="Inter Medium" pitchFamily="34" charset="-122"/>
                <a:cs typeface="Inter Medium" pitchFamily="34" charset="-120"/>
              </a:rPr>
              <a:t>In Place</a:t>
            </a:r>
            <a:endParaRPr lang="en-US" sz="1600" dirty="0"/>
          </a:p>
        </p:txBody>
      </p:sp>
      <p:pic>
        <p:nvPicPr>
          <p:cNvPr id="156" name="Image 7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223930" y="7213495"/>
            <a:ext cx="204630" cy="204440"/>
          </a:xfrm>
          <a:prstGeom prst="rect">
            <a:avLst/>
          </a:prstGeom>
        </p:spPr>
      </p:pic>
      <p:pic>
        <p:nvPicPr>
          <p:cNvPr id="158" name="Image 77" descr=" "/>
          <p:cNvPicPr>
            <a:picLocks noChangeAspect="1"/>
          </p:cNvPicPr>
          <p:nvPr/>
        </p:nvPicPr>
        <p:blipFill>
          <a:blip r:embed="rId19">
            <a:extLst>
              <a:ext uri="{96DAC541-7B7A-43D3-8B79-37D633B846F1}">
                <asvg:svgBlip xmlns:asvg="http://schemas.microsoft.com/office/drawing/2016/SVG/main" r:embed="rId117"/>
              </a:ext>
            </a:extLst>
          </a:blip>
          <a:stretch>
            <a:fillRect/>
          </a:stretch>
        </p:blipFill>
        <p:spPr>
          <a:xfrm>
            <a:off x="18976172" y="5054600"/>
            <a:ext cx="508063" cy="508000"/>
          </a:xfrm>
          <a:prstGeom prst="rect">
            <a:avLst/>
          </a:prstGeom>
        </p:spPr>
      </p:pic>
      <p:pic>
        <p:nvPicPr>
          <p:cNvPr id="160" name="Image 79" descr=" "/>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19115889" y="5219700"/>
            <a:ext cx="228629" cy="177800"/>
          </a:xfrm>
          <a:prstGeom prst="rect">
            <a:avLst/>
          </a:prstGeom>
        </p:spPr>
      </p:pic>
      <p:pic>
        <p:nvPicPr>
          <p:cNvPr id="162" name="Image 81" descr=" "/>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14327391" y="8432800"/>
            <a:ext cx="7773372" cy="4013200"/>
          </a:xfrm>
          <a:prstGeom prst="rect">
            <a:avLst/>
          </a:prstGeom>
        </p:spPr>
      </p:pic>
      <p:pic>
        <p:nvPicPr>
          <p:cNvPr id="163" name="Image 82" descr=" "/>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15025978" y="10185400"/>
            <a:ext cx="6337720" cy="1972518"/>
          </a:xfrm>
          <a:prstGeom prst="rect">
            <a:avLst/>
          </a:prstGeom>
        </p:spPr>
      </p:pic>
      <p:sp>
        <p:nvSpPr>
          <p:cNvPr id="164" name="Text 79"/>
          <p:cNvSpPr/>
          <p:nvPr/>
        </p:nvSpPr>
        <p:spPr>
          <a:xfrm>
            <a:off x="15572146" y="9169400"/>
            <a:ext cx="20491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API traffic monitoring</a:t>
            </a:r>
            <a:endParaRPr lang="en-US" sz="1600" dirty="0"/>
          </a:p>
        </p:txBody>
      </p:sp>
      <p:sp>
        <p:nvSpPr>
          <p:cNvPr id="165" name="Text 80"/>
          <p:cNvSpPr/>
          <p:nvPr/>
        </p:nvSpPr>
        <p:spPr>
          <a:xfrm>
            <a:off x="14962470" y="11506200"/>
            <a:ext cx="204918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Data Validation Rules</a:t>
            </a:r>
            <a:endParaRPr lang="en-US" sz="1600" dirty="0"/>
          </a:p>
        </p:txBody>
      </p:sp>
      <p:sp>
        <p:nvSpPr>
          <p:cNvPr id="166" name="Text 81"/>
          <p:cNvSpPr/>
          <p:nvPr/>
        </p:nvSpPr>
        <p:spPr>
          <a:xfrm>
            <a:off x="14962470" y="9779000"/>
            <a:ext cx="6570955"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API traffic monitoring tracks requests and responses, analyzing performance, usage patterns, and errors to optimize application functionality.</a:t>
            </a:r>
            <a:endParaRPr lang="en-US" sz="1600" dirty="0"/>
          </a:p>
        </p:txBody>
      </p:sp>
      <p:pic>
        <p:nvPicPr>
          <p:cNvPr id="167" name="Image 83" descr=" "/>
          <p:cNvPicPr>
            <a:picLocks noChangeAspect="1"/>
          </p:cNvPicPr>
          <p:nvPr/>
        </p:nvPicPr>
        <p:blipFill>
          <a:blip r:embed="rId50">
            <a:extLst>
              <a:ext uri="{96DAC541-7B7A-43D3-8B79-37D633B846F1}">
                <asvg:svgBlip xmlns:asvg="http://schemas.microsoft.com/office/drawing/2016/SVG/main" r:embed="rId124"/>
              </a:ext>
            </a:extLst>
          </a:blip>
          <a:stretch>
            <a:fillRect/>
          </a:stretch>
        </p:blipFill>
        <p:spPr>
          <a:xfrm>
            <a:off x="20043105" y="11353800"/>
            <a:ext cx="1422578" cy="457200"/>
          </a:xfrm>
          <a:prstGeom prst="rect">
            <a:avLst/>
          </a:prstGeom>
        </p:spPr>
      </p:pic>
      <p:sp>
        <p:nvSpPr>
          <p:cNvPr id="168" name="Text 82"/>
          <p:cNvSpPr/>
          <p:nvPr/>
        </p:nvSpPr>
        <p:spPr>
          <a:xfrm>
            <a:off x="20576572" y="11430000"/>
            <a:ext cx="7155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6F3FF">
                    <a:alpha val="100000"/>
                  </a:srgbClr>
                </a:solidFill>
                <a:latin typeface="Inter Medium" pitchFamily="34" charset="0"/>
                <a:ea typeface="Inter Medium" pitchFamily="34" charset="-122"/>
                <a:cs typeface="Inter Medium" pitchFamily="34" charset="-120"/>
              </a:rPr>
              <a:t>Enable</a:t>
            </a:r>
            <a:endParaRPr lang="en-US" sz="1600" dirty="0"/>
          </a:p>
        </p:txBody>
      </p:sp>
      <p:pic>
        <p:nvPicPr>
          <p:cNvPr id="170" name="Image 8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290864" y="11480695"/>
            <a:ext cx="204630" cy="204440"/>
          </a:xfrm>
          <a:prstGeom prst="rect">
            <a:avLst/>
          </a:prstGeom>
        </p:spPr>
      </p:pic>
      <p:pic>
        <p:nvPicPr>
          <p:cNvPr id="172" name="Image 87" descr=" "/>
          <p:cNvPicPr>
            <a:picLocks noChangeAspect="1"/>
          </p:cNvPicPr>
          <p:nvPr/>
        </p:nvPicPr>
        <p:blipFill>
          <a:blip r:embed="rId19">
            <a:extLst>
              <a:ext uri="{96DAC541-7B7A-43D3-8B79-37D633B846F1}">
                <asvg:svgBlip xmlns:asvg="http://schemas.microsoft.com/office/drawing/2016/SVG/main" r:embed="rId125"/>
              </a:ext>
            </a:extLst>
          </a:blip>
          <a:stretch>
            <a:fillRect/>
          </a:stretch>
        </p:blipFill>
        <p:spPr>
          <a:xfrm>
            <a:off x="14962470" y="9067800"/>
            <a:ext cx="508063" cy="508000"/>
          </a:xfrm>
          <a:prstGeom prst="rect">
            <a:avLst/>
          </a:prstGeom>
        </p:spPr>
      </p:pic>
      <p:pic>
        <p:nvPicPr>
          <p:cNvPr id="174" name="Image 89" descr=" "/>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15083135" y="9188450"/>
            <a:ext cx="266733" cy="266700"/>
          </a:xfrm>
          <a:prstGeom prst="rect">
            <a:avLst/>
          </a:prstGeom>
        </p:spPr>
      </p:pic>
      <p:sp>
        <p:nvSpPr>
          <p:cNvPr id="175" name="Text 1">
            <a:extLst>
              <a:ext uri="{FF2B5EF4-FFF2-40B4-BE49-F238E27FC236}">
                <a16:creationId xmlns:a16="http://schemas.microsoft.com/office/drawing/2014/main" id="{CD5AB9DA-9B83-4ABE-8E47-1A07FA5EAD7E}"/>
              </a:ext>
            </a:extLst>
          </p:cNvPr>
          <p:cNvSpPr/>
          <p:nvPr/>
        </p:nvSpPr>
        <p:spPr>
          <a:xfrm>
            <a:off x="1524191" y="1524000"/>
            <a:ext cx="6719140" cy="1778000"/>
          </a:xfrm>
          <a:prstGeom prst="rect">
            <a:avLst/>
          </a:prstGeom>
          <a:noFill/>
          <a:ln/>
        </p:spPr>
        <p:txBody>
          <a:bodyPr wrap="square" lIns="0" tIns="0" rIns="0" bIns="0" rtlCol="0" anchor="t"/>
          <a:lstStyle/>
          <a:p>
            <a:pPr marL="0" indent="0" algn="l">
              <a:lnSpc>
                <a:spcPts val="6000"/>
              </a:lnSpc>
              <a:buNone/>
            </a:pPr>
            <a:r>
              <a:rPr lang="en-US" sz="6000" dirty="0">
                <a:solidFill>
                  <a:schemeClr val="bg1"/>
                </a:solidFill>
                <a:effectLst/>
              </a:rPr>
              <a:t>Security &amp; Data Accuracy</a:t>
            </a:r>
            <a:endParaRPr lang="en-US" sz="6000" dirty="0">
              <a:solidFill>
                <a:schemeClr val="bg1"/>
              </a:solidFill>
            </a:endParaRPr>
          </a:p>
        </p:txBody>
      </p:sp>
      <p:sp>
        <p:nvSpPr>
          <p:cNvPr id="176" name="Text 2">
            <a:extLst>
              <a:ext uri="{FF2B5EF4-FFF2-40B4-BE49-F238E27FC236}">
                <a16:creationId xmlns:a16="http://schemas.microsoft.com/office/drawing/2014/main" id="{AAF8485A-FDD9-4146-8C9F-283C52FA6A98}"/>
              </a:ext>
            </a:extLst>
          </p:cNvPr>
          <p:cNvSpPr/>
          <p:nvPr/>
        </p:nvSpPr>
        <p:spPr>
          <a:xfrm>
            <a:off x="15038680" y="1524000"/>
            <a:ext cx="7904621" cy="982133"/>
          </a:xfrm>
          <a:prstGeom prst="rect">
            <a:avLst/>
          </a:prstGeom>
          <a:noFill/>
          <a:ln/>
        </p:spPr>
        <p:txBody>
          <a:bodyPr wrap="square" lIns="0" tIns="0" rIns="0" bIns="0" rtlCol="0" anchor="t"/>
          <a:lstStyle/>
          <a:p>
            <a:pPr marL="0" indent="0" algn="l">
              <a:lnSpc>
                <a:spcPts val="2400"/>
              </a:lnSpc>
              <a:buNone/>
            </a:pPr>
            <a:r>
              <a:rPr lang="en-US" sz="1600" dirty="0">
                <a:solidFill>
                  <a:schemeClr val="bg1">
                    <a:lumMod val="75000"/>
                  </a:schemeClr>
                </a:solidFill>
                <a:effectLst/>
              </a:rPr>
              <a:t>Your KPI dashboards are built on a secure, verified data stack. With encryption, access control, and sync monitoring, every insight is reliable, compliant, and audit-ready.</a:t>
            </a:r>
            <a:endParaRPr lang="en-US" sz="1600" dirty="0">
              <a:solidFill>
                <a:schemeClr val="bg1">
                  <a:lumMod val="75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191" y="15240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Summary of Key KPI Learnings</a:t>
            </a:r>
            <a:endParaRPr lang="en-US" sz="6000" dirty="0"/>
          </a:p>
        </p:txBody>
      </p:sp>
      <p:sp>
        <p:nvSpPr>
          <p:cNvPr id="3" name="Text 1"/>
          <p:cNvSpPr/>
          <p:nvPr/>
        </p:nvSpPr>
        <p:spPr>
          <a:xfrm>
            <a:off x="15038680" y="1524000"/>
            <a:ext cx="790462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This quarter’s KPI data revealed both performance gaps and key wins. With clearer visibility, proactive alerts, and stronger alignment, leadership is better equipped to scale what’s working and fix what isn’t.</a:t>
            </a:r>
            <a:endParaRPr lang="en-US" sz="1600" dirty="0"/>
          </a:p>
        </p:txBody>
      </p:sp>
      <p:pic>
        <p:nvPicPr>
          <p:cNvPr id="4"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0946" y="3505200"/>
            <a:ext cx="12091911" cy="7962900"/>
          </a:xfrm>
          <a:prstGeom prst="rect">
            <a:avLst/>
          </a:prstGeom>
        </p:spPr>
      </p:pic>
      <p:sp>
        <p:nvSpPr>
          <p:cNvPr id="5" name="Shape 2"/>
          <p:cNvSpPr/>
          <p:nvPr/>
        </p:nvSpPr>
        <p:spPr>
          <a:xfrm>
            <a:off x="11279010" y="3949700"/>
            <a:ext cx="6579422" cy="1295400"/>
          </a:xfrm>
          <a:prstGeom prst="rect">
            <a:avLst/>
          </a:prstGeom>
          <a:noFill/>
          <a:ln/>
        </p:spPr>
      </p:sp>
      <p:pic>
        <p:nvPicPr>
          <p:cNvPr id="6"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79010" y="3949700"/>
            <a:ext cx="6579422" cy="1295400"/>
          </a:xfrm>
          <a:prstGeom prst="rect">
            <a:avLst/>
          </a:prstGeom>
        </p:spPr>
      </p:pic>
      <p:sp>
        <p:nvSpPr>
          <p:cNvPr id="7" name="Text 3"/>
          <p:cNvSpPr/>
          <p:nvPr/>
        </p:nvSpPr>
        <p:spPr>
          <a:xfrm>
            <a:off x="12104613" y="4267200"/>
            <a:ext cx="35479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4 Underperforming Metrics Identified</a:t>
            </a:r>
            <a:endParaRPr lang="en-US" sz="1600" dirty="0"/>
          </a:p>
        </p:txBody>
      </p:sp>
      <p:sp>
        <p:nvSpPr>
          <p:cNvPr id="8" name="Text 4"/>
          <p:cNvSpPr/>
          <p:nvPr/>
        </p:nvSpPr>
        <p:spPr>
          <a:xfrm>
            <a:off x="11698162" y="4686300"/>
            <a:ext cx="541511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Operational cycle time, engagement score, campaign ROI</a:t>
            </a:r>
            <a:endParaRPr lang="en-US" sz="1600" dirty="0"/>
          </a:p>
        </p:txBody>
      </p:sp>
      <p:sp>
        <p:nvSpPr>
          <p:cNvPr id="10" name="Shape 5"/>
          <p:cNvSpPr/>
          <p:nvPr/>
        </p:nvSpPr>
        <p:spPr>
          <a:xfrm>
            <a:off x="11279010" y="5854700"/>
            <a:ext cx="6579422" cy="1295400"/>
          </a:xfrm>
          <a:prstGeom prst="rect">
            <a:avLst/>
          </a:prstGeom>
          <a:noFill/>
          <a:ln/>
        </p:spPr>
      </p:sp>
      <p:pic>
        <p:nvPicPr>
          <p:cNvPr id="11"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79010" y="5854700"/>
            <a:ext cx="6579422" cy="1295400"/>
          </a:xfrm>
          <a:prstGeom prst="rect">
            <a:avLst/>
          </a:prstGeom>
        </p:spPr>
      </p:pic>
      <p:sp>
        <p:nvSpPr>
          <p:cNvPr id="12" name="Text 6"/>
          <p:cNvSpPr/>
          <p:nvPr/>
        </p:nvSpPr>
        <p:spPr>
          <a:xfrm>
            <a:off x="12104613" y="6172200"/>
            <a:ext cx="297640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3 Goals Exceeded This Quarter</a:t>
            </a:r>
            <a:endParaRPr lang="en-US" sz="1600" dirty="0"/>
          </a:p>
        </p:txBody>
      </p:sp>
      <p:sp>
        <p:nvSpPr>
          <p:cNvPr id="13" name="Text 7"/>
          <p:cNvSpPr/>
          <p:nvPr/>
        </p:nvSpPr>
        <p:spPr>
          <a:xfrm>
            <a:off x="11698162" y="6591300"/>
            <a:ext cx="479273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Scrollable cards showcase the top 3–5 key metrics.</a:t>
            </a:r>
            <a:endParaRPr lang="en-US" sz="1600" dirty="0"/>
          </a:p>
        </p:txBody>
      </p:sp>
      <p:pic>
        <p:nvPicPr>
          <p:cNvPr id="15"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28586" y="6202648"/>
            <a:ext cx="243839" cy="243811"/>
          </a:xfrm>
          <a:prstGeom prst="rect">
            <a:avLst/>
          </a:prstGeom>
        </p:spPr>
      </p:pic>
      <p:sp>
        <p:nvSpPr>
          <p:cNvPr id="16" name="Shape 8"/>
          <p:cNvSpPr/>
          <p:nvPr/>
        </p:nvSpPr>
        <p:spPr>
          <a:xfrm>
            <a:off x="11279010" y="7759700"/>
            <a:ext cx="6579422" cy="1295400"/>
          </a:xfrm>
          <a:prstGeom prst="rect">
            <a:avLst/>
          </a:prstGeom>
          <a:noFill/>
          <a:ln/>
        </p:spPr>
      </p:sp>
      <p:pic>
        <p:nvPicPr>
          <p:cNvPr id="17" name="Image 6" descr=" "/>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11279010" y="7759700"/>
            <a:ext cx="6579422" cy="1295400"/>
          </a:xfrm>
          <a:prstGeom prst="rect">
            <a:avLst/>
          </a:prstGeom>
        </p:spPr>
      </p:pic>
      <p:sp>
        <p:nvSpPr>
          <p:cNvPr id="18" name="Text 9"/>
          <p:cNvSpPr/>
          <p:nvPr/>
        </p:nvSpPr>
        <p:spPr>
          <a:xfrm>
            <a:off x="12104613" y="8077200"/>
            <a:ext cx="256995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Clear Growth Signals in Q2</a:t>
            </a:r>
            <a:endParaRPr lang="en-US" sz="1600" dirty="0"/>
          </a:p>
        </p:txBody>
      </p:sp>
      <p:sp>
        <p:nvSpPr>
          <p:cNvPr id="19" name="Text 10"/>
          <p:cNvSpPr/>
          <p:nvPr/>
        </p:nvSpPr>
        <p:spPr>
          <a:xfrm>
            <a:off x="11698162" y="8496300"/>
            <a:ext cx="439898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SSO and encryption ensure mobile data safety.</a:t>
            </a:r>
            <a:endParaRPr lang="en-US" sz="1600" dirty="0"/>
          </a:p>
        </p:txBody>
      </p:sp>
      <p:pic>
        <p:nvPicPr>
          <p:cNvPr id="21" name="Image 8" descr=" "/>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723491" y="8153400"/>
            <a:ext cx="254106" cy="152474"/>
          </a:xfrm>
          <a:prstGeom prst="rect">
            <a:avLst/>
          </a:prstGeom>
        </p:spPr>
      </p:pic>
      <p:sp>
        <p:nvSpPr>
          <p:cNvPr id="22" name="Shape 11"/>
          <p:cNvSpPr/>
          <p:nvPr/>
        </p:nvSpPr>
        <p:spPr>
          <a:xfrm>
            <a:off x="11279010" y="9664700"/>
            <a:ext cx="6579422" cy="1295400"/>
          </a:xfrm>
          <a:prstGeom prst="rect">
            <a:avLst/>
          </a:prstGeom>
          <a:noFill/>
          <a:ln/>
        </p:spPr>
      </p:sp>
      <p:pic>
        <p:nvPicPr>
          <p:cNvPr id="23" name="Image 9" descr=" "/>
          <p:cNvPicPr>
            <a:picLocks noChangeAspect="1"/>
          </p:cNvPicPr>
          <p:nvPr/>
        </p:nvPicPr>
        <p:blipFill>
          <a:blip r:embed="rId7">
            <a:extLst>
              <a:ext uri="{96DAC541-7B7A-43D3-8B79-37D633B846F1}">
                <asvg:svgBlip xmlns:asvg="http://schemas.microsoft.com/office/drawing/2016/SVG/main" r:embed="rId14"/>
              </a:ext>
            </a:extLst>
          </a:blip>
          <a:stretch>
            <a:fillRect/>
          </a:stretch>
        </p:blipFill>
        <p:spPr>
          <a:xfrm>
            <a:off x="11279010" y="9664700"/>
            <a:ext cx="6579422" cy="1295400"/>
          </a:xfrm>
          <a:prstGeom prst="rect">
            <a:avLst/>
          </a:prstGeom>
        </p:spPr>
      </p:pic>
      <p:sp>
        <p:nvSpPr>
          <p:cNvPr id="24" name="Text 12"/>
          <p:cNvSpPr/>
          <p:nvPr/>
        </p:nvSpPr>
        <p:spPr>
          <a:xfrm>
            <a:off x="12104613" y="9982200"/>
            <a:ext cx="384011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Improved Data Visibility &amp; Accountability</a:t>
            </a:r>
            <a:endParaRPr lang="en-US" sz="1600" dirty="0"/>
          </a:p>
        </p:txBody>
      </p:sp>
      <p:sp>
        <p:nvSpPr>
          <p:cNvPr id="25" name="Text 13"/>
          <p:cNvSpPr/>
          <p:nvPr/>
        </p:nvSpPr>
        <p:spPr>
          <a:xfrm>
            <a:off x="11698162" y="10401300"/>
            <a:ext cx="531349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Metrics sync live with the dashboard, no refresh needed.</a:t>
            </a:r>
            <a:endParaRPr lang="en-US" sz="1600" dirty="0"/>
          </a:p>
        </p:txBody>
      </p:sp>
      <p:pic>
        <p:nvPicPr>
          <p:cNvPr id="27" name="Image 11"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714355" y="10033000"/>
            <a:ext cx="272448" cy="190500"/>
          </a:xfrm>
          <a:prstGeom prst="rect">
            <a:avLst/>
          </a:prstGeom>
        </p:spPr>
      </p:pic>
      <p:sp>
        <p:nvSpPr>
          <p:cNvPr id="28" name="Text 14"/>
          <p:cNvSpPr/>
          <p:nvPr/>
        </p:nvSpPr>
        <p:spPr>
          <a:xfrm>
            <a:off x="18087061" y="4292600"/>
            <a:ext cx="433547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Action: </a:t>
            </a:r>
            <a:endParaRPr lang="en-US" sz="1600" dirty="0"/>
          </a:p>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Prioritize improvement plans for lagging areas</a:t>
            </a:r>
            <a:endParaRPr lang="en-US" sz="1600" dirty="0"/>
          </a:p>
        </p:txBody>
      </p:sp>
      <p:sp>
        <p:nvSpPr>
          <p:cNvPr id="29" name="Text 15"/>
          <p:cNvSpPr/>
          <p:nvPr/>
        </p:nvSpPr>
        <p:spPr>
          <a:xfrm>
            <a:off x="18087061" y="6197600"/>
            <a:ext cx="433547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Action: </a:t>
            </a:r>
            <a:endParaRPr lang="en-US" sz="1600" dirty="0"/>
          </a:p>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Leverage success playbooks across teams</a:t>
            </a:r>
            <a:endParaRPr lang="en-US" sz="1600" dirty="0"/>
          </a:p>
        </p:txBody>
      </p:sp>
      <p:sp>
        <p:nvSpPr>
          <p:cNvPr id="30" name="Text 16"/>
          <p:cNvSpPr/>
          <p:nvPr/>
        </p:nvSpPr>
        <p:spPr>
          <a:xfrm>
            <a:off x="18087061" y="7950200"/>
            <a:ext cx="4335475"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Action: </a:t>
            </a:r>
            <a:endParaRPr lang="en-US" sz="1600" dirty="0"/>
          </a:p>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Double down on high-performing regions and campaigns</a:t>
            </a:r>
            <a:endParaRPr lang="en-US" sz="1600" dirty="0"/>
          </a:p>
        </p:txBody>
      </p:sp>
      <p:sp>
        <p:nvSpPr>
          <p:cNvPr id="31" name="Text 17"/>
          <p:cNvSpPr/>
          <p:nvPr/>
        </p:nvSpPr>
        <p:spPr>
          <a:xfrm>
            <a:off x="18087061" y="9855200"/>
            <a:ext cx="4335475"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Action: </a:t>
            </a:r>
            <a:endParaRPr lang="en-US" sz="1600" dirty="0"/>
          </a:p>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Maintain weekly summary reviews and threshold alerts</a:t>
            </a:r>
            <a:endParaRPr lang="en-US" sz="1600" dirty="0"/>
          </a:p>
        </p:txBody>
      </p:sp>
      <p:pic>
        <p:nvPicPr>
          <p:cNvPr id="32" name="Image 12"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279010" y="5543550"/>
            <a:ext cx="11075784" cy="12700"/>
          </a:xfrm>
          <a:prstGeom prst="rect">
            <a:avLst/>
          </a:prstGeom>
        </p:spPr>
      </p:pic>
      <p:pic>
        <p:nvPicPr>
          <p:cNvPr id="33" name="Image 13" descr=" "/>
          <p:cNvPicPr>
            <a:picLocks noChangeAspect="1"/>
          </p:cNvPicPr>
          <p:nvPr/>
        </p:nvPicPr>
        <p:blipFill>
          <a:blip r:embed="rId17">
            <a:extLst>
              <a:ext uri="{96DAC541-7B7A-43D3-8B79-37D633B846F1}">
                <asvg:svgBlip xmlns:asvg="http://schemas.microsoft.com/office/drawing/2016/SVG/main" r:embed="rId19"/>
              </a:ext>
            </a:extLst>
          </a:blip>
          <a:stretch>
            <a:fillRect/>
          </a:stretch>
        </p:blipFill>
        <p:spPr>
          <a:xfrm>
            <a:off x="11279010" y="7448550"/>
            <a:ext cx="11075784" cy="12700"/>
          </a:xfrm>
          <a:prstGeom prst="rect">
            <a:avLst/>
          </a:prstGeom>
        </p:spPr>
      </p:pic>
      <p:pic>
        <p:nvPicPr>
          <p:cNvPr id="34" name="Image 14" descr=" "/>
          <p:cNvPicPr>
            <a:picLocks noChangeAspect="1"/>
          </p:cNvPicPr>
          <p:nvPr/>
        </p:nvPicPr>
        <p:blipFill>
          <a:blip r:embed="rId17">
            <a:extLst>
              <a:ext uri="{96DAC541-7B7A-43D3-8B79-37D633B846F1}">
                <asvg:svgBlip xmlns:asvg="http://schemas.microsoft.com/office/drawing/2016/SVG/main" r:embed="rId20"/>
              </a:ext>
            </a:extLst>
          </a:blip>
          <a:stretch>
            <a:fillRect/>
          </a:stretch>
        </p:blipFill>
        <p:spPr>
          <a:xfrm>
            <a:off x="11279010" y="9353550"/>
            <a:ext cx="11075784" cy="12700"/>
          </a:xfrm>
          <a:prstGeom prst="rect">
            <a:avLst/>
          </a:prstGeom>
        </p:spPr>
      </p:pic>
      <p:pic>
        <p:nvPicPr>
          <p:cNvPr id="36" name="Image 16"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24191" y="3886200"/>
            <a:ext cx="3480235" cy="3479800"/>
          </a:xfrm>
          <a:prstGeom prst="rect">
            <a:avLst/>
          </a:prstGeom>
        </p:spPr>
      </p:pic>
      <p:pic>
        <p:nvPicPr>
          <p:cNvPr id="37" name="Image 17"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5131441" y="3886200"/>
            <a:ext cx="3480235" cy="3479800"/>
          </a:xfrm>
          <a:prstGeom prst="rect">
            <a:avLst/>
          </a:prstGeom>
        </p:spPr>
      </p:pic>
      <p:pic>
        <p:nvPicPr>
          <p:cNvPr id="38" name="Image 18"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524191" y="7493000"/>
            <a:ext cx="3480235" cy="3479800"/>
          </a:xfrm>
          <a:prstGeom prst="rect">
            <a:avLst/>
          </a:prstGeom>
        </p:spPr>
      </p:pic>
      <p:pic>
        <p:nvPicPr>
          <p:cNvPr id="39" name="Image 19"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5131441" y="7493000"/>
            <a:ext cx="3480235" cy="3479800"/>
          </a:xfrm>
          <a:prstGeom prst="rect">
            <a:avLst/>
          </a:prstGeom>
        </p:spPr>
      </p:pic>
      <p:pic>
        <p:nvPicPr>
          <p:cNvPr id="40" name="Image 20"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4001000" y="6362700"/>
            <a:ext cx="2133867" cy="2133600"/>
          </a:xfrm>
          <a:prstGeom prst="rect">
            <a:avLst/>
          </a:prstGeom>
        </p:spPr>
      </p:pic>
      <p:sp>
        <p:nvSpPr>
          <p:cNvPr id="41" name="Text 18"/>
          <p:cNvSpPr/>
          <p:nvPr/>
        </p:nvSpPr>
        <p:spPr>
          <a:xfrm>
            <a:off x="2337092" y="5308600"/>
            <a:ext cx="1922174"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Medium" pitchFamily="34" charset="0"/>
                <a:ea typeface="Inter Medium" pitchFamily="34" charset="-122"/>
                <a:cs typeface="Inter Medium" pitchFamily="34" charset="-120"/>
              </a:rPr>
              <a:t>4 Underperforming Metrics Identified</a:t>
            </a:r>
            <a:endParaRPr lang="en-US" sz="1600" dirty="0"/>
          </a:p>
        </p:txBody>
      </p:sp>
      <p:sp>
        <p:nvSpPr>
          <p:cNvPr id="42" name="Text 19"/>
          <p:cNvSpPr/>
          <p:nvPr/>
        </p:nvSpPr>
        <p:spPr>
          <a:xfrm>
            <a:off x="2565721" y="8928100"/>
            <a:ext cx="1452215"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Medium" pitchFamily="34" charset="0"/>
                <a:ea typeface="Inter Medium" pitchFamily="34" charset="-122"/>
                <a:cs typeface="Inter Medium" pitchFamily="34" charset="-120"/>
              </a:rPr>
              <a:t>Clear Growth Signals in Q2</a:t>
            </a:r>
            <a:endParaRPr lang="en-US" sz="1600" dirty="0"/>
          </a:p>
        </p:txBody>
      </p:sp>
      <p:sp>
        <p:nvSpPr>
          <p:cNvPr id="43" name="Text 20"/>
          <p:cNvSpPr/>
          <p:nvPr/>
        </p:nvSpPr>
        <p:spPr>
          <a:xfrm>
            <a:off x="5944343" y="5308600"/>
            <a:ext cx="1922174"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Medium" pitchFamily="34" charset="0"/>
                <a:ea typeface="Inter Medium" pitchFamily="34" charset="-122"/>
                <a:cs typeface="Inter Medium" pitchFamily="34" charset="-120"/>
              </a:rPr>
              <a:t>3 Goals Exceeded This Quarter</a:t>
            </a:r>
            <a:endParaRPr lang="en-US" sz="1600" dirty="0"/>
          </a:p>
        </p:txBody>
      </p:sp>
      <p:sp>
        <p:nvSpPr>
          <p:cNvPr id="44" name="Text 21"/>
          <p:cNvSpPr/>
          <p:nvPr/>
        </p:nvSpPr>
        <p:spPr>
          <a:xfrm>
            <a:off x="5753819" y="8928100"/>
            <a:ext cx="2303221"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706580">
                    <a:alpha val="100000"/>
                  </a:srgbClr>
                </a:solidFill>
                <a:latin typeface="Inter Medium" pitchFamily="34" charset="0"/>
                <a:ea typeface="Inter Medium" pitchFamily="34" charset="-122"/>
                <a:cs typeface="Inter Medium" pitchFamily="34" charset="-120"/>
              </a:rPr>
              <a:t>Improved Data Visibility &amp; Accountability</a:t>
            </a:r>
            <a:endParaRPr lang="en-US" sz="1600" dirty="0"/>
          </a:p>
        </p:txBody>
      </p:sp>
      <p:pic>
        <p:nvPicPr>
          <p:cNvPr id="45" name="Image 21"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4394749" y="6705600"/>
            <a:ext cx="1346368" cy="1421513"/>
          </a:xfrm>
          <a:prstGeom prst="rect">
            <a:avLst/>
          </a:prstGeom>
        </p:spPr>
      </p:pic>
      <p:pic>
        <p:nvPicPr>
          <p:cNvPr id="47" name="Graphic 46">
            <a:extLst>
              <a:ext uri="{FF2B5EF4-FFF2-40B4-BE49-F238E27FC236}">
                <a16:creationId xmlns:a16="http://schemas.microsoft.com/office/drawing/2014/main" id="{715AA256-EE62-47C4-A20F-A90B93D10105}"/>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1699694" y="4312859"/>
            <a:ext cx="228600" cy="228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949700"/>
            <a:ext cx="24387048" cy="9766300"/>
          </a:xfrm>
          <a:prstGeom prst="rect">
            <a:avLst/>
          </a:prstGeom>
        </p:spPr>
      </p:pic>
      <p:pic>
        <p:nvPicPr>
          <p:cNvPr id="4"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02613" y="5791200"/>
            <a:ext cx="16270734" cy="6210300"/>
          </a:xfrm>
          <a:prstGeom prst="rect">
            <a:avLst/>
          </a:prstGeom>
        </p:spPr>
      </p:pic>
      <p:pic>
        <p:nvPicPr>
          <p:cNvPr id="5"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1489" y="5219700"/>
            <a:ext cx="5144143" cy="2247900"/>
          </a:xfrm>
          <a:prstGeom prst="rect">
            <a:avLst/>
          </a:prstGeom>
        </p:spPr>
      </p:pic>
      <p:pic>
        <p:nvPicPr>
          <p:cNvPr id="6"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16327" y="5524500"/>
            <a:ext cx="508063" cy="508000"/>
          </a:xfrm>
          <a:prstGeom prst="rect">
            <a:avLst/>
          </a:prstGeom>
        </p:spPr>
      </p:pic>
      <p:pic>
        <p:nvPicPr>
          <p:cNvPr id="8"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43343" y="5651500"/>
            <a:ext cx="254032" cy="254000"/>
          </a:xfrm>
          <a:prstGeom prst="rect">
            <a:avLst/>
          </a:prstGeom>
        </p:spPr>
      </p:pic>
      <p:pic>
        <p:nvPicPr>
          <p:cNvPr id="9" name="Image 7"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994304" y="5702455"/>
            <a:ext cx="126861" cy="126845"/>
          </a:xfrm>
          <a:prstGeom prst="rect">
            <a:avLst/>
          </a:prstGeom>
        </p:spPr>
      </p:pic>
      <p:sp>
        <p:nvSpPr>
          <p:cNvPr id="10" name="Shape 0"/>
          <p:cNvSpPr/>
          <p:nvPr/>
        </p:nvSpPr>
        <p:spPr>
          <a:xfrm>
            <a:off x="5106038" y="5549900"/>
            <a:ext cx="1244756" cy="457200"/>
          </a:xfrm>
          <a:prstGeom prst="roundRect">
            <a:avLst>
              <a:gd name="adj" fmla="val 22000"/>
            </a:avLst>
          </a:prstGeom>
          <a:solidFill>
            <a:srgbClr val="F6F3FF">
              <a:alpha val="100000"/>
            </a:srgbClr>
          </a:solidFill>
          <a:ln/>
        </p:spPr>
      </p:sp>
      <p:sp>
        <p:nvSpPr>
          <p:cNvPr id="11" name="Text 1"/>
          <p:cNvSpPr/>
          <p:nvPr/>
        </p:nvSpPr>
        <p:spPr>
          <a:xfrm>
            <a:off x="2426003" y="5626100"/>
            <a:ext cx="118548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Onboarding</a:t>
            </a:r>
            <a:endParaRPr lang="en-US" sz="1600" dirty="0"/>
          </a:p>
        </p:txBody>
      </p:sp>
      <p:sp>
        <p:nvSpPr>
          <p:cNvPr id="12" name="Text 2"/>
          <p:cNvSpPr/>
          <p:nvPr/>
        </p:nvSpPr>
        <p:spPr>
          <a:xfrm>
            <a:off x="1816327" y="6159500"/>
            <a:ext cx="243023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Reduce steps, A/B test UI</a:t>
            </a:r>
            <a:endParaRPr lang="en-US" sz="1600" dirty="0"/>
          </a:p>
        </p:txBody>
      </p:sp>
      <p:sp>
        <p:nvSpPr>
          <p:cNvPr id="13" name="Text 3"/>
          <p:cNvSpPr/>
          <p:nvPr/>
        </p:nvSpPr>
        <p:spPr>
          <a:xfrm>
            <a:off x="5334667" y="5626100"/>
            <a:ext cx="85524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UX Lead</a:t>
            </a:r>
            <a:endParaRPr lang="en-US" sz="1600" dirty="0"/>
          </a:p>
        </p:txBody>
      </p:sp>
      <p:sp>
        <p:nvSpPr>
          <p:cNvPr id="14" name="Shape 4"/>
          <p:cNvSpPr/>
          <p:nvPr/>
        </p:nvSpPr>
        <p:spPr>
          <a:xfrm>
            <a:off x="5537892" y="6845300"/>
            <a:ext cx="800200" cy="304800"/>
          </a:xfrm>
          <a:prstGeom prst="rect">
            <a:avLst/>
          </a:prstGeom>
          <a:noFill/>
          <a:ln/>
        </p:spPr>
      </p:sp>
      <p:sp>
        <p:nvSpPr>
          <p:cNvPr id="15" name="Shape 5"/>
          <p:cNvSpPr/>
          <p:nvPr/>
        </p:nvSpPr>
        <p:spPr>
          <a:xfrm>
            <a:off x="5537892" y="6896100"/>
            <a:ext cx="203225" cy="203200"/>
          </a:xfrm>
          <a:prstGeom prst="ellipse">
            <a:avLst/>
          </a:prstGeom>
          <a:solidFill>
            <a:srgbClr val="92EEA0">
              <a:alpha val="100000"/>
            </a:srgbClr>
          </a:solidFill>
          <a:ln/>
        </p:spPr>
      </p:sp>
      <p:sp>
        <p:nvSpPr>
          <p:cNvPr id="16" name="Text 6"/>
          <p:cNvSpPr/>
          <p:nvPr/>
        </p:nvSpPr>
        <p:spPr>
          <a:xfrm>
            <a:off x="5842730" y="6811433"/>
            <a:ext cx="563104"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Done</a:t>
            </a:r>
            <a:endParaRPr lang="en-US" sz="1600" dirty="0"/>
          </a:p>
        </p:txBody>
      </p:sp>
      <p:pic>
        <p:nvPicPr>
          <p:cNvPr id="17" name="Image 8" descr=" "/>
          <p:cNvPicPr>
            <a:picLocks noChangeAspect="1"/>
          </p:cNvPicPr>
          <p:nvPr/>
        </p:nvPicPr>
        <p:blipFill>
          <a:blip r:embed="rId7">
            <a:extLst>
              <a:ext uri="{96DAC541-7B7A-43D3-8B79-37D633B846F1}">
                <asvg:svgBlip xmlns:asvg="http://schemas.microsoft.com/office/drawing/2016/SVG/main" r:embed="rId15"/>
              </a:ext>
            </a:extLst>
          </a:blip>
          <a:stretch>
            <a:fillRect/>
          </a:stretch>
        </p:blipFill>
        <p:spPr>
          <a:xfrm>
            <a:off x="6909664" y="6464300"/>
            <a:ext cx="5144143" cy="2247900"/>
          </a:xfrm>
          <a:prstGeom prst="rect">
            <a:avLst/>
          </a:prstGeom>
        </p:spPr>
      </p:pic>
      <p:pic>
        <p:nvPicPr>
          <p:cNvPr id="18" name="Image 9" descr=" "/>
          <p:cNvPicPr>
            <a:picLocks noChangeAspect="1"/>
          </p:cNvPicPr>
          <p:nvPr/>
        </p:nvPicPr>
        <p:blipFill>
          <a:blip r:embed="rId9">
            <a:extLst>
              <a:ext uri="{96DAC541-7B7A-43D3-8B79-37D633B846F1}">
                <asvg:svgBlip xmlns:asvg="http://schemas.microsoft.com/office/drawing/2016/SVG/main" r:embed="rId16"/>
              </a:ext>
            </a:extLst>
          </a:blip>
          <a:stretch>
            <a:fillRect/>
          </a:stretch>
        </p:blipFill>
        <p:spPr>
          <a:xfrm>
            <a:off x="7214502" y="6769100"/>
            <a:ext cx="508063" cy="508000"/>
          </a:xfrm>
          <a:prstGeom prst="rect">
            <a:avLst/>
          </a:prstGeom>
        </p:spPr>
      </p:pic>
      <p:pic>
        <p:nvPicPr>
          <p:cNvPr id="21" name="Image 12"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40767" y="6895356"/>
            <a:ext cx="255514" cy="255482"/>
          </a:xfrm>
          <a:prstGeom prst="rect">
            <a:avLst/>
          </a:prstGeom>
        </p:spPr>
      </p:pic>
      <p:sp>
        <p:nvSpPr>
          <p:cNvPr id="22" name="Shape 7"/>
          <p:cNvSpPr/>
          <p:nvPr/>
        </p:nvSpPr>
        <p:spPr>
          <a:xfrm>
            <a:off x="10504213" y="6794500"/>
            <a:ext cx="1244756" cy="457200"/>
          </a:xfrm>
          <a:prstGeom prst="roundRect">
            <a:avLst>
              <a:gd name="adj" fmla="val 22000"/>
            </a:avLst>
          </a:prstGeom>
          <a:solidFill>
            <a:srgbClr val="F6F3FF">
              <a:alpha val="100000"/>
            </a:srgbClr>
          </a:solidFill>
          <a:ln/>
        </p:spPr>
      </p:sp>
      <p:sp>
        <p:nvSpPr>
          <p:cNvPr id="23" name="Text 8"/>
          <p:cNvSpPr/>
          <p:nvPr/>
        </p:nvSpPr>
        <p:spPr>
          <a:xfrm>
            <a:off x="7824178" y="6870700"/>
            <a:ext cx="155382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Sales Follow-up </a:t>
            </a:r>
            <a:endParaRPr lang="en-US" sz="1600" dirty="0"/>
          </a:p>
        </p:txBody>
      </p:sp>
      <p:sp>
        <p:nvSpPr>
          <p:cNvPr id="24" name="Text 9"/>
          <p:cNvSpPr/>
          <p:nvPr/>
        </p:nvSpPr>
        <p:spPr>
          <a:xfrm>
            <a:off x="7214502" y="7404100"/>
            <a:ext cx="241753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Add trigger-based emails</a:t>
            </a:r>
            <a:endParaRPr lang="en-US" sz="1600" dirty="0"/>
          </a:p>
        </p:txBody>
      </p:sp>
      <p:sp>
        <p:nvSpPr>
          <p:cNvPr id="25" name="Text 10"/>
          <p:cNvSpPr/>
          <p:nvPr/>
        </p:nvSpPr>
        <p:spPr>
          <a:xfrm>
            <a:off x="10732841" y="6870700"/>
            <a:ext cx="79173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RevOps</a:t>
            </a:r>
            <a:endParaRPr lang="en-US" sz="1600" dirty="0"/>
          </a:p>
        </p:txBody>
      </p:sp>
      <p:sp>
        <p:nvSpPr>
          <p:cNvPr id="26" name="Shape 11"/>
          <p:cNvSpPr/>
          <p:nvPr/>
        </p:nvSpPr>
        <p:spPr>
          <a:xfrm>
            <a:off x="10669334" y="8089900"/>
            <a:ext cx="1066933" cy="304800"/>
          </a:xfrm>
          <a:prstGeom prst="rect">
            <a:avLst/>
          </a:prstGeom>
          <a:noFill/>
          <a:ln/>
        </p:spPr>
      </p:sp>
      <p:sp>
        <p:nvSpPr>
          <p:cNvPr id="27" name="Shape 12"/>
          <p:cNvSpPr/>
          <p:nvPr/>
        </p:nvSpPr>
        <p:spPr>
          <a:xfrm>
            <a:off x="10669334" y="8140700"/>
            <a:ext cx="203225" cy="203200"/>
          </a:xfrm>
          <a:prstGeom prst="ellipse">
            <a:avLst/>
          </a:prstGeom>
          <a:solidFill>
            <a:srgbClr val="92EEA0">
              <a:alpha val="100000"/>
            </a:srgbClr>
          </a:solidFill>
          <a:ln/>
        </p:spPr>
      </p:sp>
      <p:sp>
        <p:nvSpPr>
          <p:cNvPr id="28" name="Text 13"/>
          <p:cNvSpPr/>
          <p:nvPr/>
        </p:nvSpPr>
        <p:spPr>
          <a:xfrm>
            <a:off x="10974172" y="8056033"/>
            <a:ext cx="829837"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Planned</a:t>
            </a:r>
            <a:endParaRPr lang="en-US" sz="1600" dirty="0"/>
          </a:p>
        </p:txBody>
      </p:sp>
      <p:pic>
        <p:nvPicPr>
          <p:cNvPr id="29" name="Image 13" descr=" "/>
          <p:cNvPicPr>
            <a:picLocks noChangeAspect="1"/>
          </p:cNvPicPr>
          <p:nvPr/>
        </p:nvPicPr>
        <p:blipFill>
          <a:blip r:embed="rId7">
            <a:extLst>
              <a:ext uri="{96DAC541-7B7A-43D3-8B79-37D633B846F1}">
                <asvg:svgBlip xmlns:asvg="http://schemas.microsoft.com/office/drawing/2016/SVG/main" r:embed="rId19"/>
              </a:ext>
            </a:extLst>
          </a:blip>
          <a:stretch>
            <a:fillRect/>
          </a:stretch>
        </p:blipFill>
        <p:spPr>
          <a:xfrm>
            <a:off x="12307838" y="7708900"/>
            <a:ext cx="5144143" cy="2247900"/>
          </a:xfrm>
          <a:prstGeom prst="rect">
            <a:avLst/>
          </a:prstGeom>
        </p:spPr>
      </p:pic>
      <p:pic>
        <p:nvPicPr>
          <p:cNvPr id="30" name="Image 14" descr=" "/>
          <p:cNvPicPr>
            <a:picLocks noChangeAspect="1"/>
          </p:cNvPicPr>
          <p:nvPr/>
        </p:nvPicPr>
        <p:blipFill>
          <a:blip r:embed="rId9">
            <a:extLst>
              <a:ext uri="{96DAC541-7B7A-43D3-8B79-37D633B846F1}">
                <asvg:svgBlip xmlns:asvg="http://schemas.microsoft.com/office/drawing/2016/SVG/main" r:embed="rId20"/>
              </a:ext>
            </a:extLst>
          </a:blip>
          <a:stretch>
            <a:fillRect/>
          </a:stretch>
        </p:blipFill>
        <p:spPr>
          <a:xfrm>
            <a:off x="12612676" y="8013700"/>
            <a:ext cx="508063" cy="508000"/>
          </a:xfrm>
          <a:prstGeom prst="rect">
            <a:avLst/>
          </a:prstGeom>
        </p:spPr>
      </p:pic>
      <p:pic>
        <p:nvPicPr>
          <p:cNvPr id="32" name="Image 16"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739692" y="8171073"/>
            <a:ext cx="254032" cy="193253"/>
          </a:xfrm>
          <a:prstGeom prst="rect">
            <a:avLst/>
          </a:prstGeom>
        </p:spPr>
      </p:pic>
      <p:sp>
        <p:nvSpPr>
          <p:cNvPr id="33" name="Shape 14"/>
          <p:cNvSpPr/>
          <p:nvPr/>
        </p:nvSpPr>
        <p:spPr>
          <a:xfrm>
            <a:off x="15699162" y="8039100"/>
            <a:ext cx="1397175" cy="457200"/>
          </a:xfrm>
          <a:prstGeom prst="roundRect">
            <a:avLst>
              <a:gd name="adj" fmla="val 22000"/>
            </a:avLst>
          </a:prstGeom>
          <a:solidFill>
            <a:srgbClr val="F6F3FF">
              <a:alpha val="100000"/>
            </a:srgbClr>
          </a:solidFill>
          <a:ln/>
        </p:spPr>
      </p:sp>
      <p:sp>
        <p:nvSpPr>
          <p:cNvPr id="34" name="Text 15"/>
          <p:cNvSpPr/>
          <p:nvPr/>
        </p:nvSpPr>
        <p:spPr>
          <a:xfrm>
            <a:off x="13222353" y="8115300"/>
            <a:ext cx="197298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Campaign Targeting</a:t>
            </a:r>
            <a:endParaRPr lang="en-US" sz="1600" dirty="0"/>
          </a:p>
        </p:txBody>
      </p:sp>
      <p:sp>
        <p:nvSpPr>
          <p:cNvPr id="35" name="Text 16"/>
          <p:cNvSpPr/>
          <p:nvPr/>
        </p:nvSpPr>
        <p:spPr>
          <a:xfrm>
            <a:off x="12612676" y="8648700"/>
            <a:ext cx="315422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Refine audience using ROAS data</a:t>
            </a:r>
            <a:endParaRPr lang="en-US" sz="1600" dirty="0"/>
          </a:p>
        </p:txBody>
      </p:sp>
      <p:sp>
        <p:nvSpPr>
          <p:cNvPr id="36" name="Text 17"/>
          <p:cNvSpPr/>
          <p:nvPr/>
        </p:nvSpPr>
        <p:spPr>
          <a:xfrm>
            <a:off x="15927791" y="8115300"/>
            <a:ext cx="10076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Marketing</a:t>
            </a:r>
            <a:endParaRPr lang="en-US" sz="1600" dirty="0"/>
          </a:p>
        </p:txBody>
      </p:sp>
      <p:sp>
        <p:nvSpPr>
          <p:cNvPr id="37" name="Shape 18"/>
          <p:cNvSpPr/>
          <p:nvPr/>
        </p:nvSpPr>
        <p:spPr>
          <a:xfrm>
            <a:off x="16067508" y="9321800"/>
            <a:ext cx="1066933" cy="304800"/>
          </a:xfrm>
          <a:prstGeom prst="rect">
            <a:avLst/>
          </a:prstGeom>
          <a:noFill/>
          <a:ln/>
        </p:spPr>
      </p:sp>
      <p:sp>
        <p:nvSpPr>
          <p:cNvPr id="38" name="Shape 19"/>
          <p:cNvSpPr/>
          <p:nvPr/>
        </p:nvSpPr>
        <p:spPr>
          <a:xfrm>
            <a:off x="16067508" y="9372600"/>
            <a:ext cx="203225" cy="203200"/>
          </a:xfrm>
          <a:prstGeom prst="ellipse">
            <a:avLst/>
          </a:prstGeom>
          <a:solidFill>
            <a:srgbClr val="92EEA0">
              <a:alpha val="100000"/>
            </a:srgbClr>
          </a:solidFill>
          <a:ln/>
        </p:spPr>
      </p:sp>
      <p:sp>
        <p:nvSpPr>
          <p:cNvPr id="39" name="Text 20"/>
          <p:cNvSpPr/>
          <p:nvPr/>
        </p:nvSpPr>
        <p:spPr>
          <a:xfrm>
            <a:off x="16372346" y="9287933"/>
            <a:ext cx="829837"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Planned</a:t>
            </a:r>
            <a:endParaRPr lang="en-US" sz="1600" dirty="0"/>
          </a:p>
        </p:txBody>
      </p:sp>
      <p:pic>
        <p:nvPicPr>
          <p:cNvPr id="40" name="Image 17" descr=" "/>
          <p:cNvPicPr>
            <a:picLocks noChangeAspect="1"/>
          </p:cNvPicPr>
          <p:nvPr/>
        </p:nvPicPr>
        <p:blipFill>
          <a:blip r:embed="rId7">
            <a:extLst>
              <a:ext uri="{96DAC541-7B7A-43D3-8B79-37D633B846F1}">
                <asvg:svgBlip xmlns:asvg="http://schemas.microsoft.com/office/drawing/2016/SVG/main" r:embed="rId23"/>
              </a:ext>
            </a:extLst>
          </a:blip>
          <a:stretch>
            <a:fillRect/>
          </a:stretch>
        </p:blipFill>
        <p:spPr>
          <a:xfrm>
            <a:off x="17706013" y="8953500"/>
            <a:ext cx="5144143" cy="2247900"/>
          </a:xfrm>
          <a:prstGeom prst="rect">
            <a:avLst/>
          </a:prstGeom>
        </p:spPr>
      </p:pic>
      <p:pic>
        <p:nvPicPr>
          <p:cNvPr id="41" name="Image 18" descr=" "/>
          <p:cNvPicPr>
            <a:picLocks noChangeAspect="1"/>
          </p:cNvPicPr>
          <p:nvPr/>
        </p:nvPicPr>
        <p:blipFill>
          <a:blip r:embed="rId9">
            <a:extLst>
              <a:ext uri="{96DAC541-7B7A-43D3-8B79-37D633B846F1}">
                <asvg:svgBlip xmlns:asvg="http://schemas.microsoft.com/office/drawing/2016/SVG/main" r:embed="rId24"/>
              </a:ext>
            </a:extLst>
          </a:blip>
          <a:stretch>
            <a:fillRect/>
          </a:stretch>
        </p:blipFill>
        <p:spPr>
          <a:xfrm>
            <a:off x="18010851" y="9258300"/>
            <a:ext cx="508063" cy="508000"/>
          </a:xfrm>
          <a:prstGeom prst="rect">
            <a:avLst/>
          </a:prstGeom>
        </p:spPr>
      </p:pic>
      <p:pic>
        <p:nvPicPr>
          <p:cNvPr id="43" name="Image 20"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8119094" y="9385300"/>
            <a:ext cx="272805" cy="274749"/>
          </a:xfrm>
          <a:prstGeom prst="rect">
            <a:avLst/>
          </a:prstGeom>
        </p:spPr>
      </p:pic>
      <p:sp>
        <p:nvSpPr>
          <p:cNvPr id="44" name="Shape 21"/>
          <p:cNvSpPr/>
          <p:nvPr/>
        </p:nvSpPr>
        <p:spPr>
          <a:xfrm>
            <a:off x="20817902" y="9283700"/>
            <a:ext cx="1714714" cy="457200"/>
          </a:xfrm>
          <a:prstGeom prst="roundRect">
            <a:avLst>
              <a:gd name="adj" fmla="val 22000"/>
            </a:avLst>
          </a:prstGeom>
          <a:solidFill>
            <a:srgbClr val="F6F3FF">
              <a:alpha val="100000"/>
            </a:srgbClr>
          </a:solidFill>
          <a:ln/>
        </p:spPr>
      </p:sp>
      <p:sp>
        <p:nvSpPr>
          <p:cNvPr id="45" name="Text 22"/>
          <p:cNvSpPr/>
          <p:nvPr/>
        </p:nvSpPr>
        <p:spPr>
          <a:xfrm>
            <a:off x="18620527" y="9359900"/>
            <a:ext cx="1121974"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Cycle Time</a:t>
            </a:r>
            <a:endParaRPr lang="en-US" sz="1600" dirty="0"/>
          </a:p>
        </p:txBody>
      </p:sp>
      <p:sp>
        <p:nvSpPr>
          <p:cNvPr id="46" name="Shape 23"/>
          <p:cNvSpPr/>
          <p:nvPr/>
        </p:nvSpPr>
        <p:spPr>
          <a:xfrm>
            <a:off x="21186248" y="10579100"/>
            <a:ext cx="1346368" cy="304800"/>
          </a:xfrm>
          <a:prstGeom prst="rect">
            <a:avLst/>
          </a:prstGeom>
          <a:noFill/>
          <a:ln/>
        </p:spPr>
      </p:sp>
      <p:sp>
        <p:nvSpPr>
          <p:cNvPr id="47" name="Shape 24"/>
          <p:cNvSpPr/>
          <p:nvPr/>
        </p:nvSpPr>
        <p:spPr>
          <a:xfrm>
            <a:off x="21186248" y="10629900"/>
            <a:ext cx="203225" cy="203200"/>
          </a:xfrm>
          <a:prstGeom prst="ellipse">
            <a:avLst/>
          </a:prstGeom>
          <a:solidFill>
            <a:srgbClr val="F7F24B">
              <a:alpha val="100000"/>
            </a:srgbClr>
          </a:solidFill>
          <a:ln/>
        </p:spPr>
      </p:sp>
      <p:sp>
        <p:nvSpPr>
          <p:cNvPr id="48" name="Text 25"/>
          <p:cNvSpPr/>
          <p:nvPr/>
        </p:nvSpPr>
        <p:spPr>
          <a:xfrm>
            <a:off x="21491086" y="10545233"/>
            <a:ext cx="1109272" cy="372533"/>
          </a:xfrm>
          <a:prstGeom prst="rect">
            <a:avLst/>
          </a:prstGeom>
          <a:noFill/>
          <a:ln/>
        </p:spPr>
        <p:txBody>
          <a:bodyPr wrap="square" lIns="0" tIns="0" rIns="0" bIns="0" rtlCol="0" anchor="ctr"/>
          <a:lstStyle/>
          <a:p>
            <a:pPr marL="0" indent="0" algn="l">
              <a:lnSpc>
                <a:spcPts val="2400"/>
              </a:lnSpc>
              <a:buNone/>
            </a:pPr>
            <a:r>
              <a:rPr lang="en-US" sz="1600" kern="0" spc="-32" dirty="0">
                <a:solidFill>
                  <a:srgbClr val="000000">
                    <a:alpha val="100000"/>
                  </a:srgbClr>
                </a:solidFill>
                <a:latin typeface="Inter Regular" pitchFamily="34" charset="0"/>
                <a:ea typeface="Inter Regular" pitchFamily="34" charset="-122"/>
                <a:cs typeface="Inter Regular" pitchFamily="34" charset="-120"/>
              </a:rPr>
              <a:t>In Progress</a:t>
            </a:r>
            <a:endParaRPr lang="en-US" sz="1600" dirty="0"/>
          </a:p>
        </p:txBody>
      </p:sp>
      <p:sp>
        <p:nvSpPr>
          <p:cNvPr id="49" name="Text 26"/>
          <p:cNvSpPr/>
          <p:nvPr/>
        </p:nvSpPr>
        <p:spPr>
          <a:xfrm>
            <a:off x="18010851" y="9893300"/>
            <a:ext cx="300180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Regular" pitchFamily="34" charset="0"/>
                <a:ea typeface="Inter Regular" pitchFamily="34" charset="-122"/>
                <a:cs typeface="Inter Regular" pitchFamily="34" charset="-120"/>
              </a:rPr>
              <a:t>Automate approval checkpoints</a:t>
            </a:r>
            <a:endParaRPr lang="en-US" sz="1600" dirty="0"/>
          </a:p>
        </p:txBody>
      </p:sp>
      <p:sp>
        <p:nvSpPr>
          <p:cNvPr id="50" name="Text 27"/>
          <p:cNvSpPr/>
          <p:nvPr/>
        </p:nvSpPr>
        <p:spPr>
          <a:xfrm>
            <a:off x="21046530" y="9359900"/>
            <a:ext cx="132519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28EF7">
                    <a:alpha val="100000"/>
                  </a:srgbClr>
                </a:solidFill>
                <a:latin typeface="Inter Regular" pitchFamily="34" charset="0"/>
                <a:ea typeface="Inter Regular" pitchFamily="34" charset="-122"/>
                <a:cs typeface="Inter Regular" pitchFamily="34" charset="-120"/>
              </a:rPr>
              <a:t>Ops Manager</a:t>
            </a:r>
            <a:endParaRPr lang="en-US" sz="1600" dirty="0"/>
          </a:p>
        </p:txBody>
      </p:sp>
      <p:sp>
        <p:nvSpPr>
          <p:cNvPr id="51" name="Text 28"/>
          <p:cNvSpPr/>
          <p:nvPr/>
        </p:nvSpPr>
        <p:spPr>
          <a:xfrm>
            <a:off x="1511489" y="1524000"/>
            <a:ext cx="8116314"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Optimization Opportunities</a:t>
            </a:r>
            <a:endParaRPr lang="en-US" sz="6000" dirty="0"/>
          </a:p>
        </p:txBody>
      </p:sp>
      <p:sp>
        <p:nvSpPr>
          <p:cNvPr id="52" name="Text 29"/>
          <p:cNvSpPr/>
          <p:nvPr/>
        </p:nvSpPr>
        <p:spPr>
          <a:xfrm>
            <a:off x="16359645" y="1524000"/>
            <a:ext cx="6570955"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These improvement areas are based on the underperforming KPIs identified. Assigning ownership ensures each opportunity turns into measurable impact in the next cycle.</a:t>
            </a:r>
            <a:endParaRPr lang="en-US" sz="1600" dirty="0"/>
          </a:p>
        </p:txBody>
      </p:sp>
      <p:sp>
        <p:nvSpPr>
          <p:cNvPr id="53" name="Text 30"/>
          <p:cNvSpPr/>
          <p:nvPr/>
        </p:nvSpPr>
        <p:spPr>
          <a:xfrm>
            <a:off x="1511489" y="11836400"/>
            <a:ext cx="7930024" cy="6773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"Finding optimization opportunities transforms weak KPIs into insights. Assigning ownership ensures measurable improvements in our next cycle."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1511489" y="4419600"/>
            <a:ext cx="21338667" cy="7759700"/>
          </a:xfrm>
          <a:prstGeom prst="rect">
            <a:avLst/>
          </a:prstGeom>
          <a:solidFill>
            <a:srgbClr val="EFEAFD">
              <a:alpha val="31000"/>
            </a:srgbClr>
          </a:solidFill>
          <a:ln/>
        </p:spPr>
        <p:txBody>
          <a:bodyPr/>
          <a:lstStyle/>
          <a:p>
            <a:endParaRPr lang="en-US" dirty="0"/>
          </a:p>
        </p:txBody>
      </p:sp>
      <p:pic>
        <p:nvPicPr>
          <p:cNvPr id="4"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06926" y="4419600"/>
            <a:ext cx="12702" cy="7759700"/>
          </a:xfrm>
          <a:prstGeom prst="rect">
            <a:avLst/>
          </a:prstGeom>
        </p:spPr>
      </p:pic>
      <p:pic>
        <p:nvPicPr>
          <p:cNvPr id="5"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01487" y="4419600"/>
            <a:ext cx="12702" cy="7759700"/>
          </a:xfrm>
          <a:prstGeom prst="rect">
            <a:avLst/>
          </a:prstGeom>
        </p:spPr>
      </p:pic>
      <p:pic>
        <p:nvPicPr>
          <p:cNvPr id="6"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08751" y="4419600"/>
            <a:ext cx="12702" cy="7759700"/>
          </a:xfrm>
          <a:prstGeom prst="rect">
            <a:avLst/>
          </a:prstGeom>
        </p:spPr>
      </p:pic>
      <p:pic>
        <p:nvPicPr>
          <p:cNvPr id="7" name="Image 4"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16014" y="4419600"/>
            <a:ext cx="12702" cy="7759700"/>
          </a:xfrm>
          <a:prstGeom prst="rect">
            <a:avLst/>
          </a:prstGeom>
        </p:spPr>
      </p:pic>
      <p:pic>
        <p:nvPicPr>
          <p:cNvPr id="8" name="Image 5"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23278" y="4419600"/>
            <a:ext cx="12702" cy="7759700"/>
          </a:xfrm>
          <a:prstGeom prst="rect">
            <a:avLst/>
          </a:prstGeom>
        </p:spPr>
      </p:pic>
      <p:pic>
        <p:nvPicPr>
          <p:cNvPr id="9" name="Image 6"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699662" y="4419600"/>
            <a:ext cx="12702" cy="7759700"/>
          </a:xfrm>
          <a:prstGeom prst="rect">
            <a:avLst/>
          </a:prstGeom>
        </p:spPr>
      </p:pic>
      <p:pic>
        <p:nvPicPr>
          <p:cNvPr id="10" name="Image 7"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401745" y="4419600"/>
            <a:ext cx="12702" cy="7759700"/>
          </a:xfrm>
          <a:prstGeom prst="rect">
            <a:avLst/>
          </a:prstGeom>
        </p:spPr>
      </p:pic>
      <p:pic>
        <p:nvPicPr>
          <p:cNvPr id="11" name="Image 8"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1489" y="8136334"/>
            <a:ext cx="21338667" cy="12700"/>
          </a:xfrm>
          <a:prstGeom prst="rect">
            <a:avLst/>
          </a:prstGeom>
        </p:spPr>
      </p:pic>
      <p:pic>
        <p:nvPicPr>
          <p:cNvPr id="12" name="Image 9"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11489" y="10618397"/>
            <a:ext cx="21338667" cy="12700"/>
          </a:xfrm>
          <a:prstGeom prst="rect">
            <a:avLst/>
          </a:prstGeom>
        </p:spPr>
      </p:pic>
      <p:pic>
        <p:nvPicPr>
          <p:cNvPr id="13"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11489" y="5654278"/>
            <a:ext cx="21338667" cy="12700"/>
          </a:xfrm>
          <a:prstGeom prst="rect">
            <a:avLst/>
          </a:prstGeom>
        </p:spPr>
      </p:pic>
      <p:pic>
        <p:nvPicPr>
          <p:cNvPr id="14" name="Image 11"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11489" y="4953000"/>
            <a:ext cx="8433854" cy="1231900"/>
          </a:xfrm>
          <a:prstGeom prst="rect">
            <a:avLst/>
          </a:prstGeom>
        </p:spPr>
      </p:pic>
      <p:pic>
        <p:nvPicPr>
          <p:cNvPr id="15" name="Image 12"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86073" y="5334000"/>
            <a:ext cx="1651206" cy="457200"/>
          </a:xfrm>
          <a:prstGeom prst="rect">
            <a:avLst/>
          </a:prstGeom>
        </p:spPr>
      </p:pic>
      <p:sp>
        <p:nvSpPr>
          <p:cNvPr id="16" name="Text 1"/>
          <p:cNvSpPr/>
          <p:nvPr/>
        </p:nvSpPr>
        <p:spPr>
          <a:xfrm>
            <a:off x="8319540" y="5410200"/>
            <a:ext cx="95685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Week 1–2</a:t>
            </a:r>
            <a:endParaRPr lang="en-US" sz="1600" dirty="0"/>
          </a:p>
        </p:txBody>
      </p:sp>
      <p:pic>
        <p:nvPicPr>
          <p:cNvPr id="18" name="Image 14"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026609" y="5479256"/>
            <a:ext cx="204813" cy="185738"/>
          </a:xfrm>
          <a:prstGeom prst="rect">
            <a:avLst/>
          </a:prstGeom>
        </p:spPr>
      </p:pic>
      <p:pic>
        <p:nvPicPr>
          <p:cNvPr id="19" name="Image 15"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031373" y="5464969"/>
            <a:ext cx="195287" cy="76200"/>
          </a:xfrm>
          <a:prstGeom prst="rect">
            <a:avLst/>
          </a:prstGeom>
        </p:spPr>
      </p:pic>
      <p:pic>
        <p:nvPicPr>
          <p:cNvPr id="20" name="Image 16"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071859" y="5562600"/>
            <a:ext cx="114314" cy="57150"/>
          </a:xfrm>
          <a:prstGeom prst="rect">
            <a:avLst/>
          </a:prstGeom>
        </p:spPr>
      </p:pic>
      <p:sp>
        <p:nvSpPr>
          <p:cNvPr id="21" name="Text 2"/>
          <p:cNvSpPr/>
          <p:nvPr/>
        </p:nvSpPr>
        <p:spPr>
          <a:xfrm>
            <a:off x="2426003" y="5207000"/>
            <a:ext cx="1147377"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FFFFFF">
                    <a:alpha val="100000"/>
                  </a:srgbClr>
                </a:solidFill>
                <a:latin typeface="Inter Medium" pitchFamily="34" charset="0"/>
                <a:ea typeface="Inter Medium" pitchFamily="34" charset="-122"/>
                <a:cs typeface="Inter Medium" pitchFamily="34" charset="-120"/>
              </a:rPr>
              <a:t>Define KPIs</a:t>
            </a:r>
            <a:endParaRPr lang="en-US" sz="1600" dirty="0"/>
          </a:p>
        </p:txBody>
      </p:sp>
      <p:sp>
        <p:nvSpPr>
          <p:cNvPr id="22" name="Text 3"/>
          <p:cNvSpPr/>
          <p:nvPr/>
        </p:nvSpPr>
        <p:spPr>
          <a:xfrm>
            <a:off x="2019552" y="5626100"/>
            <a:ext cx="465301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CBB7FB">
                    <a:alpha val="100000"/>
                  </a:srgbClr>
                </a:solidFill>
                <a:latin typeface="Inter Medium" pitchFamily="34" charset="0"/>
                <a:ea typeface="Inter Medium" pitchFamily="34" charset="-122"/>
                <a:cs typeface="Inter Medium" pitchFamily="34" charset="-120"/>
              </a:rPr>
              <a:t>Set metrics and assign owners for accountability.</a:t>
            </a:r>
            <a:endParaRPr lang="en-US" sz="1600" dirty="0"/>
          </a:p>
        </p:txBody>
      </p:sp>
      <p:pic>
        <p:nvPicPr>
          <p:cNvPr id="24" name="Image 18"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044956" y="5232400"/>
            <a:ext cx="254032" cy="254000"/>
          </a:xfrm>
          <a:prstGeom prst="rect">
            <a:avLst/>
          </a:prstGeom>
        </p:spPr>
      </p:pic>
      <p:pic>
        <p:nvPicPr>
          <p:cNvPr id="25" name="Image 19"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159270" y="5302250"/>
            <a:ext cx="82560" cy="69850"/>
          </a:xfrm>
          <a:prstGeom prst="rect">
            <a:avLst/>
          </a:prstGeom>
        </p:spPr>
      </p:pic>
      <p:pic>
        <p:nvPicPr>
          <p:cNvPr id="26" name="Image 20"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6338092" y="6769100"/>
            <a:ext cx="8433854" cy="1231900"/>
          </a:xfrm>
          <a:prstGeom prst="rect">
            <a:avLst/>
          </a:prstGeom>
        </p:spPr>
      </p:pic>
      <p:pic>
        <p:nvPicPr>
          <p:cNvPr id="27" name="Image 21" descr=" "/>
          <p:cNvPicPr>
            <a:picLocks noChangeAspect="1"/>
          </p:cNvPicPr>
          <p:nvPr/>
        </p:nvPicPr>
        <p:blipFill>
          <a:blip r:embed="rId27">
            <a:extLst>
              <a:ext uri="{96DAC541-7B7A-43D3-8B79-37D633B846F1}">
                <asvg:svgBlip xmlns:asvg="http://schemas.microsoft.com/office/drawing/2016/SVG/main" r:embed="rId29"/>
              </a:ext>
            </a:extLst>
          </a:blip>
          <a:stretch>
            <a:fillRect/>
          </a:stretch>
        </p:blipFill>
        <p:spPr>
          <a:xfrm>
            <a:off x="9881835" y="8585200"/>
            <a:ext cx="8433854" cy="1231900"/>
          </a:xfrm>
          <a:prstGeom prst="rect">
            <a:avLst/>
          </a:prstGeom>
        </p:spPr>
      </p:pic>
      <p:pic>
        <p:nvPicPr>
          <p:cNvPr id="28" name="Image 22" descr=" "/>
          <p:cNvPicPr>
            <a:picLocks noChangeAspect="1"/>
          </p:cNvPicPr>
          <p:nvPr/>
        </p:nvPicPr>
        <p:blipFill>
          <a:blip r:embed="rId27">
            <a:extLst>
              <a:ext uri="{96DAC541-7B7A-43D3-8B79-37D633B846F1}">
                <asvg:svgBlip xmlns:asvg="http://schemas.microsoft.com/office/drawing/2016/SVG/main" r:embed="rId30"/>
              </a:ext>
            </a:extLst>
          </a:blip>
          <a:stretch>
            <a:fillRect/>
          </a:stretch>
        </p:blipFill>
        <p:spPr>
          <a:xfrm>
            <a:off x="14416302" y="10401300"/>
            <a:ext cx="8433854" cy="1231900"/>
          </a:xfrm>
          <a:prstGeom prst="rect">
            <a:avLst/>
          </a:prstGeom>
        </p:spPr>
      </p:pic>
      <p:sp>
        <p:nvSpPr>
          <p:cNvPr id="29" name="Shape 4"/>
          <p:cNvSpPr/>
          <p:nvPr/>
        </p:nvSpPr>
        <p:spPr>
          <a:xfrm>
            <a:off x="12612676" y="7150100"/>
            <a:ext cx="1651206" cy="457200"/>
          </a:xfrm>
          <a:prstGeom prst="roundRect">
            <a:avLst>
              <a:gd name="adj" fmla="val 22000"/>
            </a:avLst>
          </a:prstGeom>
          <a:solidFill>
            <a:srgbClr val="F6F3FF">
              <a:alpha val="100000"/>
            </a:srgbClr>
          </a:solidFill>
          <a:ln/>
        </p:spPr>
      </p:sp>
      <p:sp>
        <p:nvSpPr>
          <p:cNvPr id="30" name="Text 5"/>
          <p:cNvSpPr/>
          <p:nvPr/>
        </p:nvSpPr>
        <p:spPr>
          <a:xfrm>
            <a:off x="13146143" y="7226300"/>
            <a:ext cx="1007659"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Medium" pitchFamily="34" charset="0"/>
                <a:ea typeface="Inter Medium" pitchFamily="34" charset="-122"/>
                <a:cs typeface="Inter Medium" pitchFamily="34" charset="-120"/>
              </a:rPr>
              <a:t>Week 3–4</a:t>
            </a:r>
            <a:endParaRPr lang="en-US" sz="1600" dirty="0"/>
          </a:p>
        </p:txBody>
      </p:sp>
      <p:pic>
        <p:nvPicPr>
          <p:cNvPr id="32" name="Image 24"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2853213" y="7295356"/>
            <a:ext cx="204813" cy="185738"/>
          </a:xfrm>
          <a:prstGeom prst="rect">
            <a:avLst/>
          </a:prstGeom>
        </p:spPr>
      </p:pic>
      <p:pic>
        <p:nvPicPr>
          <p:cNvPr id="33" name="Image 25"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2857976" y="7281069"/>
            <a:ext cx="195287" cy="76200"/>
          </a:xfrm>
          <a:prstGeom prst="rect">
            <a:avLst/>
          </a:prstGeom>
        </p:spPr>
      </p:pic>
      <p:pic>
        <p:nvPicPr>
          <p:cNvPr id="34" name="Image 26"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2898462" y="7378700"/>
            <a:ext cx="114314" cy="57150"/>
          </a:xfrm>
          <a:prstGeom prst="rect">
            <a:avLst/>
          </a:prstGeom>
        </p:spPr>
      </p:pic>
      <p:sp>
        <p:nvSpPr>
          <p:cNvPr id="35" name="Shape 6"/>
          <p:cNvSpPr/>
          <p:nvPr/>
        </p:nvSpPr>
        <p:spPr>
          <a:xfrm>
            <a:off x="16156419" y="8966200"/>
            <a:ext cx="1651206" cy="457200"/>
          </a:xfrm>
          <a:prstGeom prst="roundRect">
            <a:avLst>
              <a:gd name="adj" fmla="val 22000"/>
            </a:avLst>
          </a:prstGeom>
          <a:solidFill>
            <a:srgbClr val="F6F3FF">
              <a:alpha val="100000"/>
            </a:srgbClr>
          </a:solidFill>
          <a:ln/>
        </p:spPr>
      </p:sp>
      <p:sp>
        <p:nvSpPr>
          <p:cNvPr id="36" name="Text 7"/>
          <p:cNvSpPr/>
          <p:nvPr/>
        </p:nvSpPr>
        <p:spPr>
          <a:xfrm>
            <a:off x="16689886" y="9042400"/>
            <a:ext cx="99495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Medium" pitchFamily="34" charset="0"/>
                <a:ea typeface="Inter Medium" pitchFamily="34" charset="-122"/>
                <a:cs typeface="Inter Medium" pitchFamily="34" charset="-120"/>
              </a:rPr>
              <a:t>Week 5–6</a:t>
            </a:r>
            <a:endParaRPr lang="en-US" sz="1600" dirty="0"/>
          </a:p>
        </p:txBody>
      </p:sp>
      <p:pic>
        <p:nvPicPr>
          <p:cNvPr id="38" name="Image 28"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396956" y="9111456"/>
            <a:ext cx="204813" cy="185738"/>
          </a:xfrm>
          <a:prstGeom prst="rect">
            <a:avLst/>
          </a:prstGeom>
        </p:spPr>
      </p:pic>
      <p:pic>
        <p:nvPicPr>
          <p:cNvPr id="39" name="Image 29"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6401719" y="9097169"/>
            <a:ext cx="195287" cy="76200"/>
          </a:xfrm>
          <a:prstGeom prst="rect">
            <a:avLst/>
          </a:prstGeom>
        </p:spPr>
      </p:pic>
      <p:pic>
        <p:nvPicPr>
          <p:cNvPr id="40" name="Image 30"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6442205" y="9194800"/>
            <a:ext cx="114314" cy="57150"/>
          </a:xfrm>
          <a:prstGeom prst="rect">
            <a:avLst/>
          </a:prstGeom>
        </p:spPr>
      </p:pic>
      <p:sp>
        <p:nvSpPr>
          <p:cNvPr id="41" name="Shape 8"/>
          <p:cNvSpPr/>
          <p:nvPr/>
        </p:nvSpPr>
        <p:spPr>
          <a:xfrm>
            <a:off x="20690886" y="10782300"/>
            <a:ext cx="1651206" cy="457200"/>
          </a:xfrm>
          <a:prstGeom prst="roundRect">
            <a:avLst>
              <a:gd name="adj" fmla="val 22000"/>
            </a:avLst>
          </a:prstGeom>
          <a:solidFill>
            <a:srgbClr val="F6F3FF">
              <a:alpha val="100000"/>
            </a:srgbClr>
          </a:solidFill>
          <a:ln/>
        </p:spPr>
      </p:sp>
      <p:sp>
        <p:nvSpPr>
          <p:cNvPr id="42" name="Text 9"/>
          <p:cNvSpPr/>
          <p:nvPr/>
        </p:nvSpPr>
        <p:spPr>
          <a:xfrm>
            <a:off x="21224353" y="10858500"/>
            <a:ext cx="89334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9559F1">
                    <a:alpha val="100000"/>
                  </a:srgbClr>
                </a:solidFill>
                <a:latin typeface="Inter Medium" pitchFamily="34" charset="0"/>
                <a:ea typeface="Inter Medium" pitchFamily="34" charset="-122"/>
                <a:cs typeface="Inter Medium" pitchFamily="34" charset="-120"/>
              </a:rPr>
              <a:t>Week 7+</a:t>
            </a:r>
            <a:endParaRPr lang="en-US" sz="1600" dirty="0"/>
          </a:p>
        </p:txBody>
      </p:sp>
      <p:pic>
        <p:nvPicPr>
          <p:cNvPr id="44" name="Image 32" descr=" "/>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0931422" y="10927556"/>
            <a:ext cx="204813" cy="185738"/>
          </a:xfrm>
          <a:prstGeom prst="rect">
            <a:avLst/>
          </a:prstGeom>
        </p:spPr>
      </p:pic>
      <p:pic>
        <p:nvPicPr>
          <p:cNvPr id="45" name="Image 33" descr=" "/>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0936185" y="10913269"/>
            <a:ext cx="195287" cy="76200"/>
          </a:xfrm>
          <a:prstGeom prst="rect">
            <a:avLst/>
          </a:prstGeom>
        </p:spPr>
      </p:pic>
      <p:pic>
        <p:nvPicPr>
          <p:cNvPr id="46" name="Image 34" descr=" "/>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0976672" y="11010900"/>
            <a:ext cx="114314" cy="57150"/>
          </a:xfrm>
          <a:prstGeom prst="rect">
            <a:avLst/>
          </a:prstGeom>
        </p:spPr>
      </p:pic>
      <p:sp>
        <p:nvSpPr>
          <p:cNvPr id="47" name="Text 10"/>
          <p:cNvSpPr/>
          <p:nvPr/>
        </p:nvSpPr>
        <p:spPr>
          <a:xfrm>
            <a:off x="7252606" y="7023100"/>
            <a:ext cx="122358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Align Teams</a:t>
            </a:r>
            <a:endParaRPr lang="en-US" sz="1600" dirty="0"/>
          </a:p>
        </p:txBody>
      </p:sp>
      <p:sp>
        <p:nvSpPr>
          <p:cNvPr id="48" name="Text 11"/>
          <p:cNvSpPr/>
          <p:nvPr/>
        </p:nvSpPr>
        <p:spPr>
          <a:xfrm>
            <a:off x="10796349" y="8839200"/>
            <a:ext cx="1909472"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Deploy Dashboards</a:t>
            </a:r>
            <a:endParaRPr lang="en-US" sz="1600" dirty="0"/>
          </a:p>
        </p:txBody>
      </p:sp>
      <p:sp>
        <p:nvSpPr>
          <p:cNvPr id="49" name="Text 12"/>
          <p:cNvSpPr/>
          <p:nvPr/>
        </p:nvSpPr>
        <p:spPr>
          <a:xfrm>
            <a:off x="15330816" y="10655300"/>
            <a:ext cx="178245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000000">
                    <a:alpha val="100000"/>
                  </a:srgbClr>
                </a:solidFill>
                <a:latin typeface="Inter Medium" pitchFamily="34" charset="0"/>
                <a:ea typeface="Inter Medium" pitchFamily="34" charset="-122"/>
                <a:cs typeface="Inter Medium" pitchFamily="34" charset="-120"/>
              </a:rPr>
              <a:t>Monitor &amp; Improve</a:t>
            </a:r>
            <a:endParaRPr lang="en-US" sz="1600" dirty="0"/>
          </a:p>
        </p:txBody>
      </p:sp>
      <p:sp>
        <p:nvSpPr>
          <p:cNvPr id="50" name="Text 13"/>
          <p:cNvSpPr/>
          <p:nvPr/>
        </p:nvSpPr>
        <p:spPr>
          <a:xfrm>
            <a:off x="6846156" y="7442200"/>
            <a:ext cx="4678418"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Department workshops, dashboard access setup</a:t>
            </a:r>
            <a:endParaRPr lang="en-US" sz="1600" dirty="0"/>
          </a:p>
        </p:txBody>
      </p:sp>
      <p:sp>
        <p:nvSpPr>
          <p:cNvPr id="51" name="Text 14"/>
          <p:cNvSpPr/>
          <p:nvPr/>
        </p:nvSpPr>
        <p:spPr>
          <a:xfrm>
            <a:off x="10389899" y="9258300"/>
            <a:ext cx="361148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Go live with initial dashboards + alerts</a:t>
            </a:r>
            <a:endParaRPr lang="en-US" sz="1600" dirty="0"/>
          </a:p>
        </p:txBody>
      </p:sp>
      <p:sp>
        <p:nvSpPr>
          <p:cNvPr id="52" name="Text 15"/>
          <p:cNvSpPr/>
          <p:nvPr/>
        </p:nvSpPr>
        <p:spPr>
          <a:xfrm>
            <a:off x="14924365" y="11074400"/>
            <a:ext cx="4424386"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B0B0B0">
                    <a:alpha val="100000"/>
                  </a:srgbClr>
                </a:solidFill>
                <a:latin typeface="Inter Medium" pitchFamily="34" charset="0"/>
                <a:ea typeface="Inter Medium" pitchFamily="34" charset="-122"/>
                <a:cs typeface="Inter Medium" pitchFamily="34" charset="-120"/>
              </a:rPr>
              <a:t>Weekly reviews, threshold tuning, optimization</a:t>
            </a:r>
            <a:endParaRPr lang="en-US" sz="1600" dirty="0"/>
          </a:p>
        </p:txBody>
      </p:sp>
      <p:pic>
        <p:nvPicPr>
          <p:cNvPr id="54" name="Image 36" descr=" "/>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6860433" y="7204075"/>
            <a:ext cx="85736" cy="85725"/>
          </a:xfrm>
          <a:prstGeom prst="rect">
            <a:avLst/>
          </a:prstGeom>
        </p:spPr>
      </p:pic>
      <p:pic>
        <p:nvPicPr>
          <p:cNvPr id="55" name="Image 37" descr=" "/>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6846156" y="7204075"/>
            <a:ext cx="290536" cy="123825"/>
          </a:xfrm>
          <a:prstGeom prst="rect">
            <a:avLst/>
          </a:prstGeom>
        </p:spPr>
      </p:pic>
      <p:pic>
        <p:nvPicPr>
          <p:cNvPr id="56" name="Image 38" descr=" "/>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6884236" y="7023100"/>
            <a:ext cx="266746" cy="304800"/>
          </a:xfrm>
          <a:prstGeom prst="rect">
            <a:avLst/>
          </a:prstGeom>
        </p:spPr>
      </p:pic>
      <p:pic>
        <p:nvPicPr>
          <p:cNvPr id="58" name="Image 40" descr=" "/>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10428003" y="8864600"/>
            <a:ext cx="228629" cy="254000"/>
          </a:xfrm>
          <a:prstGeom prst="rect">
            <a:avLst/>
          </a:prstGeom>
        </p:spPr>
      </p:pic>
      <p:pic>
        <p:nvPicPr>
          <p:cNvPr id="60" name="Image 42" descr=" "/>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14940242" y="10671175"/>
            <a:ext cx="273084" cy="273050"/>
          </a:xfrm>
          <a:prstGeom prst="rect">
            <a:avLst/>
          </a:prstGeom>
        </p:spPr>
      </p:pic>
      <p:pic>
        <p:nvPicPr>
          <p:cNvPr id="61" name="Image 43" descr=" "/>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5003750" y="10772775"/>
            <a:ext cx="146068" cy="69850"/>
          </a:xfrm>
          <a:prstGeom prst="rect">
            <a:avLst/>
          </a:prstGeom>
        </p:spPr>
      </p:pic>
      <p:pic>
        <p:nvPicPr>
          <p:cNvPr id="62" name="Image 44" descr=" "/>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2087192" y="12221691"/>
            <a:ext cx="187262" cy="97309"/>
          </a:xfrm>
          <a:prstGeom prst="rect">
            <a:avLst/>
          </a:prstGeom>
        </p:spPr>
      </p:pic>
      <p:pic>
        <p:nvPicPr>
          <p:cNvPr id="63" name="Image 45" descr=" "/>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2168121" y="4419600"/>
            <a:ext cx="25403" cy="7759700"/>
          </a:xfrm>
          <a:prstGeom prst="rect">
            <a:avLst/>
          </a:prstGeom>
        </p:spPr>
      </p:pic>
      <p:grpSp>
        <p:nvGrpSpPr>
          <p:cNvPr id="66" name="Group 65">
            <a:extLst>
              <a:ext uri="{FF2B5EF4-FFF2-40B4-BE49-F238E27FC236}">
                <a16:creationId xmlns:a16="http://schemas.microsoft.com/office/drawing/2014/main" id="{C758363F-ADBD-4DC5-A95C-B289D4781636}"/>
              </a:ext>
            </a:extLst>
          </p:cNvPr>
          <p:cNvGrpSpPr/>
          <p:nvPr/>
        </p:nvGrpSpPr>
        <p:grpSpPr>
          <a:xfrm>
            <a:off x="1511489" y="1524000"/>
            <a:ext cx="21419110" cy="1778000"/>
            <a:chOff x="1511489" y="1524000"/>
            <a:chExt cx="21419110" cy="1778000"/>
          </a:xfrm>
        </p:grpSpPr>
        <p:sp>
          <p:nvSpPr>
            <p:cNvPr id="64" name="Text 16"/>
            <p:cNvSpPr/>
            <p:nvPr/>
          </p:nvSpPr>
          <p:spPr>
            <a:xfrm>
              <a:off x="1511489" y="1524000"/>
              <a:ext cx="8624378" cy="1778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00000">
                      <a:alpha val="100000"/>
                    </a:srgbClr>
                  </a:solidFill>
                  <a:latin typeface="Inter Medium" pitchFamily="34" charset="0"/>
                  <a:ea typeface="Inter Medium" pitchFamily="34" charset="-122"/>
                  <a:cs typeface="Inter Medium" pitchFamily="34" charset="-120"/>
                </a:rPr>
                <a:t>Next Steps &amp; Implementation Timeline</a:t>
              </a:r>
              <a:endParaRPr lang="en-US" sz="6000" dirty="0"/>
            </a:p>
          </p:txBody>
        </p:sp>
        <p:sp>
          <p:nvSpPr>
            <p:cNvPr id="65" name="Text 17"/>
            <p:cNvSpPr/>
            <p:nvPr/>
          </p:nvSpPr>
          <p:spPr>
            <a:xfrm>
              <a:off x="15025978" y="1524000"/>
              <a:ext cx="7904621" cy="9821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This phased approach ensures a smooth and strategic rollout of KPI dashboards. Clear ownership, team alignment, and early wins will drive adoption and data-driven habits.</a:t>
              </a:r>
              <a:endParaRPr lang="en-US" sz="160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019"/>
        </a:solidFill>
        <a:effectLst/>
      </p:bgPr>
    </p:bg>
    <p:spTree>
      <p:nvGrpSpPr>
        <p:cNvPr id="1" name=""/>
        <p:cNvGrpSpPr/>
        <p:nvPr/>
      </p:nvGrpSpPr>
      <p:grpSpPr>
        <a:xfrm>
          <a:off x="0" y="0"/>
          <a:ext cx="0" cy="0"/>
          <a:chOff x="0" y="0"/>
          <a:chExt cx="0" cy="0"/>
        </a:xfrm>
      </p:grpSpPr>
      <p:sp>
        <p:nvSpPr>
          <p:cNvPr id="2" name="Text 0"/>
          <p:cNvSpPr/>
          <p:nvPr/>
        </p:nvSpPr>
        <p:spPr>
          <a:xfrm>
            <a:off x="3044147" y="4965700"/>
            <a:ext cx="18311455" cy="3539067"/>
          </a:xfrm>
          <a:prstGeom prst="rect">
            <a:avLst/>
          </a:prstGeom>
          <a:noFill/>
          <a:ln/>
        </p:spPr>
        <p:txBody>
          <a:bodyPr wrap="square" lIns="0" tIns="0" rIns="0" bIns="0" rtlCol="0" anchor="t"/>
          <a:lstStyle/>
          <a:p>
            <a:pPr marL="0" indent="0" algn="ctr">
              <a:lnSpc>
                <a:spcPts val="12100"/>
              </a:lnSpc>
              <a:buNone/>
            </a:pPr>
            <a:r>
              <a:rPr lang="en-US" sz="11000" kern="0" spc="-220" dirty="0">
                <a:solidFill>
                  <a:srgbClr val="9559F1">
                    <a:alpha val="100000"/>
                  </a:srgbClr>
                </a:solidFill>
                <a:latin typeface="Mona Sans Medium" pitchFamily="34" charset="0"/>
                <a:ea typeface="Mona Sans Medium" pitchFamily="34" charset="-122"/>
                <a:cs typeface="Mona Sans Medium" pitchFamily="34" charset="-120"/>
              </a:rPr>
              <a:t>Thank you</a:t>
            </a:r>
            <a:r>
              <a:rPr lang="en-US" sz="11000" kern="0" spc="-220" dirty="0">
                <a:solidFill>
                  <a:srgbClr val="FFFFFF">
                    <a:alpha val="100000"/>
                  </a:srgbClr>
                </a:solidFill>
                <a:latin typeface="Mona Sans Medium" pitchFamily="34" charset="0"/>
                <a:ea typeface="Mona Sans Medium" pitchFamily="34" charset="-122"/>
                <a:cs typeface="Mona Sans Medium" pitchFamily="34" charset="-120"/>
              </a:rPr>
              <a:t> so much for your kindness and support!</a:t>
            </a:r>
            <a:endParaRPr lang="en-US" sz="11000" dirty="0"/>
          </a:p>
        </p:txBody>
      </p:sp>
      <p:pic>
        <p:nvPicPr>
          <p:cNvPr id="3"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24387048" cy="5651500"/>
          </a:xfrm>
          <a:prstGeom prst="rect">
            <a:avLst/>
          </a:prstGeom>
        </p:spPr>
      </p:pic>
      <p:pic>
        <p:nvPicPr>
          <p:cNvPr id="4"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8064500"/>
            <a:ext cx="24387048" cy="5651500"/>
          </a:xfrm>
          <a:prstGeom prst="rect">
            <a:avLst/>
          </a:prstGeom>
        </p:spPr>
      </p:pic>
      <p:pic>
        <p:nvPicPr>
          <p:cNvPr id="5"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344518" y="7213600"/>
            <a:ext cx="1079635" cy="825500"/>
          </a:xfrm>
          <a:prstGeom prst="rect">
            <a:avLst/>
          </a:prstGeom>
        </p:spPr>
      </p:pic>
      <p:pic>
        <p:nvPicPr>
          <p:cNvPr id="6"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35479" y="4826000"/>
            <a:ext cx="1041530" cy="787400"/>
          </a:xfrm>
          <a:prstGeom prst="rect">
            <a:avLst/>
          </a:prstGeom>
        </p:spPr>
      </p:pic>
      <p:sp>
        <p:nvSpPr>
          <p:cNvPr id="7" name="Text 1"/>
          <p:cNvSpPr/>
          <p:nvPr/>
        </p:nvSpPr>
        <p:spPr>
          <a:xfrm>
            <a:off x="7773372" y="8636000"/>
            <a:ext cx="3370155"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Web: www.strative.com/dashboard</a:t>
            </a:r>
            <a:endParaRPr lang="en-US" sz="1600" dirty="0"/>
          </a:p>
        </p:txBody>
      </p:sp>
      <p:pic>
        <p:nvPicPr>
          <p:cNvPr id="8"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17727" y="8661400"/>
            <a:ext cx="254032" cy="254000"/>
          </a:xfrm>
          <a:prstGeom prst="rect">
            <a:avLst/>
          </a:prstGeom>
        </p:spPr>
      </p:pic>
      <p:sp>
        <p:nvSpPr>
          <p:cNvPr id="9" name="Text 2"/>
          <p:cNvSpPr/>
          <p:nvPr/>
        </p:nvSpPr>
        <p:spPr>
          <a:xfrm>
            <a:off x="7773372" y="9144000"/>
            <a:ext cx="2315923"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Email: kpi@strative.com</a:t>
            </a:r>
            <a:endParaRPr lang="en-US" sz="1600" dirty="0"/>
          </a:p>
        </p:txBody>
      </p:sp>
      <p:pic>
        <p:nvPicPr>
          <p:cNvPr id="10"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17727" y="9169400"/>
            <a:ext cx="254032" cy="254000"/>
          </a:xfrm>
          <a:prstGeom prst="rect">
            <a:avLst/>
          </a:prstGeom>
        </p:spPr>
      </p:pic>
      <p:sp>
        <p:nvSpPr>
          <p:cNvPr id="11" name="Text 3"/>
          <p:cNvSpPr/>
          <p:nvPr/>
        </p:nvSpPr>
        <p:spPr>
          <a:xfrm>
            <a:off x="13171546" y="8636000"/>
            <a:ext cx="253185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Phone: +1 (555) 123-4567</a:t>
            </a:r>
            <a:endParaRPr lang="en-US" sz="1600" dirty="0"/>
          </a:p>
        </p:txBody>
      </p:sp>
      <p:pic>
        <p:nvPicPr>
          <p:cNvPr id="12" name="Image 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828603" y="8674100"/>
            <a:ext cx="228629" cy="228600"/>
          </a:xfrm>
          <a:prstGeom prst="rect">
            <a:avLst/>
          </a:prstGeom>
        </p:spPr>
      </p:pic>
      <p:sp>
        <p:nvSpPr>
          <p:cNvPr id="13" name="Text 4"/>
          <p:cNvSpPr/>
          <p:nvPr/>
        </p:nvSpPr>
        <p:spPr>
          <a:xfrm>
            <a:off x="13171546" y="9144000"/>
            <a:ext cx="3497170" cy="372533"/>
          </a:xfrm>
          <a:prstGeom prst="rect">
            <a:avLst/>
          </a:prstGeom>
          <a:noFill/>
          <a:ln/>
        </p:spPr>
        <p:txBody>
          <a:bodyPr wrap="square" lIns="0" tIns="0" rIns="0" bIns="0" rtlCol="0" anchor="t"/>
          <a:lstStyle/>
          <a:p>
            <a:pPr marL="0" indent="0" algn="l">
              <a:lnSpc>
                <a:spcPts val="2400"/>
              </a:lnSpc>
              <a:buNone/>
            </a:pPr>
            <a:r>
              <a:rPr lang="en-US" sz="1600" kern="0" spc="-32" dirty="0">
                <a:solidFill>
                  <a:srgbClr val="6D6D6D">
                    <a:alpha val="100000"/>
                  </a:srgbClr>
                </a:solidFill>
                <a:latin typeface="Inter Medium" pitchFamily="34" charset="0"/>
                <a:ea typeface="Inter Medium" pitchFamily="34" charset="-122"/>
                <a:cs typeface="Inter Medium" pitchFamily="34" charset="-120"/>
              </a:rPr>
              <a:t>Address: 123 Metrics Way, New York</a:t>
            </a:r>
            <a:endParaRPr lang="en-US" sz="1600" dirty="0"/>
          </a:p>
        </p:txBody>
      </p:sp>
      <p:pic>
        <p:nvPicPr>
          <p:cNvPr id="14" name="Image 7"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2854007" y="9169400"/>
            <a:ext cx="177822"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2390</Words>
  <Application>Microsoft Office PowerPoint</Application>
  <PresentationFormat>Custom</PresentationFormat>
  <Paragraphs>429</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Inter Bold</vt:lpstr>
      <vt:lpstr>Inter Medium</vt:lpstr>
      <vt:lpstr>Inter Regular</vt:lpstr>
      <vt:lpstr>Mona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heykiyou.std@gmail.com</cp:lastModifiedBy>
  <cp:revision>43</cp:revision>
  <dcterms:created xsi:type="dcterms:W3CDTF">2025-07-07T08:43:15Z</dcterms:created>
  <dcterms:modified xsi:type="dcterms:W3CDTF">2025-07-08T02:57:25Z</dcterms:modified>
</cp:coreProperties>
</file>