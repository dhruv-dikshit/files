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81" r:id="rId4"/>
    <p:sldId id="282"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3" r:id="rId23"/>
    <p:sldId id="278" r:id="rId24"/>
    <p:sldId id="279" r:id="rId25"/>
    <p:sldId id="280" r:id="rId26"/>
  </p:sldIdLst>
  <p:sldSz cx="24387175" cy="13716000"/>
  <p:notesSz cx="13716000" cy="243871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260C"/>
    <a:srgbClr val="FF5102"/>
    <a:srgbClr val="A12B0B"/>
    <a:srgbClr val="2B0B03"/>
    <a:srgbClr val="FFB66D"/>
    <a:srgbClr val="FF6118"/>
    <a:srgbClr val="FFB089"/>
    <a:srgbClr val="FFDBC5"/>
    <a:srgbClr val="E7E7E7"/>
    <a:srgbClr val="FF57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10"/>
  </p:normalViewPr>
  <p:slideViewPr>
    <p:cSldViewPr snapToGrid="0" snapToObjects="1">
      <p:cViewPr varScale="1">
        <p:scale>
          <a:sx n="32" d="100"/>
          <a:sy n="32" d="100"/>
        </p:scale>
        <p:origin x="53"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w="25400">
          <a:noFill/>
        </a:ln>
        <a:effectLst/>
        <a:sp3d/>
      </c:spPr>
    </c:floor>
    <c:sideWall>
      <c:thickness val="0"/>
      <c:spPr>
        <a:noFill/>
        <a:ln w="25400">
          <a:noFill/>
        </a:ln>
        <a:effectLst/>
        <a:sp3d/>
      </c:spPr>
    </c:sideWall>
    <c:backWall>
      <c:thickness val="0"/>
      <c:spPr>
        <a:noFill/>
        <a:ln w="25400">
          <a:noFill/>
        </a:ln>
        <a:effectLst/>
        <a:sp3d/>
      </c:spPr>
    </c:backWall>
    <c:plotArea>
      <c:layout/>
      <c:bar3DChart>
        <c:barDir val="col"/>
        <c:grouping val="clustered"/>
        <c:varyColors val="0"/>
        <c:ser>
          <c:idx val="0"/>
          <c:order val="0"/>
          <c:tx>
            <c:strRef>
              <c:f>Sheet1!$B$1</c:f>
              <c:strCache>
                <c:ptCount val="1"/>
                <c:pt idx="0">
                  <c:v>Series 1</c:v>
                </c:pt>
              </c:strCache>
            </c:strRef>
          </c:tx>
          <c:spPr>
            <a:gradFill flip="none" rotWithShape="1">
              <a:gsLst>
                <a:gs pos="0">
                  <a:srgbClr val="FFDBC5"/>
                </a:gs>
                <a:gs pos="100000">
                  <a:srgbClr val="FF6118"/>
                </a:gs>
                <a:gs pos="58000">
                  <a:srgbClr val="FFB089"/>
                </a:gs>
              </a:gsLst>
              <a:lin ang="16200000" scaled="1"/>
              <a:tileRect/>
            </a:gradFill>
            <a:ln>
              <a:noFill/>
            </a:ln>
            <a:effectLst/>
            <a:sp3d/>
          </c:spPr>
          <c:invertIfNegative val="0"/>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3</c:v>
                </c:pt>
                <c:pt idx="1">
                  <c:v>6</c:v>
                </c:pt>
                <c:pt idx="2">
                  <c:v>12</c:v>
                </c:pt>
                <c:pt idx="3">
                  <c:v>24</c:v>
                </c:pt>
                <c:pt idx="4">
                  <c:v>38</c:v>
                </c:pt>
              </c:numCache>
            </c:numRef>
          </c:val>
          <c:extLst>
            <c:ext xmlns:c16="http://schemas.microsoft.com/office/drawing/2014/chart" uri="{C3380CC4-5D6E-409C-BE32-E72D297353CC}">
              <c16:uniqueId val="{00000000-74DC-4792-8CD4-00181BC60C74}"/>
            </c:ext>
          </c:extLst>
        </c:ser>
        <c:dLbls>
          <c:showLegendKey val="0"/>
          <c:showVal val="0"/>
          <c:showCatName val="0"/>
          <c:showSerName val="0"/>
          <c:showPercent val="0"/>
          <c:showBubbleSize val="0"/>
        </c:dLbls>
        <c:gapWidth val="60"/>
        <c:gapDepth val="25"/>
        <c:shape val="box"/>
        <c:axId val="1867334607"/>
        <c:axId val="1867336271"/>
        <c:axId val="0"/>
      </c:bar3DChart>
      <c:catAx>
        <c:axId val="1867334607"/>
        <c:scaling>
          <c:orientation val="minMax"/>
        </c:scaling>
        <c:delete val="1"/>
        <c:axPos val="b"/>
        <c:numFmt formatCode="General" sourceLinked="1"/>
        <c:majorTickMark val="none"/>
        <c:minorTickMark val="none"/>
        <c:tickLblPos val="nextTo"/>
        <c:crossAx val="1867336271"/>
        <c:crosses val="autoZero"/>
        <c:auto val="1"/>
        <c:lblAlgn val="ctr"/>
        <c:lblOffset val="100"/>
        <c:noMultiLvlLbl val="0"/>
      </c:catAx>
      <c:valAx>
        <c:axId val="1867336271"/>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867334607"/>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FFFFFF"/>
            </a:solidFill>
            <a:ln>
              <a:noFill/>
            </a:ln>
          </c:spPr>
          <c:dPt>
            <c:idx val="0"/>
            <c:bubble3D val="0"/>
            <c:spPr>
              <a:solidFill>
                <a:srgbClr val="E7E7E7"/>
              </a:solidFill>
              <a:ln w="19050">
                <a:noFill/>
              </a:ln>
              <a:effectLst/>
            </c:spPr>
            <c:extLst>
              <c:ext xmlns:c16="http://schemas.microsoft.com/office/drawing/2014/chart" uri="{C3380CC4-5D6E-409C-BE32-E72D297353CC}">
                <c16:uniqueId val="{00000001-9009-4510-AC18-03645A23FCE8}"/>
              </c:ext>
            </c:extLst>
          </c:dPt>
          <c:dPt>
            <c:idx val="1"/>
            <c:bubble3D val="0"/>
            <c:spPr>
              <a:noFill/>
              <a:ln w="19050">
                <a:noFill/>
              </a:ln>
              <a:effectLst/>
            </c:spPr>
            <c:extLst>
              <c:ext xmlns:c16="http://schemas.microsoft.com/office/drawing/2014/chart" uri="{C3380CC4-5D6E-409C-BE32-E72D297353CC}">
                <c16:uniqueId val="{00000003-9009-4510-AC18-03645A23FCE8}"/>
              </c:ext>
            </c:extLst>
          </c:dPt>
          <c:cat>
            <c:strRef>
              <c:f>Sheet1!$A$2:$A$3</c:f>
              <c:strCache>
                <c:ptCount val="2"/>
                <c:pt idx="0">
                  <c:v>1st Qtr</c:v>
                </c:pt>
                <c:pt idx="1">
                  <c:v>2nd Qtr</c:v>
                </c:pt>
              </c:strCache>
            </c:strRef>
          </c:cat>
          <c:val>
            <c:numRef>
              <c:f>Sheet1!$B$2:$B$3</c:f>
              <c:numCache>
                <c:formatCode>0%</c:formatCode>
                <c:ptCount val="2"/>
                <c:pt idx="0">
                  <c:v>0.25</c:v>
                </c:pt>
                <c:pt idx="1">
                  <c:v>0.75</c:v>
                </c:pt>
              </c:numCache>
            </c:numRef>
          </c:val>
          <c:extLst>
            <c:ext xmlns:c16="http://schemas.microsoft.com/office/drawing/2014/chart" uri="{C3380CC4-5D6E-409C-BE32-E72D297353CC}">
              <c16:uniqueId val="{00000004-9009-4510-AC18-03645A23FCE8}"/>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a:noFill/>
            </a:ln>
          </c:spPr>
          <c:dPt>
            <c:idx val="0"/>
            <c:bubble3D val="0"/>
            <c:spPr>
              <a:noFill/>
              <a:ln w="19050">
                <a:noFill/>
              </a:ln>
              <a:effectLst/>
            </c:spPr>
            <c:extLst>
              <c:ext xmlns:c16="http://schemas.microsoft.com/office/drawing/2014/chart" uri="{C3380CC4-5D6E-409C-BE32-E72D297353CC}">
                <c16:uniqueId val="{00000003-72F2-4E27-A556-7AE7E36DCF9D}"/>
              </c:ext>
            </c:extLst>
          </c:dPt>
          <c:dPt>
            <c:idx val="1"/>
            <c:bubble3D val="0"/>
            <c:spPr>
              <a:gradFill flip="none" rotWithShape="1">
                <a:gsLst>
                  <a:gs pos="0">
                    <a:srgbClr val="FE8A3F"/>
                  </a:gs>
                  <a:gs pos="100000">
                    <a:srgbClr val="FF5102"/>
                  </a:gs>
                  <a:gs pos="58000">
                    <a:srgbClr val="FF5707"/>
                  </a:gs>
                </a:gsLst>
                <a:lin ang="0" scaled="1"/>
                <a:tileRect/>
              </a:gradFill>
              <a:ln w="19050">
                <a:noFill/>
              </a:ln>
              <a:effectLst/>
            </c:spPr>
            <c:extLst>
              <c:ext xmlns:c16="http://schemas.microsoft.com/office/drawing/2014/chart" uri="{C3380CC4-5D6E-409C-BE32-E72D297353CC}">
                <c16:uniqueId val="{00000002-72F2-4E27-A556-7AE7E36DCF9D}"/>
              </c:ext>
            </c:extLst>
          </c:dPt>
          <c:cat>
            <c:strRef>
              <c:f>Sheet1!$A$2:$A$3</c:f>
              <c:strCache>
                <c:ptCount val="2"/>
                <c:pt idx="0">
                  <c:v>1st Qtr</c:v>
                </c:pt>
                <c:pt idx="1">
                  <c:v>2nd Qtr</c:v>
                </c:pt>
              </c:strCache>
            </c:strRef>
          </c:cat>
          <c:val>
            <c:numRef>
              <c:f>Sheet1!$B$2:$B$3</c:f>
              <c:numCache>
                <c:formatCode>0%</c:formatCode>
                <c:ptCount val="2"/>
                <c:pt idx="0">
                  <c:v>0.25</c:v>
                </c:pt>
                <c:pt idx="1">
                  <c:v>0.75</c:v>
                </c:pt>
              </c:numCache>
            </c:numRef>
          </c:val>
          <c:extLst>
            <c:ext xmlns:c16="http://schemas.microsoft.com/office/drawing/2014/chart" uri="{C3380CC4-5D6E-409C-BE32-E72D297353CC}">
              <c16:uniqueId val="{00000000-72F2-4E27-A556-7AE7E36DCF9D}"/>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w="25400">
          <a:noFill/>
        </a:ln>
        <a:effectLst/>
        <a:sp3d/>
      </c:spPr>
    </c:floor>
    <c:sideWall>
      <c:thickness val="0"/>
      <c:spPr>
        <a:noFill/>
        <a:ln w="25400">
          <a:noFill/>
        </a:ln>
        <a:effectLst/>
        <a:sp3d/>
      </c:spPr>
    </c:sideWall>
    <c:backWall>
      <c:thickness val="0"/>
      <c:spPr>
        <a:noFill/>
        <a:ln w="25400">
          <a:noFill/>
        </a:ln>
        <a:effectLst/>
        <a:sp3d/>
      </c:spPr>
    </c:backWall>
    <c:plotArea>
      <c:layout/>
      <c:bar3DChart>
        <c:barDir val="col"/>
        <c:grouping val="clustered"/>
        <c:varyColors val="0"/>
        <c:ser>
          <c:idx val="0"/>
          <c:order val="0"/>
          <c:tx>
            <c:strRef>
              <c:f>Sheet1!$B$1</c:f>
              <c:strCache>
                <c:ptCount val="1"/>
                <c:pt idx="0">
                  <c:v>Series 1</c:v>
                </c:pt>
              </c:strCache>
            </c:strRef>
          </c:tx>
          <c:spPr>
            <a:gradFill flip="none" rotWithShape="1">
              <a:gsLst>
                <a:gs pos="0">
                  <a:srgbClr val="FFDBC5"/>
                </a:gs>
                <a:gs pos="100000">
                  <a:srgbClr val="FF6118"/>
                </a:gs>
                <a:gs pos="58000">
                  <a:srgbClr val="FFB089"/>
                </a:gs>
              </a:gsLst>
              <a:lin ang="16200000" scaled="1"/>
              <a:tileRect/>
            </a:gradFill>
            <a:ln>
              <a:noFill/>
            </a:ln>
            <a:effectLst/>
            <a:sp3d/>
          </c:spPr>
          <c:invertIfNegative val="0"/>
          <c:cat>
            <c:strRef>
              <c:f>Sheet1!$A$2:$A$3</c:f>
              <c:strCache>
                <c:ptCount val="2"/>
                <c:pt idx="0">
                  <c:v>Category 1</c:v>
                </c:pt>
                <c:pt idx="1">
                  <c:v>Category 2</c:v>
                </c:pt>
              </c:strCache>
            </c:strRef>
          </c:cat>
          <c:val>
            <c:numRef>
              <c:f>Sheet1!$B$2:$B$3</c:f>
              <c:numCache>
                <c:formatCode>General</c:formatCode>
                <c:ptCount val="2"/>
                <c:pt idx="0">
                  <c:v>24</c:v>
                </c:pt>
                <c:pt idx="1">
                  <c:v>38</c:v>
                </c:pt>
              </c:numCache>
            </c:numRef>
          </c:val>
          <c:extLst>
            <c:ext xmlns:c16="http://schemas.microsoft.com/office/drawing/2014/chart" uri="{C3380CC4-5D6E-409C-BE32-E72D297353CC}">
              <c16:uniqueId val="{00000000-96F6-4E38-B38A-F650B1FB654D}"/>
            </c:ext>
          </c:extLst>
        </c:ser>
        <c:dLbls>
          <c:showLegendKey val="0"/>
          <c:showVal val="0"/>
          <c:showCatName val="0"/>
          <c:showSerName val="0"/>
          <c:showPercent val="0"/>
          <c:showBubbleSize val="0"/>
        </c:dLbls>
        <c:gapWidth val="60"/>
        <c:gapDepth val="25"/>
        <c:shape val="box"/>
        <c:axId val="1867334607"/>
        <c:axId val="1867336271"/>
        <c:axId val="0"/>
      </c:bar3DChart>
      <c:catAx>
        <c:axId val="1867334607"/>
        <c:scaling>
          <c:orientation val="minMax"/>
        </c:scaling>
        <c:delete val="1"/>
        <c:axPos val="b"/>
        <c:numFmt formatCode="General" sourceLinked="1"/>
        <c:majorTickMark val="none"/>
        <c:minorTickMark val="none"/>
        <c:tickLblPos val="nextTo"/>
        <c:crossAx val="1867336271"/>
        <c:crosses val="autoZero"/>
        <c:auto val="1"/>
        <c:lblAlgn val="ctr"/>
        <c:lblOffset val="100"/>
        <c:noMultiLvlLbl val="0"/>
      </c:catAx>
      <c:valAx>
        <c:axId val="1867336271"/>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867334607"/>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rgbClr val="FF5102"/>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c:v>
                </c:pt>
                <c:pt idx="1">
                  <c:v>2</c:v>
                </c:pt>
                <c:pt idx="2">
                  <c:v>3</c:v>
                </c:pt>
                <c:pt idx="3">
                  <c:v>4</c:v>
                </c:pt>
              </c:numCache>
            </c:numRef>
          </c:val>
          <c:smooth val="0"/>
          <c:extLst>
            <c:ext xmlns:c16="http://schemas.microsoft.com/office/drawing/2014/chart" uri="{C3380CC4-5D6E-409C-BE32-E72D297353CC}">
              <c16:uniqueId val="{00000000-FFBA-43E6-B7E3-1A0F39E0479F}"/>
            </c:ext>
          </c:extLst>
        </c:ser>
        <c:ser>
          <c:idx val="1"/>
          <c:order val="1"/>
          <c:tx>
            <c:strRef>
              <c:f>Sheet1!$C$1</c:f>
              <c:strCache>
                <c:ptCount val="1"/>
                <c:pt idx="0">
                  <c:v>Series 2</c:v>
                </c:pt>
              </c:strCache>
            </c:strRef>
          </c:tx>
          <c:spPr>
            <a:ln w="28575" cap="rnd">
              <a:solidFill>
                <a:srgbClr val="FFB66D"/>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1</c:v>
                </c:pt>
                <c:pt idx="1">
                  <c:v>3</c:v>
                </c:pt>
                <c:pt idx="2">
                  <c:v>1.8</c:v>
                </c:pt>
                <c:pt idx="3">
                  <c:v>2</c:v>
                </c:pt>
              </c:numCache>
            </c:numRef>
          </c:val>
          <c:smooth val="0"/>
          <c:extLst>
            <c:ext xmlns:c16="http://schemas.microsoft.com/office/drawing/2014/chart" uri="{C3380CC4-5D6E-409C-BE32-E72D297353CC}">
              <c16:uniqueId val="{00000001-FFBA-43E6-B7E3-1A0F39E0479F}"/>
            </c:ext>
          </c:extLst>
        </c:ser>
        <c:dLbls>
          <c:showLegendKey val="0"/>
          <c:showVal val="0"/>
          <c:showCatName val="0"/>
          <c:showSerName val="0"/>
          <c:showPercent val="0"/>
          <c:showBubbleSize val="0"/>
        </c:dLbls>
        <c:smooth val="0"/>
        <c:axId val="1865308703"/>
        <c:axId val="2056236271"/>
      </c:lineChart>
      <c:catAx>
        <c:axId val="1865308703"/>
        <c:scaling>
          <c:orientation val="minMax"/>
        </c:scaling>
        <c:delete val="1"/>
        <c:axPos val="b"/>
        <c:numFmt formatCode="General" sourceLinked="1"/>
        <c:majorTickMark val="none"/>
        <c:minorTickMark val="none"/>
        <c:tickLblPos val="nextTo"/>
        <c:crossAx val="2056236271"/>
        <c:crosses val="autoZero"/>
        <c:auto val="1"/>
        <c:lblAlgn val="ctr"/>
        <c:lblOffset val="100"/>
        <c:noMultiLvlLbl val="0"/>
      </c:catAx>
      <c:valAx>
        <c:axId val="2056236271"/>
        <c:scaling>
          <c:orientation val="minMax"/>
        </c:scaling>
        <c:delete val="1"/>
        <c:axPos val="l"/>
        <c:numFmt formatCode="General" sourceLinked="1"/>
        <c:majorTickMark val="none"/>
        <c:minorTickMark val="none"/>
        <c:tickLblPos val="nextTo"/>
        <c:crossAx val="186530870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rgbClr val="FF5102"/>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c:v>
                </c:pt>
                <c:pt idx="1">
                  <c:v>2</c:v>
                </c:pt>
                <c:pt idx="2">
                  <c:v>3</c:v>
                </c:pt>
                <c:pt idx="3">
                  <c:v>4</c:v>
                </c:pt>
              </c:numCache>
            </c:numRef>
          </c:val>
          <c:smooth val="0"/>
          <c:extLst>
            <c:ext xmlns:c16="http://schemas.microsoft.com/office/drawing/2014/chart" uri="{C3380CC4-5D6E-409C-BE32-E72D297353CC}">
              <c16:uniqueId val="{00000000-6550-40BA-9B2F-D396A6894013}"/>
            </c:ext>
          </c:extLst>
        </c:ser>
        <c:ser>
          <c:idx val="1"/>
          <c:order val="1"/>
          <c:tx>
            <c:strRef>
              <c:f>Sheet1!$C$1</c:f>
              <c:strCache>
                <c:ptCount val="1"/>
                <c:pt idx="0">
                  <c:v>Series 2</c:v>
                </c:pt>
              </c:strCache>
            </c:strRef>
          </c:tx>
          <c:spPr>
            <a:ln w="28575" cap="rnd">
              <a:solidFill>
                <a:srgbClr val="FFB66D"/>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1</c:v>
                </c:pt>
                <c:pt idx="1">
                  <c:v>1.6</c:v>
                </c:pt>
                <c:pt idx="2">
                  <c:v>2</c:v>
                </c:pt>
                <c:pt idx="3">
                  <c:v>2.8</c:v>
                </c:pt>
              </c:numCache>
            </c:numRef>
          </c:val>
          <c:smooth val="0"/>
          <c:extLst>
            <c:ext xmlns:c16="http://schemas.microsoft.com/office/drawing/2014/chart" uri="{C3380CC4-5D6E-409C-BE32-E72D297353CC}">
              <c16:uniqueId val="{00000001-6550-40BA-9B2F-D396A6894013}"/>
            </c:ext>
          </c:extLst>
        </c:ser>
        <c:dLbls>
          <c:showLegendKey val="0"/>
          <c:showVal val="0"/>
          <c:showCatName val="0"/>
          <c:showSerName val="0"/>
          <c:showPercent val="0"/>
          <c:showBubbleSize val="0"/>
        </c:dLbls>
        <c:smooth val="0"/>
        <c:axId val="1865308703"/>
        <c:axId val="2056236271"/>
      </c:lineChart>
      <c:catAx>
        <c:axId val="1865308703"/>
        <c:scaling>
          <c:orientation val="minMax"/>
        </c:scaling>
        <c:delete val="1"/>
        <c:axPos val="b"/>
        <c:numFmt formatCode="General" sourceLinked="1"/>
        <c:majorTickMark val="none"/>
        <c:minorTickMark val="none"/>
        <c:tickLblPos val="nextTo"/>
        <c:crossAx val="2056236271"/>
        <c:crosses val="autoZero"/>
        <c:auto val="1"/>
        <c:lblAlgn val="ctr"/>
        <c:lblOffset val="100"/>
        <c:noMultiLvlLbl val="0"/>
      </c:catAx>
      <c:valAx>
        <c:axId val="2056236271"/>
        <c:scaling>
          <c:orientation val="minMax"/>
        </c:scaling>
        <c:delete val="1"/>
        <c:axPos val="l"/>
        <c:numFmt formatCode="General" sourceLinked="1"/>
        <c:majorTickMark val="none"/>
        <c:minorTickMark val="none"/>
        <c:tickLblPos val="nextTo"/>
        <c:crossAx val="186530870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w="25400">
          <a:noFill/>
        </a:ln>
        <a:effectLst/>
        <a:sp3d/>
      </c:spPr>
    </c:floor>
    <c:sideWall>
      <c:thickness val="0"/>
      <c:spPr>
        <a:noFill/>
        <a:ln w="25400">
          <a:noFill/>
        </a:ln>
        <a:effectLst/>
        <a:sp3d/>
      </c:spPr>
    </c:sideWall>
    <c:backWall>
      <c:thickness val="0"/>
      <c:spPr>
        <a:noFill/>
        <a:ln w="25400">
          <a:noFill/>
        </a:ln>
        <a:effectLst/>
        <a:sp3d/>
      </c:spPr>
    </c:backWall>
    <c:plotArea>
      <c:layout/>
      <c:bar3DChart>
        <c:barDir val="col"/>
        <c:grouping val="clustered"/>
        <c:varyColors val="0"/>
        <c:ser>
          <c:idx val="0"/>
          <c:order val="0"/>
          <c:tx>
            <c:strRef>
              <c:f>Sheet1!$B$1</c:f>
              <c:strCache>
                <c:ptCount val="1"/>
                <c:pt idx="0">
                  <c:v>Series 1</c:v>
                </c:pt>
              </c:strCache>
            </c:strRef>
          </c:tx>
          <c:spPr>
            <a:gradFill flip="none" rotWithShape="1">
              <a:gsLst>
                <a:gs pos="0">
                  <a:srgbClr val="FFDBC5"/>
                </a:gs>
                <a:gs pos="100000">
                  <a:srgbClr val="FF6118"/>
                </a:gs>
                <a:gs pos="58000">
                  <a:srgbClr val="FFB089"/>
                </a:gs>
              </a:gsLst>
              <a:lin ang="16200000" scaled="1"/>
              <a:tileRect/>
            </a:gradFill>
            <a:ln>
              <a:noFill/>
            </a:ln>
            <a:effectLst/>
            <a:sp3d/>
          </c:spPr>
          <c:invertIfNegative val="0"/>
          <c:cat>
            <c:strRef>
              <c:f>Sheet1!$A$2:$A$5</c:f>
              <c:strCache>
                <c:ptCount val="4"/>
                <c:pt idx="0">
                  <c:v>Category 1</c:v>
                </c:pt>
                <c:pt idx="1">
                  <c:v>Category 2</c:v>
                </c:pt>
                <c:pt idx="2">
                  <c:v>Category 3</c:v>
                </c:pt>
                <c:pt idx="3">
                  <c:v>Category 4</c:v>
                </c:pt>
              </c:strCache>
            </c:strRef>
          </c:cat>
          <c:val>
            <c:numRef>
              <c:f>Sheet1!$B$2:$B$5</c:f>
              <c:numCache>
                <c:formatCode>0%</c:formatCode>
                <c:ptCount val="4"/>
                <c:pt idx="0">
                  <c:v>7.0000000000000007E-2</c:v>
                </c:pt>
                <c:pt idx="1">
                  <c:v>0.03</c:v>
                </c:pt>
                <c:pt idx="2">
                  <c:v>0.11</c:v>
                </c:pt>
                <c:pt idx="3">
                  <c:v>0.05</c:v>
                </c:pt>
              </c:numCache>
            </c:numRef>
          </c:val>
          <c:extLst>
            <c:ext xmlns:c16="http://schemas.microsoft.com/office/drawing/2014/chart" uri="{C3380CC4-5D6E-409C-BE32-E72D297353CC}">
              <c16:uniqueId val="{00000000-0F85-45E0-8DDA-1CD7E91D122C}"/>
            </c:ext>
          </c:extLst>
        </c:ser>
        <c:dLbls>
          <c:showLegendKey val="0"/>
          <c:showVal val="0"/>
          <c:showCatName val="0"/>
          <c:showSerName val="0"/>
          <c:showPercent val="0"/>
          <c:showBubbleSize val="0"/>
        </c:dLbls>
        <c:gapWidth val="60"/>
        <c:gapDepth val="25"/>
        <c:shape val="box"/>
        <c:axId val="1867334607"/>
        <c:axId val="1867336271"/>
        <c:axId val="0"/>
      </c:bar3DChart>
      <c:catAx>
        <c:axId val="1867334607"/>
        <c:scaling>
          <c:orientation val="minMax"/>
        </c:scaling>
        <c:delete val="1"/>
        <c:axPos val="b"/>
        <c:numFmt formatCode="General" sourceLinked="1"/>
        <c:majorTickMark val="none"/>
        <c:minorTickMark val="none"/>
        <c:tickLblPos val="nextTo"/>
        <c:crossAx val="1867336271"/>
        <c:crosses val="autoZero"/>
        <c:auto val="1"/>
        <c:lblAlgn val="ctr"/>
        <c:lblOffset val="100"/>
        <c:noMultiLvlLbl val="0"/>
      </c:catAx>
      <c:valAx>
        <c:axId val="1867336271"/>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867334607"/>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Series 1</c:v>
                </c:pt>
              </c:strCache>
            </c:strRef>
          </c:tx>
          <c:spPr>
            <a:gradFill>
              <a:gsLst>
                <a:gs pos="0">
                  <a:srgbClr val="FFCBB4"/>
                </a:gs>
                <a:gs pos="100000">
                  <a:schemeClr val="bg1">
                    <a:alpha val="7000"/>
                  </a:schemeClr>
                </a:gs>
              </a:gsLst>
              <a:lin ang="5400000" scaled="1"/>
            </a:gradFill>
            <a:ln>
              <a:noFill/>
            </a:ln>
            <a:effectLst/>
          </c:spPr>
          <c:cat>
            <c:strRef>
              <c:f>Sheet1!$A$2:$A$6</c:f>
              <c:strCache>
                <c:ptCount val="5"/>
                <c:pt idx="0">
                  <c:v>A</c:v>
                </c:pt>
                <c:pt idx="1">
                  <c:v>B</c:v>
                </c:pt>
                <c:pt idx="2">
                  <c:v>C</c:v>
                </c:pt>
                <c:pt idx="3">
                  <c:v>D</c:v>
                </c:pt>
                <c:pt idx="4">
                  <c:v>E</c:v>
                </c:pt>
              </c:strCache>
            </c:strRef>
          </c:cat>
          <c:val>
            <c:numRef>
              <c:f>Sheet1!$B$2:$B$6</c:f>
              <c:numCache>
                <c:formatCode>General</c:formatCode>
                <c:ptCount val="5"/>
                <c:pt idx="0">
                  <c:v>0</c:v>
                </c:pt>
                <c:pt idx="1">
                  <c:v>10</c:v>
                </c:pt>
                <c:pt idx="2">
                  <c:v>10</c:v>
                </c:pt>
                <c:pt idx="3">
                  <c:v>20</c:v>
                </c:pt>
                <c:pt idx="4">
                  <c:v>20</c:v>
                </c:pt>
              </c:numCache>
            </c:numRef>
          </c:val>
          <c:extLst>
            <c:ext xmlns:c16="http://schemas.microsoft.com/office/drawing/2014/chart" uri="{C3380CC4-5D6E-409C-BE32-E72D297353CC}">
              <c16:uniqueId val="{00000000-1DA1-4356-B88B-CCFFE116FF4C}"/>
            </c:ext>
          </c:extLst>
        </c:ser>
        <c:dLbls>
          <c:showLegendKey val="0"/>
          <c:showVal val="0"/>
          <c:showCatName val="0"/>
          <c:showSerName val="0"/>
          <c:showPercent val="0"/>
          <c:showBubbleSize val="0"/>
        </c:dLbls>
        <c:axId val="906242383"/>
        <c:axId val="906242799"/>
      </c:areaChart>
      <c:catAx>
        <c:axId val="906242383"/>
        <c:scaling>
          <c:orientation val="minMax"/>
        </c:scaling>
        <c:delete val="1"/>
        <c:axPos val="b"/>
        <c:numFmt formatCode="General" sourceLinked="1"/>
        <c:majorTickMark val="out"/>
        <c:minorTickMark val="none"/>
        <c:tickLblPos val="nextTo"/>
        <c:crossAx val="906242799"/>
        <c:crosses val="autoZero"/>
        <c:auto val="1"/>
        <c:lblAlgn val="ctr"/>
        <c:lblOffset val="100"/>
        <c:noMultiLvlLbl val="0"/>
      </c:catAx>
      <c:valAx>
        <c:axId val="906242799"/>
        <c:scaling>
          <c:orientation val="minMax"/>
        </c:scaling>
        <c:delete val="1"/>
        <c:axPos val="l"/>
        <c:numFmt formatCode="General" sourceLinked="1"/>
        <c:majorTickMark val="none"/>
        <c:minorTickMark val="none"/>
        <c:tickLblPos val="nextTo"/>
        <c:crossAx val="906242383"/>
        <c:crosses val="autoZero"/>
        <c:crossBetween val="midCat"/>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005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C3991E7-4478-4706-B4ED-2F622339F256}"/>
              </a:ext>
            </a:extLst>
          </p:cNvPr>
          <p:cNvSpPr>
            <a:spLocks noGrp="1"/>
          </p:cNvSpPr>
          <p:nvPr>
            <p:ph type="pic" sz="quarter" idx="10"/>
          </p:nvPr>
        </p:nvSpPr>
        <p:spPr>
          <a:xfrm>
            <a:off x="2344738" y="3608388"/>
            <a:ext cx="3059112" cy="3059112"/>
          </a:xfrm>
          <a:prstGeom prst="rect">
            <a:avLst/>
          </a:prstGeom>
        </p:spPr>
        <p:txBody>
          <a:bodyPr/>
          <a:lstStyle/>
          <a:p>
            <a:endParaRPr lang="en-US"/>
          </a:p>
        </p:txBody>
      </p:sp>
      <p:sp>
        <p:nvSpPr>
          <p:cNvPr id="4" name="Picture Placeholder 2">
            <a:extLst>
              <a:ext uri="{FF2B5EF4-FFF2-40B4-BE49-F238E27FC236}">
                <a16:creationId xmlns:a16="http://schemas.microsoft.com/office/drawing/2014/main" id="{67A38C92-544D-4893-8F0B-DCBFC1FF8A51}"/>
              </a:ext>
            </a:extLst>
          </p:cNvPr>
          <p:cNvSpPr>
            <a:spLocks noGrp="1"/>
          </p:cNvSpPr>
          <p:nvPr>
            <p:ph type="pic" sz="quarter" idx="11"/>
          </p:nvPr>
        </p:nvSpPr>
        <p:spPr>
          <a:xfrm>
            <a:off x="5556250" y="3608388"/>
            <a:ext cx="3059112" cy="3059112"/>
          </a:xfrm>
          <a:prstGeom prst="rect">
            <a:avLst/>
          </a:prstGeom>
        </p:spPr>
        <p:txBody>
          <a:bodyPr/>
          <a:lstStyle/>
          <a:p>
            <a:endParaRPr lang="en-US"/>
          </a:p>
        </p:txBody>
      </p:sp>
      <p:sp>
        <p:nvSpPr>
          <p:cNvPr id="5" name="Picture Placeholder 2">
            <a:extLst>
              <a:ext uri="{FF2B5EF4-FFF2-40B4-BE49-F238E27FC236}">
                <a16:creationId xmlns:a16="http://schemas.microsoft.com/office/drawing/2014/main" id="{006D0371-C12F-4679-93C4-2511AD44E781}"/>
              </a:ext>
            </a:extLst>
          </p:cNvPr>
          <p:cNvSpPr>
            <a:spLocks noGrp="1"/>
          </p:cNvSpPr>
          <p:nvPr>
            <p:ph type="pic" sz="quarter" idx="12"/>
          </p:nvPr>
        </p:nvSpPr>
        <p:spPr>
          <a:xfrm>
            <a:off x="8767762" y="3608388"/>
            <a:ext cx="3059112" cy="3059112"/>
          </a:xfrm>
          <a:prstGeom prst="rect">
            <a:avLst/>
          </a:prstGeo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4.png"/><Relationship Id="rId39" Type="http://schemas.openxmlformats.org/officeDocument/2006/relationships/image" Target="../media/image37.svg"/><Relationship Id="rId21" Type="http://schemas.openxmlformats.org/officeDocument/2006/relationships/image" Target="../media/image19.png"/><Relationship Id="rId34" Type="http://schemas.openxmlformats.org/officeDocument/2006/relationships/image" Target="../media/image32.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svg"/><Relationship Id="rId33" Type="http://schemas.openxmlformats.org/officeDocument/2006/relationships/image" Target="../media/image31.svg"/><Relationship Id="rId38" Type="http://schemas.openxmlformats.org/officeDocument/2006/relationships/image" Target="../media/image36.pn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svg"/><Relationship Id="rId29"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30.svg"/><Relationship Id="rId37" Type="http://schemas.openxmlformats.org/officeDocument/2006/relationships/image" Target="../media/image35.sv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svg"/><Relationship Id="rId28" Type="http://schemas.openxmlformats.org/officeDocument/2006/relationships/image" Target="../media/image26.svg"/><Relationship Id="rId36" Type="http://schemas.openxmlformats.org/officeDocument/2006/relationships/image" Target="../media/image34.png"/><Relationship Id="rId10" Type="http://schemas.openxmlformats.org/officeDocument/2006/relationships/image" Target="../media/image8.svg"/><Relationship Id="rId19" Type="http://schemas.openxmlformats.org/officeDocument/2006/relationships/image" Target="../media/image17.png"/><Relationship Id="rId31" Type="http://schemas.openxmlformats.org/officeDocument/2006/relationships/image" Target="../media/image29.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5.svg"/><Relationship Id="rId30" Type="http://schemas.openxmlformats.org/officeDocument/2006/relationships/image" Target="../media/image28.svg"/><Relationship Id="rId35" Type="http://schemas.openxmlformats.org/officeDocument/2006/relationships/image" Target="../media/image33.svg"/><Relationship Id="rId8" Type="http://schemas.openxmlformats.org/officeDocument/2006/relationships/image" Target="../media/image6.svg"/><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48.png"/><Relationship Id="rId18" Type="http://schemas.openxmlformats.org/officeDocument/2006/relationships/image" Target="../media/image53.svg"/><Relationship Id="rId3" Type="http://schemas.openxmlformats.org/officeDocument/2006/relationships/image" Target="../media/image38.png"/><Relationship Id="rId21" Type="http://schemas.openxmlformats.org/officeDocument/2006/relationships/image" Target="../media/image56.png"/><Relationship Id="rId7" Type="http://schemas.openxmlformats.org/officeDocument/2006/relationships/image" Target="../media/image42.png"/><Relationship Id="rId12" Type="http://schemas.openxmlformats.org/officeDocument/2006/relationships/image" Target="../media/image47.svg"/><Relationship Id="rId17" Type="http://schemas.openxmlformats.org/officeDocument/2006/relationships/image" Target="../media/image52.png"/><Relationship Id="rId2" Type="http://schemas.openxmlformats.org/officeDocument/2006/relationships/notesSlide" Target="../notesSlides/notesSlide2.xml"/><Relationship Id="rId16" Type="http://schemas.openxmlformats.org/officeDocument/2006/relationships/image" Target="../media/image51.svg"/><Relationship Id="rId20" Type="http://schemas.openxmlformats.org/officeDocument/2006/relationships/image" Target="../media/image55.svg"/><Relationship Id="rId1" Type="http://schemas.openxmlformats.org/officeDocument/2006/relationships/slideLayout" Target="../slideLayouts/slideLayout1.xml"/><Relationship Id="rId6" Type="http://schemas.openxmlformats.org/officeDocument/2006/relationships/image" Target="../media/image41.sv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svg"/><Relationship Id="rId19" Type="http://schemas.openxmlformats.org/officeDocument/2006/relationships/image" Target="../media/image54.png"/><Relationship Id="rId4" Type="http://schemas.openxmlformats.org/officeDocument/2006/relationships/image" Target="../media/image39.svg"/><Relationship Id="rId9" Type="http://schemas.openxmlformats.org/officeDocument/2006/relationships/image" Target="../media/image44.png"/><Relationship Id="rId14" Type="http://schemas.openxmlformats.org/officeDocument/2006/relationships/image" Target="../media/image49.svg"/><Relationship Id="rId22" Type="http://schemas.openxmlformats.org/officeDocument/2006/relationships/image" Target="../media/image57.svg"/></Relationships>
</file>

<file path=ppt/slides/_rels/slide3.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media/image60.svg"/><Relationship Id="rId4" Type="http://schemas.openxmlformats.org/officeDocument/2006/relationships/image" Target="../media/image59.png"/></Relationships>
</file>

<file path=ppt/slides/_rels/slide4.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svg"/><Relationship Id="rId3" Type="http://schemas.openxmlformats.org/officeDocument/2006/relationships/image" Target="../media/image57.svg"/><Relationship Id="rId7" Type="http://schemas.openxmlformats.org/officeDocument/2006/relationships/image" Target="../media/image64.svg"/><Relationship Id="rId12" Type="http://schemas.openxmlformats.org/officeDocument/2006/relationships/image" Target="../media/image69.png"/><Relationship Id="rId2" Type="http://schemas.openxmlformats.org/officeDocument/2006/relationships/image" Target="../media/image58.png"/><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image" Target="../media/image68.svg"/><Relationship Id="rId5" Type="http://schemas.openxmlformats.org/officeDocument/2006/relationships/image" Target="../media/image62.svg"/><Relationship Id="rId15" Type="http://schemas.openxmlformats.org/officeDocument/2006/relationships/image" Target="../media/image72.sv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svg"/><Relationship Id="rId14" Type="http://schemas.openxmlformats.org/officeDocument/2006/relationships/image" Target="../media/image71.png"/></Relationships>
</file>

<file path=ppt/slides/_rels/slide5.xml.rels><?xml version="1.0" encoding="UTF-8" standalone="yes"?>
<Relationships xmlns="http://schemas.openxmlformats.org/package/2006/relationships"><Relationship Id="rId13" Type="http://schemas.openxmlformats.org/officeDocument/2006/relationships/image" Target="../media/image83.svg"/><Relationship Id="rId18" Type="http://schemas.openxmlformats.org/officeDocument/2006/relationships/image" Target="../media/image88.png"/><Relationship Id="rId26" Type="http://schemas.openxmlformats.org/officeDocument/2006/relationships/image" Target="../media/image96.png"/><Relationship Id="rId3" Type="http://schemas.openxmlformats.org/officeDocument/2006/relationships/image" Target="../media/image73.png"/><Relationship Id="rId21" Type="http://schemas.openxmlformats.org/officeDocument/2006/relationships/image" Target="../media/image91.svg"/><Relationship Id="rId7" Type="http://schemas.openxmlformats.org/officeDocument/2006/relationships/image" Target="../media/image77.svg"/><Relationship Id="rId12" Type="http://schemas.openxmlformats.org/officeDocument/2006/relationships/image" Target="../media/image82.png"/><Relationship Id="rId17" Type="http://schemas.openxmlformats.org/officeDocument/2006/relationships/image" Target="../media/image87.svg"/><Relationship Id="rId25" Type="http://schemas.openxmlformats.org/officeDocument/2006/relationships/image" Target="../media/image95.svg"/><Relationship Id="rId33" Type="http://schemas.openxmlformats.org/officeDocument/2006/relationships/image" Target="../media/image103.svg"/><Relationship Id="rId2" Type="http://schemas.openxmlformats.org/officeDocument/2006/relationships/notesSlide" Target="../notesSlides/notesSlide3.xml"/><Relationship Id="rId16" Type="http://schemas.openxmlformats.org/officeDocument/2006/relationships/image" Target="../media/image86.png"/><Relationship Id="rId20" Type="http://schemas.openxmlformats.org/officeDocument/2006/relationships/image" Target="../media/image90.png"/><Relationship Id="rId29" Type="http://schemas.openxmlformats.org/officeDocument/2006/relationships/image" Target="../media/image99.svg"/><Relationship Id="rId1" Type="http://schemas.openxmlformats.org/officeDocument/2006/relationships/slideLayout" Target="../slideLayouts/slideLayout1.xml"/><Relationship Id="rId6" Type="http://schemas.openxmlformats.org/officeDocument/2006/relationships/image" Target="../media/image76.svg"/><Relationship Id="rId11" Type="http://schemas.openxmlformats.org/officeDocument/2006/relationships/image" Target="../media/image81.svg"/><Relationship Id="rId24" Type="http://schemas.openxmlformats.org/officeDocument/2006/relationships/image" Target="../media/image94.png"/><Relationship Id="rId32" Type="http://schemas.openxmlformats.org/officeDocument/2006/relationships/image" Target="../media/image102.png"/><Relationship Id="rId5" Type="http://schemas.openxmlformats.org/officeDocument/2006/relationships/image" Target="../media/image75.svg"/><Relationship Id="rId15" Type="http://schemas.openxmlformats.org/officeDocument/2006/relationships/image" Target="../media/image85.svg"/><Relationship Id="rId23" Type="http://schemas.openxmlformats.org/officeDocument/2006/relationships/image" Target="../media/image93.svg"/><Relationship Id="rId28" Type="http://schemas.openxmlformats.org/officeDocument/2006/relationships/image" Target="../media/image98.png"/><Relationship Id="rId10" Type="http://schemas.openxmlformats.org/officeDocument/2006/relationships/image" Target="../media/image80.png"/><Relationship Id="rId19" Type="http://schemas.openxmlformats.org/officeDocument/2006/relationships/image" Target="../media/image89.svg"/><Relationship Id="rId31" Type="http://schemas.openxmlformats.org/officeDocument/2006/relationships/image" Target="../media/image101.svg"/><Relationship Id="rId4" Type="http://schemas.openxmlformats.org/officeDocument/2006/relationships/image" Target="../media/image74.svg"/><Relationship Id="rId9" Type="http://schemas.openxmlformats.org/officeDocument/2006/relationships/image" Target="../media/image79.svg"/><Relationship Id="rId14" Type="http://schemas.openxmlformats.org/officeDocument/2006/relationships/image" Target="../media/image84.png"/><Relationship Id="rId22" Type="http://schemas.openxmlformats.org/officeDocument/2006/relationships/image" Target="../media/image92.png"/><Relationship Id="rId27" Type="http://schemas.openxmlformats.org/officeDocument/2006/relationships/image" Target="../media/image97.svg"/><Relationship Id="rId30" Type="http://schemas.openxmlformats.org/officeDocument/2006/relationships/image" Target="../media/image100.png"/><Relationship Id="rId8" Type="http://schemas.openxmlformats.org/officeDocument/2006/relationships/image" Target="../media/image78.png"/></Relationships>
</file>

<file path=ppt/slides/_rels/slide6.xml.rels><?xml version="1.0" encoding="UTF-8" standalone="yes"?>
<Relationships xmlns="http://schemas.openxmlformats.org/package/2006/relationships"><Relationship Id="rId8" Type="http://schemas.openxmlformats.org/officeDocument/2006/relationships/image" Target="../media/image109.svg"/><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image" Target="../media/image113.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7.svg"/><Relationship Id="rId11" Type="http://schemas.openxmlformats.org/officeDocument/2006/relationships/image" Target="../media/image112.png"/><Relationship Id="rId5" Type="http://schemas.openxmlformats.org/officeDocument/2006/relationships/image" Target="../media/image106.svg"/><Relationship Id="rId10" Type="http://schemas.openxmlformats.org/officeDocument/2006/relationships/image" Target="../media/image111.svg"/><Relationship Id="rId4" Type="http://schemas.openxmlformats.org/officeDocument/2006/relationships/image" Target="../media/image105.svg"/><Relationship Id="rId9" Type="http://schemas.openxmlformats.org/officeDocument/2006/relationships/image" Target="../media/image110.sv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115.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4.png"/><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8" Type="http://schemas.openxmlformats.org/officeDocument/2006/relationships/image" Target="../media/image121.svg"/><Relationship Id="rId13" Type="http://schemas.openxmlformats.org/officeDocument/2006/relationships/image" Target="../media/image126.png"/><Relationship Id="rId18" Type="http://schemas.openxmlformats.org/officeDocument/2006/relationships/image" Target="../media/image129.svg"/><Relationship Id="rId3" Type="http://schemas.openxmlformats.org/officeDocument/2006/relationships/image" Target="../media/image116.png"/><Relationship Id="rId21" Type="http://schemas.openxmlformats.org/officeDocument/2006/relationships/image" Target="../media/image132.png"/><Relationship Id="rId7" Type="http://schemas.openxmlformats.org/officeDocument/2006/relationships/image" Target="../media/image120.png"/><Relationship Id="rId12" Type="http://schemas.openxmlformats.org/officeDocument/2006/relationships/image" Target="../media/image125.svg"/><Relationship Id="rId17" Type="http://schemas.openxmlformats.org/officeDocument/2006/relationships/image" Target="../media/image128.png"/><Relationship Id="rId2" Type="http://schemas.openxmlformats.org/officeDocument/2006/relationships/notesSlide" Target="../notesSlides/notesSlide6.xml"/><Relationship Id="rId16" Type="http://schemas.openxmlformats.org/officeDocument/2006/relationships/image" Target="../media/image57.svg"/><Relationship Id="rId20" Type="http://schemas.openxmlformats.org/officeDocument/2006/relationships/image" Target="../media/image131.svg"/><Relationship Id="rId1" Type="http://schemas.openxmlformats.org/officeDocument/2006/relationships/slideLayout" Target="../slideLayouts/slideLayout1.xml"/><Relationship Id="rId6" Type="http://schemas.openxmlformats.org/officeDocument/2006/relationships/image" Target="../media/image119.svg"/><Relationship Id="rId11" Type="http://schemas.openxmlformats.org/officeDocument/2006/relationships/image" Target="../media/image124.png"/><Relationship Id="rId24" Type="http://schemas.openxmlformats.org/officeDocument/2006/relationships/image" Target="../media/image135.svg"/><Relationship Id="rId5" Type="http://schemas.openxmlformats.org/officeDocument/2006/relationships/image" Target="../media/image118.png"/><Relationship Id="rId15" Type="http://schemas.openxmlformats.org/officeDocument/2006/relationships/image" Target="../media/image56.png"/><Relationship Id="rId23" Type="http://schemas.openxmlformats.org/officeDocument/2006/relationships/image" Target="../media/image134.png"/><Relationship Id="rId10" Type="http://schemas.openxmlformats.org/officeDocument/2006/relationships/image" Target="../media/image123.svg"/><Relationship Id="rId19" Type="http://schemas.openxmlformats.org/officeDocument/2006/relationships/image" Target="../media/image130.png"/><Relationship Id="rId4" Type="http://schemas.openxmlformats.org/officeDocument/2006/relationships/image" Target="../media/image117.svg"/><Relationship Id="rId9" Type="http://schemas.openxmlformats.org/officeDocument/2006/relationships/image" Target="../media/image122.png"/><Relationship Id="rId14" Type="http://schemas.openxmlformats.org/officeDocument/2006/relationships/image" Target="../media/image127.svg"/><Relationship Id="rId22" Type="http://schemas.openxmlformats.org/officeDocument/2006/relationships/image" Target="../media/image133.svg"/></Relationships>
</file>

<file path=ppt/slides/_rels/slide9.xml.rels><?xml version="1.0" encoding="UTF-8" standalone="yes"?>
<Relationships xmlns="http://schemas.openxmlformats.org/package/2006/relationships"><Relationship Id="rId8" Type="http://schemas.openxmlformats.org/officeDocument/2006/relationships/image" Target="../media/image141.svg"/><Relationship Id="rId13" Type="http://schemas.openxmlformats.org/officeDocument/2006/relationships/image" Target="../media/image146.svg"/><Relationship Id="rId18" Type="http://schemas.openxmlformats.org/officeDocument/2006/relationships/image" Target="../media/image151.svg"/><Relationship Id="rId26" Type="http://schemas.openxmlformats.org/officeDocument/2006/relationships/image" Target="../media/image159.svg"/><Relationship Id="rId3" Type="http://schemas.openxmlformats.org/officeDocument/2006/relationships/image" Target="../media/image136.png"/><Relationship Id="rId21" Type="http://schemas.openxmlformats.org/officeDocument/2006/relationships/image" Target="../media/image154.png"/><Relationship Id="rId7" Type="http://schemas.openxmlformats.org/officeDocument/2006/relationships/image" Target="../media/image140.png"/><Relationship Id="rId12" Type="http://schemas.openxmlformats.org/officeDocument/2006/relationships/image" Target="../media/image145.svg"/><Relationship Id="rId17" Type="http://schemas.openxmlformats.org/officeDocument/2006/relationships/image" Target="../media/image150.png"/><Relationship Id="rId25" Type="http://schemas.openxmlformats.org/officeDocument/2006/relationships/image" Target="../media/image158.svg"/><Relationship Id="rId2" Type="http://schemas.openxmlformats.org/officeDocument/2006/relationships/notesSlide" Target="../notesSlides/notesSlide7.xml"/><Relationship Id="rId16" Type="http://schemas.openxmlformats.org/officeDocument/2006/relationships/image" Target="../media/image149.svg"/><Relationship Id="rId20" Type="http://schemas.openxmlformats.org/officeDocument/2006/relationships/image" Target="../media/image153.svg"/><Relationship Id="rId29" Type="http://schemas.openxmlformats.org/officeDocument/2006/relationships/image" Target="../media/image162.svg"/><Relationship Id="rId1" Type="http://schemas.openxmlformats.org/officeDocument/2006/relationships/slideLayout" Target="../slideLayouts/slideLayout1.xml"/><Relationship Id="rId6" Type="http://schemas.openxmlformats.org/officeDocument/2006/relationships/image" Target="../media/image139.svg"/><Relationship Id="rId11" Type="http://schemas.openxmlformats.org/officeDocument/2006/relationships/image" Target="../media/image144.svg"/><Relationship Id="rId24" Type="http://schemas.openxmlformats.org/officeDocument/2006/relationships/image" Target="../media/image157.svg"/><Relationship Id="rId5" Type="http://schemas.openxmlformats.org/officeDocument/2006/relationships/image" Target="../media/image138.png"/><Relationship Id="rId15" Type="http://schemas.openxmlformats.org/officeDocument/2006/relationships/image" Target="../media/image148.svg"/><Relationship Id="rId23" Type="http://schemas.openxmlformats.org/officeDocument/2006/relationships/image" Target="../media/image156.svg"/><Relationship Id="rId28" Type="http://schemas.openxmlformats.org/officeDocument/2006/relationships/image" Target="../media/image161.png"/><Relationship Id="rId10" Type="http://schemas.openxmlformats.org/officeDocument/2006/relationships/image" Target="../media/image143.svg"/><Relationship Id="rId19" Type="http://schemas.openxmlformats.org/officeDocument/2006/relationships/image" Target="../media/image152.png"/><Relationship Id="rId31" Type="http://schemas.openxmlformats.org/officeDocument/2006/relationships/image" Target="../media/image164.svg"/><Relationship Id="rId4" Type="http://schemas.openxmlformats.org/officeDocument/2006/relationships/image" Target="../media/image137.svg"/><Relationship Id="rId9" Type="http://schemas.openxmlformats.org/officeDocument/2006/relationships/image" Target="../media/image142.png"/><Relationship Id="rId14" Type="http://schemas.openxmlformats.org/officeDocument/2006/relationships/image" Target="../media/image147.svg"/><Relationship Id="rId22" Type="http://schemas.openxmlformats.org/officeDocument/2006/relationships/image" Target="../media/image155.svg"/><Relationship Id="rId27" Type="http://schemas.openxmlformats.org/officeDocument/2006/relationships/image" Target="../media/image160.svg"/><Relationship Id="rId30" Type="http://schemas.openxmlformats.org/officeDocument/2006/relationships/image" Target="../media/image163.png"/></Relationships>
</file>

<file path=ppt/slides/_rels/slide10.xml.rels><?xml version="1.0" encoding="UTF-8" standalone="yes"?>
<Relationships xmlns="http://schemas.openxmlformats.org/package/2006/relationships"><Relationship Id="rId8" Type="http://schemas.openxmlformats.org/officeDocument/2006/relationships/image" Target="../media/image169.svg"/><Relationship Id="rId13" Type="http://schemas.openxmlformats.org/officeDocument/2006/relationships/image" Target="../media/image126.png"/><Relationship Id="rId18" Type="http://schemas.openxmlformats.org/officeDocument/2006/relationships/image" Target="../media/image175.svg"/><Relationship Id="rId3" Type="http://schemas.openxmlformats.org/officeDocument/2006/relationships/image" Target="../media/image165.png"/><Relationship Id="rId7" Type="http://schemas.openxmlformats.org/officeDocument/2006/relationships/image" Target="../media/image168.png"/><Relationship Id="rId12" Type="http://schemas.openxmlformats.org/officeDocument/2006/relationships/image" Target="../media/image171.svg"/><Relationship Id="rId17" Type="http://schemas.openxmlformats.org/officeDocument/2006/relationships/image" Target="../media/image174.svg"/><Relationship Id="rId2" Type="http://schemas.openxmlformats.org/officeDocument/2006/relationships/notesSlide" Target="../notesSlides/notesSlide8.xml"/><Relationship Id="rId16" Type="http://schemas.openxmlformats.org/officeDocument/2006/relationships/image" Target="../media/image173.svg"/><Relationship Id="rId20" Type="http://schemas.openxmlformats.org/officeDocument/2006/relationships/image" Target="../media/image57.svg"/><Relationship Id="rId1" Type="http://schemas.openxmlformats.org/officeDocument/2006/relationships/slideLayout" Target="../slideLayouts/slideLayout1.xml"/><Relationship Id="rId6" Type="http://schemas.openxmlformats.org/officeDocument/2006/relationships/image" Target="../media/image167.svg"/><Relationship Id="rId11" Type="http://schemas.openxmlformats.org/officeDocument/2006/relationships/image" Target="../media/image170.png"/><Relationship Id="rId5" Type="http://schemas.openxmlformats.org/officeDocument/2006/relationships/image" Target="../media/image118.png"/><Relationship Id="rId15" Type="http://schemas.openxmlformats.org/officeDocument/2006/relationships/image" Target="../media/image108.png"/><Relationship Id="rId10" Type="http://schemas.openxmlformats.org/officeDocument/2006/relationships/image" Target="../media/image123.svg"/><Relationship Id="rId19" Type="http://schemas.openxmlformats.org/officeDocument/2006/relationships/image" Target="../media/image56.png"/><Relationship Id="rId4" Type="http://schemas.openxmlformats.org/officeDocument/2006/relationships/image" Target="../media/image166.svg"/><Relationship Id="rId9" Type="http://schemas.openxmlformats.org/officeDocument/2006/relationships/image" Target="../media/image122.png"/><Relationship Id="rId14" Type="http://schemas.openxmlformats.org/officeDocument/2006/relationships/image" Target="../media/image172.svg"/></Relationships>
</file>

<file path=ppt/slides/_rels/slide11.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7.svg"/></Relationships>
</file>

<file path=ppt/slides/_rels/slide12.xml.rels><?xml version="1.0" encoding="UTF-8" standalone="yes"?>
<Relationships xmlns="http://schemas.openxmlformats.org/package/2006/relationships"><Relationship Id="rId13" Type="http://schemas.openxmlformats.org/officeDocument/2006/relationships/image" Target="../media/image188.png"/><Relationship Id="rId18" Type="http://schemas.openxmlformats.org/officeDocument/2006/relationships/image" Target="../media/image193.svg"/><Relationship Id="rId26" Type="http://schemas.openxmlformats.org/officeDocument/2006/relationships/image" Target="../media/image201.svg"/><Relationship Id="rId3" Type="http://schemas.openxmlformats.org/officeDocument/2006/relationships/image" Target="../media/image178.png"/><Relationship Id="rId21" Type="http://schemas.openxmlformats.org/officeDocument/2006/relationships/image" Target="../media/image196.png"/><Relationship Id="rId34" Type="http://schemas.openxmlformats.org/officeDocument/2006/relationships/image" Target="../media/image209.svg"/><Relationship Id="rId7" Type="http://schemas.openxmlformats.org/officeDocument/2006/relationships/image" Target="../media/image182.png"/><Relationship Id="rId12" Type="http://schemas.openxmlformats.org/officeDocument/2006/relationships/image" Target="../media/image187.svg"/><Relationship Id="rId17" Type="http://schemas.openxmlformats.org/officeDocument/2006/relationships/image" Target="../media/image192.png"/><Relationship Id="rId25" Type="http://schemas.openxmlformats.org/officeDocument/2006/relationships/image" Target="../media/image200.png"/><Relationship Id="rId33" Type="http://schemas.openxmlformats.org/officeDocument/2006/relationships/image" Target="../media/image208.png"/><Relationship Id="rId2" Type="http://schemas.openxmlformats.org/officeDocument/2006/relationships/notesSlide" Target="../notesSlides/notesSlide10.xml"/><Relationship Id="rId16" Type="http://schemas.openxmlformats.org/officeDocument/2006/relationships/image" Target="../media/image191.svg"/><Relationship Id="rId20" Type="http://schemas.openxmlformats.org/officeDocument/2006/relationships/image" Target="../media/image195.svg"/><Relationship Id="rId29" Type="http://schemas.openxmlformats.org/officeDocument/2006/relationships/image" Target="../media/image204.png"/><Relationship Id="rId1" Type="http://schemas.openxmlformats.org/officeDocument/2006/relationships/slideLayout" Target="../slideLayouts/slideLayout1.xml"/><Relationship Id="rId6" Type="http://schemas.openxmlformats.org/officeDocument/2006/relationships/image" Target="../media/image181.svg"/><Relationship Id="rId11" Type="http://schemas.openxmlformats.org/officeDocument/2006/relationships/image" Target="../media/image186.png"/><Relationship Id="rId24" Type="http://schemas.openxmlformats.org/officeDocument/2006/relationships/image" Target="../media/image199.svg"/><Relationship Id="rId32" Type="http://schemas.openxmlformats.org/officeDocument/2006/relationships/image" Target="../media/image207.svg"/><Relationship Id="rId5" Type="http://schemas.openxmlformats.org/officeDocument/2006/relationships/image" Target="../media/image180.png"/><Relationship Id="rId15" Type="http://schemas.openxmlformats.org/officeDocument/2006/relationships/image" Target="../media/image190.png"/><Relationship Id="rId23" Type="http://schemas.openxmlformats.org/officeDocument/2006/relationships/image" Target="../media/image198.png"/><Relationship Id="rId28" Type="http://schemas.openxmlformats.org/officeDocument/2006/relationships/image" Target="../media/image203.svg"/><Relationship Id="rId10" Type="http://schemas.openxmlformats.org/officeDocument/2006/relationships/image" Target="../media/image185.svg"/><Relationship Id="rId19" Type="http://schemas.openxmlformats.org/officeDocument/2006/relationships/image" Target="../media/image194.png"/><Relationship Id="rId31" Type="http://schemas.openxmlformats.org/officeDocument/2006/relationships/image" Target="../media/image206.png"/><Relationship Id="rId4" Type="http://schemas.openxmlformats.org/officeDocument/2006/relationships/image" Target="../media/image179.svg"/><Relationship Id="rId9" Type="http://schemas.openxmlformats.org/officeDocument/2006/relationships/image" Target="../media/image184.png"/><Relationship Id="rId14" Type="http://schemas.openxmlformats.org/officeDocument/2006/relationships/image" Target="../media/image189.svg"/><Relationship Id="rId22" Type="http://schemas.openxmlformats.org/officeDocument/2006/relationships/image" Target="../media/image197.svg"/><Relationship Id="rId27" Type="http://schemas.openxmlformats.org/officeDocument/2006/relationships/image" Target="../media/image202.png"/><Relationship Id="rId30" Type="http://schemas.openxmlformats.org/officeDocument/2006/relationships/image" Target="../media/image205.svg"/><Relationship Id="rId8" Type="http://schemas.openxmlformats.org/officeDocument/2006/relationships/image" Target="../media/image183.svg"/></Relationships>
</file>

<file path=ppt/slides/_rels/slide13.xml.rels><?xml version="1.0" encoding="UTF-8" standalone="yes"?>
<Relationships xmlns="http://schemas.openxmlformats.org/package/2006/relationships"><Relationship Id="rId8" Type="http://schemas.openxmlformats.org/officeDocument/2006/relationships/image" Target="../media/image213.svg"/><Relationship Id="rId13" Type="http://schemas.openxmlformats.org/officeDocument/2006/relationships/image" Target="../media/image216.png"/><Relationship Id="rId18" Type="http://schemas.openxmlformats.org/officeDocument/2006/relationships/image" Target="../media/image221.svg"/><Relationship Id="rId3" Type="http://schemas.openxmlformats.org/officeDocument/2006/relationships/chart" Target="../charts/chart4.xml"/><Relationship Id="rId21" Type="http://schemas.openxmlformats.org/officeDocument/2006/relationships/image" Target="../media/image224.png"/><Relationship Id="rId7" Type="http://schemas.openxmlformats.org/officeDocument/2006/relationships/image" Target="../media/image212.png"/><Relationship Id="rId12" Type="http://schemas.openxmlformats.org/officeDocument/2006/relationships/image" Target="../media/image81.svg"/><Relationship Id="rId17" Type="http://schemas.openxmlformats.org/officeDocument/2006/relationships/image" Target="../media/image220.png"/><Relationship Id="rId2" Type="http://schemas.openxmlformats.org/officeDocument/2006/relationships/notesSlide" Target="../notesSlides/notesSlide11.xml"/><Relationship Id="rId16" Type="http://schemas.openxmlformats.org/officeDocument/2006/relationships/image" Target="../media/image219.svg"/><Relationship Id="rId20" Type="http://schemas.openxmlformats.org/officeDocument/2006/relationships/image" Target="../media/image223.svg"/><Relationship Id="rId1" Type="http://schemas.openxmlformats.org/officeDocument/2006/relationships/slideLayout" Target="../slideLayouts/slideLayout1.xml"/><Relationship Id="rId6" Type="http://schemas.openxmlformats.org/officeDocument/2006/relationships/image" Target="../media/image211.svg"/><Relationship Id="rId11" Type="http://schemas.openxmlformats.org/officeDocument/2006/relationships/image" Target="../media/image80.png"/><Relationship Id="rId5" Type="http://schemas.openxmlformats.org/officeDocument/2006/relationships/image" Target="../media/image210.png"/><Relationship Id="rId15" Type="http://schemas.openxmlformats.org/officeDocument/2006/relationships/image" Target="../media/image218.png"/><Relationship Id="rId10" Type="http://schemas.openxmlformats.org/officeDocument/2006/relationships/image" Target="../media/image215.svg"/><Relationship Id="rId19" Type="http://schemas.openxmlformats.org/officeDocument/2006/relationships/image" Target="../media/image222.png"/><Relationship Id="rId4" Type="http://schemas.openxmlformats.org/officeDocument/2006/relationships/chart" Target="../charts/chart5.xml"/><Relationship Id="rId9" Type="http://schemas.openxmlformats.org/officeDocument/2006/relationships/image" Target="../media/image214.png"/><Relationship Id="rId14" Type="http://schemas.openxmlformats.org/officeDocument/2006/relationships/image" Target="../media/image217.svg"/><Relationship Id="rId22" Type="http://schemas.openxmlformats.org/officeDocument/2006/relationships/image" Target="../media/image225.svg"/></Relationships>
</file>

<file path=ppt/slides/_rels/slide14.xml.rels><?xml version="1.0" encoding="UTF-8" standalone="yes"?>
<Relationships xmlns="http://schemas.openxmlformats.org/package/2006/relationships"><Relationship Id="rId8" Type="http://schemas.openxmlformats.org/officeDocument/2006/relationships/image" Target="../media/image229.svg"/><Relationship Id="rId3" Type="http://schemas.openxmlformats.org/officeDocument/2006/relationships/image" Target="../media/image56.png"/><Relationship Id="rId7" Type="http://schemas.openxmlformats.org/officeDocument/2006/relationships/image" Target="../media/image228.png"/><Relationship Id="rId12" Type="http://schemas.openxmlformats.org/officeDocument/2006/relationships/image" Target="../media/image233.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7.svg"/><Relationship Id="rId11" Type="http://schemas.openxmlformats.org/officeDocument/2006/relationships/image" Target="../media/image232.png"/><Relationship Id="rId5" Type="http://schemas.openxmlformats.org/officeDocument/2006/relationships/image" Target="../media/image226.png"/><Relationship Id="rId10" Type="http://schemas.openxmlformats.org/officeDocument/2006/relationships/image" Target="../media/image231.svg"/><Relationship Id="rId4" Type="http://schemas.openxmlformats.org/officeDocument/2006/relationships/image" Target="../media/image57.svg"/><Relationship Id="rId9" Type="http://schemas.openxmlformats.org/officeDocument/2006/relationships/image" Target="../media/image230.png"/></Relationships>
</file>

<file path=ppt/slides/_rels/slide15.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234.png"/><Relationship Id="rId7" Type="http://schemas.openxmlformats.org/officeDocument/2006/relationships/chart" Target="../charts/chart6.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7.svg"/><Relationship Id="rId5" Type="http://schemas.openxmlformats.org/officeDocument/2006/relationships/image" Target="../media/image236.png"/><Relationship Id="rId4" Type="http://schemas.openxmlformats.org/officeDocument/2006/relationships/image" Target="../media/image235.svg"/><Relationship Id="rId9" Type="http://schemas.openxmlformats.org/officeDocument/2006/relationships/image" Target="../media/image57.svg"/></Relationships>
</file>

<file path=ppt/slides/_rels/slide16.xml.rels><?xml version="1.0" encoding="UTF-8" standalone="yes"?>
<Relationships xmlns="http://schemas.openxmlformats.org/package/2006/relationships"><Relationship Id="rId26" Type="http://schemas.openxmlformats.org/officeDocument/2006/relationships/image" Target="../media/image250.svg"/><Relationship Id="rId21" Type="http://schemas.openxmlformats.org/officeDocument/2006/relationships/image" Target="../media/image86.png"/><Relationship Id="rId42" Type="http://schemas.openxmlformats.org/officeDocument/2006/relationships/image" Target="../media/image266.svg"/><Relationship Id="rId47" Type="http://schemas.openxmlformats.org/officeDocument/2006/relationships/image" Target="../media/image271.svg"/><Relationship Id="rId63" Type="http://schemas.openxmlformats.org/officeDocument/2006/relationships/image" Target="../media/image287.png"/><Relationship Id="rId68" Type="http://schemas.openxmlformats.org/officeDocument/2006/relationships/image" Target="../media/image292.svg"/><Relationship Id="rId16" Type="http://schemas.openxmlformats.org/officeDocument/2006/relationships/image" Target="../media/image81.svg"/><Relationship Id="rId11" Type="http://schemas.openxmlformats.org/officeDocument/2006/relationships/image" Target="../media/image245.svg"/><Relationship Id="rId32" Type="http://schemas.openxmlformats.org/officeDocument/2006/relationships/image" Target="../media/image256.svg"/><Relationship Id="rId37" Type="http://schemas.openxmlformats.org/officeDocument/2006/relationships/image" Target="../media/image261.svg"/><Relationship Id="rId53" Type="http://schemas.openxmlformats.org/officeDocument/2006/relationships/image" Target="../media/image277.svg"/><Relationship Id="rId58" Type="http://schemas.openxmlformats.org/officeDocument/2006/relationships/image" Target="../media/image282.svg"/><Relationship Id="rId74" Type="http://schemas.openxmlformats.org/officeDocument/2006/relationships/image" Target="../media/image298.svg"/><Relationship Id="rId79" Type="http://schemas.openxmlformats.org/officeDocument/2006/relationships/image" Target="../media/image303.svg"/><Relationship Id="rId5" Type="http://schemas.openxmlformats.org/officeDocument/2006/relationships/image" Target="../media/image73.png"/><Relationship Id="rId61" Type="http://schemas.openxmlformats.org/officeDocument/2006/relationships/image" Target="../media/image285.svg"/><Relationship Id="rId82" Type="http://schemas.openxmlformats.org/officeDocument/2006/relationships/image" Target="../media/image306.svg"/><Relationship Id="rId19" Type="http://schemas.openxmlformats.org/officeDocument/2006/relationships/image" Target="../media/image84.png"/><Relationship Id="rId14" Type="http://schemas.openxmlformats.org/officeDocument/2006/relationships/image" Target="../media/image247.svg"/><Relationship Id="rId22" Type="http://schemas.openxmlformats.org/officeDocument/2006/relationships/image" Target="../media/image87.svg"/><Relationship Id="rId27" Type="http://schemas.openxmlformats.org/officeDocument/2006/relationships/image" Target="../media/image251.png"/><Relationship Id="rId30" Type="http://schemas.openxmlformats.org/officeDocument/2006/relationships/image" Target="../media/image254.svg"/><Relationship Id="rId35" Type="http://schemas.openxmlformats.org/officeDocument/2006/relationships/image" Target="../media/image259.svg"/><Relationship Id="rId43" Type="http://schemas.openxmlformats.org/officeDocument/2006/relationships/image" Target="../media/image267.svg"/><Relationship Id="rId48" Type="http://schemas.openxmlformats.org/officeDocument/2006/relationships/image" Target="../media/image272.svg"/><Relationship Id="rId56" Type="http://schemas.openxmlformats.org/officeDocument/2006/relationships/image" Target="../media/image280.svg"/><Relationship Id="rId64" Type="http://schemas.openxmlformats.org/officeDocument/2006/relationships/image" Target="../media/image288.svg"/><Relationship Id="rId69" Type="http://schemas.openxmlformats.org/officeDocument/2006/relationships/image" Target="../media/image293.svg"/><Relationship Id="rId77" Type="http://schemas.openxmlformats.org/officeDocument/2006/relationships/image" Target="../media/image301.svg"/><Relationship Id="rId8" Type="http://schemas.openxmlformats.org/officeDocument/2006/relationships/image" Target="../media/image242.svg"/><Relationship Id="rId51" Type="http://schemas.openxmlformats.org/officeDocument/2006/relationships/image" Target="../media/image275.svg"/><Relationship Id="rId72" Type="http://schemas.openxmlformats.org/officeDocument/2006/relationships/image" Target="../media/image296.svg"/><Relationship Id="rId80" Type="http://schemas.openxmlformats.org/officeDocument/2006/relationships/image" Target="../media/image304.svg"/><Relationship Id="rId3" Type="http://schemas.openxmlformats.org/officeDocument/2006/relationships/image" Target="../media/image238.png"/><Relationship Id="rId12" Type="http://schemas.openxmlformats.org/officeDocument/2006/relationships/image" Target="../media/image246.svg"/><Relationship Id="rId17" Type="http://schemas.openxmlformats.org/officeDocument/2006/relationships/image" Target="../media/image216.png"/><Relationship Id="rId25" Type="http://schemas.openxmlformats.org/officeDocument/2006/relationships/image" Target="../media/image249.png"/><Relationship Id="rId33" Type="http://schemas.openxmlformats.org/officeDocument/2006/relationships/image" Target="../media/image257.svg"/><Relationship Id="rId38" Type="http://schemas.openxmlformats.org/officeDocument/2006/relationships/image" Target="../media/image262.svg"/><Relationship Id="rId46" Type="http://schemas.openxmlformats.org/officeDocument/2006/relationships/image" Target="../media/image270.svg"/><Relationship Id="rId59" Type="http://schemas.openxmlformats.org/officeDocument/2006/relationships/image" Target="../media/image283.svg"/><Relationship Id="rId67" Type="http://schemas.openxmlformats.org/officeDocument/2006/relationships/image" Target="../media/image291.svg"/><Relationship Id="rId20" Type="http://schemas.openxmlformats.org/officeDocument/2006/relationships/image" Target="../media/image248.svg"/><Relationship Id="rId41" Type="http://schemas.openxmlformats.org/officeDocument/2006/relationships/image" Target="../media/image265.svg"/><Relationship Id="rId54" Type="http://schemas.openxmlformats.org/officeDocument/2006/relationships/image" Target="../media/image278.svg"/><Relationship Id="rId62" Type="http://schemas.openxmlformats.org/officeDocument/2006/relationships/image" Target="../media/image286.svg"/><Relationship Id="rId70" Type="http://schemas.openxmlformats.org/officeDocument/2006/relationships/image" Target="../media/image294.svg"/><Relationship Id="rId75" Type="http://schemas.openxmlformats.org/officeDocument/2006/relationships/image" Target="../media/image299.svg"/><Relationship Id="rId83" Type="http://schemas.openxmlformats.org/officeDocument/2006/relationships/image" Target="../media/image307.svg"/><Relationship Id="rId1" Type="http://schemas.openxmlformats.org/officeDocument/2006/relationships/slideLayout" Target="../slideLayouts/slideLayout1.xml"/><Relationship Id="rId6" Type="http://schemas.openxmlformats.org/officeDocument/2006/relationships/image" Target="../media/image240.svg"/><Relationship Id="rId15" Type="http://schemas.openxmlformats.org/officeDocument/2006/relationships/image" Target="../media/image80.png"/><Relationship Id="rId23" Type="http://schemas.openxmlformats.org/officeDocument/2006/relationships/image" Target="../media/image88.png"/><Relationship Id="rId28" Type="http://schemas.openxmlformats.org/officeDocument/2006/relationships/image" Target="../media/image252.svg"/><Relationship Id="rId36" Type="http://schemas.openxmlformats.org/officeDocument/2006/relationships/image" Target="../media/image260.svg"/><Relationship Id="rId49" Type="http://schemas.openxmlformats.org/officeDocument/2006/relationships/image" Target="../media/image273.svg"/><Relationship Id="rId57" Type="http://schemas.openxmlformats.org/officeDocument/2006/relationships/image" Target="../media/image281.svg"/><Relationship Id="rId10" Type="http://schemas.openxmlformats.org/officeDocument/2006/relationships/image" Target="../media/image244.svg"/><Relationship Id="rId31" Type="http://schemas.openxmlformats.org/officeDocument/2006/relationships/image" Target="../media/image255.png"/><Relationship Id="rId44" Type="http://schemas.openxmlformats.org/officeDocument/2006/relationships/image" Target="../media/image268.svg"/><Relationship Id="rId52" Type="http://schemas.openxmlformats.org/officeDocument/2006/relationships/image" Target="../media/image276.svg"/><Relationship Id="rId60" Type="http://schemas.openxmlformats.org/officeDocument/2006/relationships/image" Target="../media/image284.svg"/><Relationship Id="rId65" Type="http://schemas.openxmlformats.org/officeDocument/2006/relationships/image" Target="../media/image289.png"/><Relationship Id="rId73" Type="http://schemas.openxmlformats.org/officeDocument/2006/relationships/image" Target="../media/image297.svg"/><Relationship Id="rId78" Type="http://schemas.openxmlformats.org/officeDocument/2006/relationships/image" Target="../media/image302.svg"/><Relationship Id="rId81" Type="http://schemas.openxmlformats.org/officeDocument/2006/relationships/image" Target="../media/image305.svg"/><Relationship Id="rId4" Type="http://schemas.openxmlformats.org/officeDocument/2006/relationships/image" Target="../media/image239.svg"/><Relationship Id="rId9" Type="http://schemas.openxmlformats.org/officeDocument/2006/relationships/image" Target="../media/image243.svg"/><Relationship Id="rId13" Type="http://schemas.openxmlformats.org/officeDocument/2006/relationships/image" Target="../media/image78.png"/><Relationship Id="rId18" Type="http://schemas.openxmlformats.org/officeDocument/2006/relationships/image" Target="../media/image217.svg"/><Relationship Id="rId39" Type="http://schemas.openxmlformats.org/officeDocument/2006/relationships/image" Target="../media/image263.svg"/><Relationship Id="rId34" Type="http://schemas.openxmlformats.org/officeDocument/2006/relationships/image" Target="../media/image258.svg"/><Relationship Id="rId50" Type="http://schemas.openxmlformats.org/officeDocument/2006/relationships/image" Target="../media/image274.svg"/><Relationship Id="rId55" Type="http://schemas.openxmlformats.org/officeDocument/2006/relationships/image" Target="../media/image279.svg"/><Relationship Id="rId76" Type="http://schemas.openxmlformats.org/officeDocument/2006/relationships/image" Target="../media/image300.svg"/><Relationship Id="rId7" Type="http://schemas.openxmlformats.org/officeDocument/2006/relationships/image" Target="../media/image241.svg"/><Relationship Id="rId71" Type="http://schemas.openxmlformats.org/officeDocument/2006/relationships/image" Target="../media/image295.svg"/><Relationship Id="rId2" Type="http://schemas.openxmlformats.org/officeDocument/2006/relationships/notesSlide" Target="../notesSlides/notesSlide14.xml"/><Relationship Id="rId29" Type="http://schemas.openxmlformats.org/officeDocument/2006/relationships/image" Target="../media/image253.png"/><Relationship Id="rId24" Type="http://schemas.openxmlformats.org/officeDocument/2006/relationships/image" Target="../media/image89.svg"/><Relationship Id="rId40" Type="http://schemas.openxmlformats.org/officeDocument/2006/relationships/image" Target="../media/image264.svg"/><Relationship Id="rId45" Type="http://schemas.openxmlformats.org/officeDocument/2006/relationships/image" Target="../media/image269.svg"/><Relationship Id="rId66" Type="http://schemas.openxmlformats.org/officeDocument/2006/relationships/image" Target="../media/image290.svg"/></Relationships>
</file>

<file path=ppt/slides/_rels/slide17.xml.rels><?xml version="1.0" encoding="UTF-8" standalone="yes"?>
<Relationships xmlns="http://schemas.openxmlformats.org/package/2006/relationships"><Relationship Id="rId3" Type="http://schemas.openxmlformats.org/officeDocument/2006/relationships/image" Target="../media/image30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11.svg"/><Relationship Id="rId5" Type="http://schemas.openxmlformats.org/officeDocument/2006/relationships/image" Target="../media/image310.png"/><Relationship Id="rId4" Type="http://schemas.openxmlformats.org/officeDocument/2006/relationships/image" Target="../media/image309.svg"/></Relationships>
</file>

<file path=ppt/slides/_rels/slide18.xml.rels><?xml version="1.0" encoding="UTF-8" standalone="yes"?>
<Relationships xmlns="http://schemas.openxmlformats.org/package/2006/relationships"><Relationship Id="rId8" Type="http://schemas.openxmlformats.org/officeDocument/2006/relationships/image" Target="../media/image314.png"/><Relationship Id="rId3" Type="http://schemas.openxmlformats.org/officeDocument/2006/relationships/chart" Target="../charts/chart7.xml"/><Relationship Id="rId7" Type="http://schemas.openxmlformats.org/officeDocument/2006/relationships/image" Target="../media/image313.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12.png"/><Relationship Id="rId5" Type="http://schemas.openxmlformats.org/officeDocument/2006/relationships/image" Target="../media/image57.svg"/><Relationship Id="rId4" Type="http://schemas.openxmlformats.org/officeDocument/2006/relationships/image" Target="../media/image56.png"/><Relationship Id="rId9" Type="http://schemas.openxmlformats.org/officeDocument/2006/relationships/image" Target="../media/image315.svg"/></Relationships>
</file>

<file path=ppt/slides/_rels/slide19.xml.rels><?xml version="1.0" encoding="UTF-8" standalone="yes"?>
<Relationships xmlns="http://schemas.openxmlformats.org/package/2006/relationships"><Relationship Id="rId8" Type="http://schemas.openxmlformats.org/officeDocument/2006/relationships/image" Target="../media/image321.svg"/><Relationship Id="rId13" Type="http://schemas.openxmlformats.org/officeDocument/2006/relationships/image" Target="../media/image326.png"/><Relationship Id="rId18" Type="http://schemas.openxmlformats.org/officeDocument/2006/relationships/image" Target="../media/image331.svg"/><Relationship Id="rId26" Type="http://schemas.openxmlformats.org/officeDocument/2006/relationships/image" Target="../media/image339.svg"/><Relationship Id="rId3" Type="http://schemas.openxmlformats.org/officeDocument/2006/relationships/image" Target="../media/image316.png"/><Relationship Id="rId21" Type="http://schemas.openxmlformats.org/officeDocument/2006/relationships/image" Target="../media/image334.png"/><Relationship Id="rId7" Type="http://schemas.openxmlformats.org/officeDocument/2006/relationships/image" Target="../media/image320.png"/><Relationship Id="rId12" Type="http://schemas.openxmlformats.org/officeDocument/2006/relationships/image" Target="../media/image325.svg"/><Relationship Id="rId17" Type="http://schemas.openxmlformats.org/officeDocument/2006/relationships/image" Target="../media/image330.png"/><Relationship Id="rId25" Type="http://schemas.openxmlformats.org/officeDocument/2006/relationships/image" Target="../media/image338.png"/><Relationship Id="rId2" Type="http://schemas.openxmlformats.org/officeDocument/2006/relationships/notesSlide" Target="../notesSlides/notesSlide17.xml"/><Relationship Id="rId16" Type="http://schemas.openxmlformats.org/officeDocument/2006/relationships/image" Target="../media/image329.svg"/><Relationship Id="rId20" Type="http://schemas.openxmlformats.org/officeDocument/2006/relationships/image" Target="../media/image333.svg"/><Relationship Id="rId29" Type="http://schemas.openxmlformats.org/officeDocument/2006/relationships/image" Target="../media/image342.png"/><Relationship Id="rId1" Type="http://schemas.openxmlformats.org/officeDocument/2006/relationships/slideLayout" Target="../slideLayouts/slideLayout1.xml"/><Relationship Id="rId6" Type="http://schemas.openxmlformats.org/officeDocument/2006/relationships/image" Target="../media/image319.svg"/><Relationship Id="rId11" Type="http://schemas.openxmlformats.org/officeDocument/2006/relationships/image" Target="../media/image324.svg"/><Relationship Id="rId24" Type="http://schemas.openxmlformats.org/officeDocument/2006/relationships/image" Target="../media/image337.svg"/><Relationship Id="rId5" Type="http://schemas.openxmlformats.org/officeDocument/2006/relationships/image" Target="../media/image318.png"/><Relationship Id="rId15" Type="http://schemas.openxmlformats.org/officeDocument/2006/relationships/image" Target="../media/image328.png"/><Relationship Id="rId23" Type="http://schemas.openxmlformats.org/officeDocument/2006/relationships/image" Target="../media/image336.png"/><Relationship Id="rId28" Type="http://schemas.openxmlformats.org/officeDocument/2006/relationships/image" Target="../media/image341.svg"/><Relationship Id="rId10" Type="http://schemas.openxmlformats.org/officeDocument/2006/relationships/image" Target="../media/image323.svg"/><Relationship Id="rId19" Type="http://schemas.openxmlformats.org/officeDocument/2006/relationships/image" Target="../media/image332.png"/><Relationship Id="rId4" Type="http://schemas.openxmlformats.org/officeDocument/2006/relationships/image" Target="../media/image317.svg"/><Relationship Id="rId9" Type="http://schemas.openxmlformats.org/officeDocument/2006/relationships/image" Target="../media/image322.svg"/><Relationship Id="rId14" Type="http://schemas.openxmlformats.org/officeDocument/2006/relationships/image" Target="../media/image327.svg"/><Relationship Id="rId22" Type="http://schemas.openxmlformats.org/officeDocument/2006/relationships/image" Target="../media/image335.svg"/><Relationship Id="rId27" Type="http://schemas.openxmlformats.org/officeDocument/2006/relationships/image" Target="../media/image340.png"/><Relationship Id="rId30" Type="http://schemas.openxmlformats.org/officeDocument/2006/relationships/image" Target="../media/image343.svg"/></Relationships>
</file>

<file path=ppt/slides/_rels/slide20.xml.rels><?xml version="1.0" encoding="UTF-8" standalone="yes"?>
<Relationships xmlns="http://schemas.openxmlformats.org/package/2006/relationships"><Relationship Id="rId8" Type="http://schemas.openxmlformats.org/officeDocument/2006/relationships/image" Target="../media/image348.png"/><Relationship Id="rId13" Type="http://schemas.openxmlformats.org/officeDocument/2006/relationships/image" Target="../media/image353.svg"/><Relationship Id="rId18" Type="http://schemas.openxmlformats.org/officeDocument/2006/relationships/image" Target="../media/image358.png"/><Relationship Id="rId3" Type="http://schemas.openxmlformats.org/officeDocument/2006/relationships/chart" Target="../charts/chart8.xml"/><Relationship Id="rId7" Type="http://schemas.openxmlformats.org/officeDocument/2006/relationships/image" Target="../media/image347.svg"/><Relationship Id="rId12" Type="http://schemas.openxmlformats.org/officeDocument/2006/relationships/image" Target="../media/image352.png"/><Relationship Id="rId17" Type="http://schemas.openxmlformats.org/officeDocument/2006/relationships/image" Target="../media/image357.svg"/><Relationship Id="rId2" Type="http://schemas.openxmlformats.org/officeDocument/2006/relationships/notesSlide" Target="../notesSlides/notesSlide18.xml"/><Relationship Id="rId16" Type="http://schemas.openxmlformats.org/officeDocument/2006/relationships/image" Target="../media/image356.png"/><Relationship Id="rId1" Type="http://schemas.openxmlformats.org/officeDocument/2006/relationships/slideLayout" Target="../slideLayouts/slideLayout1.xml"/><Relationship Id="rId6" Type="http://schemas.openxmlformats.org/officeDocument/2006/relationships/image" Target="../media/image346.png"/><Relationship Id="rId11" Type="http://schemas.openxmlformats.org/officeDocument/2006/relationships/image" Target="../media/image351.svg"/><Relationship Id="rId5" Type="http://schemas.openxmlformats.org/officeDocument/2006/relationships/image" Target="../media/image345.svg"/><Relationship Id="rId15" Type="http://schemas.openxmlformats.org/officeDocument/2006/relationships/image" Target="../media/image355.svg"/><Relationship Id="rId10" Type="http://schemas.openxmlformats.org/officeDocument/2006/relationships/image" Target="../media/image350.png"/><Relationship Id="rId19" Type="http://schemas.openxmlformats.org/officeDocument/2006/relationships/image" Target="../media/image359.svg"/><Relationship Id="rId4" Type="http://schemas.openxmlformats.org/officeDocument/2006/relationships/image" Target="../media/image344.png"/><Relationship Id="rId9" Type="http://schemas.openxmlformats.org/officeDocument/2006/relationships/image" Target="../media/image349.svg"/><Relationship Id="rId14" Type="http://schemas.openxmlformats.org/officeDocument/2006/relationships/image" Target="../media/image354.png"/></Relationships>
</file>

<file path=ppt/slides/_rels/slide21.xml.rels><?xml version="1.0" encoding="UTF-8" standalone="yes"?>
<Relationships xmlns="http://schemas.openxmlformats.org/package/2006/relationships"><Relationship Id="rId3" Type="http://schemas.openxmlformats.org/officeDocument/2006/relationships/image" Target="../media/image360.png"/><Relationship Id="rId7" Type="http://schemas.openxmlformats.org/officeDocument/2006/relationships/image" Target="../media/image364.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63.svg"/><Relationship Id="rId5" Type="http://schemas.openxmlformats.org/officeDocument/2006/relationships/image" Target="../media/image362.png"/><Relationship Id="rId4" Type="http://schemas.openxmlformats.org/officeDocument/2006/relationships/image" Target="../media/image361.svg"/></Relationships>
</file>

<file path=ppt/slides/_rels/slide22.xml.rels><?xml version="1.0" encoding="UTF-8" standalone="yes"?>
<Relationships xmlns="http://schemas.openxmlformats.org/package/2006/relationships"><Relationship Id="rId8" Type="http://schemas.openxmlformats.org/officeDocument/2006/relationships/image" Target="../media/image371.png"/><Relationship Id="rId3" Type="http://schemas.openxmlformats.org/officeDocument/2006/relationships/image" Target="../media/image366.svg"/><Relationship Id="rId7" Type="http://schemas.openxmlformats.org/officeDocument/2006/relationships/image" Target="../media/image370.svg"/><Relationship Id="rId2" Type="http://schemas.openxmlformats.org/officeDocument/2006/relationships/image" Target="../media/image365.png"/><Relationship Id="rId1" Type="http://schemas.openxmlformats.org/officeDocument/2006/relationships/slideLayout" Target="../slideLayouts/slideLayout1.xml"/><Relationship Id="rId6" Type="http://schemas.openxmlformats.org/officeDocument/2006/relationships/image" Target="../media/image369.png"/><Relationship Id="rId5" Type="http://schemas.openxmlformats.org/officeDocument/2006/relationships/image" Target="../media/image368.svg"/><Relationship Id="rId4" Type="http://schemas.openxmlformats.org/officeDocument/2006/relationships/image" Target="../media/image367.png"/><Relationship Id="rId9" Type="http://schemas.openxmlformats.org/officeDocument/2006/relationships/image" Target="../media/image372.svg"/></Relationships>
</file>

<file path=ppt/slides/_rels/slide23.xml.rels><?xml version="1.0" encoding="UTF-8" standalone="yes"?>
<Relationships xmlns="http://schemas.openxmlformats.org/package/2006/relationships"><Relationship Id="rId8" Type="http://schemas.openxmlformats.org/officeDocument/2006/relationships/image" Target="../media/image378.svg"/><Relationship Id="rId13" Type="http://schemas.openxmlformats.org/officeDocument/2006/relationships/image" Target="../media/image383.png"/><Relationship Id="rId3" Type="http://schemas.openxmlformats.org/officeDocument/2006/relationships/image" Target="../media/image373.png"/><Relationship Id="rId7" Type="http://schemas.openxmlformats.org/officeDocument/2006/relationships/image" Target="../media/image377.png"/><Relationship Id="rId12" Type="http://schemas.openxmlformats.org/officeDocument/2006/relationships/image" Target="../media/image382.sv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76.svg"/><Relationship Id="rId11" Type="http://schemas.openxmlformats.org/officeDocument/2006/relationships/image" Target="../media/image381.png"/><Relationship Id="rId5" Type="http://schemas.openxmlformats.org/officeDocument/2006/relationships/image" Target="../media/image375.png"/><Relationship Id="rId10" Type="http://schemas.openxmlformats.org/officeDocument/2006/relationships/image" Target="../media/image380.svg"/><Relationship Id="rId4" Type="http://schemas.openxmlformats.org/officeDocument/2006/relationships/image" Target="../media/image374.svg"/><Relationship Id="rId9" Type="http://schemas.openxmlformats.org/officeDocument/2006/relationships/image" Target="../media/image379.png"/><Relationship Id="rId14" Type="http://schemas.openxmlformats.org/officeDocument/2006/relationships/image" Target="../media/image384.svg"/></Relationships>
</file>

<file path=ppt/slides/_rels/slide24.xml.rels><?xml version="1.0" encoding="UTF-8" standalone="yes"?>
<Relationships xmlns="http://schemas.openxmlformats.org/package/2006/relationships"><Relationship Id="rId3" Type="http://schemas.openxmlformats.org/officeDocument/2006/relationships/image" Target="../media/image38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88.svg"/><Relationship Id="rId5" Type="http://schemas.openxmlformats.org/officeDocument/2006/relationships/image" Target="../media/image387.png"/><Relationship Id="rId4" Type="http://schemas.openxmlformats.org/officeDocument/2006/relationships/image" Target="../media/image386.svg"/></Relationships>
</file>

<file path=ppt/slides/_rels/slide25.xml.rels><?xml version="1.0" encoding="UTF-8" standalone="yes"?>
<Relationships xmlns="http://schemas.openxmlformats.org/package/2006/relationships"><Relationship Id="rId8" Type="http://schemas.openxmlformats.org/officeDocument/2006/relationships/image" Target="../media/image392.svg"/><Relationship Id="rId13" Type="http://schemas.openxmlformats.org/officeDocument/2006/relationships/image" Target="../media/image397.png"/><Relationship Id="rId18" Type="http://schemas.openxmlformats.org/officeDocument/2006/relationships/image" Target="../media/image402.svg"/><Relationship Id="rId3" Type="http://schemas.openxmlformats.org/officeDocument/2006/relationships/image" Target="../media/image56.png"/><Relationship Id="rId7" Type="http://schemas.openxmlformats.org/officeDocument/2006/relationships/image" Target="../media/image391.png"/><Relationship Id="rId12" Type="http://schemas.openxmlformats.org/officeDocument/2006/relationships/image" Target="../media/image396.svg"/><Relationship Id="rId17" Type="http://schemas.openxmlformats.org/officeDocument/2006/relationships/image" Target="../media/image401.png"/><Relationship Id="rId2" Type="http://schemas.openxmlformats.org/officeDocument/2006/relationships/notesSlide" Target="../notesSlides/notesSlide22.xml"/><Relationship Id="rId16" Type="http://schemas.openxmlformats.org/officeDocument/2006/relationships/image" Target="../media/image400.svg"/><Relationship Id="rId1" Type="http://schemas.openxmlformats.org/officeDocument/2006/relationships/slideLayout" Target="../slideLayouts/slideLayout1.xml"/><Relationship Id="rId6" Type="http://schemas.openxmlformats.org/officeDocument/2006/relationships/image" Target="../media/image390.svg"/><Relationship Id="rId11" Type="http://schemas.openxmlformats.org/officeDocument/2006/relationships/image" Target="../media/image395.png"/><Relationship Id="rId5" Type="http://schemas.openxmlformats.org/officeDocument/2006/relationships/image" Target="../media/image389.png"/><Relationship Id="rId15" Type="http://schemas.openxmlformats.org/officeDocument/2006/relationships/image" Target="../media/image399.png"/><Relationship Id="rId10" Type="http://schemas.openxmlformats.org/officeDocument/2006/relationships/image" Target="../media/image394.svg"/><Relationship Id="rId4" Type="http://schemas.openxmlformats.org/officeDocument/2006/relationships/image" Target="../media/image57.svg"/><Relationship Id="rId9" Type="http://schemas.openxmlformats.org/officeDocument/2006/relationships/image" Target="../media/image393.png"/><Relationship Id="rId14" Type="http://schemas.openxmlformats.org/officeDocument/2006/relationships/image" Target="../media/image398.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a:gsLst>
            <a:gs pos="0">
              <a:srgbClr val="FE8A3F"/>
            </a:gs>
            <a:gs pos="74000">
              <a:srgbClr val="E34302"/>
            </a:gs>
            <a:gs pos="100000">
              <a:srgbClr val="CE3802"/>
            </a:gs>
          </a:gsLst>
          <a:lin ang="5400000" scaled="1"/>
        </a:gradFill>
        <a:effectLst/>
      </p:bgPr>
    </p:bg>
    <p:spTree>
      <p:nvGrpSpPr>
        <p:cNvPr id="1" name=""/>
        <p:cNvGrpSpPr/>
        <p:nvPr/>
      </p:nvGrpSpPr>
      <p:grpSpPr>
        <a:xfrm>
          <a:off x="0" y="0"/>
          <a:ext cx="0" cy="0"/>
          <a:chOff x="0" y="0"/>
          <a:chExt cx="0" cy="0"/>
        </a:xfrm>
      </p:grpSpPr>
      <p:pic>
        <p:nvPicPr>
          <p:cNvPr id="3"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24387048" cy="13716000"/>
          </a:xfrm>
          <a:prstGeom prst="rect">
            <a:avLst/>
          </a:prstGeom>
        </p:spPr>
      </p:pic>
      <p:sp>
        <p:nvSpPr>
          <p:cNvPr id="4" name="Text 0"/>
          <p:cNvSpPr/>
          <p:nvPr/>
        </p:nvSpPr>
        <p:spPr>
          <a:xfrm>
            <a:off x="1282860" y="8229600"/>
            <a:ext cx="13472150" cy="618067"/>
          </a:xfrm>
          <a:prstGeom prst="rect">
            <a:avLst/>
          </a:prstGeom>
          <a:noFill/>
          <a:ln/>
        </p:spPr>
        <p:txBody>
          <a:bodyPr wrap="square" lIns="0" tIns="0" rIns="0" bIns="0" rtlCol="0" anchor="t"/>
          <a:lstStyle/>
          <a:p>
            <a:pPr marL="0" indent="0" algn="l">
              <a:lnSpc>
                <a:spcPts val="3840"/>
              </a:lnSpc>
              <a:buNone/>
            </a:pPr>
            <a:r>
              <a:rPr lang="en-US" sz="3200" kern="0" spc="-32" dirty="0">
                <a:solidFill>
                  <a:schemeClr val="bg1"/>
                </a:solidFill>
                <a:latin typeface="Inter Regular" pitchFamily="34" charset="0"/>
                <a:ea typeface="Inter Regular" pitchFamily="34" charset="-122"/>
                <a:cs typeface="Inter Regular" pitchFamily="34" charset="-120"/>
              </a:rPr>
              <a:t>Architecture, Integration &amp; Activation</a:t>
            </a:r>
            <a:endParaRPr lang="en-US" sz="3200" dirty="0">
              <a:solidFill>
                <a:schemeClr val="bg1"/>
              </a:solidFill>
            </a:endParaRPr>
          </a:p>
        </p:txBody>
      </p:sp>
      <p:sp>
        <p:nvSpPr>
          <p:cNvPr id="5" name="Text 1"/>
          <p:cNvSpPr/>
          <p:nvPr/>
        </p:nvSpPr>
        <p:spPr>
          <a:xfrm>
            <a:off x="1282860" y="3225800"/>
            <a:ext cx="11376389" cy="3539067"/>
          </a:xfrm>
          <a:prstGeom prst="rect">
            <a:avLst/>
          </a:prstGeom>
          <a:noFill/>
          <a:ln/>
        </p:spPr>
        <p:txBody>
          <a:bodyPr wrap="square" lIns="0" tIns="0" rIns="0" bIns="0" rtlCol="0" anchor="t"/>
          <a:lstStyle/>
          <a:p>
            <a:pPr marL="0" indent="0" algn="l">
              <a:lnSpc>
                <a:spcPts val="12100"/>
              </a:lnSpc>
              <a:buNone/>
            </a:pPr>
            <a:r>
              <a:rPr lang="en-US" sz="11000" kern="0" spc="-110" dirty="0">
                <a:solidFill>
                  <a:schemeClr val="bg1"/>
                </a:solidFill>
                <a:latin typeface="IBM Plex Sans Medium" pitchFamily="34" charset="0"/>
                <a:ea typeface="IBM Plex Sans Medium" pitchFamily="34" charset="-122"/>
                <a:cs typeface="IBM Plex Sans Medium" pitchFamily="34" charset="-120"/>
              </a:rPr>
              <a:t>Customer Data Platform</a:t>
            </a:r>
            <a:endParaRPr lang="en-US" sz="11000" dirty="0">
              <a:solidFill>
                <a:schemeClr val="bg1"/>
              </a:solidFill>
            </a:endParaRPr>
          </a:p>
        </p:txBody>
      </p:sp>
      <p:sp>
        <p:nvSpPr>
          <p:cNvPr id="6" name="Text 2"/>
          <p:cNvSpPr/>
          <p:nvPr/>
        </p:nvSpPr>
        <p:spPr>
          <a:xfrm>
            <a:off x="1282860" y="6362700"/>
            <a:ext cx="13743118" cy="1752600"/>
          </a:xfrm>
          <a:prstGeom prst="rect">
            <a:avLst/>
          </a:prstGeom>
          <a:noFill/>
          <a:ln/>
        </p:spPr>
        <p:txBody>
          <a:bodyPr wrap="square" lIns="0" tIns="0" rIns="0" bIns="0" rtlCol="0" anchor="t"/>
          <a:lstStyle/>
          <a:p>
            <a:pPr marL="0" indent="0" algn="l">
              <a:lnSpc>
                <a:spcPts val="10560"/>
              </a:lnSpc>
              <a:buNone/>
            </a:pPr>
            <a:r>
              <a:rPr lang="en-US" sz="9600" kern="0" spc="-96" dirty="0">
                <a:solidFill>
                  <a:srgbClr val="FFFFFF">
                    <a:alpha val="100000"/>
                  </a:srgbClr>
                </a:solidFill>
                <a:latin typeface="IBM Plex Sans Medium" pitchFamily="34" charset="0"/>
                <a:ea typeface="IBM Plex Sans Medium" pitchFamily="34" charset="-122"/>
                <a:cs typeface="IBM Plex Sans Medium" pitchFamily="34" charset="-120"/>
              </a:rPr>
              <a:t>Blueprint Yearly</a:t>
            </a:r>
            <a:endParaRPr lang="en-US" sz="9600" dirty="0"/>
          </a:p>
        </p:txBody>
      </p:sp>
      <p:grpSp>
        <p:nvGrpSpPr>
          <p:cNvPr id="36" name="Group 35">
            <a:extLst>
              <a:ext uri="{FF2B5EF4-FFF2-40B4-BE49-F238E27FC236}">
                <a16:creationId xmlns:a16="http://schemas.microsoft.com/office/drawing/2014/main" id="{42FF0AEC-DF6C-4ABF-89F6-8484E104D8B1}"/>
              </a:ext>
            </a:extLst>
          </p:cNvPr>
          <p:cNvGrpSpPr/>
          <p:nvPr/>
        </p:nvGrpSpPr>
        <p:grpSpPr>
          <a:xfrm>
            <a:off x="1524191" y="1524000"/>
            <a:ext cx="1625803" cy="723900"/>
            <a:chOff x="1524191" y="1524000"/>
            <a:chExt cx="1625803" cy="723900"/>
          </a:xfrm>
        </p:grpSpPr>
        <p:pic>
          <p:nvPicPr>
            <p:cNvPr id="7"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4191" y="1524000"/>
              <a:ext cx="444556" cy="622300"/>
            </a:xfrm>
            <a:prstGeom prst="rect">
              <a:avLst/>
            </a:prstGeom>
          </p:spPr>
        </p:pic>
        <p:sp>
          <p:nvSpPr>
            <p:cNvPr id="8" name="Text 3"/>
            <p:cNvSpPr/>
            <p:nvPr/>
          </p:nvSpPr>
          <p:spPr>
            <a:xfrm>
              <a:off x="2032254" y="1549400"/>
              <a:ext cx="1117740" cy="698500"/>
            </a:xfrm>
            <a:prstGeom prst="rect">
              <a:avLst/>
            </a:prstGeom>
            <a:noFill/>
            <a:ln/>
          </p:spPr>
          <p:txBody>
            <a:bodyPr wrap="square" lIns="0" tIns="0" rIns="0" bIns="0" rtlCol="0" anchor="t"/>
            <a:lstStyle/>
            <a:p>
              <a:pPr marL="0" indent="0" algn="ctr">
                <a:lnSpc>
                  <a:spcPts val="4500"/>
                </a:lnSpc>
                <a:buNone/>
              </a:pPr>
              <a:r>
                <a:rPr lang="en-US" sz="3000" kern="0" spc="-120" dirty="0">
                  <a:solidFill>
                    <a:srgbClr val="FFFFFF">
                      <a:alpha val="100000"/>
                    </a:srgbClr>
                  </a:solidFill>
                  <a:latin typeface="Funnel Display Bold" pitchFamily="34" charset="0"/>
                  <a:ea typeface="Funnel Display Bold" pitchFamily="34" charset="-122"/>
                  <a:cs typeface="Funnel Display Bold" pitchFamily="34" charset="-120"/>
                </a:rPr>
                <a:t>Clario</a:t>
              </a:r>
              <a:endParaRPr lang="en-US" sz="3000" dirty="0"/>
            </a:p>
          </p:txBody>
        </p:sp>
      </p:grpSp>
      <p:grpSp>
        <p:nvGrpSpPr>
          <p:cNvPr id="31" name="Group 30">
            <a:extLst>
              <a:ext uri="{FF2B5EF4-FFF2-40B4-BE49-F238E27FC236}">
                <a16:creationId xmlns:a16="http://schemas.microsoft.com/office/drawing/2014/main" id="{35E3C34C-D4E8-416B-876A-B64E3F063C50}"/>
              </a:ext>
            </a:extLst>
          </p:cNvPr>
          <p:cNvGrpSpPr/>
          <p:nvPr/>
        </p:nvGrpSpPr>
        <p:grpSpPr>
          <a:xfrm>
            <a:off x="14327388" y="9017000"/>
            <a:ext cx="3371149" cy="4699000"/>
            <a:chOff x="14327388" y="9017000"/>
            <a:chExt cx="3371149" cy="4699000"/>
          </a:xfrm>
        </p:grpSpPr>
        <p:pic>
          <p:nvPicPr>
            <p:cNvPr id="13" name="Image 6"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327391" y="9560309"/>
              <a:ext cx="3371146" cy="4155691"/>
            </a:xfrm>
            <a:prstGeom prst="rect">
              <a:avLst/>
            </a:prstGeom>
          </p:spPr>
        </p:pic>
        <p:pic>
          <p:nvPicPr>
            <p:cNvPr id="14" name="Image 7"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015623" y="9560309"/>
              <a:ext cx="12702" cy="4155691"/>
            </a:xfrm>
            <a:prstGeom prst="rect">
              <a:avLst/>
            </a:prstGeom>
          </p:spPr>
        </p:pic>
        <p:pic>
          <p:nvPicPr>
            <p:cNvPr id="15" name="Image 8"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27388" y="9017000"/>
              <a:ext cx="3371146" cy="1086619"/>
            </a:xfrm>
            <a:prstGeom prst="rect">
              <a:avLst/>
            </a:prstGeom>
          </p:spPr>
        </p:pic>
      </p:grpSp>
      <p:grpSp>
        <p:nvGrpSpPr>
          <p:cNvPr id="30" name="Group 29">
            <a:extLst>
              <a:ext uri="{FF2B5EF4-FFF2-40B4-BE49-F238E27FC236}">
                <a16:creationId xmlns:a16="http://schemas.microsoft.com/office/drawing/2014/main" id="{3C542510-A74C-4DA8-94DE-AC27D51EE2CA}"/>
              </a:ext>
            </a:extLst>
          </p:cNvPr>
          <p:cNvGrpSpPr/>
          <p:nvPr/>
        </p:nvGrpSpPr>
        <p:grpSpPr>
          <a:xfrm>
            <a:off x="18125165" y="7683500"/>
            <a:ext cx="3371149" cy="6032500"/>
            <a:chOff x="18125165" y="7683500"/>
            <a:chExt cx="3371149" cy="6032500"/>
          </a:xfrm>
        </p:grpSpPr>
        <p:pic>
          <p:nvPicPr>
            <p:cNvPr id="16" name="Image 9"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8125168" y="8226809"/>
              <a:ext cx="3371146" cy="5489191"/>
            </a:xfrm>
            <a:prstGeom prst="rect">
              <a:avLst/>
            </a:prstGeom>
          </p:spPr>
        </p:pic>
        <p:pic>
          <p:nvPicPr>
            <p:cNvPr id="17" name="Image 10"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9813401" y="8226809"/>
              <a:ext cx="12702" cy="5489191"/>
            </a:xfrm>
            <a:prstGeom prst="rect">
              <a:avLst/>
            </a:prstGeom>
          </p:spPr>
        </p:pic>
        <p:pic>
          <p:nvPicPr>
            <p:cNvPr id="18" name="Image 11"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8125165" y="7683500"/>
              <a:ext cx="3371146" cy="1086619"/>
            </a:xfrm>
            <a:prstGeom prst="rect">
              <a:avLst/>
            </a:prstGeom>
          </p:spPr>
        </p:pic>
      </p:grpSp>
      <p:grpSp>
        <p:nvGrpSpPr>
          <p:cNvPr id="32" name="Group 31">
            <a:extLst>
              <a:ext uri="{FF2B5EF4-FFF2-40B4-BE49-F238E27FC236}">
                <a16:creationId xmlns:a16="http://schemas.microsoft.com/office/drawing/2014/main" id="{2B631C39-4446-4E2F-9FB2-B722A985667F}"/>
              </a:ext>
            </a:extLst>
          </p:cNvPr>
          <p:cNvGrpSpPr/>
          <p:nvPr/>
        </p:nvGrpSpPr>
        <p:grpSpPr>
          <a:xfrm>
            <a:off x="10504213" y="10058400"/>
            <a:ext cx="3371149" cy="3657600"/>
            <a:chOff x="10504213" y="10058400"/>
            <a:chExt cx="3371149" cy="3657600"/>
          </a:xfrm>
        </p:grpSpPr>
        <p:pic>
          <p:nvPicPr>
            <p:cNvPr id="19" name="Image 12"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504216" y="10601709"/>
              <a:ext cx="3371146" cy="3114291"/>
            </a:xfrm>
            <a:prstGeom prst="rect">
              <a:avLst/>
            </a:prstGeom>
          </p:spPr>
        </p:pic>
        <p:pic>
          <p:nvPicPr>
            <p:cNvPr id="20" name="Image 13"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2192448" y="10601709"/>
              <a:ext cx="12702" cy="3114291"/>
            </a:xfrm>
            <a:prstGeom prst="rect">
              <a:avLst/>
            </a:prstGeom>
          </p:spPr>
        </p:pic>
        <p:pic>
          <p:nvPicPr>
            <p:cNvPr id="21" name="Image 14" descr=" "/>
            <p:cNvPicPr>
              <a:picLocks noChangeAspect="1"/>
            </p:cNvPicPr>
            <p:nvPr/>
          </p:nvPicPr>
          <p:blipFill>
            <a:blip r:embed="rId17">
              <a:extLst>
                <a:ext uri="{96DAC541-7B7A-43D3-8B79-37D633B846F1}">
                  <asvg:svgBlip xmlns:asvg="http://schemas.microsoft.com/office/drawing/2016/SVG/main" r:embed="rId23"/>
                </a:ext>
              </a:extLst>
            </a:blip>
            <a:stretch>
              <a:fillRect/>
            </a:stretch>
          </p:blipFill>
          <p:spPr>
            <a:xfrm>
              <a:off x="10504213" y="10058400"/>
              <a:ext cx="3371146" cy="1086619"/>
            </a:xfrm>
            <a:prstGeom prst="rect">
              <a:avLst/>
            </a:prstGeom>
          </p:spPr>
        </p:pic>
      </p:grpSp>
      <p:grpSp>
        <p:nvGrpSpPr>
          <p:cNvPr id="33" name="Group 32">
            <a:extLst>
              <a:ext uri="{FF2B5EF4-FFF2-40B4-BE49-F238E27FC236}">
                <a16:creationId xmlns:a16="http://schemas.microsoft.com/office/drawing/2014/main" id="{5C7CA495-8FDD-4637-963D-48F6F3AC7C81}"/>
              </a:ext>
            </a:extLst>
          </p:cNvPr>
          <p:cNvGrpSpPr/>
          <p:nvPr/>
        </p:nvGrpSpPr>
        <p:grpSpPr>
          <a:xfrm>
            <a:off x="6693737" y="10934700"/>
            <a:ext cx="3371149" cy="2781300"/>
            <a:chOff x="6693737" y="10934700"/>
            <a:chExt cx="3371149" cy="2781300"/>
          </a:xfrm>
        </p:grpSpPr>
        <p:pic>
          <p:nvPicPr>
            <p:cNvPr id="22" name="Image 15" descr=" "/>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693740" y="11478009"/>
              <a:ext cx="3371146" cy="2237991"/>
            </a:xfrm>
            <a:prstGeom prst="rect">
              <a:avLst/>
            </a:prstGeom>
          </p:spPr>
        </p:pic>
        <p:pic>
          <p:nvPicPr>
            <p:cNvPr id="23" name="Image 16" descr=" "/>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381972" y="11478009"/>
              <a:ext cx="12702" cy="2237991"/>
            </a:xfrm>
            <a:prstGeom prst="rect">
              <a:avLst/>
            </a:prstGeom>
          </p:spPr>
        </p:pic>
        <p:pic>
          <p:nvPicPr>
            <p:cNvPr id="24" name="Image 17" descr=" "/>
            <p:cNvPicPr>
              <a:picLocks noChangeAspect="1"/>
            </p:cNvPicPr>
            <p:nvPr/>
          </p:nvPicPr>
          <p:blipFill>
            <a:blip r:embed="rId17">
              <a:extLst>
                <a:ext uri="{96DAC541-7B7A-43D3-8B79-37D633B846F1}">
                  <asvg:svgBlip xmlns:asvg="http://schemas.microsoft.com/office/drawing/2016/SVG/main" r:embed="rId28"/>
                </a:ext>
              </a:extLst>
            </a:blip>
            <a:stretch>
              <a:fillRect/>
            </a:stretch>
          </p:blipFill>
          <p:spPr>
            <a:xfrm>
              <a:off x="6693737" y="10934700"/>
              <a:ext cx="3371146" cy="1086619"/>
            </a:xfrm>
            <a:prstGeom prst="rect">
              <a:avLst/>
            </a:prstGeom>
          </p:spPr>
        </p:pic>
      </p:grpSp>
      <p:grpSp>
        <p:nvGrpSpPr>
          <p:cNvPr id="34" name="Group 33">
            <a:extLst>
              <a:ext uri="{FF2B5EF4-FFF2-40B4-BE49-F238E27FC236}">
                <a16:creationId xmlns:a16="http://schemas.microsoft.com/office/drawing/2014/main" id="{2412277E-8150-4DED-8939-991D73423A85}"/>
              </a:ext>
            </a:extLst>
          </p:cNvPr>
          <p:cNvGrpSpPr/>
          <p:nvPr/>
        </p:nvGrpSpPr>
        <p:grpSpPr>
          <a:xfrm>
            <a:off x="2883260" y="11696700"/>
            <a:ext cx="3371149" cy="2019300"/>
            <a:chOff x="2883260" y="11696700"/>
            <a:chExt cx="3371149" cy="2019300"/>
          </a:xfrm>
        </p:grpSpPr>
        <p:pic>
          <p:nvPicPr>
            <p:cNvPr id="25" name="Image 18"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2883263" y="12240009"/>
              <a:ext cx="3371146" cy="1475991"/>
            </a:xfrm>
            <a:prstGeom prst="rect">
              <a:avLst/>
            </a:prstGeom>
          </p:spPr>
        </p:pic>
        <p:pic>
          <p:nvPicPr>
            <p:cNvPr id="26" name="Image 19"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4571495" y="12240009"/>
              <a:ext cx="12702" cy="1475991"/>
            </a:xfrm>
            <a:prstGeom prst="rect">
              <a:avLst/>
            </a:prstGeom>
          </p:spPr>
        </p:pic>
        <p:pic>
          <p:nvPicPr>
            <p:cNvPr id="27" name="Image 20" descr=" "/>
            <p:cNvPicPr>
              <a:picLocks noChangeAspect="1"/>
            </p:cNvPicPr>
            <p:nvPr/>
          </p:nvPicPr>
          <p:blipFill>
            <a:blip r:embed="rId17">
              <a:extLst>
                <a:ext uri="{96DAC541-7B7A-43D3-8B79-37D633B846F1}">
                  <asvg:svgBlip xmlns:asvg="http://schemas.microsoft.com/office/drawing/2016/SVG/main" r:embed="rId33"/>
                </a:ext>
              </a:extLst>
            </a:blip>
            <a:stretch>
              <a:fillRect/>
            </a:stretch>
          </p:blipFill>
          <p:spPr>
            <a:xfrm>
              <a:off x="2883260" y="11696700"/>
              <a:ext cx="3371146" cy="1086619"/>
            </a:xfrm>
            <a:prstGeom prst="rect">
              <a:avLst/>
            </a:prstGeom>
          </p:spPr>
        </p:pic>
      </p:grpSp>
      <p:pic>
        <p:nvPicPr>
          <p:cNvPr id="28" name="Image 21" descr=" "/>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308264" y="9232900"/>
            <a:ext cx="2565721" cy="660400"/>
          </a:xfrm>
          <a:prstGeom prst="rect">
            <a:avLst/>
          </a:prstGeom>
        </p:spPr>
      </p:pic>
      <p:sp>
        <p:nvSpPr>
          <p:cNvPr id="29" name="Text 5"/>
          <p:cNvSpPr/>
          <p:nvPr/>
        </p:nvSpPr>
        <p:spPr>
          <a:xfrm>
            <a:off x="1583465" y="9423400"/>
            <a:ext cx="1989915" cy="364067"/>
          </a:xfrm>
          <a:prstGeom prst="rect">
            <a:avLst/>
          </a:prstGeom>
          <a:noFill/>
          <a:ln/>
        </p:spPr>
        <p:txBody>
          <a:bodyPr wrap="square" lIns="0" tIns="0" rIns="0" bIns="0" rtlCol="0" anchor="t"/>
          <a:lstStyle/>
          <a:p>
            <a:pPr marL="0" indent="0" algn="ctr">
              <a:lnSpc>
                <a:spcPts val="2200"/>
              </a:lnSpc>
              <a:buNone/>
            </a:pPr>
            <a:r>
              <a:rPr lang="en-US" sz="2000" dirty="0">
                <a:solidFill>
                  <a:srgbClr val="FFFFFF">
                    <a:alpha val="100000"/>
                  </a:srgbClr>
                </a:solidFill>
                <a:latin typeface="Inter Regular" pitchFamily="34" charset="0"/>
                <a:ea typeface="Inter Regular" pitchFamily="34" charset="-122"/>
                <a:cs typeface="Inter Regular" pitchFamily="34" charset="-120"/>
              </a:rPr>
              <a:t>Present By Dani</a:t>
            </a:r>
            <a:endParaRPr lang="en-US" sz="2000" dirty="0"/>
          </a:p>
        </p:txBody>
      </p:sp>
      <p:grpSp>
        <p:nvGrpSpPr>
          <p:cNvPr id="39" name="Group 38">
            <a:extLst>
              <a:ext uri="{FF2B5EF4-FFF2-40B4-BE49-F238E27FC236}">
                <a16:creationId xmlns:a16="http://schemas.microsoft.com/office/drawing/2014/main" id="{82786743-AEFA-4CD4-BE20-E4D00ADCAC02}"/>
              </a:ext>
            </a:extLst>
          </p:cNvPr>
          <p:cNvGrpSpPr/>
          <p:nvPr/>
        </p:nvGrpSpPr>
        <p:grpSpPr>
          <a:xfrm>
            <a:off x="19814477" y="1333500"/>
            <a:ext cx="3048381" cy="660400"/>
            <a:chOff x="19814477" y="1333500"/>
            <a:chExt cx="3048381" cy="660400"/>
          </a:xfrm>
        </p:grpSpPr>
        <p:pic>
          <p:nvPicPr>
            <p:cNvPr id="9" name="Image 3" descr=" "/>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9814477" y="1333500"/>
              <a:ext cx="3048381" cy="660400"/>
            </a:xfrm>
            <a:prstGeom prst="rect">
              <a:avLst/>
            </a:prstGeom>
          </p:spPr>
        </p:pic>
        <p:sp>
          <p:nvSpPr>
            <p:cNvPr id="10" name="Text 4"/>
            <p:cNvSpPr/>
            <p:nvPr/>
          </p:nvSpPr>
          <p:spPr>
            <a:xfrm>
              <a:off x="20585039" y="1524000"/>
              <a:ext cx="2002617" cy="364067"/>
            </a:xfrm>
            <a:prstGeom prst="rect">
              <a:avLst/>
            </a:prstGeom>
            <a:noFill/>
            <a:ln/>
          </p:spPr>
          <p:txBody>
            <a:bodyPr wrap="square" lIns="0" tIns="0" rIns="0" bIns="0" rtlCol="0" anchor="t"/>
            <a:lstStyle/>
            <a:p>
              <a:pPr marL="0" indent="0" algn="ctr">
                <a:lnSpc>
                  <a:spcPts val="2200"/>
                </a:lnSpc>
                <a:buNone/>
              </a:pPr>
              <a:r>
                <a:rPr lang="en-US" sz="2000" dirty="0">
                  <a:solidFill>
                    <a:srgbClr val="FFFFFF">
                      <a:alpha val="100000"/>
                    </a:srgbClr>
                  </a:solidFill>
                  <a:latin typeface="Inter Regular" pitchFamily="34" charset="0"/>
                  <a:ea typeface="Inter Regular" pitchFamily="34" charset="-122"/>
                  <a:cs typeface="Inter Regular" pitchFamily="34" charset="-120"/>
                </a:rPr>
                <a:t>Date Of Content</a:t>
              </a:r>
              <a:endParaRPr lang="en-US" sz="2000" dirty="0"/>
            </a:p>
          </p:txBody>
        </p:sp>
        <p:pic>
          <p:nvPicPr>
            <p:cNvPr id="38" name="Graphic 37">
              <a:extLst>
                <a:ext uri="{FF2B5EF4-FFF2-40B4-BE49-F238E27FC236}">
                  <a16:creationId xmlns:a16="http://schemas.microsoft.com/office/drawing/2014/main" id="{6C84AEA1-BC1A-492C-AE0E-F1BC5AA77D0C}"/>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20195536" y="1503677"/>
              <a:ext cx="274323" cy="274323"/>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24191" y="10769600"/>
            <a:ext cx="4064508" cy="1422400"/>
          </a:xfrm>
          <a:prstGeom prst="roundRect">
            <a:avLst>
              <a:gd name="adj" fmla="val 12214"/>
            </a:avLst>
          </a:prstGeom>
          <a:solidFill>
            <a:srgbClr val="FF8B32">
              <a:alpha val="100000"/>
            </a:srgbClr>
          </a:solidFill>
          <a:ln w="12700">
            <a:solidFill>
              <a:srgbClr val="FF5102"/>
            </a:solidFill>
            <a:prstDash val="solid"/>
          </a:ln>
        </p:spPr>
      </p:sp>
      <p:sp>
        <p:nvSpPr>
          <p:cNvPr id="3" name="Text 1"/>
          <p:cNvSpPr/>
          <p:nvPr/>
        </p:nvSpPr>
        <p:spPr>
          <a:xfrm>
            <a:off x="2201608" y="11252200"/>
            <a:ext cx="2709672" cy="524933"/>
          </a:xfrm>
          <a:prstGeom prst="rect">
            <a:avLst/>
          </a:prstGeom>
          <a:noFill/>
          <a:ln/>
        </p:spPr>
        <p:txBody>
          <a:bodyPr wrap="square" lIns="0" tIns="0" rIns="0" bIns="0" rtlCol="0" anchor="t"/>
          <a:lstStyle/>
          <a:p>
            <a:pPr marL="0" indent="0" algn="ctr">
              <a:lnSpc>
                <a:spcPts val="1760"/>
              </a:lnSpc>
              <a:buNone/>
            </a:pPr>
            <a:r>
              <a:rPr lang="en-US" sz="1600" dirty="0">
                <a:solidFill>
                  <a:srgbClr val="F6F6F6">
                    <a:alpha val="100000"/>
                  </a:srgbClr>
                </a:solidFill>
                <a:latin typeface="Inter Regular" pitchFamily="34" charset="0"/>
                <a:ea typeface="Inter Regular" pitchFamily="34" charset="-122"/>
                <a:cs typeface="Inter Regular" pitchFamily="34" charset="-120"/>
              </a:rPr>
              <a:t>Duplicate customer profiles across platforms</a:t>
            </a:r>
            <a:endParaRPr lang="en-US" sz="1600" dirty="0"/>
          </a:p>
        </p:txBody>
      </p:sp>
      <p:sp>
        <p:nvSpPr>
          <p:cNvPr id="4" name="Shape 2"/>
          <p:cNvSpPr/>
          <p:nvPr/>
        </p:nvSpPr>
        <p:spPr>
          <a:xfrm>
            <a:off x="5842730" y="10769600"/>
            <a:ext cx="4064508" cy="1422400"/>
          </a:xfrm>
          <a:prstGeom prst="roundRect">
            <a:avLst>
              <a:gd name="adj" fmla="val 12214"/>
            </a:avLst>
          </a:prstGeom>
          <a:solidFill>
            <a:srgbClr val="FFECD3">
              <a:alpha val="100000"/>
            </a:srgbClr>
          </a:solidFill>
          <a:ln w="12700">
            <a:solidFill>
              <a:srgbClr val="FFD4A5"/>
            </a:solidFill>
            <a:prstDash val="solid"/>
          </a:ln>
        </p:spPr>
      </p:sp>
      <p:sp>
        <p:nvSpPr>
          <p:cNvPr id="5" name="Text 3"/>
          <p:cNvSpPr/>
          <p:nvPr/>
        </p:nvSpPr>
        <p:spPr>
          <a:xfrm>
            <a:off x="6304221" y="11252200"/>
            <a:ext cx="3141526" cy="524933"/>
          </a:xfrm>
          <a:prstGeom prst="rect">
            <a:avLst/>
          </a:prstGeom>
          <a:noFill/>
          <a:ln/>
        </p:spPr>
        <p:txBody>
          <a:bodyPr wrap="square" lIns="0" tIns="0" rIns="0" bIns="0" rtlCol="0" anchor="t"/>
          <a:lstStyle/>
          <a:p>
            <a:pPr marL="0" indent="0" algn="ctr">
              <a:lnSpc>
                <a:spcPts val="1760"/>
              </a:lnSpc>
              <a:buNone/>
            </a:pPr>
            <a:r>
              <a:rPr lang="en-US" sz="1600" dirty="0">
                <a:solidFill>
                  <a:srgbClr val="FF8B32">
                    <a:alpha val="100000"/>
                  </a:srgbClr>
                </a:solidFill>
                <a:latin typeface="Inter Regular" pitchFamily="34" charset="0"/>
                <a:ea typeface="Inter Regular" pitchFamily="34" charset="-122"/>
                <a:cs typeface="Inter Regular" pitchFamily="34" charset="-120"/>
              </a:rPr>
              <a:t>Consent &amp; privacy compliance gaps (GDPR/CCPA risk)</a:t>
            </a:r>
            <a:endParaRPr lang="en-US" sz="1600" dirty="0"/>
          </a:p>
        </p:txBody>
      </p:sp>
      <p:sp>
        <p:nvSpPr>
          <p:cNvPr id="6" name="Shape 4"/>
          <p:cNvSpPr/>
          <p:nvPr/>
        </p:nvSpPr>
        <p:spPr>
          <a:xfrm>
            <a:off x="10161270" y="10769600"/>
            <a:ext cx="4064508" cy="1422400"/>
          </a:xfrm>
          <a:prstGeom prst="roundRect">
            <a:avLst>
              <a:gd name="adj" fmla="val 12214"/>
            </a:avLst>
          </a:prstGeom>
          <a:solidFill>
            <a:srgbClr val="FFECD3">
              <a:alpha val="100000"/>
            </a:srgbClr>
          </a:solidFill>
          <a:ln w="12700">
            <a:solidFill>
              <a:srgbClr val="FFD4A5"/>
            </a:solidFill>
            <a:prstDash val="solid"/>
          </a:ln>
        </p:spPr>
      </p:sp>
      <p:sp>
        <p:nvSpPr>
          <p:cNvPr id="7" name="Text 5"/>
          <p:cNvSpPr/>
          <p:nvPr/>
        </p:nvSpPr>
        <p:spPr>
          <a:xfrm>
            <a:off x="10711672" y="11252200"/>
            <a:ext cx="2951002" cy="524933"/>
          </a:xfrm>
          <a:prstGeom prst="rect">
            <a:avLst/>
          </a:prstGeom>
          <a:noFill/>
          <a:ln/>
        </p:spPr>
        <p:txBody>
          <a:bodyPr wrap="square" lIns="0" tIns="0" rIns="0" bIns="0" rtlCol="0" anchor="t"/>
          <a:lstStyle/>
          <a:p>
            <a:pPr marL="0" indent="0" algn="ctr">
              <a:lnSpc>
                <a:spcPts val="1760"/>
              </a:lnSpc>
              <a:buNone/>
            </a:pPr>
            <a:r>
              <a:rPr lang="en-US" sz="1600" dirty="0">
                <a:solidFill>
                  <a:srgbClr val="FF8B32">
                    <a:alpha val="100000"/>
                  </a:srgbClr>
                </a:solidFill>
                <a:latin typeface="Inter Regular" pitchFamily="34" charset="0"/>
                <a:ea typeface="Inter Regular" pitchFamily="34" charset="-122"/>
                <a:cs typeface="Inter Regular" pitchFamily="34" charset="-120"/>
              </a:rPr>
              <a:t>Channel silos block 360° view of customers</a:t>
            </a:r>
            <a:endParaRPr lang="en-US" sz="1600" dirty="0"/>
          </a:p>
        </p:txBody>
      </p:sp>
      <p:sp>
        <p:nvSpPr>
          <p:cNvPr id="8" name="Shape 6"/>
          <p:cNvSpPr/>
          <p:nvPr/>
        </p:nvSpPr>
        <p:spPr>
          <a:xfrm>
            <a:off x="14479810" y="10769600"/>
            <a:ext cx="4064508" cy="1422400"/>
          </a:xfrm>
          <a:prstGeom prst="roundRect">
            <a:avLst>
              <a:gd name="adj" fmla="val 12214"/>
            </a:avLst>
          </a:prstGeom>
          <a:solidFill>
            <a:srgbClr val="FFECD3">
              <a:alpha val="100000"/>
            </a:srgbClr>
          </a:solidFill>
          <a:ln w="12700">
            <a:solidFill>
              <a:srgbClr val="FFD4A5"/>
            </a:solidFill>
            <a:prstDash val="solid"/>
          </a:ln>
        </p:spPr>
      </p:sp>
      <p:sp>
        <p:nvSpPr>
          <p:cNvPr id="9" name="Text 7"/>
          <p:cNvSpPr/>
          <p:nvPr/>
        </p:nvSpPr>
        <p:spPr>
          <a:xfrm>
            <a:off x="15119123" y="11252200"/>
            <a:ext cx="2773180" cy="524933"/>
          </a:xfrm>
          <a:prstGeom prst="rect">
            <a:avLst/>
          </a:prstGeom>
          <a:noFill/>
          <a:ln/>
        </p:spPr>
        <p:txBody>
          <a:bodyPr wrap="square" lIns="0" tIns="0" rIns="0" bIns="0" rtlCol="0" anchor="t"/>
          <a:lstStyle/>
          <a:p>
            <a:pPr marL="0" indent="0" algn="ctr">
              <a:lnSpc>
                <a:spcPts val="1760"/>
              </a:lnSpc>
              <a:buNone/>
            </a:pPr>
            <a:r>
              <a:rPr lang="en-US" sz="1600" dirty="0">
                <a:solidFill>
                  <a:srgbClr val="FF8B32">
                    <a:alpha val="100000"/>
                  </a:srgbClr>
                </a:solidFill>
                <a:latin typeface="Inter Regular" pitchFamily="34" charset="0"/>
                <a:ea typeface="Inter Regular" pitchFamily="34" charset="-122"/>
                <a:cs typeface="Inter Regular" pitchFamily="34" charset="-120"/>
              </a:rPr>
              <a:t>Delayed access to actionable insights</a:t>
            </a:r>
            <a:endParaRPr lang="en-US" sz="1600" dirty="0"/>
          </a:p>
        </p:txBody>
      </p:sp>
      <p:sp>
        <p:nvSpPr>
          <p:cNvPr id="10" name="Shape 8"/>
          <p:cNvSpPr/>
          <p:nvPr/>
        </p:nvSpPr>
        <p:spPr>
          <a:xfrm>
            <a:off x="18798350" y="10769600"/>
            <a:ext cx="4064508" cy="1422400"/>
          </a:xfrm>
          <a:prstGeom prst="roundRect">
            <a:avLst>
              <a:gd name="adj" fmla="val 12214"/>
            </a:avLst>
          </a:prstGeom>
          <a:solidFill>
            <a:srgbClr val="FFECD3">
              <a:alpha val="100000"/>
            </a:srgbClr>
          </a:solidFill>
          <a:ln w="12700">
            <a:solidFill>
              <a:srgbClr val="FFD4A5"/>
            </a:solidFill>
            <a:prstDash val="solid"/>
          </a:ln>
        </p:spPr>
      </p:sp>
      <p:sp>
        <p:nvSpPr>
          <p:cNvPr id="11" name="Text 9"/>
          <p:cNvSpPr/>
          <p:nvPr/>
        </p:nvSpPr>
        <p:spPr>
          <a:xfrm>
            <a:off x="19310647" y="11252200"/>
            <a:ext cx="3014510" cy="524933"/>
          </a:xfrm>
          <a:prstGeom prst="rect">
            <a:avLst/>
          </a:prstGeom>
          <a:noFill/>
          <a:ln/>
        </p:spPr>
        <p:txBody>
          <a:bodyPr wrap="square" lIns="0" tIns="0" rIns="0" bIns="0" rtlCol="0" anchor="t"/>
          <a:lstStyle/>
          <a:p>
            <a:pPr marL="0" indent="0" algn="ctr">
              <a:lnSpc>
                <a:spcPts val="1760"/>
              </a:lnSpc>
              <a:buNone/>
            </a:pPr>
            <a:r>
              <a:rPr lang="en-US" sz="1600" dirty="0">
                <a:solidFill>
                  <a:srgbClr val="FF8B32">
                    <a:alpha val="100000"/>
                  </a:srgbClr>
                </a:solidFill>
                <a:latin typeface="Inter Regular" pitchFamily="34" charset="0"/>
                <a:ea typeface="Inter Regular" pitchFamily="34" charset="-122"/>
                <a:cs typeface="Inter Regular" pitchFamily="34" charset="-120"/>
              </a:rPr>
              <a:t>Inability to scale personalization effectively</a:t>
            </a:r>
            <a:endParaRPr lang="en-US" sz="1600" dirty="0"/>
          </a:p>
        </p:txBody>
      </p:sp>
      <p:sp>
        <p:nvSpPr>
          <p:cNvPr id="12" name="Shape 10"/>
          <p:cNvSpPr/>
          <p:nvPr/>
        </p:nvSpPr>
        <p:spPr>
          <a:xfrm>
            <a:off x="-76210" y="7200900"/>
            <a:ext cx="25225353" cy="1524000"/>
          </a:xfrm>
          <a:prstGeom prst="rect">
            <a:avLst/>
          </a:prstGeom>
          <a:noFill/>
          <a:ln/>
        </p:spPr>
      </p:sp>
      <p:pic>
        <p:nvPicPr>
          <p:cNvPr id="13"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726991" y="7943850"/>
            <a:ext cx="11660057" cy="38100"/>
          </a:xfrm>
          <a:prstGeom prst="rect">
            <a:avLst/>
          </a:prstGeom>
        </p:spPr>
      </p:pic>
      <p:sp>
        <p:nvSpPr>
          <p:cNvPr id="14" name="Shape 11"/>
          <p:cNvSpPr/>
          <p:nvPr/>
        </p:nvSpPr>
        <p:spPr>
          <a:xfrm>
            <a:off x="11431429" y="7200900"/>
            <a:ext cx="1524191" cy="1524000"/>
          </a:xfrm>
          <a:prstGeom prst="ellipse">
            <a:avLst/>
          </a:prstGeom>
          <a:solidFill>
            <a:srgbClr val="FFF6EC">
              <a:alpha val="100000"/>
            </a:srgbClr>
          </a:solidFill>
          <a:ln/>
        </p:spPr>
      </p:sp>
      <p:sp>
        <p:nvSpPr>
          <p:cNvPr id="15" name="Shape 12"/>
          <p:cNvSpPr/>
          <p:nvPr/>
        </p:nvSpPr>
        <p:spPr>
          <a:xfrm>
            <a:off x="11850581" y="7620000"/>
            <a:ext cx="685886" cy="685800"/>
          </a:xfrm>
          <a:prstGeom prst="ellipse">
            <a:avLst/>
          </a:prstGeom>
          <a:solidFill>
            <a:srgbClr val="FFECD3">
              <a:alpha val="100000"/>
            </a:srgbClr>
          </a:solidFill>
          <a:ln/>
        </p:spPr>
      </p:sp>
      <p:sp>
        <p:nvSpPr>
          <p:cNvPr id="16" name="Shape 13"/>
          <p:cNvSpPr/>
          <p:nvPr/>
        </p:nvSpPr>
        <p:spPr>
          <a:xfrm>
            <a:off x="23624953" y="7200900"/>
            <a:ext cx="1524191" cy="1524000"/>
          </a:xfrm>
          <a:prstGeom prst="ellipse">
            <a:avLst/>
          </a:prstGeom>
          <a:solidFill>
            <a:srgbClr val="F6F6F6">
              <a:alpha val="100000"/>
            </a:srgbClr>
          </a:solidFill>
          <a:ln/>
        </p:spPr>
      </p:sp>
      <p:sp>
        <p:nvSpPr>
          <p:cNvPr id="17" name="Shape 14"/>
          <p:cNvSpPr/>
          <p:nvPr/>
        </p:nvSpPr>
        <p:spPr>
          <a:xfrm>
            <a:off x="24044105" y="7620000"/>
            <a:ext cx="685886" cy="685800"/>
          </a:xfrm>
          <a:prstGeom prst="ellipse">
            <a:avLst/>
          </a:prstGeom>
          <a:solidFill>
            <a:srgbClr val="E7E7E7">
              <a:alpha val="100000"/>
            </a:srgbClr>
          </a:solidFill>
          <a:ln/>
        </p:spPr>
      </p:sp>
      <p:sp>
        <p:nvSpPr>
          <p:cNvPr id="18" name="Shape 15"/>
          <p:cNvSpPr/>
          <p:nvPr/>
        </p:nvSpPr>
        <p:spPr>
          <a:xfrm>
            <a:off x="24272734" y="7848600"/>
            <a:ext cx="228629" cy="228600"/>
          </a:xfrm>
          <a:prstGeom prst="ellipse">
            <a:avLst/>
          </a:prstGeom>
          <a:solidFill>
            <a:srgbClr val="888888">
              <a:alpha val="100000"/>
            </a:srgbClr>
          </a:solidFill>
          <a:ln/>
        </p:spPr>
      </p:sp>
      <p:pic>
        <p:nvPicPr>
          <p:cNvPr id="19"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7943850"/>
            <a:ext cx="12193524" cy="38100"/>
          </a:xfrm>
          <a:prstGeom prst="rect">
            <a:avLst/>
          </a:prstGeom>
        </p:spPr>
      </p:pic>
      <p:sp>
        <p:nvSpPr>
          <p:cNvPr id="20" name="Shape 16"/>
          <p:cNvSpPr/>
          <p:nvPr/>
        </p:nvSpPr>
        <p:spPr>
          <a:xfrm>
            <a:off x="1524191" y="7632700"/>
            <a:ext cx="2222778" cy="660400"/>
          </a:xfrm>
          <a:prstGeom prst="roundRect">
            <a:avLst>
              <a:gd name="adj" fmla="val 77538"/>
            </a:avLst>
          </a:prstGeom>
          <a:solidFill>
            <a:srgbClr val="FF5102">
              <a:alpha val="100000"/>
            </a:srgbClr>
          </a:solidFill>
          <a:ln/>
        </p:spPr>
      </p:sp>
      <p:sp>
        <p:nvSpPr>
          <p:cNvPr id="21" name="Shape 17"/>
          <p:cNvSpPr/>
          <p:nvPr/>
        </p:nvSpPr>
        <p:spPr>
          <a:xfrm>
            <a:off x="2146568" y="7810500"/>
            <a:ext cx="978022" cy="304800"/>
          </a:xfrm>
          <a:prstGeom prst="rect">
            <a:avLst/>
          </a:prstGeom>
          <a:noFill/>
          <a:ln/>
        </p:spPr>
      </p:sp>
      <p:pic>
        <p:nvPicPr>
          <p:cNvPr id="23"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71971" y="7835900"/>
            <a:ext cx="254032" cy="254000"/>
          </a:xfrm>
          <a:prstGeom prst="rect">
            <a:avLst/>
          </a:prstGeom>
        </p:spPr>
      </p:pic>
      <p:sp>
        <p:nvSpPr>
          <p:cNvPr id="24" name="Text 18"/>
          <p:cNvSpPr/>
          <p:nvPr/>
        </p:nvSpPr>
        <p:spPr>
          <a:xfrm>
            <a:off x="2536084" y="7823200"/>
            <a:ext cx="630846" cy="364067"/>
          </a:xfrm>
          <a:prstGeom prst="rect">
            <a:avLst/>
          </a:prstGeom>
          <a:noFill/>
          <a:ln/>
        </p:spPr>
        <p:txBody>
          <a:bodyPr wrap="square" lIns="0" tIns="0" rIns="0" bIns="0" rtlCol="0" anchor="t"/>
          <a:lstStyle/>
          <a:p>
            <a:pPr marL="0" indent="0" algn="ctr">
              <a:lnSpc>
                <a:spcPts val="2200"/>
              </a:lnSpc>
              <a:buNone/>
            </a:pPr>
            <a:r>
              <a:rPr lang="en-US" sz="2000" dirty="0">
                <a:solidFill>
                  <a:srgbClr val="F6F6F6">
                    <a:alpha val="100000"/>
                  </a:srgbClr>
                </a:solidFill>
                <a:latin typeface="Inter Regular" pitchFamily="34" charset="0"/>
                <a:ea typeface="Inter Regular" pitchFamily="34" charset="-122"/>
                <a:cs typeface="Inter Regular" pitchFamily="34" charset="-120"/>
              </a:rPr>
              <a:t>Web</a:t>
            </a:r>
            <a:endParaRPr lang="en-US" sz="2000" dirty="0"/>
          </a:p>
        </p:txBody>
      </p:sp>
      <p:sp>
        <p:nvSpPr>
          <p:cNvPr id="25" name="Shape 19"/>
          <p:cNvSpPr/>
          <p:nvPr/>
        </p:nvSpPr>
        <p:spPr>
          <a:xfrm>
            <a:off x="5144143" y="7632700"/>
            <a:ext cx="2222778" cy="660400"/>
          </a:xfrm>
          <a:prstGeom prst="roundRect">
            <a:avLst>
              <a:gd name="adj" fmla="val 77538"/>
            </a:avLst>
          </a:prstGeom>
          <a:solidFill>
            <a:srgbClr val="FF8B32">
              <a:alpha val="100000"/>
            </a:srgbClr>
          </a:solidFill>
          <a:ln/>
        </p:spPr>
      </p:sp>
      <p:sp>
        <p:nvSpPr>
          <p:cNvPr id="26" name="Text 20"/>
          <p:cNvSpPr/>
          <p:nvPr/>
        </p:nvSpPr>
        <p:spPr>
          <a:xfrm>
            <a:off x="6206842" y="7823200"/>
            <a:ext cx="567338" cy="364067"/>
          </a:xfrm>
          <a:prstGeom prst="rect">
            <a:avLst/>
          </a:prstGeom>
          <a:noFill/>
          <a:ln/>
        </p:spPr>
        <p:txBody>
          <a:bodyPr wrap="square" lIns="0" tIns="0" rIns="0" bIns="0" rtlCol="0" anchor="t"/>
          <a:lstStyle/>
          <a:p>
            <a:pPr marL="0" indent="0" algn="ctr">
              <a:lnSpc>
                <a:spcPts val="2200"/>
              </a:lnSpc>
              <a:buNone/>
            </a:pPr>
            <a:r>
              <a:rPr lang="en-US" sz="2000" dirty="0">
                <a:solidFill>
                  <a:srgbClr val="F6F6F6">
                    <a:alpha val="100000"/>
                  </a:srgbClr>
                </a:solidFill>
                <a:latin typeface="Inter Regular" pitchFamily="34" charset="0"/>
                <a:ea typeface="Inter Regular" pitchFamily="34" charset="-122"/>
                <a:cs typeface="Inter Regular" pitchFamily="34" charset="-120"/>
              </a:rPr>
              <a:t>App</a:t>
            </a:r>
            <a:endParaRPr lang="en-US" sz="2000" dirty="0"/>
          </a:p>
        </p:txBody>
      </p:sp>
      <p:pic>
        <p:nvPicPr>
          <p:cNvPr id="28" name="Image 5"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817327" y="7829550"/>
            <a:ext cx="260383" cy="260350"/>
          </a:xfrm>
          <a:prstGeom prst="rect">
            <a:avLst/>
          </a:prstGeom>
        </p:spPr>
      </p:pic>
      <p:sp>
        <p:nvSpPr>
          <p:cNvPr id="29" name="Shape 21"/>
          <p:cNvSpPr/>
          <p:nvPr/>
        </p:nvSpPr>
        <p:spPr>
          <a:xfrm>
            <a:off x="8764095" y="7632700"/>
            <a:ext cx="2222778" cy="660400"/>
          </a:xfrm>
          <a:prstGeom prst="roundRect">
            <a:avLst>
              <a:gd name="adj" fmla="val 77538"/>
            </a:avLst>
          </a:prstGeom>
          <a:solidFill>
            <a:srgbClr val="FFB66D">
              <a:alpha val="100000"/>
            </a:srgbClr>
          </a:solidFill>
          <a:ln/>
        </p:spPr>
      </p:sp>
      <p:sp>
        <p:nvSpPr>
          <p:cNvPr id="30" name="Text 22"/>
          <p:cNvSpPr/>
          <p:nvPr/>
        </p:nvSpPr>
        <p:spPr>
          <a:xfrm>
            <a:off x="9750585" y="7823200"/>
            <a:ext cx="668950" cy="364067"/>
          </a:xfrm>
          <a:prstGeom prst="rect">
            <a:avLst/>
          </a:prstGeom>
          <a:noFill/>
          <a:ln/>
        </p:spPr>
        <p:txBody>
          <a:bodyPr wrap="square" lIns="0" tIns="0" rIns="0" bIns="0" rtlCol="0" anchor="t"/>
          <a:lstStyle/>
          <a:p>
            <a:pPr marL="0" indent="0" algn="ctr">
              <a:lnSpc>
                <a:spcPts val="2200"/>
              </a:lnSpc>
              <a:buNone/>
            </a:pPr>
            <a:r>
              <a:rPr lang="en-US" sz="2000" dirty="0">
                <a:solidFill>
                  <a:srgbClr val="F6F6F6">
                    <a:alpha val="100000"/>
                  </a:srgbClr>
                </a:solidFill>
                <a:latin typeface="Inter Regular" pitchFamily="34" charset="0"/>
                <a:ea typeface="Inter Regular" pitchFamily="34" charset="-122"/>
                <a:cs typeface="Inter Regular" pitchFamily="34" charset="-120"/>
              </a:rPr>
              <a:t>CRM</a:t>
            </a:r>
            <a:endParaRPr lang="en-US" sz="2000" dirty="0"/>
          </a:p>
        </p:txBody>
      </p:sp>
      <p:pic>
        <p:nvPicPr>
          <p:cNvPr id="32" name="Image 7"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11876" y="7861300"/>
            <a:ext cx="254032" cy="203200"/>
          </a:xfrm>
          <a:prstGeom prst="rect">
            <a:avLst/>
          </a:prstGeom>
        </p:spPr>
      </p:pic>
      <p:sp>
        <p:nvSpPr>
          <p:cNvPr id="33" name="Shape 23"/>
          <p:cNvSpPr/>
          <p:nvPr/>
        </p:nvSpPr>
        <p:spPr>
          <a:xfrm>
            <a:off x="13412876" y="7632700"/>
            <a:ext cx="2222778" cy="660400"/>
          </a:xfrm>
          <a:prstGeom prst="roundRect">
            <a:avLst>
              <a:gd name="adj" fmla="val 77538"/>
            </a:avLst>
          </a:prstGeom>
          <a:solidFill>
            <a:srgbClr val="F6F6F6">
              <a:alpha val="100000"/>
            </a:srgbClr>
          </a:solidFill>
          <a:ln w="12700">
            <a:solidFill>
              <a:srgbClr val="D1D1D1"/>
            </a:solidFill>
            <a:prstDash val="solid"/>
          </a:ln>
        </p:spPr>
      </p:sp>
      <p:sp>
        <p:nvSpPr>
          <p:cNvPr id="34" name="Text 24"/>
          <p:cNvSpPr/>
          <p:nvPr/>
        </p:nvSpPr>
        <p:spPr>
          <a:xfrm>
            <a:off x="14450173" y="7823200"/>
            <a:ext cx="605442" cy="364067"/>
          </a:xfrm>
          <a:prstGeom prst="rect">
            <a:avLst/>
          </a:prstGeom>
          <a:noFill/>
          <a:ln/>
        </p:spPr>
        <p:txBody>
          <a:bodyPr wrap="square" lIns="0" tIns="0" rIns="0" bIns="0" rtlCol="0" anchor="t"/>
          <a:lstStyle/>
          <a:p>
            <a:pPr marL="0" indent="0" algn="ctr">
              <a:lnSpc>
                <a:spcPts val="2200"/>
              </a:lnSpc>
              <a:buNone/>
            </a:pPr>
            <a:r>
              <a:rPr lang="en-US" sz="2000" dirty="0">
                <a:solidFill>
                  <a:srgbClr val="6D6D6D">
                    <a:alpha val="100000"/>
                  </a:srgbClr>
                </a:solidFill>
                <a:latin typeface="Inter Regular" pitchFamily="34" charset="0"/>
                <a:ea typeface="Inter Regular" pitchFamily="34" charset="-122"/>
                <a:cs typeface="Inter Regular" pitchFamily="34" charset="-120"/>
              </a:rPr>
              <a:t>POS</a:t>
            </a:r>
            <a:endParaRPr lang="en-US" sz="2000" dirty="0"/>
          </a:p>
        </p:txBody>
      </p:sp>
      <p:pic>
        <p:nvPicPr>
          <p:cNvPr id="36" name="Image 9"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060657" y="7835900"/>
            <a:ext cx="254032" cy="254000"/>
          </a:xfrm>
          <a:prstGeom prst="rect">
            <a:avLst/>
          </a:prstGeom>
        </p:spPr>
      </p:pic>
      <p:sp>
        <p:nvSpPr>
          <p:cNvPr id="37" name="Shape 25"/>
          <p:cNvSpPr/>
          <p:nvPr/>
        </p:nvSpPr>
        <p:spPr>
          <a:xfrm>
            <a:off x="17032829" y="7632700"/>
            <a:ext cx="2222778" cy="660400"/>
          </a:xfrm>
          <a:prstGeom prst="roundRect">
            <a:avLst>
              <a:gd name="adj" fmla="val 77538"/>
            </a:avLst>
          </a:prstGeom>
          <a:solidFill>
            <a:srgbClr val="F6F6F6">
              <a:alpha val="100000"/>
            </a:srgbClr>
          </a:solidFill>
          <a:ln w="12700">
            <a:solidFill>
              <a:srgbClr val="D1D1D1"/>
            </a:solidFill>
            <a:prstDash val="solid"/>
          </a:ln>
        </p:spPr>
      </p:sp>
      <p:sp>
        <p:nvSpPr>
          <p:cNvPr id="38" name="Text 26"/>
          <p:cNvSpPr/>
          <p:nvPr/>
        </p:nvSpPr>
        <p:spPr>
          <a:xfrm>
            <a:off x="17816093" y="7823200"/>
            <a:ext cx="1062699" cy="364067"/>
          </a:xfrm>
          <a:prstGeom prst="rect">
            <a:avLst/>
          </a:prstGeom>
          <a:noFill/>
          <a:ln/>
        </p:spPr>
        <p:txBody>
          <a:bodyPr wrap="square" lIns="0" tIns="0" rIns="0" bIns="0" rtlCol="0" anchor="t"/>
          <a:lstStyle/>
          <a:p>
            <a:pPr marL="0" indent="0" algn="ctr">
              <a:lnSpc>
                <a:spcPts val="2200"/>
              </a:lnSpc>
              <a:buNone/>
            </a:pPr>
            <a:r>
              <a:rPr lang="en-US" sz="2000" dirty="0">
                <a:solidFill>
                  <a:srgbClr val="6D6D6D">
                    <a:alpha val="100000"/>
                  </a:srgbClr>
                </a:solidFill>
                <a:latin typeface="Inter Regular" pitchFamily="34" charset="0"/>
                <a:ea typeface="Inter Regular" pitchFamily="34" charset="-122"/>
                <a:cs typeface="Inter Regular" pitchFamily="34" charset="-120"/>
              </a:rPr>
              <a:t>Support</a:t>
            </a:r>
            <a:endParaRPr lang="en-US" sz="2000" dirty="0"/>
          </a:p>
        </p:txBody>
      </p:sp>
      <p:pic>
        <p:nvPicPr>
          <p:cNvPr id="40" name="Image 11"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464683" y="7848600"/>
            <a:ext cx="228629" cy="228600"/>
          </a:xfrm>
          <a:prstGeom prst="rect">
            <a:avLst/>
          </a:prstGeom>
        </p:spPr>
      </p:pic>
      <p:sp>
        <p:nvSpPr>
          <p:cNvPr id="41" name="Shape 27"/>
          <p:cNvSpPr/>
          <p:nvPr/>
        </p:nvSpPr>
        <p:spPr>
          <a:xfrm>
            <a:off x="20640080" y="7632700"/>
            <a:ext cx="2222778" cy="660400"/>
          </a:xfrm>
          <a:prstGeom prst="roundRect">
            <a:avLst>
              <a:gd name="adj" fmla="val 77538"/>
            </a:avLst>
          </a:prstGeom>
          <a:solidFill>
            <a:srgbClr val="F6F6F6">
              <a:alpha val="100000"/>
            </a:srgbClr>
          </a:solidFill>
          <a:ln w="12700">
            <a:solidFill>
              <a:srgbClr val="D1D1D1"/>
            </a:solidFill>
            <a:prstDash val="solid"/>
          </a:ln>
        </p:spPr>
      </p:sp>
      <p:sp>
        <p:nvSpPr>
          <p:cNvPr id="42" name="Text 28"/>
          <p:cNvSpPr/>
          <p:nvPr/>
        </p:nvSpPr>
        <p:spPr>
          <a:xfrm>
            <a:off x="21715481" y="7823200"/>
            <a:ext cx="554636" cy="364067"/>
          </a:xfrm>
          <a:prstGeom prst="rect">
            <a:avLst/>
          </a:prstGeom>
          <a:noFill/>
          <a:ln/>
        </p:spPr>
        <p:txBody>
          <a:bodyPr wrap="square" lIns="0" tIns="0" rIns="0" bIns="0" rtlCol="0" anchor="t"/>
          <a:lstStyle/>
          <a:p>
            <a:pPr marL="0" indent="0" algn="ctr">
              <a:lnSpc>
                <a:spcPts val="2200"/>
              </a:lnSpc>
              <a:buNone/>
            </a:pPr>
            <a:r>
              <a:rPr lang="en-US" sz="2000" dirty="0">
                <a:solidFill>
                  <a:srgbClr val="6D6D6D">
                    <a:alpha val="100000"/>
                  </a:srgbClr>
                </a:solidFill>
                <a:latin typeface="Inter Regular" pitchFamily="34" charset="0"/>
                <a:ea typeface="Inter Regular" pitchFamily="34" charset="-122"/>
                <a:cs typeface="Inter Regular" pitchFamily="34" charset="-120"/>
              </a:rPr>
              <a:t>Ads</a:t>
            </a:r>
            <a:endParaRPr lang="en-US" sz="2000" dirty="0"/>
          </a:p>
        </p:txBody>
      </p:sp>
      <p:pic>
        <p:nvPicPr>
          <p:cNvPr id="44" name="Image 13"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1313264" y="7835900"/>
            <a:ext cx="254032" cy="203200"/>
          </a:xfrm>
          <a:prstGeom prst="rect">
            <a:avLst/>
          </a:prstGeom>
        </p:spPr>
      </p:pic>
      <p:pic>
        <p:nvPicPr>
          <p:cNvPr id="45" name="Image 14"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1351369" y="7874000"/>
            <a:ext cx="101613" cy="228600"/>
          </a:xfrm>
          <a:prstGeom prst="rect">
            <a:avLst/>
          </a:prstGeom>
        </p:spPr>
      </p:pic>
      <p:sp>
        <p:nvSpPr>
          <p:cNvPr id="46" name="Shape 29"/>
          <p:cNvSpPr/>
          <p:nvPr/>
        </p:nvSpPr>
        <p:spPr>
          <a:xfrm>
            <a:off x="12079210" y="7848600"/>
            <a:ext cx="228629" cy="228600"/>
          </a:xfrm>
          <a:prstGeom prst="ellipse">
            <a:avLst/>
          </a:prstGeom>
          <a:solidFill>
            <a:srgbClr val="FF6A0A">
              <a:alpha val="100000"/>
            </a:srgbClr>
          </a:solidFill>
          <a:ln/>
        </p:spPr>
      </p:sp>
      <p:sp>
        <p:nvSpPr>
          <p:cNvPr id="47" name="Shape 30"/>
          <p:cNvSpPr/>
          <p:nvPr/>
        </p:nvSpPr>
        <p:spPr>
          <a:xfrm>
            <a:off x="13628803" y="7912100"/>
            <a:ext cx="101613" cy="101600"/>
          </a:xfrm>
          <a:prstGeom prst="ellipse">
            <a:avLst/>
          </a:prstGeom>
          <a:solidFill>
            <a:srgbClr val="B0B0B0">
              <a:alpha val="100000"/>
            </a:srgbClr>
          </a:solidFill>
          <a:ln/>
        </p:spPr>
      </p:sp>
      <p:sp>
        <p:nvSpPr>
          <p:cNvPr id="48" name="Text 31"/>
          <p:cNvSpPr/>
          <p:nvPr/>
        </p:nvSpPr>
        <p:spPr>
          <a:xfrm>
            <a:off x="2032254" y="1549400"/>
            <a:ext cx="1117740" cy="698500"/>
          </a:xfrm>
          <a:prstGeom prst="rect">
            <a:avLst/>
          </a:prstGeom>
          <a:noFill/>
          <a:ln/>
        </p:spPr>
        <p:txBody>
          <a:bodyPr wrap="square" lIns="0" tIns="0" rIns="0" bIns="0" rtlCol="0" anchor="t"/>
          <a:lstStyle/>
          <a:p>
            <a:pPr marL="0" indent="0" algn="ctr">
              <a:lnSpc>
                <a:spcPts val="4500"/>
              </a:lnSpc>
              <a:buNone/>
            </a:pPr>
            <a:r>
              <a:rPr lang="en-US" sz="3000" kern="0" spc="-120" dirty="0">
                <a:solidFill>
                  <a:srgbClr val="000000">
                    <a:alpha val="100000"/>
                  </a:srgbClr>
                </a:solidFill>
                <a:latin typeface="Funnel Display Bold" pitchFamily="34" charset="0"/>
                <a:ea typeface="Funnel Display Bold" pitchFamily="34" charset="-122"/>
                <a:cs typeface="Funnel Display Bold" pitchFamily="34" charset="-120"/>
              </a:rPr>
              <a:t>Clario</a:t>
            </a:r>
            <a:endParaRPr lang="en-US" sz="3000" dirty="0"/>
          </a:p>
        </p:txBody>
      </p:sp>
      <p:pic>
        <p:nvPicPr>
          <p:cNvPr id="49" name="Image 15"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524191" y="1524000"/>
            <a:ext cx="444556" cy="622300"/>
          </a:xfrm>
          <a:prstGeom prst="rect">
            <a:avLst/>
          </a:prstGeom>
        </p:spPr>
      </p:pic>
      <p:sp>
        <p:nvSpPr>
          <p:cNvPr id="50" name="Text 32"/>
          <p:cNvSpPr/>
          <p:nvPr/>
        </p:nvSpPr>
        <p:spPr>
          <a:xfrm>
            <a:off x="22198141" y="1524000"/>
            <a:ext cx="707055"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2025</a:t>
            </a:r>
            <a:endParaRPr lang="en-US" sz="2000" dirty="0"/>
          </a:p>
        </p:txBody>
      </p:sp>
      <p:sp>
        <p:nvSpPr>
          <p:cNvPr id="51" name="Text 33"/>
          <p:cNvSpPr/>
          <p:nvPr/>
        </p:nvSpPr>
        <p:spPr>
          <a:xfrm>
            <a:off x="1524191" y="2908300"/>
            <a:ext cx="8069742" cy="2937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Today’s Problem: Fragmented Customer Data</a:t>
            </a:r>
            <a:endParaRPr lang="en-US" sz="6400" dirty="0"/>
          </a:p>
        </p:txBody>
      </p:sp>
      <p:sp>
        <p:nvSpPr>
          <p:cNvPr id="52" name="Text 34"/>
          <p:cNvSpPr/>
          <p:nvPr/>
        </p:nvSpPr>
        <p:spPr>
          <a:xfrm>
            <a:off x="16004000" y="2908300"/>
            <a:ext cx="6926599" cy="15917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Customer data is often scattered across various platforms, leading to inefficiencies and a lack of cohesive insights. </a:t>
            </a:r>
            <a:r>
              <a:rPr lang="en-US" sz="1600" dirty="0">
                <a:solidFill>
                  <a:srgbClr val="6D6D6D">
                    <a:alpha val="100000"/>
                  </a:srgbClr>
                </a:solidFill>
                <a:latin typeface="Inter Regular" pitchFamily="34" charset="0"/>
                <a:ea typeface="Inter Regular" pitchFamily="34" charset="-122"/>
                <a:cs typeface="Inter Regular" pitchFamily="34" charset="-120"/>
              </a:rPr>
              <a:t>This fragmentation makes it challenging for businesses to understand their customers fully and deliver personalized experiences. Addressing this issue is crucial for enhancing customer relationships and driving growth.</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Picture Placeholder 2">
            <a:extLst>
              <a:ext uri="{FF2B5EF4-FFF2-40B4-BE49-F238E27FC236}">
                <a16:creationId xmlns:a16="http://schemas.microsoft.com/office/drawing/2014/main" id="{ABA8F1C1-E668-4F28-B83C-C67B95E7207A}"/>
              </a:ext>
            </a:extLst>
          </p:cNvPr>
          <p:cNvSpPr>
            <a:spLocks noGrp="1"/>
          </p:cNvSpPr>
          <p:nvPr>
            <p:ph type="pic" sz="quarter" idx="10"/>
          </p:nvPr>
        </p:nvSpPr>
        <p:spPr>
          <a:xfrm>
            <a:off x="-13278" y="-92013"/>
            <a:ext cx="10311698" cy="13733367"/>
          </a:xfrm>
          <a:prstGeom prst="rect">
            <a:avLst/>
          </a:prstGeom>
          <a:solidFill>
            <a:schemeClr val="bg2">
              <a:lumMod val="50000"/>
            </a:schemeClr>
          </a:solidFill>
        </p:spPr>
        <p:txBody>
          <a:bodyPr/>
          <a:lstStyle/>
          <a:p>
            <a:endParaRPr lang="en-US"/>
          </a:p>
        </p:txBody>
      </p:sp>
      <p:sp>
        <p:nvSpPr>
          <p:cNvPr id="4" name="Text 0">
            <a:extLst>
              <a:ext uri="{FF2B5EF4-FFF2-40B4-BE49-F238E27FC236}">
                <a16:creationId xmlns:a16="http://schemas.microsoft.com/office/drawing/2014/main" id="{99D5A6C3-5759-4E03-975C-416EC520E4A7}"/>
              </a:ext>
            </a:extLst>
          </p:cNvPr>
          <p:cNvSpPr/>
          <p:nvPr/>
        </p:nvSpPr>
        <p:spPr>
          <a:xfrm>
            <a:off x="22261649" y="1524000"/>
            <a:ext cx="567338"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003</a:t>
            </a:r>
            <a:endParaRPr lang="en-US" sz="2000" dirty="0"/>
          </a:p>
        </p:txBody>
      </p:sp>
      <p:sp>
        <p:nvSpPr>
          <p:cNvPr id="5" name="Text 1">
            <a:extLst>
              <a:ext uri="{FF2B5EF4-FFF2-40B4-BE49-F238E27FC236}">
                <a16:creationId xmlns:a16="http://schemas.microsoft.com/office/drawing/2014/main" id="{1F3DB7EC-4E37-4E48-9F4E-E19B16903ECA}"/>
              </a:ext>
            </a:extLst>
          </p:cNvPr>
          <p:cNvSpPr/>
          <p:nvPr/>
        </p:nvSpPr>
        <p:spPr>
          <a:xfrm>
            <a:off x="1494553" y="11836400"/>
            <a:ext cx="707055" cy="364067"/>
          </a:xfrm>
          <a:prstGeom prst="rect">
            <a:avLst/>
          </a:prstGeom>
          <a:noFill/>
          <a:ln/>
        </p:spPr>
        <p:txBody>
          <a:bodyPr wrap="square" lIns="0" tIns="0" rIns="0" bIns="0" rtlCol="0" anchor="t"/>
          <a:lstStyle/>
          <a:p>
            <a:pPr marL="0" indent="0" algn="ctr">
              <a:lnSpc>
                <a:spcPts val="2200"/>
              </a:lnSpc>
              <a:buNone/>
            </a:pPr>
            <a:r>
              <a:rPr lang="en-US" sz="2000" dirty="0">
                <a:solidFill>
                  <a:srgbClr val="FFFFFF">
                    <a:alpha val="100000"/>
                  </a:srgbClr>
                </a:solidFill>
                <a:latin typeface="Inter Regular" pitchFamily="34" charset="0"/>
                <a:ea typeface="Inter Regular" pitchFamily="34" charset="-122"/>
                <a:cs typeface="Inter Regular" pitchFamily="34" charset="-120"/>
              </a:rPr>
              <a:t>2025</a:t>
            </a:r>
            <a:endParaRPr lang="en-US" sz="2000" dirty="0"/>
          </a:p>
        </p:txBody>
      </p:sp>
      <p:sp>
        <p:nvSpPr>
          <p:cNvPr id="6" name="Text 2">
            <a:extLst>
              <a:ext uri="{FF2B5EF4-FFF2-40B4-BE49-F238E27FC236}">
                <a16:creationId xmlns:a16="http://schemas.microsoft.com/office/drawing/2014/main" id="{0CCCB039-D8C3-442F-A0D6-9F2B7E75C3DB}"/>
              </a:ext>
            </a:extLst>
          </p:cNvPr>
          <p:cNvSpPr/>
          <p:nvPr/>
        </p:nvSpPr>
        <p:spPr>
          <a:xfrm>
            <a:off x="2032254" y="1549400"/>
            <a:ext cx="1117740" cy="698500"/>
          </a:xfrm>
          <a:prstGeom prst="rect">
            <a:avLst/>
          </a:prstGeom>
          <a:noFill/>
          <a:ln/>
        </p:spPr>
        <p:txBody>
          <a:bodyPr wrap="square" lIns="0" tIns="0" rIns="0" bIns="0" rtlCol="0" anchor="t"/>
          <a:lstStyle/>
          <a:p>
            <a:pPr marL="0" indent="0" algn="ctr">
              <a:lnSpc>
                <a:spcPts val="4500"/>
              </a:lnSpc>
              <a:buNone/>
            </a:pPr>
            <a:r>
              <a:rPr lang="en-US" sz="3000" kern="0" spc="-120" dirty="0">
                <a:solidFill>
                  <a:srgbClr val="FFFFFF">
                    <a:alpha val="100000"/>
                  </a:srgbClr>
                </a:solidFill>
                <a:latin typeface="Funnel Display Bold" pitchFamily="34" charset="0"/>
                <a:ea typeface="Funnel Display Bold" pitchFamily="34" charset="-122"/>
                <a:cs typeface="Funnel Display Bold" pitchFamily="34" charset="-120"/>
              </a:rPr>
              <a:t>Clario</a:t>
            </a:r>
            <a:endParaRPr lang="en-US" sz="3000" dirty="0"/>
          </a:p>
        </p:txBody>
      </p:sp>
      <p:pic>
        <p:nvPicPr>
          <p:cNvPr id="7" name="Image 2" descr=" ">
            <a:extLst>
              <a:ext uri="{FF2B5EF4-FFF2-40B4-BE49-F238E27FC236}">
                <a16:creationId xmlns:a16="http://schemas.microsoft.com/office/drawing/2014/main" id="{1F2216D9-18F7-4D60-94F3-D3DFED6A3D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24191" y="1524000"/>
            <a:ext cx="444556" cy="622300"/>
          </a:xfrm>
          <a:prstGeom prst="rect">
            <a:avLst/>
          </a:prstGeom>
        </p:spPr>
      </p:pic>
      <p:sp>
        <p:nvSpPr>
          <p:cNvPr id="8" name="Text 3">
            <a:extLst>
              <a:ext uri="{FF2B5EF4-FFF2-40B4-BE49-F238E27FC236}">
                <a16:creationId xmlns:a16="http://schemas.microsoft.com/office/drawing/2014/main" id="{1458E0B6-55F9-487A-875D-FB94D9615818}"/>
              </a:ext>
            </a:extLst>
          </p:cNvPr>
          <p:cNvSpPr/>
          <p:nvPr/>
        </p:nvSpPr>
        <p:spPr>
          <a:xfrm>
            <a:off x="1524191" y="2908300"/>
            <a:ext cx="8120548"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FFFFFF">
                    <a:alpha val="100000"/>
                  </a:srgbClr>
                </a:solidFill>
                <a:latin typeface="Inter Semi Bold" pitchFamily="34" charset="0"/>
                <a:ea typeface="Inter Semi Bold" pitchFamily="34" charset="-122"/>
                <a:cs typeface="Inter Semi Bold" pitchFamily="34" charset="-120"/>
              </a:rPr>
              <a:t>Business Outcomes We Need (2025)</a:t>
            </a:r>
            <a:endParaRPr lang="en-US" sz="6400" dirty="0"/>
          </a:p>
        </p:txBody>
      </p:sp>
      <p:sp>
        <p:nvSpPr>
          <p:cNvPr id="9" name="Text 4">
            <a:extLst>
              <a:ext uri="{FF2B5EF4-FFF2-40B4-BE49-F238E27FC236}">
                <a16:creationId xmlns:a16="http://schemas.microsoft.com/office/drawing/2014/main" id="{733F4700-75FC-40F0-9229-02D0EAFCF142}"/>
              </a:ext>
            </a:extLst>
          </p:cNvPr>
          <p:cNvSpPr/>
          <p:nvPr/>
        </p:nvSpPr>
        <p:spPr>
          <a:xfrm>
            <a:off x="17396941" y="3009900"/>
            <a:ext cx="5402409" cy="1286933"/>
          </a:xfrm>
          <a:prstGeom prst="rect">
            <a:avLst/>
          </a:prstGeom>
          <a:noFill/>
          <a:ln/>
        </p:spPr>
        <p:txBody>
          <a:bodyPr wrap="square" lIns="0" tIns="0" rIns="0" bIns="0" rtlCol="0" anchor="t"/>
          <a:lstStyle/>
          <a:p>
            <a:pPr marL="0" indent="0" algn="r">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We aim to achieve specific business outcomes that drive growth and success. </a:t>
            </a:r>
            <a:r>
              <a:rPr lang="en-US" sz="1600" dirty="0">
                <a:solidFill>
                  <a:srgbClr val="888888">
                    <a:alpha val="100000"/>
                  </a:srgbClr>
                </a:solidFill>
                <a:latin typeface="Inter Regular" pitchFamily="34" charset="0"/>
                <a:ea typeface="Inter Regular" pitchFamily="34" charset="-122"/>
                <a:cs typeface="Inter Regular" pitchFamily="34" charset="-120"/>
              </a:rPr>
              <a:t>These outcomes include increased revenue, improved customer satisfaction, and enhanced operational efficiency. </a:t>
            </a:r>
            <a:endParaRPr lang="en-US" sz="1600" dirty="0"/>
          </a:p>
        </p:txBody>
      </p:sp>
      <p:sp>
        <p:nvSpPr>
          <p:cNvPr id="10" name="Text 5">
            <a:extLst>
              <a:ext uri="{FF2B5EF4-FFF2-40B4-BE49-F238E27FC236}">
                <a16:creationId xmlns:a16="http://schemas.microsoft.com/office/drawing/2014/main" id="{187B8AFB-85B1-4FD2-B259-93CF4FCB4753}"/>
              </a:ext>
            </a:extLst>
          </p:cNvPr>
          <p:cNvSpPr/>
          <p:nvPr/>
        </p:nvSpPr>
        <p:spPr>
          <a:xfrm>
            <a:off x="1536892" y="9156700"/>
            <a:ext cx="6168738" cy="1227667"/>
          </a:xfrm>
          <a:prstGeom prst="rect">
            <a:avLst/>
          </a:prstGeom>
          <a:noFill/>
          <a:ln/>
        </p:spPr>
        <p:txBody>
          <a:bodyPr wrap="square" lIns="0" tIns="0" rIns="0" bIns="0" rtlCol="0" anchor="t"/>
          <a:lstStyle/>
          <a:p>
            <a:pPr marL="0" indent="0" algn="l">
              <a:lnSpc>
                <a:spcPts val="3000"/>
              </a:lnSpc>
              <a:buNone/>
            </a:pPr>
            <a:r>
              <a:rPr lang="en-US" sz="2000" dirty="0">
                <a:solidFill>
                  <a:srgbClr val="FFFFFF">
                    <a:alpha val="100000"/>
                  </a:srgbClr>
                </a:solidFill>
                <a:latin typeface="Inter Regular" pitchFamily="34" charset="0"/>
                <a:ea typeface="Inter Regular" pitchFamily="34" charset="-122"/>
                <a:cs typeface="Inter Regular" pitchFamily="34" charset="-120"/>
              </a:rPr>
              <a:t>Each of these outcomes maps directly to executive KPIs NRR, CAC, and ROAS. If the CDP can’t move these, it isn’t worth the investment.</a:t>
            </a:r>
            <a:endParaRPr lang="en-US" sz="2000" dirty="0"/>
          </a:p>
        </p:txBody>
      </p:sp>
      <p:grpSp>
        <p:nvGrpSpPr>
          <p:cNvPr id="21" name="Group 20">
            <a:extLst>
              <a:ext uri="{FF2B5EF4-FFF2-40B4-BE49-F238E27FC236}">
                <a16:creationId xmlns:a16="http://schemas.microsoft.com/office/drawing/2014/main" id="{1A121494-70EA-4221-8822-9FA78C0E78AF}"/>
              </a:ext>
            </a:extLst>
          </p:cNvPr>
          <p:cNvGrpSpPr/>
          <p:nvPr/>
        </p:nvGrpSpPr>
        <p:grpSpPr>
          <a:xfrm>
            <a:off x="11088486" y="8890000"/>
            <a:ext cx="5690311" cy="3327400"/>
            <a:chOff x="11088486" y="8890000"/>
            <a:chExt cx="5690311" cy="3327400"/>
          </a:xfrm>
        </p:grpSpPr>
        <p:pic>
          <p:nvPicPr>
            <p:cNvPr id="11" name="Image 3" descr=" ">
              <a:extLst>
                <a:ext uri="{FF2B5EF4-FFF2-40B4-BE49-F238E27FC236}">
                  <a16:creationId xmlns:a16="http://schemas.microsoft.com/office/drawing/2014/main" id="{7FC2EA6C-1806-4D66-8F11-4E302C6096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88486" y="8890000"/>
              <a:ext cx="5690311" cy="3327400"/>
            </a:xfrm>
            <a:prstGeom prst="rect">
              <a:avLst/>
            </a:prstGeom>
          </p:spPr>
        </p:pic>
        <p:sp>
          <p:nvSpPr>
            <p:cNvPr id="13" name="Text 6">
              <a:extLst>
                <a:ext uri="{FF2B5EF4-FFF2-40B4-BE49-F238E27FC236}">
                  <a16:creationId xmlns:a16="http://schemas.microsoft.com/office/drawing/2014/main" id="{BFC7CCC2-4286-43FD-9E22-158437B51716}"/>
                </a:ext>
              </a:extLst>
            </p:cNvPr>
            <p:cNvSpPr/>
            <p:nvPr/>
          </p:nvSpPr>
          <p:spPr>
            <a:xfrm>
              <a:off x="11736267" y="11125200"/>
              <a:ext cx="4475193" cy="524933"/>
            </a:xfrm>
            <a:prstGeom prst="rect">
              <a:avLst/>
            </a:prstGeom>
            <a:noFill/>
            <a:ln/>
          </p:spPr>
          <p:txBody>
            <a:bodyPr wrap="square" lIns="0" tIns="0" rIns="0" bIns="0" rtlCol="0" anchor="t"/>
            <a:lstStyle/>
            <a:p>
              <a:pPr marL="0" indent="0" algn="l">
                <a:lnSpc>
                  <a:spcPts val="1760"/>
                </a:lnSpc>
                <a:buNone/>
              </a:pPr>
              <a:r>
                <a:rPr lang="en-US" sz="1600" dirty="0">
                  <a:solidFill>
                    <a:srgbClr val="FFF6EC">
                      <a:alpha val="100000"/>
                    </a:srgbClr>
                  </a:solidFill>
                  <a:latin typeface="Inter Bold" pitchFamily="34" charset="0"/>
                  <a:ea typeface="Inter Bold" pitchFamily="34" charset="-122"/>
                  <a:cs typeface="Inter Bold" pitchFamily="34" charset="-120"/>
                </a:rPr>
                <a:t>Incremental Revenue,</a:t>
              </a:r>
              <a:r>
                <a:rPr lang="en-US" sz="1600" dirty="0">
                  <a:solidFill>
                    <a:srgbClr val="FFF6EC">
                      <a:alpha val="100000"/>
                    </a:srgbClr>
                  </a:solidFill>
                  <a:latin typeface="Inter Regular" pitchFamily="34" charset="0"/>
                  <a:ea typeface="Inter Regular" pitchFamily="34" charset="-122"/>
                  <a:cs typeface="Inter Regular" pitchFamily="34" charset="-120"/>
                </a:rPr>
                <a:t> from better targeting &amp; personalization</a:t>
              </a:r>
              <a:endParaRPr lang="en-US" sz="1600" dirty="0"/>
            </a:p>
          </p:txBody>
        </p:sp>
      </p:grpSp>
      <p:sp>
        <p:nvSpPr>
          <p:cNvPr id="26" name="Text 10">
            <a:extLst>
              <a:ext uri="{FF2B5EF4-FFF2-40B4-BE49-F238E27FC236}">
                <a16:creationId xmlns:a16="http://schemas.microsoft.com/office/drawing/2014/main" id="{16EE86B2-CC13-447D-91D3-DC4E104F9CF5}"/>
              </a:ext>
            </a:extLst>
          </p:cNvPr>
          <p:cNvSpPr/>
          <p:nvPr/>
        </p:nvSpPr>
        <p:spPr>
          <a:xfrm>
            <a:off x="12293044" y="9604586"/>
            <a:ext cx="3658057" cy="1752600"/>
          </a:xfrm>
          <a:prstGeom prst="rect">
            <a:avLst/>
          </a:prstGeom>
          <a:noFill/>
          <a:ln/>
        </p:spPr>
        <p:txBody>
          <a:bodyPr wrap="square" lIns="0" tIns="0" rIns="0" bIns="0" rtlCol="0" anchor="t"/>
          <a:lstStyle/>
          <a:p>
            <a:pPr marL="0" indent="0" algn="l">
              <a:lnSpc>
                <a:spcPts val="10560"/>
              </a:lnSpc>
              <a:buNone/>
            </a:pPr>
            <a:r>
              <a:rPr lang="en-US" sz="9600" kern="0" spc="-96" dirty="0">
                <a:gradFill>
                  <a:gsLst>
                    <a:gs pos="0">
                      <a:schemeClr val="bg1"/>
                    </a:gs>
                    <a:gs pos="100000">
                      <a:schemeClr val="bg1">
                        <a:alpha val="7000"/>
                      </a:schemeClr>
                    </a:gs>
                  </a:gsLst>
                  <a:lin ang="5400000" scaled="1"/>
                </a:gradFill>
                <a:latin typeface="Inter Bold" pitchFamily="34" charset="0"/>
                <a:ea typeface="Inter Bold" pitchFamily="34" charset="-122"/>
                <a:cs typeface="Inter Bold" pitchFamily="34" charset="-120"/>
              </a:rPr>
              <a:t>+12%</a:t>
            </a:r>
            <a:endParaRPr lang="en-US" sz="9600" dirty="0">
              <a:gradFill>
                <a:gsLst>
                  <a:gs pos="0">
                    <a:schemeClr val="bg1"/>
                  </a:gs>
                  <a:gs pos="100000">
                    <a:schemeClr val="bg1">
                      <a:alpha val="7000"/>
                    </a:schemeClr>
                  </a:gs>
                </a:gsLst>
                <a:lin ang="5400000" scaled="1"/>
              </a:gradFill>
            </a:endParaRPr>
          </a:p>
        </p:txBody>
      </p:sp>
      <p:grpSp>
        <p:nvGrpSpPr>
          <p:cNvPr id="22" name="Group 21">
            <a:extLst>
              <a:ext uri="{FF2B5EF4-FFF2-40B4-BE49-F238E27FC236}">
                <a16:creationId xmlns:a16="http://schemas.microsoft.com/office/drawing/2014/main" id="{83B0E1EB-3D72-4965-96BC-B4CB2E829A48}"/>
              </a:ext>
            </a:extLst>
          </p:cNvPr>
          <p:cNvGrpSpPr/>
          <p:nvPr/>
        </p:nvGrpSpPr>
        <p:grpSpPr>
          <a:xfrm>
            <a:off x="17096337" y="8890000"/>
            <a:ext cx="5690311" cy="3327400"/>
            <a:chOff x="17096337" y="8890000"/>
            <a:chExt cx="5690311" cy="3327400"/>
          </a:xfrm>
        </p:grpSpPr>
        <p:sp>
          <p:nvSpPr>
            <p:cNvPr id="14" name="Shape 7">
              <a:extLst>
                <a:ext uri="{FF2B5EF4-FFF2-40B4-BE49-F238E27FC236}">
                  <a16:creationId xmlns:a16="http://schemas.microsoft.com/office/drawing/2014/main" id="{50A0F9D3-FF09-4F48-A22F-DC344554982F}"/>
                </a:ext>
              </a:extLst>
            </p:cNvPr>
            <p:cNvSpPr/>
            <p:nvPr/>
          </p:nvSpPr>
          <p:spPr>
            <a:xfrm>
              <a:off x="17096337" y="8890000"/>
              <a:ext cx="5690311" cy="3327400"/>
            </a:xfrm>
            <a:prstGeom prst="roundRect">
              <a:avLst>
                <a:gd name="adj" fmla="val 5221"/>
              </a:avLst>
            </a:prstGeom>
            <a:solidFill>
              <a:srgbClr val="FF8B32">
                <a:alpha val="100000"/>
              </a:srgbClr>
            </a:solidFill>
            <a:ln w="12700">
              <a:solidFill>
                <a:srgbClr val="FFD4A5"/>
              </a:solidFill>
              <a:prstDash val="solid"/>
            </a:ln>
          </p:spPr>
        </p:sp>
        <p:sp>
          <p:nvSpPr>
            <p:cNvPr id="16" name="Text 8">
              <a:extLst>
                <a:ext uri="{FF2B5EF4-FFF2-40B4-BE49-F238E27FC236}">
                  <a16:creationId xmlns:a16="http://schemas.microsoft.com/office/drawing/2014/main" id="{FDFDD338-6D47-4654-B0DE-2E048FB2CC95}"/>
                </a:ext>
              </a:extLst>
            </p:cNvPr>
            <p:cNvSpPr/>
            <p:nvPr/>
          </p:nvSpPr>
          <p:spPr>
            <a:xfrm>
              <a:off x="17680610" y="11239500"/>
              <a:ext cx="4538701" cy="296333"/>
            </a:xfrm>
            <a:prstGeom prst="rect">
              <a:avLst/>
            </a:prstGeom>
            <a:noFill/>
            <a:ln/>
          </p:spPr>
          <p:txBody>
            <a:bodyPr wrap="square" lIns="0" tIns="0" rIns="0" bIns="0" rtlCol="0" anchor="t"/>
            <a:lstStyle/>
            <a:p>
              <a:pPr marL="0" indent="0" algn="l">
                <a:lnSpc>
                  <a:spcPts val="1760"/>
                </a:lnSpc>
                <a:buNone/>
              </a:pPr>
              <a:r>
                <a:rPr lang="en-US" sz="1600" dirty="0">
                  <a:solidFill>
                    <a:srgbClr val="FFF6EC">
                      <a:alpha val="100000"/>
                    </a:srgbClr>
                  </a:solidFill>
                  <a:latin typeface="Inter Bold" pitchFamily="34" charset="0"/>
                  <a:ea typeface="Inter Bold" pitchFamily="34" charset="-122"/>
                  <a:cs typeface="Inter Bold" pitchFamily="34" charset="-120"/>
                </a:rPr>
                <a:t>Media Waste, </a:t>
              </a:r>
              <a:r>
                <a:rPr lang="en-US" sz="1600" dirty="0">
                  <a:solidFill>
                    <a:srgbClr val="FFF6EC">
                      <a:alpha val="100000"/>
                    </a:srgbClr>
                  </a:solidFill>
                  <a:latin typeface="Inter Regular" pitchFamily="34" charset="0"/>
                  <a:ea typeface="Inter Regular" pitchFamily="34" charset="-122"/>
                  <a:cs typeface="Inter Regular" pitchFamily="34" charset="-120"/>
                </a:rPr>
                <a:t>via suppression &amp; deduplication</a:t>
              </a:r>
              <a:endParaRPr lang="en-US" sz="1600" dirty="0"/>
            </a:p>
          </p:txBody>
        </p:sp>
      </p:grpSp>
      <p:sp>
        <p:nvSpPr>
          <p:cNvPr id="17" name="Shape 9">
            <a:extLst>
              <a:ext uri="{FF2B5EF4-FFF2-40B4-BE49-F238E27FC236}">
                <a16:creationId xmlns:a16="http://schemas.microsoft.com/office/drawing/2014/main" id="{3DC20D27-77E4-4791-93E8-21577B91E604}"/>
              </a:ext>
            </a:extLst>
          </p:cNvPr>
          <p:cNvSpPr/>
          <p:nvPr/>
        </p:nvSpPr>
        <p:spPr>
          <a:xfrm>
            <a:off x="17096337" y="5245100"/>
            <a:ext cx="5690311" cy="3327400"/>
          </a:xfrm>
          <a:prstGeom prst="roundRect">
            <a:avLst>
              <a:gd name="adj" fmla="val 5221"/>
            </a:avLst>
          </a:prstGeom>
          <a:solidFill>
            <a:srgbClr val="F6F6F6">
              <a:alpha val="100000"/>
            </a:srgbClr>
          </a:solidFill>
          <a:ln w="12700">
            <a:solidFill>
              <a:srgbClr val="FFECD3"/>
            </a:solidFill>
            <a:prstDash val="solid"/>
          </a:ln>
        </p:spPr>
      </p:sp>
      <p:sp>
        <p:nvSpPr>
          <p:cNvPr id="18" name="Text 10">
            <a:extLst>
              <a:ext uri="{FF2B5EF4-FFF2-40B4-BE49-F238E27FC236}">
                <a16:creationId xmlns:a16="http://schemas.microsoft.com/office/drawing/2014/main" id="{38EA67E7-BCAE-472A-B625-AD63DEE6EED7}"/>
              </a:ext>
            </a:extLst>
          </p:cNvPr>
          <p:cNvSpPr/>
          <p:nvPr/>
        </p:nvSpPr>
        <p:spPr>
          <a:xfrm>
            <a:off x="17731416" y="5880100"/>
            <a:ext cx="3658057" cy="1752600"/>
          </a:xfrm>
          <a:prstGeom prst="rect">
            <a:avLst/>
          </a:prstGeom>
          <a:noFill/>
          <a:ln/>
        </p:spPr>
        <p:txBody>
          <a:bodyPr wrap="square" lIns="0" tIns="0" rIns="0" bIns="0" rtlCol="0" anchor="t"/>
          <a:lstStyle/>
          <a:p>
            <a:pPr marL="0" indent="0" algn="l">
              <a:lnSpc>
                <a:spcPts val="10560"/>
              </a:lnSpc>
              <a:buNone/>
            </a:pPr>
            <a:r>
              <a:rPr lang="en-US" sz="9600" kern="0" spc="-96" dirty="0">
                <a:solidFill>
                  <a:srgbClr val="82260C">
                    <a:alpha val="100000"/>
                  </a:srgbClr>
                </a:solidFill>
                <a:latin typeface="Inter Bold" pitchFamily="34" charset="0"/>
                <a:ea typeface="Inter Bold" pitchFamily="34" charset="-122"/>
                <a:cs typeface="Inter Bold" pitchFamily="34" charset="-120"/>
              </a:rPr>
              <a:t>&lt;200</a:t>
            </a:r>
            <a:endParaRPr lang="en-US" sz="9600" dirty="0"/>
          </a:p>
        </p:txBody>
      </p:sp>
      <p:sp>
        <p:nvSpPr>
          <p:cNvPr id="19" name="Text 11">
            <a:extLst>
              <a:ext uri="{FF2B5EF4-FFF2-40B4-BE49-F238E27FC236}">
                <a16:creationId xmlns:a16="http://schemas.microsoft.com/office/drawing/2014/main" id="{DD8D3B19-7E29-4CB7-B5A4-2848571D62F0}"/>
              </a:ext>
            </a:extLst>
          </p:cNvPr>
          <p:cNvSpPr/>
          <p:nvPr/>
        </p:nvSpPr>
        <p:spPr>
          <a:xfrm>
            <a:off x="20983023" y="5880100"/>
            <a:ext cx="1439513" cy="1159933"/>
          </a:xfrm>
          <a:prstGeom prst="rect">
            <a:avLst/>
          </a:prstGeom>
          <a:noFill/>
          <a:ln/>
        </p:spPr>
        <p:txBody>
          <a:bodyPr wrap="square" lIns="0" tIns="0" rIns="0" bIns="0" rtlCol="0" anchor="t"/>
          <a:lstStyle/>
          <a:p>
            <a:pPr marL="0" indent="0" algn="l">
              <a:lnSpc>
                <a:spcPts val="7040"/>
              </a:lnSpc>
              <a:buNone/>
            </a:pPr>
            <a:r>
              <a:rPr lang="en-US" sz="6400" kern="0" spc="-64" dirty="0">
                <a:solidFill>
                  <a:srgbClr val="82260C">
                    <a:alpha val="100000"/>
                  </a:srgbClr>
                </a:solidFill>
                <a:latin typeface="Inter Semi Bold" pitchFamily="34" charset="0"/>
                <a:ea typeface="Inter Semi Bold" pitchFamily="34" charset="-122"/>
                <a:cs typeface="Inter Semi Bold" pitchFamily="34" charset="-120"/>
              </a:rPr>
              <a:t>ms</a:t>
            </a:r>
            <a:endParaRPr lang="en-US" sz="6400" dirty="0"/>
          </a:p>
        </p:txBody>
      </p:sp>
      <p:sp>
        <p:nvSpPr>
          <p:cNvPr id="20" name="Text 12">
            <a:extLst>
              <a:ext uri="{FF2B5EF4-FFF2-40B4-BE49-F238E27FC236}">
                <a16:creationId xmlns:a16="http://schemas.microsoft.com/office/drawing/2014/main" id="{6D0ED46B-7C35-4A7C-AB1B-09497C04311A}"/>
              </a:ext>
            </a:extLst>
          </p:cNvPr>
          <p:cNvSpPr/>
          <p:nvPr/>
        </p:nvSpPr>
        <p:spPr>
          <a:xfrm>
            <a:off x="17731416" y="7480300"/>
            <a:ext cx="4487894" cy="524933"/>
          </a:xfrm>
          <a:prstGeom prst="rect">
            <a:avLst/>
          </a:prstGeom>
          <a:noFill/>
          <a:ln/>
        </p:spPr>
        <p:txBody>
          <a:bodyPr wrap="square" lIns="0" tIns="0" rIns="0" bIns="0" rtlCol="0" anchor="t"/>
          <a:lstStyle/>
          <a:p>
            <a:pPr marL="0" indent="0" algn="l">
              <a:lnSpc>
                <a:spcPts val="1760"/>
              </a:lnSpc>
              <a:buNone/>
            </a:pPr>
            <a:r>
              <a:rPr lang="en-US" sz="1600" dirty="0">
                <a:solidFill>
                  <a:srgbClr val="000000">
                    <a:alpha val="100000"/>
                  </a:srgbClr>
                </a:solidFill>
                <a:latin typeface="Inter Bold" pitchFamily="34" charset="0"/>
                <a:ea typeface="Inter Bold" pitchFamily="34" charset="-122"/>
                <a:cs typeface="Inter Bold" pitchFamily="34" charset="-120"/>
              </a:rPr>
              <a:t>Decision Latency, </a:t>
            </a:r>
            <a:r>
              <a:rPr lang="en-US" sz="1600" dirty="0">
                <a:solidFill>
                  <a:srgbClr val="000000">
                    <a:alpha val="100000"/>
                  </a:srgbClr>
                </a:solidFill>
                <a:latin typeface="Inter Regular" pitchFamily="34" charset="0"/>
                <a:ea typeface="Inter Regular" pitchFamily="34" charset="-122"/>
                <a:cs typeface="Inter Regular" pitchFamily="34" charset="-120"/>
              </a:rPr>
              <a:t>for realtime personalization &amp; fraud checks</a:t>
            </a:r>
            <a:endParaRPr lang="en-US" sz="1600" dirty="0"/>
          </a:p>
        </p:txBody>
      </p:sp>
      <p:sp>
        <p:nvSpPr>
          <p:cNvPr id="27" name="Text 10">
            <a:extLst>
              <a:ext uri="{FF2B5EF4-FFF2-40B4-BE49-F238E27FC236}">
                <a16:creationId xmlns:a16="http://schemas.microsoft.com/office/drawing/2014/main" id="{265259B0-571C-45A5-B837-B7E33D83F3E5}"/>
              </a:ext>
            </a:extLst>
          </p:cNvPr>
          <p:cNvSpPr/>
          <p:nvPr/>
        </p:nvSpPr>
        <p:spPr>
          <a:xfrm>
            <a:off x="18363463" y="9699412"/>
            <a:ext cx="3658057" cy="1752600"/>
          </a:xfrm>
          <a:prstGeom prst="rect">
            <a:avLst/>
          </a:prstGeom>
          <a:noFill/>
          <a:ln/>
        </p:spPr>
        <p:txBody>
          <a:bodyPr wrap="square" lIns="0" tIns="0" rIns="0" bIns="0" rtlCol="0" anchor="t"/>
          <a:lstStyle/>
          <a:p>
            <a:pPr marL="0" indent="0" algn="l">
              <a:lnSpc>
                <a:spcPts val="10560"/>
              </a:lnSpc>
              <a:buNone/>
            </a:pPr>
            <a:r>
              <a:rPr lang="en-US" sz="9600" kern="0" spc="-96" dirty="0">
                <a:gradFill>
                  <a:gsLst>
                    <a:gs pos="0">
                      <a:schemeClr val="bg1"/>
                    </a:gs>
                    <a:gs pos="100000">
                      <a:schemeClr val="bg1">
                        <a:alpha val="7000"/>
                      </a:schemeClr>
                    </a:gs>
                  </a:gsLst>
                  <a:lin ang="5400000" scaled="1"/>
                </a:gradFill>
                <a:latin typeface="Inter Bold" pitchFamily="34" charset="0"/>
                <a:ea typeface="Inter Bold" pitchFamily="34" charset="-122"/>
                <a:cs typeface="Inter Bold" pitchFamily="34" charset="-120"/>
              </a:rPr>
              <a:t>-25%</a:t>
            </a:r>
            <a:endParaRPr lang="en-US" sz="9600" dirty="0">
              <a:gradFill>
                <a:gsLst>
                  <a:gs pos="0">
                    <a:schemeClr val="bg1"/>
                  </a:gs>
                  <a:gs pos="100000">
                    <a:schemeClr val="bg1">
                      <a:alpha val="7000"/>
                    </a:schemeClr>
                  </a:gs>
                </a:gsLst>
                <a:lin ang="5400000" scaled="1"/>
              </a:gradFill>
            </a:endParaRPr>
          </a:p>
        </p:txBody>
      </p:sp>
    </p:spTree>
    <p:extLst>
      <p:ext uri="{BB962C8B-B14F-4D97-AF65-F5344CB8AC3E}">
        <p14:creationId xmlns:p14="http://schemas.microsoft.com/office/powerpoint/2010/main" val="1669507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74BFC5F-5940-4708-88D4-F6332DB9C4D4}"/>
              </a:ext>
            </a:extLst>
          </p:cNvPr>
          <p:cNvSpPr>
            <a:spLocks noGrp="1"/>
          </p:cNvSpPr>
          <p:nvPr>
            <p:ph type="pic" sz="quarter" idx="10"/>
          </p:nvPr>
        </p:nvSpPr>
        <p:spPr>
          <a:xfrm>
            <a:off x="1530542" y="5702300"/>
            <a:ext cx="5101803" cy="3517900"/>
          </a:xfrm>
          <a:prstGeom prst="roundRect">
            <a:avLst>
              <a:gd name="adj" fmla="val 7215"/>
            </a:avLst>
          </a:prstGeom>
          <a:solidFill>
            <a:schemeClr val="bg2">
              <a:lumMod val="50000"/>
            </a:schemeClr>
          </a:solidFill>
        </p:spPr>
      </p:sp>
      <p:sp>
        <p:nvSpPr>
          <p:cNvPr id="5" name="Text 0">
            <a:extLst>
              <a:ext uri="{FF2B5EF4-FFF2-40B4-BE49-F238E27FC236}">
                <a16:creationId xmlns:a16="http://schemas.microsoft.com/office/drawing/2014/main" id="{5BB44C85-23A8-4A0D-B503-9C0779DC3F65}"/>
              </a:ext>
            </a:extLst>
          </p:cNvPr>
          <p:cNvSpPr/>
          <p:nvPr/>
        </p:nvSpPr>
        <p:spPr>
          <a:xfrm>
            <a:off x="22261649" y="1524000"/>
            <a:ext cx="567338"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004</a:t>
            </a:r>
            <a:endParaRPr lang="en-US" sz="2000" dirty="0"/>
          </a:p>
        </p:txBody>
      </p:sp>
      <p:sp>
        <p:nvSpPr>
          <p:cNvPr id="6" name="Text 1">
            <a:extLst>
              <a:ext uri="{FF2B5EF4-FFF2-40B4-BE49-F238E27FC236}">
                <a16:creationId xmlns:a16="http://schemas.microsoft.com/office/drawing/2014/main" id="{BA60BC95-1424-48BD-A356-A24C113E008A}"/>
              </a:ext>
            </a:extLst>
          </p:cNvPr>
          <p:cNvSpPr/>
          <p:nvPr/>
        </p:nvSpPr>
        <p:spPr>
          <a:xfrm>
            <a:off x="22198141" y="12382500"/>
            <a:ext cx="707055"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2025</a:t>
            </a:r>
            <a:endParaRPr lang="en-US" sz="2000" dirty="0"/>
          </a:p>
        </p:txBody>
      </p:sp>
      <p:sp>
        <p:nvSpPr>
          <p:cNvPr id="7" name="Text 2">
            <a:extLst>
              <a:ext uri="{FF2B5EF4-FFF2-40B4-BE49-F238E27FC236}">
                <a16:creationId xmlns:a16="http://schemas.microsoft.com/office/drawing/2014/main" id="{56826E5C-E7E6-47DA-ABE8-D70DEA5BD90F}"/>
              </a:ext>
            </a:extLst>
          </p:cNvPr>
          <p:cNvSpPr/>
          <p:nvPr/>
        </p:nvSpPr>
        <p:spPr>
          <a:xfrm>
            <a:off x="2032254" y="1549400"/>
            <a:ext cx="1117740" cy="698500"/>
          </a:xfrm>
          <a:prstGeom prst="rect">
            <a:avLst/>
          </a:prstGeom>
          <a:noFill/>
          <a:ln/>
        </p:spPr>
        <p:txBody>
          <a:bodyPr wrap="square" lIns="0" tIns="0" rIns="0" bIns="0" rtlCol="0" anchor="t"/>
          <a:lstStyle/>
          <a:p>
            <a:pPr marL="0" indent="0" algn="ctr">
              <a:lnSpc>
                <a:spcPts val="4500"/>
              </a:lnSpc>
              <a:buNone/>
            </a:pPr>
            <a:r>
              <a:rPr lang="en-US" sz="3000" kern="0" spc="-120" dirty="0">
                <a:solidFill>
                  <a:srgbClr val="000000">
                    <a:alpha val="100000"/>
                  </a:srgbClr>
                </a:solidFill>
                <a:latin typeface="Funnel Display Bold" pitchFamily="34" charset="0"/>
                <a:ea typeface="Funnel Display Bold" pitchFamily="34" charset="-122"/>
                <a:cs typeface="Funnel Display Bold" pitchFamily="34" charset="-120"/>
              </a:rPr>
              <a:t>Clario</a:t>
            </a:r>
            <a:endParaRPr lang="en-US" sz="3000" dirty="0"/>
          </a:p>
        </p:txBody>
      </p:sp>
      <p:pic>
        <p:nvPicPr>
          <p:cNvPr id="8" name="Image 0" descr=" ">
            <a:extLst>
              <a:ext uri="{FF2B5EF4-FFF2-40B4-BE49-F238E27FC236}">
                <a16:creationId xmlns:a16="http://schemas.microsoft.com/office/drawing/2014/main" id="{FCB09ABC-A091-492C-9A39-B7ABF355FA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24191" y="1524000"/>
            <a:ext cx="444556" cy="622300"/>
          </a:xfrm>
          <a:prstGeom prst="rect">
            <a:avLst/>
          </a:prstGeom>
        </p:spPr>
      </p:pic>
      <p:sp>
        <p:nvSpPr>
          <p:cNvPr id="9" name="Text 3">
            <a:extLst>
              <a:ext uri="{FF2B5EF4-FFF2-40B4-BE49-F238E27FC236}">
                <a16:creationId xmlns:a16="http://schemas.microsoft.com/office/drawing/2014/main" id="{39554B35-8FE5-4936-8627-DE5B6DD32289}"/>
              </a:ext>
            </a:extLst>
          </p:cNvPr>
          <p:cNvSpPr/>
          <p:nvPr/>
        </p:nvSpPr>
        <p:spPr>
          <a:xfrm>
            <a:off x="1524191" y="2908300"/>
            <a:ext cx="8120548"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Blueprint Principles &amp; Scope</a:t>
            </a:r>
            <a:endParaRPr lang="en-US" sz="6400" dirty="0"/>
          </a:p>
        </p:txBody>
      </p:sp>
      <p:sp>
        <p:nvSpPr>
          <p:cNvPr id="10" name="Text 4">
            <a:extLst>
              <a:ext uri="{FF2B5EF4-FFF2-40B4-BE49-F238E27FC236}">
                <a16:creationId xmlns:a16="http://schemas.microsoft.com/office/drawing/2014/main" id="{7410528B-394A-4B1F-ADF7-FBCD1D50A941}"/>
              </a:ext>
            </a:extLst>
          </p:cNvPr>
          <p:cNvSpPr/>
          <p:nvPr/>
        </p:nvSpPr>
        <p:spPr>
          <a:xfrm>
            <a:off x="16435854" y="3098800"/>
            <a:ext cx="6494745" cy="12869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The Blueprint Principles &amp; Scope outline the foundational guidelines and boundaries for our project. </a:t>
            </a:r>
            <a:r>
              <a:rPr lang="en-US" sz="1600" dirty="0">
                <a:solidFill>
                  <a:srgbClr val="6D6D6D">
                    <a:alpha val="100000"/>
                  </a:srgbClr>
                </a:solidFill>
                <a:latin typeface="Inter Regular" pitchFamily="34" charset="0"/>
                <a:ea typeface="Inter Regular" pitchFamily="34" charset="-122"/>
                <a:cs typeface="Inter Regular" pitchFamily="34" charset="-120"/>
              </a:rPr>
              <a:t>These principles serve as a roadmap, ensuring that all team members are aligned in their objectives and understand the project's overall vision.</a:t>
            </a:r>
            <a:endParaRPr lang="en-US" sz="1600" dirty="0"/>
          </a:p>
        </p:txBody>
      </p:sp>
      <p:sp>
        <p:nvSpPr>
          <p:cNvPr id="11" name="Text 5">
            <a:extLst>
              <a:ext uri="{FF2B5EF4-FFF2-40B4-BE49-F238E27FC236}">
                <a16:creationId xmlns:a16="http://schemas.microsoft.com/office/drawing/2014/main" id="{D68EF6FD-A4F2-4AA8-B101-AAC482E72193}"/>
              </a:ext>
            </a:extLst>
          </p:cNvPr>
          <p:cNvSpPr/>
          <p:nvPr/>
        </p:nvSpPr>
        <p:spPr>
          <a:xfrm>
            <a:off x="7176397" y="11785600"/>
            <a:ext cx="6168738" cy="465667"/>
          </a:xfrm>
          <a:prstGeom prst="rect">
            <a:avLst/>
          </a:prstGeom>
          <a:noFill/>
          <a:ln/>
        </p:spPr>
        <p:txBody>
          <a:bodyPr wrap="square" lIns="0" tIns="0" rIns="0" bIns="0" rtlCol="0" anchor="t"/>
          <a:lstStyle/>
          <a:p>
            <a:pPr marL="0" indent="0" algn="l">
              <a:lnSpc>
                <a:spcPts val="30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Helps manage expectations</a:t>
            </a:r>
            <a:endParaRPr lang="en-US" sz="2000" dirty="0"/>
          </a:p>
        </p:txBody>
      </p:sp>
      <p:sp>
        <p:nvSpPr>
          <p:cNvPr id="12" name="Text 6">
            <a:extLst>
              <a:ext uri="{FF2B5EF4-FFF2-40B4-BE49-F238E27FC236}">
                <a16:creationId xmlns:a16="http://schemas.microsoft.com/office/drawing/2014/main" id="{F76E8813-37B2-4A35-8FEA-9AE945BBCCEF}"/>
              </a:ext>
            </a:extLst>
          </p:cNvPr>
          <p:cNvSpPr/>
          <p:nvPr/>
        </p:nvSpPr>
        <p:spPr>
          <a:xfrm>
            <a:off x="1778222" y="11785600"/>
            <a:ext cx="4885877" cy="846667"/>
          </a:xfrm>
          <a:prstGeom prst="rect">
            <a:avLst/>
          </a:prstGeom>
          <a:noFill/>
          <a:ln/>
        </p:spPr>
        <p:txBody>
          <a:bodyPr wrap="square" lIns="0" tIns="0" rIns="0" bIns="0" rtlCol="0" anchor="t"/>
          <a:lstStyle/>
          <a:p>
            <a:pPr marL="0" indent="0" algn="l">
              <a:lnSpc>
                <a:spcPts val="30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Web &amp; App Events, CRM, POS, Email, Paid Media Audiences</a:t>
            </a:r>
            <a:endParaRPr lang="en-US" sz="2000" dirty="0"/>
          </a:p>
        </p:txBody>
      </p:sp>
      <p:pic>
        <p:nvPicPr>
          <p:cNvPr id="13" name="Image 1" descr=" ">
            <a:extLst>
              <a:ext uri="{FF2B5EF4-FFF2-40B4-BE49-F238E27FC236}">
                <a16:creationId xmlns:a16="http://schemas.microsoft.com/office/drawing/2014/main" id="{5972F2C7-C1B2-4726-B634-EA644A9D7B7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22365" y="5702300"/>
            <a:ext cx="5144143" cy="3517900"/>
          </a:xfrm>
          <a:prstGeom prst="rect">
            <a:avLst/>
          </a:prstGeom>
        </p:spPr>
      </p:pic>
      <p:sp>
        <p:nvSpPr>
          <p:cNvPr id="14" name="Text 7">
            <a:extLst>
              <a:ext uri="{FF2B5EF4-FFF2-40B4-BE49-F238E27FC236}">
                <a16:creationId xmlns:a16="http://schemas.microsoft.com/office/drawing/2014/main" id="{6259CCE9-5D29-44C1-80AB-8ECF02B82D7C}"/>
              </a:ext>
            </a:extLst>
          </p:cNvPr>
          <p:cNvSpPr/>
          <p:nvPr/>
        </p:nvSpPr>
        <p:spPr>
          <a:xfrm>
            <a:off x="7430429" y="7569200"/>
            <a:ext cx="4212693" cy="1227667"/>
          </a:xfrm>
          <a:prstGeom prst="rect">
            <a:avLst/>
          </a:prstGeom>
          <a:noFill/>
          <a:ln/>
        </p:spPr>
        <p:txBody>
          <a:bodyPr wrap="square" lIns="0" tIns="0" rIns="0" bIns="0" rtlCol="0" anchor="t"/>
          <a:lstStyle/>
          <a:p>
            <a:pPr marL="0" indent="0" algn="l">
              <a:lnSpc>
                <a:spcPts val="3000"/>
              </a:lnSpc>
              <a:buNone/>
            </a:pPr>
            <a:r>
              <a:rPr lang="en-US" sz="2000" dirty="0">
                <a:solidFill>
                  <a:srgbClr val="FFFFFF">
                    <a:alpha val="100000"/>
                  </a:srgbClr>
                </a:solidFill>
                <a:latin typeface="Inter Regular" pitchFamily="34" charset="0"/>
                <a:ea typeface="Inter Regular" pitchFamily="34" charset="-122"/>
                <a:cs typeface="Inter Regular" pitchFamily="34" charset="-120"/>
              </a:rPr>
              <a:t>Build on existing martech/data stack, plug in missing components</a:t>
            </a:r>
            <a:endParaRPr lang="en-US" sz="2000" dirty="0"/>
          </a:p>
        </p:txBody>
      </p:sp>
      <p:sp>
        <p:nvSpPr>
          <p:cNvPr id="15" name="Text 8">
            <a:extLst>
              <a:ext uri="{FF2B5EF4-FFF2-40B4-BE49-F238E27FC236}">
                <a16:creationId xmlns:a16="http://schemas.microsoft.com/office/drawing/2014/main" id="{42970952-19D5-4E25-8BB9-78961B4F689C}"/>
              </a:ext>
            </a:extLst>
          </p:cNvPr>
          <p:cNvSpPr/>
          <p:nvPr/>
        </p:nvSpPr>
        <p:spPr>
          <a:xfrm>
            <a:off x="7430429" y="7086600"/>
            <a:ext cx="1659674" cy="465667"/>
          </a:xfrm>
          <a:prstGeom prst="rect">
            <a:avLst/>
          </a:prstGeom>
          <a:noFill/>
          <a:ln/>
        </p:spPr>
        <p:txBody>
          <a:bodyPr wrap="square" lIns="0" tIns="0" rIns="0" bIns="0" rtlCol="0" anchor="t"/>
          <a:lstStyle/>
          <a:p>
            <a:pPr marL="0" indent="0" algn="l">
              <a:lnSpc>
                <a:spcPts val="3000"/>
              </a:lnSpc>
              <a:buNone/>
            </a:pPr>
            <a:r>
              <a:rPr lang="en-US" sz="2000" dirty="0">
                <a:solidFill>
                  <a:srgbClr val="FFFFFF">
                    <a:alpha val="100000"/>
                  </a:srgbClr>
                </a:solidFill>
                <a:latin typeface="Inter Bold" pitchFamily="34" charset="0"/>
                <a:ea typeface="Inter Bold" pitchFamily="34" charset="-122"/>
                <a:cs typeface="Inter Bold" pitchFamily="34" charset="-120"/>
              </a:rPr>
              <a:t>Composable</a:t>
            </a:r>
            <a:endParaRPr lang="en-US" sz="2000" dirty="0"/>
          </a:p>
        </p:txBody>
      </p:sp>
      <p:pic>
        <p:nvPicPr>
          <p:cNvPr id="17" name="Image 3" descr=" ">
            <a:extLst>
              <a:ext uri="{FF2B5EF4-FFF2-40B4-BE49-F238E27FC236}">
                <a16:creationId xmlns:a16="http://schemas.microsoft.com/office/drawing/2014/main" id="{85467431-C776-4BC1-A734-B1F785EE74B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87567" y="6238881"/>
            <a:ext cx="247700" cy="247678"/>
          </a:xfrm>
          <a:prstGeom prst="rect">
            <a:avLst/>
          </a:prstGeom>
        </p:spPr>
      </p:pic>
      <p:sp>
        <p:nvSpPr>
          <p:cNvPr id="20" name="Text 9">
            <a:extLst>
              <a:ext uri="{FF2B5EF4-FFF2-40B4-BE49-F238E27FC236}">
                <a16:creationId xmlns:a16="http://schemas.microsoft.com/office/drawing/2014/main" id="{02AB9694-C32F-47DB-AF76-85B5CB95F77A}"/>
              </a:ext>
            </a:extLst>
          </p:cNvPr>
          <p:cNvSpPr/>
          <p:nvPr/>
        </p:nvSpPr>
        <p:spPr>
          <a:xfrm>
            <a:off x="2032254" y="7569200"/>
            <a:ext cx="4212693" cy="846667"/>
          </a:xfrm>
          <a:prstGeom prst="rect">
            <a:avLst/>
          </a:prstGeom>
          <a:noFill/>
          <a:ln/>
        </p:spPr>
        <p:txBody>
          <a:bodyPr wrap="square" lIns="0" tIns="0" rIns="0" bIns="0" rtlCol="0" anchor="t"/>
          <a:lstStyle/>
          <a:p>
            <a:pPr marL="0" indent="0" algn="l">
              <a:lnSpc>
                <a:spcPts val="3000"/>
              </a:lnSpc>
              <a:buNone/>
            </a:pPr>
            <a:r>
              <a:rPr lang="en-US" sz="2000" dirty="0">
                <a:solidFill>
                  <a:srgbClr val="FFFFFF">
                    <a:alpha val="100000"/>
                  </a:srgbClr>
                </a:solidFill>
                <a:latin typeface="Inter Regular" pitchFamily="34" charset="0"/>
                <a:ea typeface="Inter Regular" pitchFamily="34" charset="-122"/>
                <a:cs typeface="Inter Regular" pitchFamily="34" charset="-120"/>
              </a:rPr>
              <a:t>Embed consent &amp; governance from the start</a:t>
            </a:r>
            <a:endParaRPr lang="en-US" sz="2000" dirty="0"/>
          </a:p>
        </p:txBody>
      </p:sp>
      <p:sp>
        <p:nvSpPr>
          <p:cNvPr id="21" name="Text 10">
            <a:extLst>
              <a:ext uri="{FF2B5EF4-FFF2-40B4-BE49-F238E27FC236}">
                <a16:creationId xmlns:a16="http://schemas.microsoft.com/office/drawing/2014/main" id="{45E46D0D-9C50-4B96-92CE-0E8C471AAE16}"/>
              </a:ext>
            </a:extLst>
          </p:cNvPr>
          <p:cNvSpPr/>
          <p:nvPr/>
        </p:nvSpPr>
        <p:spPr>
          <a:xfrm>
            <a:off x="2032254" y="7086600"/>
            <a:ext cx="2434471" cy="465667"/>
          </a:xfrm>
          <a:prstGeom prst="rect">
            <a:avLst/>
          </a:prstGeom>
          <a:noFill/>
          <a:ln/>
        </p:spPr>
        <p:txBody>
          <a:bodyPr wrap="square" lIns="0" tIns="0" rIns="0" bIns="0" rtlCol="0" anchor="t"/>
          <a:lstStyle/>
          <a:p>
            <a:pPr marL="0" indent="0" algn="l">
              <a:lnSpc>
                <a:spcPts val="3000"/>
              </a:lnSpc>
              <a:buNone/>
            </a:pPr>
            <a:r>
              <a:rPr lang="en-US" sz="2000" dirty="0">
                <a:solidFill>
                  <a:srgbClr val="FFFFFF">
                    <a:alpha val="100000"/>
                  </a:srgbClr>
                </a:solidFill>
                <a:latin typeface="Inter Bold" pitchFamily="34" charset="0"/>
                <a:ea typeface="Inter Bold" pitchFamily="34" charset="-122"/>
                <a:cs typeface="Inter Bold" pitchFamily="34" charset="-120"/>
              </a:rPr>
              <a:t>Privacy-by-Design</a:t>
            </a:r>
            <a:endParaRPr lang="en-US" sz="2000" dirty="0"/>
          </a:p>
        </p:txBody>
      </p:sp>
      <p:pic>
        <p:nvPicPr>
          <p:cNvPr id="23" name="Image 7" descr=" ">
            <a:extLst>
              <a:ext uri="{FF2B5EF4-FFF2-40B4-BE49-F238E27FC236}">
                <a16:creationId xmlns:a16="http://schemas.microsoft.com/office/drawing/2014/main" id="{2034B3D9-E654-4E0F-BB42-D1F06D772C1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83060" y="6223000"/>
            <a:ext cx="203225" cy="266700"/>
          </a:xfrm>
          <a:prstGeom prst="rect">
            <a:avLst/>
          </a:prstGeom>
        </p:spPr>
      </p:pic>
      <p:sp>
        <p:nvSpPr>
          <p:cNvPr id="24" name="Shape 11">
            <a:extLst>
              <a:ext uri="{FF2B5EF4-FFF2-40B4-BE49-F238E27FC236}">
                <a16:creationId xmlns:a16="http://schemas.microsoft.com/office/drawing/2014/main" id="{E079BC33-3215-48C6-9863-A39A9F797EE4}"/>
              </a:ext>
            </a:extLst>
          </p:cNvPr>
          <p:cNvSpPr/>
          <p:nvPr/>
        </p:nvSpPr>
        <p:spPr>
          <a:xfrm>
            <a:off x="12320540" y="5702300"/>
            <a:ext cx="5144143" cy="3517900"/>
          </a:xfrm>
          <a:prstGeom prst="roundRect">
            <a:avLst>
              <a:gd name="adj" fmla="val 7278"/>
            </a:avLst>
          </a:prstGeom>
          <a:solidFill>
            <a:srgbClr val="F6F6F6">
              <a:alpha val="100000"/>
            </a:srgbClr>
          </a:solidFill>
          <a:ln w="12700">
            <a:solidFill>
              <a:srgbClr val="D1D1D1"/>
            </a:solidFill>
            <a:prstDash val="solid"/>
          </a:ln>
        </p:spPr>
      </p:sp>
      <p:sp>
        <p:nvSpPr>
          <p:cNvPr id="25" name="Text 12">
            <a:extLst>
              <a:ext uri="{FF2B5EF4-FFF2-40B4-BE49-F238E27FC236}">
                <a16:creationId xmlns:a16="http://schemas.microsoft.com/office/drawing/2014/main" id="{A0E0117F-022F-4B35-8A92-ABC5DE430B30}"/>
              </a:ext>
            </a:extLst>
          </p:cNvPr>
          <p:cNvSpPr/>
          <p:nvPr/>
        </p:nvSpPr>
        <p:spPr>
          <a:xfrm>
            <a:off x="12828603" y="7569200"/>
            <a:ext cx="4212693" cy="846667"/>
          </a:xfrm>
          <a:prstGeom prst="rect">
            <a:avLst/>
          </a:prstGeom>
          <a:noFill/>
          <a:ln/>
        </p:spPr>
        <p:txBody>
          <a:bodyPr wrap="square" lIns="0" tIns="0" rIns="0" bIns="0" rtlCol="0" anchor="t"/>
          <a:lstStyle/>
          <a:p>
            <a:pPr marL="0" indent="0" algn="l">
              <a:lnSpc>
                <a:spcPts val="3000"/>
              </a:lnSpc>
              <a:buNone/>
            </a:pPr>
            <a:r>
              <a:rPr lang="en-US" sz="2000" dirty="0">
                <a:solidFill>
                  <a:srgbClr val="6D6D6D">
                    <a:alpha val="100000"/>
                  </a:srgbClr>
                </a:solidFill>
                <a:latin typeface="Inter Regular" pitchFamily="34" charset="0"/>
                <a:ea typeface="Inter Regular" pitchFamily="34" charset="-122"/>
                <a:cs typeface="Inter Regular" pitchFamily="34" charset="-120"/>
              </a:rPr>
              <a:t>Seamless data flow across systems and channels</a:t>
            </a:r>
            <a:endParaRPr lang="en-US" sz="2000" dirty="0"/>
          </a:p>
        </p:txBody>
      </p:sp>
      <p:sp>
        <p:nvSpPr>
          <p:cNvPr id="26" name="Text 13">
            <a:extLst>
              <a:ext uri="{FF2B5EF4-FFF2-40B4-BE49-F238E27FC236}">
                <a16:creationId xmlns:a16="http://schemas.microsoft.com/office/drawing/2014/main" id="{6E8F1707-365D-4418-BD0E-C9CC125914DD}"/>
              </a:ext>
            </a:extLst>
          </p:cNvPr>
          <p:cNvSpPr/>
          <p:nvPr/>
        </p:nvSpPr>
        <p:spPr>
          <a:xfrm>
            <a:off x="12828603" y="7086600"/>
            <a:ext cx="1761287" cy="465667"/>
          </a:xfrm>
          <a:prstGeom prst="rect">
            <a:avLst/>
          </a:prstGeom>
          <a:noFill/>
          <a:ln/>
        </p:spPr>
        <p:txBody>
          <a:bodyPr wrap="square" lIns="0" tIns="0" rIns="0" bIns="0" rtlCol="0" anchor="t"/>
          <a:lstStyle/>
          <a:p>
            <a:pPr marL="0" indent="0" algn="l">
              <a:lnSpc>
                <a:spcPts val="3000"/>
              </a:lnSpc>
              <a:buNone/>
            </a:pPr>
            <a:r>
              <a:rPr lang="en-US" sz="2000" dirty="0">
                <a:solidFill>
                  <a:srgbClr val="6D6D6D">
                    <a:alpha val="100000"/>
                  </a:srgbClr>
                </a:solidFill>
                <a:latin typeface="Inter Bold" pitchFamily="34" charset="0"/>
                <a:ea typeface="Inter Bold" pitchFamily="34" charset="-122"/>
                <a:cs typeface="Inter Bold" pitchFamily="34" charset="-120"/>
              </a:rPr>
              <a:t>Interoperable</a:t>
            </a:r>
            <a:endParaRPr lang="en-US" sz="2000" dirty="0"/>
          </a:p>
        </p:txBody>
      </p:sp>
      <p:pic>
        <p:nvPicPr>
          <p:cNvPr id="28" name="Image 9" descr=" ">
            <a:extLst>
              <a:ext uri="{FF2B5EF4-FFF2-40B4-BE49-F238E27FC236}">
                <a16:creationId xmlns:a16="http://schemas.microsoft.com/office/drawing/2014/main" id="{FB422FE4-2151-4E8C-A06A-ED47DC0F679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838123" y="6219825"/>
            <a:ext cx="285792" cy="285750"/>
          </a:xfrm>
          <a:prstGeom prst="rect">
            <a:avLst/>
          </a:prstGeom>
        </p:spPr>
      </p:pic>
      <p:sp>
        <p:nvSpPr>
          <p:cNvPr id="29" name="Shape 14">
            <a:extLst>
              <a:ext uri="{FF2B5EF4-FFF2-40B4-BE49-F238E27FC236}">
                <a16:creationId xmlns:a16="http://schemas.microsoft.com/office/drawing/2014/main" id="{5BCAAAB4-55D1-4107-BD57-B987AC407848}"/>
              </a:ext>
            </a:extLst>
          </p:cNvPr>
          <p:cNvSpPr/>
          <p:nvPr/>
        </p:nvSpPr>
        <p:spPr>
          <a:xfrm>
            <a:off x="17718715" y="5702300"/>
            <a:ext cx="5144143" cy="3517900"/>
          </a:xfrm>
          <a:prstGeom prst="roundRect">
            <a:avLst>
              <a:gd name="adj" fmla="val 7278"/>
            </a:avLst>
          </a:prstGeom>
          <a:solidFill>
            <a:srgbClr val="F6F6F6">
              <a:alpha val="100000"/>
            </a:srgbClr>
          </a:solidFill>
          <a:ln w="12700">
            <a:solidFill>
              <a:srgbClr val="D1D1D1"/>
            </a:solidFill>
            <a:prstDash val="solid"/>
          </a:ln>
        </p:spPr>
      </p:sp>
      <p:sp>
        <p:nvSpPr>
          <p:cNvPr id="30" name="Text 15">
            <a:extLst>
              <a:ext uri="{FF2B5EF4-FFF2-40B4-BE49-F238E27FC236}">
                <a16:creationId xmlns:a16="http://schemas.microsoft.com/office/drawing/2014/main" id="{FAB76A62-BBB9-40F6-B6F3-FC3B41377F7F}"/>
              </a:ext>
            </a:extLst>
          </p:cNvPr>
          <p:cNvSpPr/>
          <p:nvPr/>
        </p:nvSpPr>
        <p:spPr>
          <a:xfrm>
            <a:off x="18226778" y="7569200"/>
            <a:ext cx="4212693" cy="846667"/>
          </a:xfrm>
          <a:prstGeom prst="rect">
            <a:avLst/>
          </a:prstGeom>
          <a:noFill/>
          <a:ln/>
        </p:spPr>
        <p:txBody>
          <a:bodyPr wrap="square" lIns="0" tIns="0" rIns="0" bIns="0" rtlCol="0" anchor="t"/>
          <a:lstStyle/>
          <a:p>
            <a:pPr marL="0" indent="0" algn="l">
              <a:lnSpc>
                <a:spcPts val="3000"/>
              </a:lnSpc>
              <a:buNone/>
            </a:pPr>
            <a:r>
              <a:rPr lang="en-US" sz="2000" dirty="0">
                <a:solidFill>
                  <a:srgbClr val="6D6D6D">
                    <a:alpha val="100000"/>
                  </a:srgbClr>
                </a:solidFill>
                <a:latin typeface="Inter Regular" pitchFamily="34" charset="0"/>
                <a:ea typeface="Inter Regular" pitchFamily="34" charset="-122"/>
                <a:cs typeface="Inter Regular" pitchFamily="34" charset="-120"/>
              </a:rPr>
              <a:t>Transparent monitoring, logs, and metrics for trust</a:t>
            </a:r>
            <a:endParaRPr lang="en-US" sz="2000" dirty="0"/>
          </a:p>
        </p:txBody>
      </p:sp>
      <p:sp>
        <p:nvSpPr>
          <p:cNvPr id="31" name="Text 16">
            <a:extLst>
              <a:ext uri="{FF2B5EF4-FFF2-40B4-BE49-F238E27FC236}">
                <a16:creationId xmlns:a16="http://schemas.microsoft.com/office/drawing/2014/main" id="{9637CFBA-2351-41A6-9794-8734D0ECEE47}"/>
              </a:ext>
            </a:extLst>
          </p:cNvPr>
          <p:cNvSpPr/>
          <p:nvPr/>
        </p:nvSpPr>
        <p:spPr>
          <a:xfrm>
            <a:off x="18226778" y="7086600"/>
            <a:ext cx="1532658" cy="465667"/>
          </a:xfrm>
          <a:prstGeom prst="rect">
            <a:avLst/>
          </a:prstGeom>
          <a:noFill/>
          <a:ln/>
        </p:spPr>
        <p:txBody>
          <a:bodyPr wrap="square" lIns="0" tIns="0" rIns="0" bIns="0" rtlCol="0" anchor="t"/>
          <a:lstStyle/>
          <a:p>
            <a:pPr marL="0" indent="0" algn="l">
              <a:lnSpc>
                <a:spcPts val="3000"/>
              </a:lnSpc>
              <a:buNone/>
            </a:pPr>
            <a:r>
              <a:rPr lang="en-US" sz="2000" dirty="0">
                <a:solidFill>
                  <a:srgbClr val="6D6D6D">
                    <a:alpha val="100000"/>
                  </a:srgbClr>
                </a:solidFill>
                <a:latin typeface="Inter Bold" pitchFamily="34" charset="0"/>
                <a:ea typeface="Inter Bold" pitchFamily="34" charset="-122"/>
                <a:cs typeface="Inter Bold" pitchFamily="34" charset="-120"/>
              </a:rPr>
              <a:t>Observable</a:t>
            </a:r>
            <a:endParaRPr lang="en-US" sz="2000" dirty="0"/>
          </a:p>
        </p:txBody>
      </p:sp>
      <p:pic>
        <p:nvPicPr>
          <p:cNvPr id="33" name="Image 11" descr=" ">
            <a:extLst>
              <a:ext uri="{FF2B5EF4-FFF2-40B4-BE49-F238E27FC236}">
                <a16:creationId xmlns:a16="http://schemas.microsoft.com/office/drawing/2014/main" id="{52302FC6-5C5A-4AD3-AC64-0A43D61A644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8239480" y="6267450"/>
            <a:ext cx="279435" cy="190500"/>
          </a:xfrm>
          <a:prstGeom prst="rect">
            <a:avLst/>
          </a:prstGeom>
        </p:spPr>
      </p:pic>
      <p:pic>
        <p:nvPicPr>
          <p:cNvPr id="34" name="Image 12" descr=" ">
            <a:extLst>
              <a:ext uri="{FF2B5EF4-FFF2-40B4-BE49-F238E27FC236}">
                <a16:creationId xmlns:a16="http://schemas.microsoft.com/office/drawing/2014/main" id="{1459A1C6-8435-4A3F-BEBA-C52C56EB4F5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517840" y="11049000"/>
            <a:ext cx="12702" cy="2667000"/>
          </a:xfrm>
          <a:prstGeom prst="rect">
            <a:avLst/>
          </a:prstGeom>
        </p:spPr>
      </p:pic>
      <p:pic>
        <p:nvPicPr>
          <p:cNvPr id="35" name="Image 13" descr=" ">
            <a:extLst>
              <a:ext uri="{FF2B5EF4-FFF2-40B4-BE49-F238E27FC236}">
                <a16:creationId xmlns:a16="http://schemas.microsoft.com/office/drawing/2014/main" id="{E23BC645-F869-4B70-B0FB-B9515E9FC29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916014" y="11049000"/>
            <a:ext cx="12702" cy="2667000"/>
          </a:xfrm>
          <a:prstGeom prst="rect">
            <a:avLst/>
          </a:prstGeom>
        </p:spPr>
      </p:pic>
      <p:sp>
        <p:nvSpPr>
          <p:cNvPr id="36" name="Shape 17">
            <a:extLst>
              <a:ext uri="{FF2B5EF4-FFF2-40B4-BE49-F238E27FC236}">
                <a16:creationId xmlns:a16="http://schemas.microsoft.com/office/drawing/2014/main" id="{AD30A5D1-3252-4C40-A3FE-E86C2291D4D7}"/>
              </a:ext>
            </a:extLst>
          </p:cNvPr>
          <p:cNvSpPr/>
          <p:nvPr/>
        </p:nvSpPr>
        <p:spPr>
          <a:xfrm>
            <a:off x="1778222" y="11049000"/>
            <a:ext cx="1778222" cy="533400"/>
          </a:xfrm>
          <a:prstGeom prst="roundRect">
            <a:avLst>
              <a:gd name="adj" fmla="val 96000"/>
            </a:avLst>
          </a:prstGeom>
          <a:solidFill>
            <a:srgbClr val="FF8B32">
              <a:alpha val="100000"/>
            </a:srgbClr>
          </a:solidFill>
          <a:ln w="12700">
            <a:solidFill>
              <a:srgbClr val="FF5102"/>
            </a:solidFill>
            <a:prstDash val="solid"/>
          </a:ln>
        </p:spPr>
      </p:sp>
      <p:sp>
        <p:nvSpPr>
          <p:cNvPr id="37" name="Text 18">
            <a:extLst>
              <a:ext uri="{FF2B5EF4-FFF2-40B4-BE49-F238E27FC236}">
                <a16:creationId xmlns:a16="http://schemas.microsoft.com/office/drawing/2014/main" id="{DE34CDC0-4B27-4CBA-8F13-43B793AF8DAF}"/>
              </a:ext>
            </a:extLst>
          </p:cNvPr>
          <p:cNvSpPr/>
          <p:nvPr/>
        </p:nvSpPr>
        <p:spPr>
          <a:xfrm>
            <a:off x="2095762" y="11125200"/>
            <a:ext cx="1227820" cy="465667"/>
          </a:xfrm>
          <a:prstGeom prst="rect">
            <a:avLst/>
          </a:prstGeom>
          <a:noFill/>
          <a:ln/>
        </p:spPr>
        <p:txBody>
          <a:bodyPr wrap="square" lIns="0" tIns="0" rIns="0" bIns="0" rtlCol="0" anchor="t"/>
          <a:lstStyle/>
          <a:p>
            <a:pPr marL="0" indent="0" algn="l">
              <a:lnSpc>
                <a:spcPts val="3000"/>
              </a:lnSpc>
              <a:buNone/>
            </a:pPr>
            <a:r>
              <a:rPr lang="en-US" sz="2000" dirty="0">
                <a:solidFill>
                  <a:srgbClr val="FFFFFF">
                    <a:alpha val="100000"/>
                  </a:srgbClr>
                </a:solidFill>
                <a:latin typeface="Inter Bold" pitchFamily="34" charset="0"/>
                <a:ea typeface="Inter Bold" pitchFamily="34" charset="-122"/>
                <a:cs typeface="Inter Bold" pitchFamily="34" charset="-120"/>
              </a:rPr>
              <a:t>In-Scope</a:t>
            </a:r>
            <a:endParaRPr lang="en-US" sz="2000" dirty="0"/>
          </a:p>
        </p:txBody>
      </p:sp>
      <p:sp>
        <p:nvSpPr>
          <p:cNvPr id="38" name="Shape 19">
            <a:extLst>
              <a:ext uri="{FF2B5EF4-FFF2-40B4-BE49-F238E27FC236}">
                <a16:creationId xmlns:a16="http://schemas.microsoft.com/office/drawing/2014/main" id="{C760FC36-431F-4B8D-AD58-5552280C0FA8}"/>
              </a:ext>
            </a:extLst>
          </p:cNvPr>
          <p:cNvSpPr/>
          <p:nvPr/>
        </p:nvSpPr>
        <p:spPr>
          <a:xfrm>
            <a:off x="7125591" y="11049000"/>
            <a:ext cx="2362495" cy="533400"/>
          </a:xfrm>
          <a:prstGeom prst="roundRect">
            <a:avLst>
              <a:gd name="adj" fmla="val 72000"/>
            </a:avLst>
          </a:prstGeom>
          <a:solidFill>
            <a:srgbClr val="F6F6F6">
              <a:alpha val="100000"/>
            </a:srgbClr>
          </a:solidFill>
          <a:ln w="12700">
            <a:solidFill>
              <a:srgbClr val="D1D1D1"/>
            </a:solidFill>
            <a:prstDash val="solid"/>
          </a:ln>
        </p:spPr>
      </p:sp>
      <p:sp>
        <p:nvSpPr>
          <p:cNvPr id="39" name="Text 20">
            <a:extLst>
              <a:ext uri="{FF2B5EF4-FFF2-40B4-BE49-F238E27FC236}">
                <a16:creationId xmlns:a16="http://schemas.microsoft.com/office/drawing/2014/main" id="{FD57D74E-24C9-40B4-908E-53A14298F80F}"/>
              </a:ext>
            </a:extLst>
          </p:cNvPr>
          <p:cNvSpPr/>
          <p:nvPr/>
        </p:nvSpPr>
        <p:spPr>
          <a:xfrm>
            <a:off x="7468533" y="11125200"/>
            <a:ext cx="1748585" cy="465667"/>
          </a:xfrm>
          <a:prstGeom prst="rect">
            <a:avLst/>
          </a:prstGeom>
          <a:noFill/>
          <a:ln/>
        </p:spPr>
        <p:txBody>
          <a:bodyPr wrap="square" lIns="0" tIns="0" rIns="0" bIns="0" rtlCol="0" anchor="t"/>
          <a:lstStyle/>
          <a:p>
            <a:pPr marL="0" indent="0" algn="l">
              <a:lnSpc>
                <a:spcPts val="3000"/>
              </a:lnSpc>
              <a:buNone/>
            </a:pPr>
            <a:r>
              <a:rPr lang="en-US" sz="2000" dirty="0">
                <a:solidFill>
                  <a:srgbClr val="6D6D6D">
                    <a:alpha val="100000"/>
                  </a:srgbClr>
                </a:solidFill>
                <a:latin typeface="Inter Regular" pitchFamily="34" charset="0"/>
                <a:ea typeface="Inter Regular" pitchFamily="34" charset="-122"/>
                <a:cs typeface="Inter Regular" pitchFamily="34" charset="-120"/>
              </a:rPr>
              <a:t>Out-of-Scope</a:t>
            </a:r>
            <a:endParaRPr lang="en-US" sz="2000" dirty="0"/>
          </a:p>
        </p:txBody>
      </p:sp>
    </p:spTree>
    <p:extLst>
      <p:ext uri="{BB962C8B-B14F-4D97-AF65-F5344CB8AC3E}">
        <p14:creationId xmlns:p14="http://schemas.microsoft.com/office/powerpoint/2010/main" val="3942813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24191" y="7315200"/>
            <a:ext cx="21338667" cy="4876800"/>
          </a:xfrm>
          <a:prstGeom prst="rect">
            <a:avLst/>
          </a:prstGeom>
          <a:noFill/>
          <a:ln/>
        </p:spPr>
      </p:sp>
      <p:pic>
        <p:nvPicPr>
          <p:cNvPr id="3"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191" y="8128000"/>
            <a:ext cx="21338667" cy="812800"/>
          </a:xfrm>
          <a:prstGeom prst="rect">
            <a:avLst/>
          </a:prstGeom>
        </p:spPr>
      </p:pic>
      <p:pic>
        <p:nvPicPr>
          <p:cNvPr id="4" name="Image 1" descr=" "/>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1524191" y="8940800"/>
            <a:ext cx="21338667" cy="812800"/>
          </a:xfrm>
          <a:prstGeom prst="rect">
            <a:avLst/>
          </a:prstGeom>
        </p:spPr>
      </p:pic>
      <p:pic>
        <p:nvPicPr>
          <p:cNvPr id="5" name="Image 2" descr=" "/>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1524191" y="9753600"/>
            <a:ext cx="21338667" cy="812800"/>
          </a:xfrm>
          <a:prstGeom prst="rect">
            <a:avLst/>
          </a:prstGeom>
        </p:spPr>
      </p:pic>
      <p:pic>
        <p:nvPicPr>
          <p:cNvPr id="6" name="Image 3" descr=" "/>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1524191" y="10566400"/>
            <a:ext cx="21338667" cy="812800"/>
          </a:xfrm>
          <a:prstGeom prst="rect">
            <a:avLst/>
          </a:prstGeom>
        </p:spPr>
      </p:pic>
      <p:pic>
        <p:nvPicPr>
          <p:cNvPr id="7" name="Image 4" descr=" "/>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24191" y="11379200"/>
            <a:ext cx="21338667" cy="812800"/>
          </a:xfrm>
          <a:prstGeom prst="rect">
            <a:avLst/>
          </a:prstGeom>
        </p:spPr>
      </p:pic>
      <p:pic>
        <p:nvPicPr>
          <p:cNvPr id="8" name="Image 5"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87386" y="8223250"/>
            <a:ext cx="12702" cy="577143"/>
          </a:xfrm>
          <a:prstGeom prst="rect">
            <a:avLst/>
          </a:prstGeom>
        </p:spPr>
      </p:pic>
      <p:pic>
        <p:nvPicPr>
          <p:cNvPr id="9" name="Image 6"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87386" y="9051100"/>
            <a:ext cx="12702" cy="577143"/>
          </a:xfrm>
          <a:prstGeom prst="rect">
            <a:avLst/>
          </a:prstGeom>
        </p:spPr>
      </p:pic>
      <p:pic>
        <p:nvPicPr>
          <p:cNvPr id="10" name="Image 7"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687386" y="9878957"/>
            <a:ext cx="12702" cy="577143"/>
          </a:xfrm>
          <a:prstGeom prst="rect">
            <a:avLst/>
          </a:prstGeom>
        </p:spPr>
      </p:pic>
      <p:pic>
        <p:nvPicPr>
          <p:cNvPr id="11" name="Image 8"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687386" y="10706807"/>
            <a:ext cx="12702" cy="577143"/>
          </a:xfrm>
          <a:prstGeom prst="rect">
            <a:avLst/>
          </a:prstGeom>
        </p:spPr>
      </p:pic>
      <p:pic>
        <p:nvPicPr>
          <p:cNvPr id="12" name="Image 9"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87386" y="11499850"/>
            <a:ext cx="12702" cy="577143"/>
          </a:xfrm>
          <a:prstGeom prst="rect">
            <a:avLst/>
          </a:prstGeom>
        </p:spPr>
      </p:pic>
      <p:pic>
        <p:nvPicPr>
          <p:cNvPr id="13" name="Image 10"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712364" y="8223250"/>
            <a:ext cx="12702" cy="577143"/>
          </a:xfrm>
          <a:prstGeom prst="rect">
            <a:avLst/>
          </a:prstGeom>
        </p:spPr>
      </p:pic>
      <p:pic>
        <p:nvPicPr>
          <p:cNvPr id="14" name="Image 11"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7712364" y="9051100"/>
            <a:ext cx="12702" cy="577143"/>
          </a:xfrm>
          <a:prstGeom prst="rect">
            <a:avLst/>
          </a:prstGeom>
        </p:spPr>
      </p:pic>
      <p:pic>
        <p:nvPicPr>
          <p:cNvPr id="15" name="Image 12"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7712364" y="9878957"/>
            <a:ext cx="12702" cy="577143"/>
          </a:xfrm>
          <a:prstGeom prst="rect">
            <a:avLst/>
          </a:prstGeom>
        </p:spPr>
      </p:pic>
      <p:pic>
        <p:nvPicPr>
          <p:cNvPr id="16" name="Image 13"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712364" y="10706807"/>
            <a:ext cx="12702" cy="577143"/>
          </a:xfrm>
          <a:prstGeom prst="rect">
            <a:avLst/>
          </a:prstGeom>
        </p:spPr>
      </p:pic>
      <p:pic>
        <p:nvPicPr>
          <p:cNvPr id="17" name="Image 14"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712364" y="11499850"/>
            <a:ext cx="12702" cy="577143"/>
          </a:xfrm>
          <a:prstGeom prst="rect">
            <a:avLst/>
          </a:prstGeom>
        </p:spPr>
      </p:pic>
      <p:pic>
        <p:nvPicPr>
          <p:cNvPr id="18" name="Image 15"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076710" y="8947150"/>
            <a:ext cx="20462257" cy="12700"/>
          </a:xfrm>
          <a:prstGeom prst="rect">
            <a:avLst/>
          </a:prstGeom>
        </p:spPr>
      </p:pic>
      <p:pic>
        <p:nvPicPr>
          <p:cNvPr id="19" name="Image 16"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076710" y="9759950"/>
            <a:ext cx="20462257" cy="12700"/>
          </a:xfrm>
          <a:prstGeom prst="rect">
            <a:avLst/>
          </a:prstGeom>
        </p:spPr>
      </p:pic>
      <p:pic>
        <p:nvPicPr>
          <p:cNvPr id="20" name="Image 17"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076710" y="10572750"/>
            <a:ext cx="20462257" cy="12700"/>
          </a:xfrm>
          <a:prstGeom prst="rect">
            <a:avLst/>
          </a:prstGeom>
        </p:spPr>
      </p:pic>
      <p:pic>
        <p:nvPicPr>
          <p:cNvPr id="21" name="Image 18"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076710" y="11372850"/>
            <a:ext cx="20462257" cy="12700"/>
          </a:xfrm>
          <a:prstGeom prst="rect">
            <a:avLst/>
          </a:prstGeom>
        </p:spPr>
      </p:pic>
      <p:sp>
        <p:nvSpPr>
          <p:cNvPr id="22" name="Text 1"/>
          <p:cNvSpPr/>
          <p:nvPr/>
        </p:nvSpPr>
        <p:spPr>
          <a:xfrm>
            <a:off x="3137292" y="8382000"/>
            <a:ext cx="1706247"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Consent Capture</a:t>
            </a:r>
            <a:endParaRPr lang="en-US" sz="1600" dirty="0"/>
          </a:p>
        </p:txBody>
      </p:sp>
      <p:sp>
        <p:nvSpPr>
          <p:cNvPr id="23" name="Text 2"/>
          <p:cNvSpPr/>
          <p:nvPr/>
        </p:nvSpPr>
        <p:spPr>
          <a:xfrm>
            <a:off x="3099187" y="9194800"/>
            <a:ext cx="1782456"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Data Minimization</a:t>
            </a:r>
            <a:endParaRPr lang="en-US" sz="1600" dirty="0"/>
          </a:p>
        </p:txBody>
      </p:sp>
      <p:sp>
        <p:nvSpPr>
          <p:cNvPr id="24" name="Text 3"/>
          <p:cNvSpPr/>
          <p:nvPr/>
        </p:nvSpPr>
        <p:spPr>
          <a:xfrm>
            <a:off x="3188098" y="10007600"/>
            <a:ext cx="1617335"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Retention Policy</a:t>
            </a:r>
            <a:endParaRPr lang="en-US" sz="1600" dirty="0"/>
          </a:p>
        </p:txBody>
      </p:sp>
      <p:sp>
        <p:nvSpPr>
          <p:cNvPr id="25" name="Text 4"/>
          <p:cNvSpPr/>
          <p:nvPr/>
        </p:nvSpPr>
        <p:spPr>
          <a:xfrm>
            <a:off x="3277010" y="10820400"/>
            <a:ext cx="142681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DSR Requests</a:t>
            </a:r>
            <a:endParaRPr lang="en-US" sz="1600" dirty="0"/>
          </a:p>
        </p:txBody>
      </p:sp>
      <p:sp>
        <p:nvSpPr>
          <p:cNvPr id="26" name="Text 5"/>
          <p:cNvSpPr/>
          <p:nvPr/>
        </p:nvSpPr>
        <p:spPr>
          <a:xfrm>
            <a:off x="2908664" y="11633200"/>
            <a:ext cx="2163504"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Lawful Basis Mapping</a:t>
            </a:r>
            <a:endParaRPr lang="en-US" sz="1600" dirty="0"/>
          </a:p>
        </p:txBody>
      </p:sp>
      <p:sp>
        <p:nvSpPr>
          <p:cNvPr id="27" name="Text 6"/>
          <p:cNvSpPr/>
          <p:nvPr/>
        </p:nvSpPr>
        <p:spPr>
          <a:xfrm>
            <a:off x="10085060" y="8343900"/>
            <a:ext cx="431007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Must log opt-in/out at the point of collection</a:t>
            </a:r>
            <a:endParaRPr lang="en-US" sz="1600" dirty="0"/>
          </a:p>
        </p:txBody>
      </p:sp>
      <p:sp>
        <p:nvSpPr>
          <p:cNvPr id="28" name="Text 7"/>
          <p:cNvSpPr/>
          <p:nvPr/>
        </p:nvSpPr>
        <p:spPr>
          <a:xfrm>
            <a:off x="9335667" y="9144000"/>
            <a:ext cx="5821561"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Store only attributes strictly required for intended activation</a:t>
            </a:r>
            <a:endParaRPr lang="en-US" sz="1600" dirty="0"/>
          </a:p>
        </p:txBody>
      </p:sp>
      <p:sp>
        <p:nvSpPr>
          <p:cNvPr id="29" name="Text 8"/>
          <p:cNvSpPr/>
          <p:nvPr/>
        </p:nvSpPr>
        <p:spPr>
          <a:xfrm>
            <a:off x="9259457" y="9944100"/>
            <a:ext cx="5961278"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Transactional = 13 mo • Behavioral = 25 mo • Profile = 60 mo</a:t>
            </a:r>
            <a:endParaRPr lang="en-US" sz="1600" dirty="0"/>
          </a:p>
        </p:txBody>
      </p:sp>
      <p:sp>
        <p:nvSpPr>
          <p:cNvPr id="30" name="Text 9"/>
          <p:cNvSpPr/>
          <p:nvPr/>
        </p:nvSpPr>
        <p:spPr>
          <a:xfrm>
            <a:off x="9056232" y="10744200"/>
            <a:ext cx="6367729"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Must fulfill Data Subject Requests (DSR) under GDPR/CCPA/PDPA</a:t>
            </a:r>
            <a:endParaRPr lang="en-US" sz="1600" dirty="0"/>
          </a:p>
        </p:txBody>
      </p:sp>
      <p:sp>
        <p:nvSpPr>
          <p:cNvPr id="31" name="Text 10"/>
          <p:cNvSpPr/>
          <p:nvPr/>
        </p:nvSpPr>
        <p:spPr>
          <a:xfrm>
            <a:off x="8916514" y="11595100"/>
            <a:ext cx="6647164"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Define consent, contract, or legitimate interest before data ingestion</a:t>
            </a:r>
            <a:endParaRPr lang="en-US" sz="1600" dirty="0"/>
          </a:p>
        </p:txBody>
      </p:sp>
      <p:sp>
        <p:nvSpPr>
          <p:cNvPr id="32" name="Text 11"/>
          <p:cNvSpPr/>
          <p:nvPr/>
        </p:nvSpPr>
        <p:spPr>
          <a:xfrm>
            <a:off x="19141292" y="8369300"/>
            <a:ext cx="2328624"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Real-time, event-based</a:t>
            </a:r>
            <a:endParaRPr lang="en-US" sz="1600" dirty="0"/>
          </a:p>
        </p:txBody>
      </p:sp>
      <p:sp>
        <p:nvSpPr>
          <p:cNvPr id="33" name="Text 12"/>
          <p:cNvSpPr/>
          <p:nvPr/>
        </p:nvSpPr>
        <p:spPr>
          <a:xfrm>
            <a:off x="18988873" y="9169400"/>
            <a:ext cx="263346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Enforced at ingestion layer</a:t>
            </a:r>
            <a:endParaRPr lang="en-US" sz="1600" dirty="0"/>
          </a:p>
        </p:txBody>
      </p:sp>
      <p:sp>
        <p:nvSpPr>
          <p:cNvPr id="34" name="Text 13"/>
          <p:cNvSpPr/>
          <p:nvPr/>
        </p:nvSpPr>
        <p:spPr>
          <a:xfrm>
            <a:off x="18963470" y="9969500"/>
            <a:ext cx="2684269"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Automated purge/archiving</a:t>
            </a:r>
            <a:endParaRPr lang="en-US" sz="1600" dirty="0"/>
          </a:p>
        </p:txBody>
      </p:sp>
      <p:sp>
        <p:nvSpPr>
          <p:cNvPr id="35" name="Text 14"/>
          <p:cNvSpPr/>
          <p:nvPr/>
        </p:nvSpPr>
        <p:spPr>
          <a:xfrm>
            <a:off x="19598550" y="10769600"/>
            <a:ext cx="142681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≤30 days SLA</a:t>
            </a:r>
            <a:endParaRPr lang="en-US" sz="1600" dirty="0"/>
          </a:p>
        </p:txBody>
      </p:sp>
      <p:sp>
        <p:nvSpPr>
          <p:cNvPr id="36" name="Text 15"/>
          <p:cNvSpPr/>
          <p:nvPr/>
        </p:nvSpPr>
        <p:spPr>
          <a:xfrm>
            <a:off x="19471534" y="11595100"/>
            <a:ext cx="1680843"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Required upfront</a:t>
            </a:r>
            <a:endParaRPr lang="en-US" sz="1600" dirty="0"/>
          </a:p>
        </p:txBody>
      </p:sp>
      <p:pic>
        <p:nvPicPr>
          <p:cNvPr id="37" name="Image 19" descr=" "/>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524191" y="7315200"/>
            <a:ext cx="5169546" cy="812800"/>
          </a:xfrm>
          <a:prstGeom prst="rect">
            <a:avLst/>
          </a:prstGeom>
        </p:spPr>
      </p:pic>
      <p:sp>
        <p:nvSpPr>
          <p:cNvPr id="38" name="Shape 16"/>
          <p:cNvSpPr/>
          <p:nvPr/>
        </p:nvSpPr>
        <p:spPr>
          <a:xfrm>
            <a:off x="6693737" y="7315200"/>
            <a:ext cx="11024978" cy="812800"/>
          </a:xfrm>
          <a:prstGeom prst="rect">
            <a:avLst/>
          </a:prstGeom>
          <a:solidFill>
            <a:srgbClr val="FF8B32">
              <a:alpha val="100000"/>
            </a:srgbClr>
          </a:solidFill>
          <a:ln/>
        </p:spPr>
      </p:sp>
      <p:pic>
        <p:nvPicPr>
          <p:cNvPr id="39" name="Image 20" descr=" "/>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7718715" y="7315200"/>
            <a:ext cx="5144143" cy="812800"/>
          </a:xfrm>
          <a:prstGeom prst="rect">
            <a:avLst/>
          </a:prstGeom>
        </p:spPr>
      </p:pic>
      <p:sp>
        <p:nvSpPr>
          <p:cNvPr id="40" name="Text 17"/>
          <p:cNvSpPr/>
          <p:nvPr/>
        </p:nvSpPr>
        <p:spPr>
          <a:xfrm>
            <a:off x="3416727" y="7569200"/>
            <a:ext cx="1147377"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Policy Area</a:t>
            </a:r>
            <a:endParaRPr lang="en-US" sz="1600" dirty="0"/>
          </a:p>
        </p:txBody>
      </p:sp>
      <p:sp>
        <p:nvSpPr>
          <p:cNvPr id="41" name="Text 18"/>
          <p:cNvSpPr/>
          <p:nvPr/>
        </p:nvSpPr>
        <p:spPr>
          <a:xfrm>
            <a:off x="11990299" y="7569200"/>
            <a:ext cx="486894"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Rule</a:t>
            </a:r>
            <a:endParaRPr lang="en-US" sz="1600" dirty="0"/>
          </a:p>
        </p:txBody>
      </p:sp>
      <p:sp>
        <p:nvSpPr>
          <p:cNvPr id="42" name="Text 19"/>
          <p:cNvSpPr/>
          <p:nvPr/>
        </p:nvSpPr>
        <p:spPr>
          <a:xfrm>
            <a:off x="19547743" y="7569200"/>
            <a:ext cx="1528424"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SLA / Standard</a:t>
            </a:r>
            <a:endParaRPr lang="en-US" sz="1600" dirty="0"/>
          </a:p>
        </p:txBody>
      </p:sp>
      <p:pic>
        <p:nvPicPr>
          <p:cNvPr id="43" name="Image 21" descr=" "/>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524191" y="7315200"/>
            <a:ext cx="21338667" cy="4876800"/>
          </a:xfrm>
          <a:prstGeom prst="rect">
            <a:avLst/>
          </a:prstGeom>
        </p:spPr>
      </p:pic>
      <p:sp>
        <p:nvSpPr>
          <p:cNvPr id="44" name="Shape 20"/>
          <p:cNvSpPr/>
          <p:nvPr/>
        </p:nvSpPr>
        <p:spPr>
          <a:xfrm>
            <a:off x="0" y="4191000"/>
            <a:ext cx="24387048" cy="3213100"/>
          </a:xfrm>
          <a:prstGeom prst="rect">
            <a:avLst/>
          </a:prstGeom>
          <a:noFill/>
          <a:ln/>
        </p:spPr>
      </p:sp>
      <p:pic>
        <p:nvPicPr>
          <p:cNvPr id="45" name="Image 22" descr=" "/>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524191" y="4457700"/>
            <a:ext cx="7112889" cy="2946400"/>
          </a:xfrm>
          <a:prstGeom prst="rect">
            <a:avLst/>
          </a:prstGeom>
        </p:spPr>
      </p:pic>
      <p:pic>
        <p:nvPicPr>
          <p:cNvPr id="46" name="Image 23" descr=" "/>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637080" y="4457700"/>
            <a:ext cx="7112889" cy="2946400"/>
          </a:xfrm>
          <a:prstGeom prst="rect">
            <a:avLst/>
          </a:prstGeom>
        </p:spPr>
      </p:pic>
      <p:pic>
        <p:nvPicPr>
          <p:cNvPr id="47" name="Image 24" descr=" "/>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5749969" y="4457700"/>
            <a:ext cx="7112889" cy="2946400"/>
          </a:xfrm>
          <a:prstGeom prst="rect">
            <a:avLst/>
          </a:prstGeom>
        </p:spPr>
      </p:pic>
      <p:pic>
        <p:nvPicPr>
          <p:cNvPr id="48" name="Image 25" descr=" "/>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0" y="4438650"/>
            <a:ext cx="24387048" cy="38100"/>
          </a:xfrm>
          <a:prstGeom prst="rect">
            <a:avLst/>
          </a:prstGeom>
        </p:spPr>
      </p:pic>
      <p:sp>
        <p:nvSpPr>
          <p:cNvPr id="49" name="Shape 21"/>
          <p:cNvSpPr/>
          <p:nvPr/>
        </p:nvSpPr>
        <p:spPr>
          <a:xfrm>
            <a:off x="1524191" y="4191000"/>
            <a:ext cx="1943343" cy="533400"/>
          </a:xfrm>
          <a:prstGeom prst="roundRect">
            <a:avLst>
              <a:gd name="adj" fmla="val 96000"/>
            </a:avLst>
          </a:prstGeom>
          <a:solidFill>
            <a:srgbClr val="FF8B32">
              <a:alpha val="100000"/>
            </a:srgbClr>
          </a:solidFill>
          <a:ln w="12700">
            <a:solidFill>
              <a:srgbClr val="FF5102"/>
            </a:solidFill>
            <a:prstDash val="solid"/>
          </a:ln>
        </p:spPr>
      </p:sp>
      <p:sp>
        <p:nvSpPr>
          <p:cNvPr id="50" name="Text 22"/>
          <p:cNvSpPr/>
          <p:nvPr/>
        </p:nvSpPr>
        <p:spPr>
          <a:xfrm>
            <a:off x="1841730" y="4267200"/>
            <a:ext cx="1392941" cy="465667"/>
          </a:xfrm>
          <a:prstGeom prst="rect">
            <a:avLst/>
          </a:prstGeom>
          <a:noFill/>
          <a:ln/>
        </p:spPr>
        <p:txBody>
          <a:bodyPr wrap="square" lIns="0" tIns="0" rIns="0" bIns="0" rtlCol="0" anchor="t"/>
          <a:lstStyle/>
          <a:p>
            <a:pPr marL="0" indent="0" algn="l">
              <a:lnSpc>
                <a:spcPts val="3000"/>
              </a:lnSpc>
              <a:buNone/>
            </a:pPr>
            <a:r>
              <a:rPr lang="en-US" sz="2000" dirty="0">
                <a:solidFill>
                  <a:srgbClr val="FFFFFF">
                    <a:alpha val="100000"/>
                  </a:srgbClr>
                </a:solidFill>
                <a:latin typeface="Inter Bold" pitchFamily="34" charset="0"/>
                <a:ea typeface="Inter Bold" pitchFamily="34" charset="-122"/>
                <a:cs typeface="Inter Bold" pitchFamily="34" charset="-120"/>
              </a:rPr>
              <a:t>13 Months</a:t>
            </a:r>
            <a:endParaRPr lang="en-US" sz="2000" dirty="0"/>
          </a:p>
        </p:txBody>
      </p:sp>
      <p:sp>
        <p:nvSpPr>
          <p:cNvPr id="51" name="Text 23"/>
          <p:cNvSpPr/>
          <p:nvPr/>
        </p:nvSpPr>
        <p:spPr>
          <a:xfrm>
            <a:off x="1841730" y="5461000"/>
            <a:ext cx="5228820" cy="846667"/>
          </a:xfrm>
          <a:prstGeom prst="rect">
            <a:avLst/>
          </a:prstGeom>
          <a:noFill/>
          <a:ln/>
        </p:spPr>
        <p:txBody>
          <a:bodyPr wrap="square" lIns="0" tIns="0" rIns="0" bIns="0" rtlCol="0" anchor="t"/>
          <a:lstStyle/>
          <a:p>
            <a:pPr marL="0" indent="0" algn="l">
              <a:lnSpc>
                <a:spcPts val="3000"/>
              </a:lnSpc>
              <a:buNone/>
            </a:pPr>
            <a:r>
              <a:rPr lang="en-US" sz="2000" dirty="0">
                <a:solidFill>
                  <a:srgbClr val="6D6D6D">
                    <a:alpha val="100000"/>
                  </a:srgbClr>
                </a:solidFill>
                <a:latin typeface="Inter Regular" pitchFamily="34" charset="0"/>
                <a:ea typeface="Inter Regular" pitchFamily="34" charset="-122"/>
                <a:cs typeface="Inter Regular" pitchFamily="34" charset="-120"/>
              </a:rPr>
              <a:t>Short-term logs, receipts, or financial transaction records</a:t>
            </a:r>
            <a:endParaRPr lang="en-US" sz="2000" dirty="0"/>
          </a:p>
        </p:txBody>
      </p:sp>
      <p:sp>
        <p:nvSpPr>
          <p:cNvPr id="52" name="Text 24"/>
          <p:cNvSpPr/>
          <p:nvPr/>
        </p:nvSpPr>
        <p:spPr>
          <a:xfrm>
            <a:off x="1841730" y="4978400"/>
            <a:ext cx="2332858" cy="465667"/>
          </a:xfrm>
          <a:prstGeom prst="rect">
            <a:avLst/>
          </a:prstGeom>
          <a:noFill/>
          <a:ln/>
        </p:spPr>
        <p:txBody>
          <a:bodyPr wrap="square" lIns="0" tIns="0" rIns="0" bIns="0" rtlCol="0" anchor="t"/>
          <a:lstStyle/>
          <a:p>
            <a:pPr marL="0" indent="0" algn="l">
              <a:lnSpc>
                <a:spcPts val="3000"/>
              </a:lnSpc>
              <a:buNone/>
            </a:pPr>
            <a:r>
              <a:rPr lang="en-US" sz="2000" dirty="0">
                <a:solidFill>
                  <a:srgbClr val="242424">
                    <a:alpha val="100000"/>
                  </a:srgbClr>
                </a:solidFill>
                <a:latin typeface="Inter Regular" pitchFamily="34" charset="0"/>
                <a:ea typeface="Inter Regular" pitchFamily="34" charset="-122"/>
                <a:cs typeface="Inter Regular" pitchFamily="34" charset="-120"/>
              </a:rPr>
              <a:t>Transactional Data</a:t>
            </a:r>
            <a:endParaRPr lang="en-US" sz="2000" dirty="0"/>
          </a:p>
        </p:txBody>
      </p:sp>
      <p:sp>
        <p:nvSpPr>
          <p:cNvPr id="53" name="Shape 25"/>
          <p:cNvSpPr/>
          <p:nvPr/>
        </p:nvSpPr>
        <p:spPr>
          <a:xfrm>
            <a:off x="8637080" y="4191000"/>
            <a:ext cx="1968746" cy="533400"/>
          </a:xfrm>
          <a:prstGeom prst="roundRect">
            <a:avLst>
              <a:gd name="adj" fmla="val 96000"/>
            </a:avLst>
          </a:prstGeom>
          <a:solidFill>
            <a:srgbClr val="FFB66D">
              <a:alpha val="100000"/>
            </a:srgbClr>
          </a:solidFill>
          <a:ln w="12700">
            <a:solidFill>
              <a:srgbClr val="FF8B32"/>
            </a:solidFill>
            <a:prstDash val="solid"/>
          </a:ln>
        </p:spPr>
      </p:sp>
      <p:sp>
        <p:nvSpPr>
          <p:cNvPr id="54" name="Text 26"/>
          <p:cNvSpPr/>
          <p:nvPr/>
        </p:nvSpPr>
        <p:spPr>
          <a:xfrm>
            <a:off x="8954619" y="4267200"/>
            <a:ext cx="1418344" cy="465667"/>
          </a:xfrm>
          <a:prstGeom prst="rect">
            <a:avLst/>
          </a:prstGeom>
          <a:noFill/>
          <a:ln/>
        </p:spPr>
        <p:txBody>
          <a:bodyPr wrap="square" lIns="0" tIns="0" rIns="0" bIns="0" rtlCol="0" anchor="t"/>
          <a:lstStyle/>
          <a:p>
            <a:pPr marL="0" indent="0" algn="l">
              <a:lnSpc>
                <a:spcPts val="3000"/>
              </a:lnSpc>
              <a:buNone/>
            </a:pPr>
            <a:r>
              <a:rPr lang="en-US" sz="2000" dirty="0">
                <a:solidFill>
                  <a:srgbClr val="FFFFFF">
                    <a:alpha val="100000"/>
                  </a:srgbClr>
                </a:solidFill>
                <a:latin typeface="Inter Bold" pitchFamily="34" charset="0"/>
                <a:ea typeface="Inter Bold" pitchFamily="34" charset="-122"/>
                <a:cs typeface="Inter Bold" pitchFamily="34" charset="-120"/>
              </a:rPr>
              <a:t>25 Months</a:t>
            </a:r>
            <a:endParaRPr lang="en-US" sz="2000" dirty="0"/>
          </a:p>
        </p:txBody>
      </p:sp>
      <p:sp>
        <p:nvSpPr>
          <p:cNvPr id="55" name="Text 27"/>
          <p:cNvSpPr/>
          <p:nvPr/>
        </p:nvSpPr>
        <p:spPr>
          <a:xfrm>
            <a:off x="8954619" y="5461000"/>
            <a:ext cx="5228820" cy="846667"/>
          </a:xfrm>
          <a:prstGeom prst="rect">
            <a:avLst/>
          </a:prstGeom>
          <a:noFill/>
          <a:ln/>
        </p:spPr>
        <p:txBody>
          <a:bodyPr wrap="square" lIns="0" tIns="0" rIns="0" bIns="0" rtlCol="0" anchor="t"/>
          <a:lstStyle/>
          <a:p>
            <a:pPr marL="0" indent="0" algn="l">
              <a:lnSpc>
                <a:spcPts val="3000"/>
              </a:lnSpc>
              <a:buNone/>
            </a:pPr>
            <a:r>
              <a:rPr lang="en-US" sz="2000" dirty="0">
                <a:solidFill>
                  <a:srgbClr val="6D6D6D">
                    <a:alpha val="100000"/>
                  </a:srgbClr>
                </a:solidFill>
                <a:latin typeface="Inter Regular" pitchFamily="34" charset="0"/>
                <a:ea typeface="Inter Regular" pitchFamily="34" charset="-122"/>
                <a:cs typeface="Inter Regular" pitchFamily="34" charset="-120"/>
              </a:rPr>
              <a:t>Engagement events (site visits, app activity, campaign responses)</a:t>
            </a:r>
            <a:endParaRPr lang="en-US" sz="2000" dirty="0"/>
          </a:p>
        </p:txBody>
      </p:sp>
      <p:sp>
        <p:nvSpPr>
          <p:cNvPr id="56" name="Text 28"/>
          <p:cNvSpPr/>
          <p:nvPr/>
        </p:nvSpPr>
        <p:spPr>
          <a:xfrm>
            <a:off x="8954619" y="4978400"/>
            <a:ext cx="1977214" cy="465667"/>
          </a:xfrm>
          <a:prstGeom prst="rect">
            <a:avLst/>
          </a:prstGeom>
          <a:noFill/>
          <a:ln/>
        </p:spPr>
        <p:txBody>
          <a:bodyPr wrap="square" lIns="0" tIns="0" rIns="0" bIns="0" rtlCol="0" anchor="t"/>
          <a:lstStyle/>
          <a:p>
            <a:pPr marL="0" indent="0" algn="l">
              <a:lnSpc>
                <a:spcPts val="3000"/>
              </a:lnSpc>
              <a:buNone/>
            </a:pPr>
            <a:r>
              <a:rPr lang="en-US" sz="2000" dirty="0">
                <a:solidFill>
                  <a:srgbClr val="242424">
                    <a:alpha val="100000"/>
                  </a:srgbClr>
                </a:solidFill>
                <a:latin typeface="Inter Regular" pitchFamily="34" charset="0"/>
                <a:ea typeface="Inter Regular" pitchFamily="34" charset="-122"/>
                <a:cs typeface="Inter Regular" pitchFamily="34" charset="-120"/>
              </a:rPr>
              <a:t>Behavioral Data</a:t>
            </a:r>
            <a:endParaRPr lang="en-US" sz="2000" dirty="0"/>
          </a:p>
        </p:txBody>
      </p:sp>
      <p:sp>
        <p:nvSpPr>
          <p:cNvPr id="57" name="Shape 29"/>
          <p:cNvSpPr/>
          <p:nvPr/>
        </p:nvSpPr>
        <p:spPr>
          <a:xfrm>
            <a:off x="15749969" y="4191000"/>
            <a:ext cx="1968746" cy="533400"/>
          </a:xfrm>
          <a:prstGeom prst="roundRect">
            <a:avLst>
              <a:gd name="adj" fmla="val 96000"/>
            </a:avLst>
          </a:prstGeom>
          <a:solidFill>
            <a:srgbClr val="FFB66D">
              <a:alpha val="100000"/>
            </a:srgbClr>
          </a:solidFill>
          <a:ln w="12700">
            <a:solidFill>
              <a:srgbClr val="FF8B32"/>
            </a:solidFill>
            <a:prstDash val="solid"/>
          </a:ln>
        </p:spPr>
      </p:sp>
      <p:sp>
        <p:nvSpPr>
          <p:cNvPr id="58" name="Text 30"/>
          <p:cNvSpPr/>
          <p:nvPr/>
        </p:nvSpPr>
        <p:spPr>
          <a:xfrm>
            <a:off x="16067508" y="4267200"/>
            <a:ext cx="1443747" cy="465667"/>
          </a:xfrm>
          <a:prstGeom prst="rect">
            <a:avLst/>
          </a:prstGeom>
          <a:noFill/>
          <a:ln/>
        </p:spPr>
        <p:txBody>
          <a:bodyPr wrap="square" lIns="0" tIns="0" rIns="0" bIns="0" rtlCol="0" anchor="t"/>
          <a:lstStyle/>
          <a:p>
            <a:pPr marL="0" indent="0" algn="l">
              <a:lnSpc>
                <a:spcPts val="3000"/>
              </a:lnSpc>
              <a:buNone/>
            </a:pPr>
            <a:r>
              <a:rPr lang="en-US" sz="2000" dirty="0">
                <a:solidFill>
                  <a:srgbClr val="FFFFFF">
                    <a:alpha val="100000"/>
                  </a:srgbClr>
                </a:solidFill>
                <a:latin typeface="Inter Bold" pitchFamily="34" charset="0"/>
                <a:ea typeface="Inter Bold" pitchFamily="34" charset="-122"/>
                <a:cs typeface="Inter Bold" pitchFamily="34" charset="-120"/>
              </a:rPr>
              <a:t>60 Months</a:t>
            </a:r>
            <a:endParaRPr lang="en-US" sz="2000" dirty="0"/>
          </a:p>
        </p:txBody>
      </p:sp>
      <p:sp>
        <p:nvSpPr>
          <p:cNvPr id="59" name="Text 31"/>
          <p:cNvSpPr/>
          <p:nvPr/>
        </p:nvSpPr>
        <p:spPr>
          <a:xfrm>
            <a:off x="16067508" y="5461000"/>
            <a:ext cx="5228820" cy="846667"/>
          </a:xfrm>
          <a:prstGeom prst="rect">
            <a:avLst/>
          </a:prstGeom>
          <a:noFill/>
          <a:ln/>
        </p:spPr>
        <p:txBody>
          <a:bodyPr wrap="square" lIns="0" tIns="0" rIns="0" bIns="0" rtlCol="0" anchor="t"/>
          <a:lstStyle/>
          <a:p>
            <a:pPr marL="0" indent="0" algn="l">
              <a:lnSpc>
                <a:spcPts val="3000"/>
              </a:lnSpc>
              <a:buNone/>
            </a:pPr>
            <a:r>
              <a:rPr lang="en-US" sz="2000" dirty="0">
                <a:solidFill>
                  <a:srgbClr val="6D6D6D">
                    <a:alpha val="100000"/>
                  </a:srgbClr>
                </a:solidFill>
                <a:latin typeface="Inter Regular" pitchFamily="34" charset="0"/>
                <a:ea typeface="Inter Regular" pitchFamily="34" charset="-122"/>
                <a:cs typeface="Inter Regular" pitchFamily="34" charset="-120"/>
              </a:rPr>
              <a:t>Customer identity, preferences, history, loyalty status</a:t>
            </a:r>
            <a:endParaRPr lang="en-US" sz="2000" dirty="0"/>
          </a:p>
        </p:txBody>
      </p:sp>
      <p:sp>
        <p:nvSpPr>
          <p:cNvPr id="60" name="Text 32"/>
          <p:cNvSpPr/>
          <p:nvPr/>
        </p:nvSpPr>
        <p:spPr>
          <a:xfrm>
            <a:off x="16067508" y="4978400"/>
            <a:ext cx="1481852" cy="465667"/>
          </a:xfrm>
          <a:prstGeom prst="rect">
            <a:avLst/>
          </a:prstGeom>
          <a:noFill/>
          <a:ln/>
        </p:spPr>
        <p:txBody>
          <a:bodyPr wrap="square" lIns="0" tIns="0" rIns="0" bIns="0" rtlCol="0" anchor="t"/>
          <a:lstStyle/>
          <a:p>
            <a:pPr marL="0" indent="0" algn="l">
              <a:lnSpc>
                <a:spcPts val="3000"/>
              </a:lnSpc>
              <a:buNone/>
            </a:pPr>
            <a:r>
              <a:rPr lang="en-US" sz="2000" dirty="0">
                <a:solidFill>
                  <a:srgbClr val="242424">
                    <a:alpha val="100000"/>
                  </a:srgbClr>
                </a:solidFill>
                <a:latin typeface="Inter Regular" pitchFamily="34" charset="0"/>
                <a:ea typeface="Inter Regular" pitchFamily="34" charset="-122"/>
                <a:cs typeface="Inter Regular" pitchFamily="34" charset="-120"/>
              </a:rPr>
              <a:t>Profile Data</a:t>
            </a:r>
            <a:endParaRPr lang="en-US" sz="2000" dirty="0"/>
          </a:p>
        </p:txBody>
      </p:sp>
      <p:sp>
        <p:nvSpPr>
          <p:cNvPr id="61" name="Text 33"/>
          <p:cNvSpPr/>
          <p:nvPr/>
        </p:nvSpPr>
        <p:spPr>
          <a:xfrm>
            <a:off x="22337859" y="1905000"/>
            <a:ext cx="567338"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005</a:t>
            </a:r>
            <a:endParaRPr lang="en-US" sz="2000" dirty="0"/>
          </a:p>
        </p:txBody>
      </p:sp>
      <p:sp>
        <p:nvSpPr>
          <p:cNvPr id="62" name="Text 34"/>
          <p:cNvSpPr/>
          <p:nvPr/>
        </p:nvSpPr>
        <p:spPr>
          <a:xfrm>
            <a:off x="1524191" y="1524000"/>
            <a:ext cx="8120548"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Governance &amp; Compliance Posture</a:t>
            </a:r>
            <a:endParaRPr lang="en-US" sz="6400" dirty="0"/>
          </a:p>
        </p:txBody>
      </p:sp>
      <p:sp>
        <p:nvSpPr>
          <p:cNvPr id="63" name="Text 35"/>
          <p:cNvSpPr/>
          <p:nvPr/>
        </p:nvSpPr>
        <p:spPr>
          <a:xfrm>
            <a:off x="13273159" y="1955800"/>
            <a:ext cx="6926599" cy="9821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Customer data is scattered across platforms, causing inefficiencies and lack of insights. </a:t>
            </a:r>
            <a:r>
              <a:rPr lang="en-US" sz="1600" dirty="0">
                <a:solidFill>
                  <a:srgbClr val="6D6D6D">
                    <a:alpha val="100000"/>
                  </a:srgbClr>
                </a:solidFill>
                <a:latin typeface="Inter Regular" pitchFamily="34" charset="0"/>
                <a:ea typeface="Inter Regular" pitchFamily="34" charset="-122"/>
                <a:cs typeface="Inter Regular" pitchFamily="34" charset="-120"/>
              </a:rPr>
              <a:t>This fragmentation hinders businesses from fully understanding customers and delivering personalized experiences.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24191" y="4699000"/>
            <a:ext cx="21300562" cy="2476500"/>
          </a:xfrm>
          <a:prstGeom prst="rect">
            <a:avLst/>
          </a:prstGeom>
          <a:noFill/>
          <a:ln/>
        </p:spPr>
      </p:sp>
      <p:pic>
        <p:nvPicPr>
          <p:cNvPr id="3"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15014" y="6146800"/>
            <a:ext cx="3086486" cy="996950"/>
          </a:xfrm>
          <a:prstGeom prst="rect">
            <a:avLst/>
          </a:prstGeom>
        </p:spPr>
      </p:pic>
      <p:sp>
        <p:nvSpPr>
          <p:cNvPr id="4" name="Shape 1"/>
          <p:cNvSpPr/>
          <p:nvPr/>
        </p:nvSpPr>
        <p:spPr>
          <a:xfrm>
            <a:off x="4458257" y="7099300"/>
            <a:ext cx="76210" cy="76200"/>
          </a:xfrm>
          <a:prstGeom prst="ellipse">
            <a:avLst/>
          </a:prstGeom>
          <a:solidFill>
            <a:srgbClr val="FFFFFF">
              <a:alpha val="100000"/>
            </a:srgbClr>
          </a:solidFill>
          <a:ln w="12700">
            <a:solidFill>
              <a:srgbClr val="FF5102"/>
            </a:solidFill>
            <a:prstDash val="solid"/>
          </a:ln>
        </p:spPr>
      </p:sp>
      <p:pic>
        <p:nvPicPr>
          <p:cNvPr id="5" name="Image 1" descr=" "/>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9062583" y="6146800"/>
            <a:ext cx="3086486" cy="996950"/>
          </a:xfrm>
          <a:prstGeom prst="rect">
            <a:avLst/>
          </a:prstGeom>
        </p:spPr>
      </p:pic>
      <p:sp>
        <p:nvSpPr>
          <p:cNvPr id="6" name="Shape 2"/>
          <p:cNvSpPr/>
          <p:nvPr/>
        </p:nvSpPr>
        <p:spPr>
          <a:xfrm>
            <a:off x="10605826" y="7099300"/>
            <a:ext cx="76210" cy="76200"/>
          </a:xfrm>
          <a:prstGeom prst="ellipse">
            <a:avLst/>
          </a:prstGeom>
          <a:solidFill>
            <a:srgbClr val="FFFFFF">
              <a:alpha val="100000"/>
            </a:srgbClr>
          </a:solidFill>
          <a:ln w="12700">
            <a:solidFill>
              <a:srgbClr val="FF5102"/>
            </a:solidFill>
            <a:prstDash val="solid"/>
          </a:ln>
        </p:spPr>
      </p:sp>
      <p:pic>
        <p:nvPicPr>
          <p:cNvPr id="7" name="Image 2" descr=" "/>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15210151" y="6146800"/>
            <a:ext cx="3086486" cy="996950"/>
          </a:xfrm>
          <a:prstGeom prst="rect">
            <a:avLst/>
          </a:prstGeom>
        </p:spPr>
      </p:pic>
      <p:sp>
        <p:nvSpPr>
          <p:cNvPr id="8" name="Shape 3"/>
          <p:cNvSpPr/>
          <p:nvPr/>
        </p:nvSpPr>
        <p:spPr>
          <a:xfrm>
            <a:off x="16753394" y="7099300"/>
            <a:ext cx="76210" cy="76200"/>
          </a:xfrm>
          <a:prstGeom prst="ellipse">
            <a:avLst/>
          </a:prstGeom>
          <a:solidFill>
            <a:srgbClr val="FFFFFF">
              <a:alpha val="100000"/>
            </a:srgbClr>
          </a:solidFill>
          <a:ln w="12700">
            <a:solidFill>
              <a:srgbClr val="FF5102"/>
            </a:solidFill>
            <a:prstDash val="solid"/>
          </a:ln>
        </p:spPr>
      </p:sp>
      <p:pic>
        <p:nvPicPr>
          <p:cNvPr id="9"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88799" y="4730750"/>
            <a:ext cx="3086486" cy="996950"/>
          </a:xfrm>
          <a:prstGeom prst="rect">
            <a:avLst/>
          </a:prstGeom>
        </p:spPr>
      </p:pic>
      <p:sp>
        <p:nvSpPr>
          <p:cNvPr id="10" name="Shape 4"/>
          <p:cNvSpPr/>
          <p:nvPr/>
        </p:nvSpPr>
        <p:spPr>
          <a:xfrm>
            <a:off x="7443130" y="4699000"/>
            <a:ext cx="76210" cy="76200"/>
          </a:xfrm>
          <a:prstGeom prst="ellipse">
            <a:avLst/>
          </a:prstGeom>
          <a:solidFill>
            <a:srgbClr val="FFFFFF">
              <a:alpha val="100000"/>
            </a:srgbClr>
          </a:solidFill>
          <a:ln w="12700">
            <a:solidFill>
              <a:srgbClr val="FF5102"/>
            </a:solidFill>
            <a:prstDash val="solid"/>
          </a:ln>
        </p:spPr>
      </p:sp>
      <p:pic>
        <p:nvPicPr>
          <p:cNvPr id="11" name="Image 4" descr=" "/>
          <p:cNvPicPr>
            <a:picLocks noChangeAspect="1"/>
          </p:cNvPicPr>
          <p:nvPr/>
        </p:nvPicPr>
        <p:blipFill>
          <a:blip r:embed="rId7">
            <a:extLst>
              <a:ext uri="{96DAC541-7B7A-43D3-8B79-37D633B846F1}">
                <asvg:svgBlip xmlns:asvg="http://schemas.microsoft.com/office/drawing/2016/SVG/main" r:embed="rId9"/>
              </a:ext>
            </a:extLst>
          </a:blip>
          <a:stretch>
            <a:fillRect/>
          </a:stretch>
        </p:blipFill>
        <p:spPr>
          <a:xfrm>
            <a:off x="12136367" y="4730750"/>
            <a:ext cx="3086486" cy="996950"/>
          </a:xfrm>
          <a:prstGeom prst="rect">
            <a:avLst/>
          </a:prstGeom>
        </p:spPr>
      </p:pic>
      <p:sp>
        <p:nvSpPr>
          <p:cNvPr id="12" name="Shape 5"/>
          <p:cNvSpPr/>
          <p:nvPr/>
        </p:nvSpPr>
        <p:spPr>
          <a:xfrm>
            <a:off x="13590699" y="4699000"/>
            <a:ext cx="76210" cy="76200"/>
          </a:xfrm>
          <a:prstGeom prst="ellipse">
            <a:avLst/>
          </a:prstGeom>
          <a:solidFill>
            <a:srgbClr val="FFFFFF">
              <a:alpha val="100000"/>
            </a:srgbClr>
          </a:solidFill>
          <a:ln w="12700">
            <a:solidFill>
              <a:srgbClr val="FF5102"/>
            </a:solidFill>
            <a:prstDash val="solid"/>
          </a:ln>
        </p:spPr>
      </p:sp>
      <p:pic>
        <p:nvPicPr>
          <p:cNvPr id="13" name="Image 5" descr=" "/>
          <p:cNvPicPr>
            <a:picLocks noChangeAspect="1"/>
          </p:cNvPicPr>
          <p:nvPr/>
        </p:nvPicPr>
        <p:blipFill>
          <a:blip r:embed="rId7">
            <a:extLst>
              <a:ext uri="{96DAC541-7B7A-43D3-8B79-37D633B846F1}">
                <asvg:svgBlip xmlns:asvg="http://schemas.microsoft.com/office/drawing/2016/SVG/main" r:embed="rId10"/>
              </a:ext>
            </a:extLst>
          </a:blip>
          <a:stretch>
            <a:fillRect/>
          </a:stretch>
        </p:blipFill>
        <p:spPr>
          <a:xfrm>
            <a:off x="18283935" y="4730750"/>
            <a:ext cx="3086486" cy="996950"/>
          </a:xfrm>
          <a:prstGeom prst="rect">
            <a:avLst/>
          </a:prstGeom>
        </p:spPr>
      </p:pic>
      <p:sp>
        <p:nvSpPr>
          <p:cNvPr id="14" name="Shape 6"/>
          <p:cNvSpPr/>
          <p:nvPr/>
        </p:nvSpPr>
        <p:spPr>
          <a:xfrm>
            <a:off x="19738267" y="4699000"/>
            <a:ext cx="76210" cy="76200"/>
          </a:xfrm>
          <a:prstGeom prst="ellipse">
            <a:avLst/>
          </a:prstGeom>
          <a:solidFill>
            <a:srgbClr val="FFFFFF">
              <a:alpha val="100000"/>
            </a:srgbClr>
          </a:solidFill>
          <a:ln w="12700">
            <a:solidFill>
              <a:srgbClr val="FF5102"/>
            </a:solidFill>
            <a:prstDash val="solid"/>
          </a:ln>
        </p:spPr>
      </p:sp>
      <p:pic>
        <p:nvPicPr>
          <p:cNvPr id="15" name="Image 6"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4191" y="5613400"/>
            <a:ext cx="2781648" cy="660400"/>
          </a:xfrm>
          <a:prstGeom prst="rect">
            <a:avLst/>
          </a:prstGeom>
        </p:spPr>
      </p:pic>
      <p:sp>
        <p:nvSpPr>
          <p:cNvPr id="16" name="Text 7"/>
          <p:cNvSpPr/>
          <p:nvPr/>
        </p:nvSpPr>
        <p:spPr>
          <a:xfrm>
            <a:off x="2383665" y="5803900"/>
            <a:ext cx="1062699" cy="364067"/>
          </a:xfrm>
          <a:prstGeom prst="rect">
            <a:avLst/>
          </a:prstGeom>
          <a:noFill/>
          <a:ln/>
        </p:spPr>
        <p:txBody>
          <a:bodyPr wrap="square" lIns="0" tIns="0" rIns="0" bIns="0" rtlCol="0" anchor="t"/>
          <a:lstStyle/>
          <a:p>
            <a:pPr marL="0" indent="0" algn="ctr">
              <a:lnSpc>
                <a:spcPts val="2200"/>
              </a:lnSpc>
              <a:buNone/>
            </a:pPr>
            <a:r>
              <a:rPr lang="en-US" sz="2000" dirty="0">
                <a:solidFill>
                  <a:srgbClr val="F6F6F6">
                    <a:alpha val="100000"/>
                  </a:srgbClr>
                </a:solidFill>
                <a:latin typeface="Inter Regular" pitchFamily="34" charset="0"/>
                <a:ea typeface="Inter Regular" pitchFamily="34" charset="-122"/>
                <a:cs typeface="Inter Regular" pitchFamily="34" charset="-120"/>
              </a:rPr>
              <a:t>Sources</a:t>
            </a:r>
            <a:endParaRPr lang="en-US" sz="2000" dirty="0"/>
          </a:p>
        </p:txBody>
      </p:sp>
      <p:sp>
        <p:nvSpPr>
          <p:cNvPr id="17" name="Shape 8"/>
          <p:cNvSpPr/>
          <p:nvPr/>
        </p:nvSpPr>
        <p:spPr>
          <a:xfrm>
            <a:off x="4610676" y="5613400"/>
            <a:ext cx="2781648" cy="660400"/>
          </a:xfrm>
          <a:prstGeom prst="roundRect">
            <a:avLst>
              <a:gd name="adj" fmla="val 77538"/>
            </a:avLst>
          </a:prstGeom>
          <a:solidFill>
            <a:srgbClr val="FFD4A5">
              <a:alpha val="100000"/>
            </a:srgbClr>
          </a:solidFill>
          <a:ln w="12700">
            <a:solidFill>
              <a:srgbClr val="FF8B32"/>
            </a:solidFill>
            <a:prstDash val="solid"/>
          </a:ln>
        </p:spPr>
      </p:sp>
      <p:sp>
        <p:nvSpPr>
          <p:cNvPr id="18" name="Text 9"/>
          <p:cNvSpPr/>
          <p:nvPr/>
        </p:nvSpPr>
        <p:spPr>
          <a:xfrm>
            <a:off x="5406642" y="5803900"/>
            <a:ext cx="1189715" cy="364067"/>
          </a:xfrm>
          <a:prstGeom prst="rect">
            <a:avLst/>
          </a:prstGeom>
          <a:noFill/>
          <a:ln/>
        </p:spPr>
        <p:txBody>
          <a:bodyPr wrap="square" lIns="0" tIns="0" rIns="0" bIns="0" rtlCol="0" anchor="t"/>
          <a:lstStyle/>
          <a:p>
            <a:pPr marL="0" indent="0" algn="ctr">
              <a:lnSpc>
                <a:spcPts val="2200"/>
              </a:lnSpc>
              <a:buNone/>
            </a:pPr>
            <a:r>
              <a:rPr lang="en-US" sz="2000" dirty="0">
                <a:solidFill>
                  <a:srgbClr val="FF5102">
                    <a:alpha val="100000"/>
                  </a:srgbClr>
                </a:solidFill>
                <a:latin typeface="Inter Regular" pitchFamily="34" charset="0"/>
                <a:ea typeface="Inter Regular" pitchFamily="34" charset="-122"/>
                <a:cs typeface="Inter Regular" pitchFamily="34" charset="-120"/>
              </a:rPr>
              <a:t>Ingestion</a:t>
            </a:r>
            <a:endParaRPr lang="en-US" sz="2000" dirty="0"/>
          </a:p>
        </p:txBody>
      </p:sp>
      <p:sp>
        <p:nvSpPr>
          <p:cNvPr id="19" name="Shape 10"/>
          <p:cNvSpPr/>
          <p:nvPr/>
        </p:nvSpPr>
        <p:spPr>
          <a:xfrm>
            <a:off x="7697162" y="5613400"/>
            <a:ext cx="2781648" cy="660400"/>
          </a:xfrm>
          <a:prstGeom prst="roundRect">
            <a:avLst>
              <a:gd name="adj" fmla="val 77538"/>
            </a:avLst>
          </a:prstGeom>
          <a:solidFill>
            <a:srgbClr val="FFD4A5">
              <a:alpha val="100000"/>
            </a:srgbClr>
          </a:solidFill>
          <a:ln w="12700">
            <a:solidFill>
              <a:srgbClr val="FF8B32"/>
            </a:solidFill>
            <a:prstDash val="solid"/>
          </a:ln>
        </p:spPr>
      </p:sp>
      <p:sp>
        <p:nvSpPr>
          <p:cNvPr id="20" name="Text 11"/>
          <p:cNvSpPr/>
          <p:nvPr/>
        </p:nvSpPr>
        <p:spPr>
          <a:xfrm>
            <a:off x="8188290" y="5803900"/>
            <a:ext cx="1799392" cy="364067"/>
          </a:xfrm>
          <a:prstGeom prst="rect">
            <a:avLst/>
          </a:prstGeom>
          <a:noFill/>
          <a:ln/>
        </p:spPr>
        <p:txBody>
          <a:bodyPr wrap="square" lIns="0" tIns="0" rIns="0" bIns="0" rtlCol="0" anchor="t"/>
          <a:lstStyle/>
          <a:p>
            <a:pPr marL="0" indent="0" algn="ctr">
              <a:lnSpc>
                <a:spcPts val="2200"/>
              </a:lnSpc>
              <a:buNone/>
            </a:pPr>
            <a:r>
              <a:rPr lang="en-US" sz="2000" dirty="0">
                <a:solidFill>
                  <a:srgbClr val="FF5102">
                    <a:alpha val="100000"/>
                  </a:srgbClr>
                </a:solidFill>
                <a:latin typeface="Inter Regular" pitchFamily="34" charset="0"/>
                <a:ea typeface="Inter Regular" pitchFamily="34" charset="-122"/>
                <a:cs typeface="Inter Regular" pitchFamily="34" charset="-120"/>
              </a:rPr>
              <a:t>Identity Graph</a:t>
            </a:r>
            <a:endParaRPr lang="en-US" sz="2000" dirty="0"/>
          </a:p>
        </p:txBody>
      </p:sp>
      <p:sp>
        <p:nvSpPr>
          <p:cNvPr id="21" name="Shape 12"/>
          <p:cNvSpPr/>
          <p:nvPr/>
        </p:nvSpPr>
        <p:spPr>
          <a:xfrm>
            <a:off x="10783648" y="5613400"/>
            <a:ext cx="2781648" cy="660400"/>
          </a:xfrm>
          <a:prstGeom prst="roundRect">
            <a:avLst>
              <a:gd name="adj" fmla="val 77538"/>
            </a:avLst>
          </a:prstGeom>
          <a:solidFill>
            <a:srgbClr val="FFD4A5">
              <a:alpha val="100000"/>
            </a:srgbClr>
          </a:solidFill>
          <a:ln w="12700">
            <a:solidFill>
              <a:srgbClr val="FF8B32"/>
            </a:solidFill>
            <a:prstDash val="solid"/>
          </a:ln>
        </p:spPr>
      </p:sp>
      <p:sp>
        <p:nvSpPr>
          <p:cNvPr id="22" name="Text 13"/>
          <p:cNvSpPr/>
          <p:nvPr/>
        </p:nvSpPr>
        <p:spPr>
          <a:xfrm>
            <a:off x="11389090" y="5803900"/>
            <a:ext cx="1570763" cy="364067"/>
          </a:xfrm>
          <a:prstGeom prst="rect">
            <a:avLst/>
          </a:prstGeom>
          <a:noFill/>
          <a:ln/>
        </p:spPr>
        <p:txBody>
          <a:bodyPr wrap="square" lIns="0" tIns="0" rIns="0" bIns="0" rtlCol="0" anchor="t"/>
          <a:lstStyle/>
          <a:p>
            <a:pPr marL="0" indent="0" algn="ctr">
              <a:lnSpc>
                <a:spcPts val="2200"/>
              </a:lnSpc>
              <a:buNone/>
            </a:pPr>
            <a:r>
              <a:rPr lang="en-US" sz="2000" dirty="0">
                <a:solidFill>
                  <a:srgbClr val="FF5102">
                    <a:alpha val="100000"/>
                  </a:srgbClr>
                </a:solidFill>
                <a:latin typeface="Inter Regular" pitchFamily="34" charset="0"/>
                <a:ea typeface="Inter Regular" pitchFamily="34" charset="-122"/>
                <a:cs typeface="Inter Regular" pitchFamily="34" charset="-120"/>
              </a:rPr>
              <a:t>Profile Store</a:t>
            </a:r>
            <a:endParaRPr lang="en-US" sz="2000" dirty="0"/>
          </a:p>
        </p:txBody>
      </p:sp>
      <p:sp>
        <p:nvSpPr>
          <p:cNvPr id="23" name="Shape 14"/>
          <p:cNvSpPr/>
          <p:nvPr/>
        </p:nvSpPr>
        <p:spPr>
          <a:xfrm>
            <a:off x="13870134" y="5613400"/>
            <a:ext cx="2781648" cy="660400"/>
          </a:xfrm>
          <a:prstGeom prst="roundRect">
            <a:avLst>
              <a:gd name="adj" fmla="val 77538"/>
            </a:avLst>
          </a:prstGeom>
          <a:solidFill>
            <a:srgbClr val="FFD4A5">
              <a:alpha val="100000"/>
            </a:srgbClr>
          </a:solidFill>
          <a:ln w="12700">
            <a:solidFill>
              <a:srgbClr val="FF8B32"/>
            </a:solidFill>
            <a:prstDash val="solid"/>
          </a:ln>
        </p:spPr>
      </p:sp>
      <p:sp>
        <p:nvSpPr>
          <p:cNvPr id="24" name="Text 15"/>
          <p:cNvSpPr/>
          <p:nvPr/>
        </p:nvSpPr>
        <p:spPr>
          <a:xfrm>
            <a:off x="14145335" y="5803900"/>
            <a:ext cx="2218544" cy="364067"/>
          </a:xfrm>
          <a:prstGeom prst="rect">
            <a:avLst/>
          </a:prstGeom>
          <a:noFill/>
          <a:ln/>
        </p:spPr>
        <p:txBody>
          <a:bodyPr wrap="square" lIns="0" tIns="0" rIns="0" bIns="0" rtlCol="0" anchor="t"/>
          <a:lstStyle/>
          <a:p>
            <a:pPr marL="0" indent="0" algn="ctr">
              <a:lnSpc>
                <a:spcPts val="2200"/>
              </a:lnSpc>
              <a:buNone/>
            </a:pPr>
            <a:r>
              <a:rPr lang="en-US" sz="2000" dirty="0">
                <a:solidFill>
                  <a:srgbClr val="FF5102">
                    <a:alpha val="100000"/>
                  </a:srgbClr>
                </a:solidFill>
                <a:latin typeface="Inter Regular" pitchFamily="34" charset="0"/>
                <a:ea typeface="Inter Regular" pitchFamily="34" charset="-122"/>
                <a:cs typeface="Inter Regular" pitchFamily="34" charset="-120"/>
              </a:rPr>
              <a:t>Segmentation/ML</a:t>
            </a:r>
            <a:endParaRPr lang="en-US" sz="2000" dirty="0"/>
          </a:p>
        </p:txBody>
      </p:sp>
      <p:sp>
        <p:nvSpPr>
          <p:cNvPr id="25" name="Shape 16"/>
          <p:cNvSpPr/>
          <p:nvPr/>
        </p:nvSpPr>
        <p:spPr>
          <a:xfrm>
            <a:off x="16956619" y="5613400"/>
            <a:ext cx="2781648" cy="660400"/>
          </a:xfrm>
          <a:prstGeom prst="roundRect">
            <a:avLst>
              <a:gd name="adj" fmla="val 77538"/>
            </a:avLst>
          </a:prstGeom>
          <a:solidFill>
            <a:srgbClr val="FFD4A5">
              <a:alpha val="100000"/>
            </a:srgbClr>
          </a:solidFill>
          <a:ln w="12700">
            <a:solidFill>
              <a:srgbClr val="FF8B32"/>
            </a:solidFill>
            <a:prstDash val="solid"/>
          </a:ln>
        </p:spPr>
      </p:sp>
      <p:sp>
        <p:nvSpPr>
          <p:cNvPr id="26" name="Text 17"/>
          <p:cNvSpPr/>
          <p:nvPr/>
        </p:nvSpPr>
        <p:spPr>
          <a:xfrm>
            <a:off x="17701779" y="5803900"/>
            <a:ext cx="1291328" cy="364067"/>
          </a:xfrm>
          <a:prstGeom prst="rect">
            <a:avLst/>
          </a:prstGeom>
          <a:noFill/>
          <a:ln/>
        </p:spPr>
        <p:txBody>
          <a:bodyPr wrap="square" lIns="0" tIns="0" rIns="0" bIns="0" rtlCol="0" anchor="t"/>
          <a:lstStyle/>
          <a:p>
            <a:pPr marL="0" indent="0" algn="ctr">
              <a:lnSpc>
                <a:spcPts val="2200"/>
              </a:lnSpc>
              <a:buNone/>
            </a:pPr>
            <a:r>
              <a:rPr lang="en-US" sz="2000" dirty="0">
                <a:solidFill>
                  <a:srgbClr val="FF5102">
                    <a:alpha val="100000"/>
                  </a:srgbClr>
                </a:solidFill>
                <a:latin typeface="Inter Regular" pitchFamily="34" charset="0"/>
                <a:ea typeface="Inter Regular" pitchFamily="34" charset="-122"/>
                <a:cs typeface="Inter Regular" pitchFamily="34" charset="-120"/>
              </a:rPr>
              <a:t>Activation</a:t>
            </a:r>
            <a:endParaRPr lang="en-US" sz="2000" dirty="0"/>
          </a:p>
        </p:txBody>
      </p:sp>
      <p:sp>
        <p:nvSpPr>
          <p:cNvPr id="27" name="Shape 18"/>
          <p:cNvSpPr/>
          <p:nvPr/>
        </p:nvSpPr>
        <p:spPr>
          <a:xfrm>
            <a:off x="20043105" y="5613400"/>
            <a:ext cx="2781648" cy="660400"/>
          </a:xfrm>
          <a:prstGeom prst="roundRect">
            <a:avLst>
              <a:gd name="adj" fmla="val 77538"/>
            </a:avLst>
          </a:prstGeom>
          <a:solidFill>
            <a:srgbClr val="FFD4A5">
              <a:alpha val="100000"/>
            </a:srgbClr>
          </a:solidFill>
          <a:ln w="12700">
            <a:solidFill>
              <a:srgbClr val="FF8B32"/>
            </a:solidFill>
            <a:prstDash val="solid"/>
          </a:ln>
        </p:spPr>
      </p:sp>
      <p:sp>
        <p:nvSpPr>
          <p:cNvPr id="28" name="Text 19"/>
          <p:cNvSpPr/>
          <p:nvPr/>
        </p:nvSpPr>
        <p:spPr>
          <a:xfrm>
            <a:off x="20559636" y="5803900"/>
            <a:ext cx="1735884" cy="364067"/>
          </a:xfrm>
          <a:prstGeom prst="rect">
            <a:avLst/>
          </a:prstGeom>
          <a:noFill/>
          <a:ln/>
        </p:spPr>
        <p:txBody>
          <a:bodyPr wrap="square" lIns="0" tIns="0" rIns="0" bIns="0" rtlCol="0" anchor="t"/>
          <a:lstStyle/>
          <a:p>
            <a:pPr marL="0" indent="0" algn="ctr">
              <a:lnSpc>
                <a:spcPts val="2200"/>
              </a:lnSpc>
              <a:buNone/>
            </a:pPr>
            <a:r>
              <a:rPr lang="en-US" sz="2000" dirty="0">
                <a:solidFill>
                  <a:srgbClr val="FF5102">
                    <a:alpha val="100000"/>
                  </a:srgbClr>
                </a:solidFill>
                <a:latin typeface="Inter Regular" pitchFamily="34" charset="0"/>
                <a:ea typeface="Inter Regular" pitchFamily="34" charset="-122"/>
                <a:cs typeface="Inter Regular" pitchFamily="34" charset="-120"/>
              </a:rPr>
              <a:t>Measurement</a:t>
            </a:r>
            <a:endParaRPr lang="en-US" sz="2000" dirty="0"/>
          </a:p>
        </p:txBody>
      </p:sp>
      <p:sp>
        <p:nvSpPr>
          <p:cNvPr id="29" name="Text 20"/>
          <p:cNvSpPr/>
          <p:nvPr/>
        </p:nvSpPr>
        <p:spPr>
          <a:xfrm>
            <a:off x="1524191" y="1524000"/>
            <a:ext cx="9352602"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Reference Architecture 2025 (High-Level)</a:t>
            </a:r>
            <a:endParaRPr lang="en-US" sz="6400" dirty="0"/>
          </a:p>
        </p:txBody>
      </p:sp>
      <p:sp>
        <p:nvSpPr>
          <p:cNvPr id="30" name="Text 21"/>
          <p:cNvSpPr/>
          <p:nvPr/>
        </p:nvSpPr>
        <p:spPr>
          <a:xfrm>
            <a:off x="16435854" y="1803400"/>
            <a:ext cx="6494745" cy="12869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The Blueprint Principles &amp; Scope outline the foundational guidelines and boundaries for our project. </a:t>
            </a:r>
            <a:r>
              <a:rPr lang="en-US" sz="1600" dirty="0">
                <a:solidFill>
                  <a:srgbClr val="6D6D6D">
                    <a:alpha val="100000"/>
                  </a:srgbClr>
                </a:solidFill>
                <a:latin typeface="Inter Regular" pitchFamily="34" charset="0"/>
                <a:ea typeface="Inter Regular" pitchFamily="34" charset="-122"/>
                <a:cs typeface="Inter Regular" pitchFamily="34" charset="-120"/>
              </a:rPr>
              <a:t>These principles serve as a roadmap, ensuring that all team members are aligned in their objectives and understand the project's overall vision.</a:t>
            </a:r>
            <a:endParaRPr lang="en-US" sz="1600" dirty="0"/>
          </a:p>
        </p:txBody>
      </p:sp>
      <p:sp>
        <p:nvSpPr>
          <p:cNvPr id="31" name="Shape 22"/>
          <p:cNvSpPr/>
          <p:nvPr/>
        </p:nvSpPr>
        <p:spPr>
          <a:xfrm>
            <a:off x="1524191" y="8915400"/>
            <a:ext cx="4445556" cy="660400"/>
          </a:xfrm>
          <a:prstGeom prst="roundRect">
            <a:avLst>
              <a:gd name="adj" fmla="val 77538"/>
            </a:avLst>
          </a:prstGeom>
          <a:solidFill>
            <a:srgbClr val="F6F6F6">
              <a:alpha val="100000"/>
            </a:srgbClr>
          </a:solidFill>
          <a:ln w="12700">
            <a:solidFill>
              <a:srgbClr val="D1D1D1"/>
            </a:solidFill>
            <a:prstDash val="solid"/>
          </a:ln>
        </p:spPr>
      </p:sp>
      <p:sp>
        <p:nvSpPr>
          <p:cNvPr id="32" name="Text 23"/>
          <p:cNvSpPr/>
          <p:nvPr/>
        </p:nvSpPr>
        <p:spPr>
          <a:xfrm>
            <a:off x="1905238" y="9131300"/>
            <a:ext cx="3751202" cy="296333"/>
          </a:xfrm>
          <a:prstGeom prst="rect">
            <a:avLst/>
          </a:prstGeom>
          <a:noFill/>
          <a:ln/>
        </p:spPr>
        <p:txBody>
          <a:bodyPr wrap="square" lIns="0" tIns="0" rIns="0" bIns="0" rtlCol="0" anchor="t"/>
          <a:lstStyle/>
          <a:p>
            <a:pPr marL="0" indent="0" algn="l">
              <a:lnSpc>
                <a:spcPts val="176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Sources:</a:t>
            </a:r>
            <a:r>
              <a:rPr lang="en-US" sz="1600" dirty="0">
                <a:solidFill>
                  <a:srgbClr val="454545">
                    <a:alpha val="100000"/>
                  </a:srgbClr>
                </a:solidFill>
                <a:latin typeface="Inter Regular" pitchFamily="34" charset="0"/>
                <a:ea typeface="Inter Regular" pitchFamily="34" charset="-122"/>
                <a:cs typeface="Inter Regular" pitchFamily="34" charset="-120"/>
              </a:rPr>
              <a:t> Web, App, CRM, POS, Events</a:t>
            </a:r>
            <a:endParaRPr lang="en-US" sz="1600" dirty="0"/>
          </a:p>
        </p:txBody>
      </p:sp>
      <p:sp>
        <p:nvSpPr>
          <p:cNvPr id="33" name="Shape 24"/>
          <p:cNvSpPr/>
          <p:nvPr/>
        </p:nvSpPr>
        <p:spPr>
          <a:xfrm>
            <a:off x="6223778" y="9829800"/>
            <a:ext cx="4661483" cy="660400"/>
          </a:xfrm>
          <a:prstGeom prst="roundRect">
            <a:avLst>
              <a:gd name="adj" fmla="val 77538"/>
            </a:avLst>
          </a:prstGeom>
          <a:solidFill>
            <a:srgbClr val="F6F6F6">
              <a:alpha val="100000"/>
            </a:srgbClr>
          </a:solidFill>
          <a:ln w="12700">
            <a:solidFill>
              <a:srgbClr val="D1D1D1"/>
            </a:solidFill>
            <a:prstDash val="solid"/>
          </a:ln>
        </p:spPr>
      </p:sp>
      <p:sp>
        <p:nvSpPr>
          <p:cNvPr id="34" name="Text 25"/>
          <p:cNvSpPr/>
          <p:nvPr/>
        </p:nvSpPr>
        <p:spPr>
          <a:xfrm>
            <a:off x="6604826" y="10045700"/>
            <a:ext cx="4094145" cy="296333"/>
          </a:xfrm>
          <a:prstGeom prst="rect">
            <a:avLst/>
          </a:prstGeom>
          <a:noFill/>
          <a:ln/>
        </p:spPr>
        <p:txBody>
          <a:bodyPr wrap="square" lIns="0" tIns="0" rIns="0" bIns="0" rtlCol="0" anchor="t"/>
          <a:lstStyle/>
          <a:p>
            <a:pPr marL="0" indent="0" algn="l">
              <a:lnSpc>
                <a:spcPts val="176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Segmentation/ML: </a:t>
            </a:r>
            <a:r>
              <a:rPr lang="en-US" sz="1600" dirty="0">
                <a:solidFill>
                  <a:srgbClr val="454545">
                    <a:alpha val="100000"/>
                  </a:srgbClr>
                </a:solidFill>
                <a:latin typeface="Inter Regular" pitchFamily="34" charset="0"/>
                <a:ea typeface="Inter Regular" pitchFamily="34" charset="-122"/>
                <a:cs typeface="Inter Regular" pitchFamily="34" charset="-120"/>
              </a:rPr>
              <a:t>Data science platforms</a:t>
            </a:r>
            <a:endParaRPr lang="en-US" sz="1600" dirty="0"/>
          </a:p>
        </p:txBody>
      </p:sp>
      <p:sp>
        <p:nvSpPr>
          <p:cNvPr id="35" name="Shape 26"/>
          <p:cNvSpPr/>
          <p:nvPr/>
        </p:nvSpPr>
        <p:spPr>
          <a:xfrm>
            <a:off x="1524191" y="9829800"/>
            <a:ext cx="4445556" cy="660400"/>
          </a:xfrm>
          <a:prstGeom prst="roundRect">
            <a:avLst>
              <a:gd name="adj" fmla="val 77538"/>
            </a:avLst>
          </a:prstGeom>
          <a:solidFill>
            <a:srgbClr val="F6F6F6">
              <a:alpha val="100000"/>
            </a:srgbClr>
          </a:solidFill>
          <a:ln w="12700">
            <a:solidFill>
              <a:srgbClr val="D1D1D1"/>
            </a:solidFill>
            <a:prstDash val="solid"/>
          </a:ln>
        </p:spPr>
      </p:sp>
      <p:sp>
        <p:nvSpPr>
          <p:cNvPr id="36" name="Text 27"/>
          <p:cNvSpPr/>
          <p:nvPr/>
        </p:nvSpPr>
        <p:spPr>
          <a:xfrm>
            <a:off x="1905238" y="10045700"/>
            <a:ext cx="3840113" cy="296333"/>
          </a:xfrm>
          <a:prstGeom prst="rect">
            <a:avLst/>
          </a:prstGeom>
          <a:noFill/>
          <a:ln/>
        </p:spPr>
        <p:txBody>
          <a:bodyPr wrap="square" lIns="0" tIns="0" rIns="0" bIns="0" rtlCol="0" anchor="t"/>
          <a:lstStyle/>
          <a:p>
            <a:pPr marL="0" indent="0" algn="l">
              <a:lnSpc>
                <a:spcPts val="176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Ingestion: </a:t>
            </a:r>
            <a:r>
              <a:rPr lang="en-US" sz="1600" dirty="0">
                <a:solidFill>
                  <a:srgbClr val="454545">
                    <a:alpha val="100000"/>
                  </a:srgbClr>
                </a:solidFill>
                <a:latin typeface="Inter Regular" pitchFamily="34" charset="0"/>
                <a:ea typeface="Inter Regular" pitchFamily="34" charset="-122"/>
                <a:cs typeface="Inter Regular" pitchFamily="34" charset="-120"/>
              </a:rPr>
              <a:t>Event Bus, Stream Processor</a:t>
            </a:r>
            <a:endParaRPr lang="en-US" sz="1600" dirty="0"/>
          </a:p>
        </p:txBody>
      </p:sp>
      <p:sp>
        <p:nvSpPr>
          <p:cNvPr id="37" name="Shape 28"/>
          <p:cNvSpPr/>
          <p:nvPr/>
        </p:nvSpPr>
        <p:spPr>
          <a:xfrm>
            <a:off x="6223778" y="8915400"/>
            <a:ext cx="6160270" cy="660400"/>
          </a:xfrm>
          <a:prstGeom prst="roundRect">
            <a:avLst>
              <a:gd name="adj" fmla="val 77538"/>
            </a:avLst>
          </a:prstGeom>
          <a:solidFill>
            <a:srgbClr val="F6F6F6">
              <a:alpha val="100000"/>
            </a:srgbClr>
          </a:solidFill>
          <a:ln w="12700">
            <a:solidFill>
              <a:srgbClr val="D1D1D1"/>
            </a:solidFill>
            <a:prstDash val="solid"/>
          </a:ln>
        </p:spPr>
      </p:sp>
      <p:sp>
        <p:nvSpPr>
          <p:cNvPr id="38" name="Text 29"/>
          <p:cNvSpPr/>
          <p:nvPr/>
        </p:nvSpPr>
        <p:spPr>
          <a:xfrm>
            <a:off x="6604826" y="9131300"/>
            <a:ext cx="5465916" cy="296333"/>
          </a:xfrm>
          <a:prstGeom prst="rect">
            <a:avLst/>
          </a:prstGeom>
          <a:noFill/>
          <a:ln/>
        </p:spPr>
        <p:txBody>
          <a:bodyPr wrap="square" lIns="0" tIns="0" rIns="0" bIns="0" rtlCol="0" anchor="t"/>
          <a:lstStyle/>
          <a:p>
            <a:pPr marL="0" indent="0" algn="l">
              <a:lnSpc>
                <a:spcPts val="176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Activation: </a:t>
            </a:r>
            <a:r>
              <a:rPr lang="en-US" sz="1600" dirty="0">
                <a:solidFill>
                  <a:srgbClr val="454545">
                    <a:alpha val="100000"/>
                  </a:srgbClr>
                </a:solidFill>
                <a:latin typeface="Inter Regular" pitchFamily="34" charset="0"/>
                <a:ea typeface="Inter Regular" pitchFamily="34" charset="-122"/>
                <a:cs typeface="Inter Regular" pitchFamily="34" charset="-120"/>
              </a:rPr>
              <a:t>Campaign platforms, personalization engines</a:t>
            </a:r>
            <a:endParaRPr lang="en-US" sz="1600" dirty="0"/>
          </a:p>
        </p:txBody>
      </p:sp>
      <p:sp>
        <p:nvSpPr>
          <p:cNvPr id="39" name="Shape 30"/>
          <p:cNvSpPr/>
          <p:nvPr/>
        </p:nvSpPr>
        <p:spPr>
          <a:xfrm>
            <a:off x="1524191" y="10744200"/>
            <a:ext cx="4445556" cy="660400"/>
          </a:xfrm>
          <a:prstGeom prst="roundRect">
            <a:avLst>
              <a:gd name="adj" fmla="val 77538"/>
            </a:avLst>
          </a:prstGeom>
          <a:solidFill>
            <a:srgbClr val="F6F6F6">
              <a:alpha val="100000"/>
            </a:srgbClr>
          </a:solidFill>
          <a:ln w="12700">
            <a:solidFill>
              <a:srgbClr val="D1D1D1"/>
            </a:solidFill>
            <a:prstDash val="solid"/>
          </a:ln>
        </p:spPr>
      </p:sp>
      <p:sp>
        <p:nvSpPr>
          <p:cNvPr id="40" name="Text 31"/>
          <p:cNvSpPr/>
          <p:nvPr/>
        </p:nvSpPr>
        <p:spPr>
          <a:xfrm>
            <a:off x="1905238" y="10960100"/>
            <a:ext cx="3916323" cy="296333"/>
          </a:xfrm>
          <a:prstGeom prst="rect">
            <a:avLst/>
          </a:prstGeom>
          <a:noFill/>
          <a:ln/>
        </p:spPr>
        <p:txBody>
          <a:bodyPr wrap="square" lIns="0" tIns="0" rIns="0" bIns="0" rtlCol="0" anchor="t"/>
          <a:lstStyle/>
          <a:p>
            <a:pPr marL="0" indent="0" algn="l">
              <a:lnSpc>
                <a:spcPts val="176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Identity Graph: </a:t>
            </a:r>
            <a:r>
              <a:rPr lang="en-US" sz="1600" dirty="0">
                <a:solidFill>
                  <a:srgbClr val="454545">
                    <a:alpha val="100000"/>
                  </a:srgbClr>
                </a:solidFill>
                <a:latin typeface="Inter Regular" pitchFamily="34" charset="0"/>
                <a:ea typeface="Inter Regular" pitchFamily="34" charset="-122"/>
                <a:cs typeface="Inter Regular" pitchFamily="34" charset="-120"/>
              </a:rPr>
              <a:t>Centralized ID resolution</a:t>
            </a:r>
            <a:endParaRPr lang="en-US" sz="1600" dirty="0"/>
          </a:p>
        </p:txBody>
      </p:sp>
      <p:sp>
        <p:nvSpPr>
          <p:cNvPr id="41" name="Shape 32"/>
          <p:cNvSpPr/>
          <p:nvPr/>
        </p:nvSpPr>
        <p:spPr>
          <a:xfrm>
            <a:off x="6223778" y="10744200"/>
            <a:ext cx="3264308" cy="660400"/>
          </a:xfrm>
          <a:prstGeom prst="roundRect">
            <a:avLst>
              <a:gd name="adj" fmla="val 77538"/>
            </a:avLst>
          </a:prstGeom>
          <a:solidFill>
            <a:srgbClr val="F6F6F6">
              <a:alpha val="100000"/>
            </a:srgbClr>
          </a:solidFill>
          <a:ln w="12700">
            <a:solidFill>
              <a:srgbClr val="D1D1D1"/>
            </a:solidFill>
            <a:prstDash val="solid"/>
          </a:ln>
        </p:spPr>
      </p:sp>
      <p:sp>
        <p:nvSpPr>
          <p:cNvPr id="42" name="Text 33"/>
          <p:cNvSpPr/>
          <p:nvPr/>
        </p:nvSpPr>
        <p:spPr>
          <a:xfrm>
            <a:off x="6604826" y="10960100"/>
            <a:ext cx="2633462" cy="296333"/>
          </a:xfrm>
          <a:prstGeom prst="rect">
            <a:avLst/>
          </a:prstGeom>
          <a:noFill/>
          <a:ln/>
        </p:spPr>
        <p:txBody>
          <a:bodyPr wrap="square" lIns="0" tIns="0" rIns="0" bIns="0" rtlCol="0" anchor="t"/>
          <a:lstStyle/>
          <a:p>
            <a:pPr marL="0" indent="0" algn="l">
              <a:lnSpc>
                <a:spcPts val="176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Measurement: </a:t>
            </a:r>
            <a:r>
              <a:rPr lang="en-US" sz="1600" dirty="0">
                <a:solidFill>
                  <a:srgbClr val="454545">
                    <a:alpha val="100000"/>
                  </a:srgbClr>
                </a:solidFill>
                <a:latin typeface="Inter Regular" pitchFamily="34" charset="0"/>
                <a:ea typeface="Inter Regular" pitchFamily="34" charset="-122"/>
                <a:cs typeface="Inter Regular" pitchFamily="34" charset="-120"/>
              </a:rPr>
              <a:t>Analytics/BI</a:t>
            </a:r>
            <a:endParaRPr lang="en-US" sz="1600" dirty="0"/>
          </a:p>
        </p:txBody>
      </p:sp>
      <p:sp>
        <p:nvSpPr>
          <p:cNvPr id="43" name="Shape 34"/>
          <p:cNvSpPr/>
          <p:nvPr/>
        </p:nvSpPr>
        <p:spPr>
          <a:xfrm>
            <a:off x="1524191" y="11658600"/>
            <a:ext cx="4445556" cy="660400"/>
          </a:xfrm>
          <a:prstGeom prst="roundRect">
            <a:avLst>
              <a:gd name="adj" fmla="val 77538"/>
            </a:avLst>
          </a:prstGeom>
          <a:solidFill>
            <a:srgbClr val="F6F6F6">
              <a:alpha val="100000"/>
            </a:srgbClr>
          </a:solidFill>
          <a:ln w="12700">
            <a:solidFill>
              <a:srgbClr val="D1D1D1"/>
            </a:solidFill>
            <a:prstDash val="solid"/>
          </a:ln>
        </p:spPr>
      </p:sp>
      <p:sp>
        <p:nvSpPr>
          <p:cNvPr id="44" name="Text 35"/>
          <p:cNvSpPr/>
          <p:nvPr/>
        </p:nvSpPr>
        <p:spPr>
          <a:xfrm>
            <a:off x="1905238" y="11874500"/>
            <a:ext cx="3586082" cy="296333"/>
          </a:xfrm>
          <a:prstGeom prst="rect">
            <a:avLst/>
          </a:prstGeom>
          <a:noFill/>
          <a:ln/>
        </p:spPr>
        <p:txBody>
          <a:bodyPr wrap="square" lIns="0" tIns="0" rIns="0" bIns="0" rtlCol="0" anchor="t"/>
          <a:lstStyle/>
          <a:p>
            <a:pPr marL="0" indent="0" algn="l">
              <a:lnSpc>
                <a:spcPts val="176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Profile Store: </a:t>
            </a:r>
            <a:r>
              <a:rPr lang="en-US" sz="1600" dirty="0">
                <a:solidFill>
                  <a:srgbClr val="454545">
                    <a:alpha val="100000"/>
                  </a:srgbClr>
                </a:solidFill>
                <a:latin typeface="Inter Regular" pitchFamily="34" charset="0"/>
                <a:ea typeface="Inter Regular" pitchFamily="34" charset="-122"/>
                <a:cs typeface="Inter Regular" pitchFamily="34" charset="-120"/>
              </a:rPr>
              <a:t>Database/feature store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graphicFrame>
        <p:nvGraphicFramePr>
          <p:cNvPr id="55" name="Chart 54">
            <a:extLst>
              <a:ext uri="{FF2B5EF4-FFF2-40B4-BE49-F238E27FC236}">
                <a16:creationId xmlns:a16="http://schemas.microsoft.com/office/drawing/2014/main" id="{DC99D132-9B39-4200-80B4-43C697A8D7CB}"/>
              </a:ext>
            </a:extLst>
          </p:cNvPr>
          <p:cNvGraphicFramePr/>
          <p:nvPr>
            <p:extLst>
              <p:ext uri="{D42A27DB-BD31-4B8C-83A1-F6EECF244321}">
                <p14:modId xmlns:p14="http://schemas.microsoft.com/office/powerpoint/2010/main" val="3988687166"/>
              </p:ext>
            </p:extLst>
          </p:nvPr>
        </p:nvGraphicFramePr>
        <p:xfrm>
          <a:off x="1310450" y="4579618"/>
          <a:ext cx="11134675" cy="79857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2" name="Chart 51">
            <a:extLst>
              <a:ext uri="{FF2B5EF4-FFF2-40B4-BE49-F238E27FC236}">
                <a16:creationId xmlns:a16="http://schemas.microsoft.com/office/drawing/2014/main" id="{E1B6CD8C-F7FF-4E78-8192-B7A0C26E1861}"/>
              </a:ext>
            </a:extLst>
          </p:cNvPr>
          <p:cNvGraphicFramePr/>
          <p:nvPr>
            <p:extLst>
              <p:ext uri="{D42A27DB-BD31-4B8C-83A1-F6EECF244321}">
                <p14:modId xmlns:p14="http://schemas.microsoft.com/office/powerpoint/2010/main" val="3250866465"/>
              </p:ext>
            </p:extLst>
          </p:nvPr>
        </p:nvGraphicFramePr>
        <p:xfrm>
          <a:off x="15061148" y="3743631"/>
          <a:ext cx="7663886" cy="722799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1" name="Chart 50">
            <a:extLst>
              <a:ext uri="{FF2B5EF4-FFF2-40B4-BE49-F238E27FC236}">
                <a16:creationId xmlns:a16="http://schemas.microsoft.com/office/drawing/2014/main" id="{A57CFE55-23E9-4AB6-A529-0EE7B772E9D1}"/>
              </a:ext>
            </a:extLst>
          </p:cNvPr>
          <p:cNvGraphicFramePr/>
          <p:nvPr>
            <p:extLst>
              <p:ext uri="{D42A27DB-BD31-4B8C-83A1-F6EECF244321}">
                <p14:modId xmlns:p14="http://schemas.microsoft.com/office/powerpoint/2010/main" val="2178167879"/>
              </p:ext>
            </p:extLst>
          </p:nvPr>
        </p:nvGraphicFramePr>
        <p:xfrm>
          <a:off x="15025978" y="3591231"/>
          <a:ext cx="7816286" cy="7371729"/>
        </p:xfrm>
        <a:graphic>
          <a:graphicData uri="http://schemas.openxmlformats.org/drawingml/2006/chart">
            <c:chart xmlns:c="http://schemas.openxmlformats.org/drawingml/2006/chart" xmlns:r="http://schemas.openxmlformats.org/officeDocument/2006/relationships" r:id="rId5"/>
          </a:graphicData>
        </a:graphic>
      </p:graphicFrame>
      <p:sp>
        <p:nvSpPr>
          <p:cNvPr id="2" name="Shape 0"/>
          <p:cNvSpPr/>
          <p:nvPr/>
        </p:nvSpPr>
        <p:spPr>
          <a:xfrm>
            <a:off x="15419727" y="3721100"/>
            <a:ext cx="7062085" cy="7054234"/>
          </a:xfrm>
          <a:prstGeom prst="rect">
            <a:avLst/>
          </a:prstGeom>
          <a:noFill/>
          <a:ln/>
        </p:spPr>
      </p:sp>
      <p:sp>
        <p:nvSpPr>
          <p:cNvPr id="5" name="Shape 1"/>
          <p:cNvSpPr/>
          <p:nvPr/>
        </p:nvSpPr>
        <p:spPr>
          <a:xfrm>
            <a:off x="16664483" y="709233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6" name="Text 2"/>
          <p:cNvSpPr/>
          <p:nvPr/>
        </p:nvSpPr>
        <p:spPr>
          <a:xfrm>
            <a:off x="16926982" y="7181230"/>
            <a:ext cx="668950"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Stream</a:t>
            </a:r>
            <a:endParaRPr lang="en-US" sz="1400" dirty="0"/>
          </a:p>
        </p:txBody>
      </p:sp>
      <p:sp>
        <p:nvSpPr>
          <p:cNvPr id="7" name="Shape 3"/>
          <p:cNvSpPr/>
          <p:nvPr/>
        </p:nvSpPr>
        <p:spPr>
          <a:xfrm>
            <a:off x="20424153" y="4666630"/>
            <a:ext cx="1219352" cy="457200"/>
          </a:xfrm>
          <a:prstGeom prst="roundRect">
            <a:avLst>
              <a:gd name="adj" fmla="val 112000"/>
            </a:avLst>
          </a:prstGeom>
          <a:solidFill>
            <a:srgbClr val="F6F6F6">
              <a:alpha val="100000"/>
            </a:srgbClr>
          </a:solidFill>
          <a:ln w="12700">
            <a:solidFill>
              <a:srgbClr val="D1D1D1"/>
            </a:solidFill>
            <a:prstDash val="solid"/>
          </a:ln>
        </p:spPr>
      </p:sp>
      <p:sp>
        <p:nvSpPr>
          <p:cNvPr id="8" name="Text 4"/>
          <p:cNvSpPr/>
          <p:nvPr/>
        </p:nvSpPr>
        <p:spPr>
          <a:xfrm>
            <a:off x="20750160" y="4755530"/>
            <a:ext cx="554636" cy="325967"/>
          </a:xfrm>
          <a:prstGeom prst="rect">
            <a:avLst/>
          </a:prstGeom>
          <a:noFill/>
          <a:ln/>
        </p:spPr>
        <p:txBody>
          <a:bodyPr wrap="square" lIns="0" tIns="0" rIns="0" bIns="0" rtlCol="0" anchor="t"/>
          <a:lstStyle/>
          <a:p>
            <a:pPr marL="0" indent="0" algn="ctr">
              <a:lnSpc>
                <a:spcPts val="2100"/>
              </a:lnSpc>
              <a:buNone/>
            </a:pPr>
            <a:r>
              <a:rPr lang="en-US" sz="1400" dirty="0">
                <a:solidFill>
                  <a:srgbClr val="454545">
                    <a:alpha val="100000"/>
                  </a:srgbClr>
                </a:solidFill>
                <a:latin typeface="Inter Regular" pitchFamily="34" charset="0"/>
                <a:ea typeface="Inter Regular" pitchFamily="34" charset="-122"/>
                <a:cs typeface="Inter Regular" pitchFamily="34" charset="-120"/>
              </a:rPr>
              <a:t>Batch</a:t>
            </a:r>
            <a:endParaRPr lang="en-US" sz="1400" dirty="0"/>
          </a:p>
        </p:txBody>
      </p:sp>
      <p:sp>
        <p:nvSpPr>
          <p:cNvPr id="10" name="Text 5"/>
          <p:cNvSpPr/>
          <p:nvPr/>
        </p:nvSpPr>
        <p:spPr>
          <a:xfrm>
            <a:off x="20424153" y="5263530"/>
            <a:ext cx="1960278" cy="1159933"/>
          </a:xfrm>
          <a:prstGeom prst="rect">
            <a:avLst/>
          </a:prstGeom>
          <a:noFill/>
          <a:ln/>
        </p:spPr>
        <p:txBody>
          <a:bodyPr wrap="square" lIns="0" tIns="0" rIns="0" bIns="0" rtlCol="0" anchor="t"/>
          <a:lstStyle/>
          <a:p>
            <a:pPr marL="0" indent="0" algn="l">
              <a:lnSpc>
                <a:spcPts val="7040"/>
              </a:lnSpc>
              <a:buNone/>
            </a:pPr>
            <a:r>
              <a:rPr lang="en-US" sz="6400" kern="0" spc="-64" dirty="0">
                <a:solidFill>
                  <a:srgbClr val="454545">
                    <a:alpha val="100000"/>
                  </a:srgbClr>
                </a:solidFill>
                <a:latin typeface="Inter Semi Bold" pitchFamily="34" charset="0"/>
                <a:ea typeface="Inter Semi Bold" pitchFamily="34" charset="-122"/>
                <a:cs typeface="Inter Semi Bold" pitchFamily="34" charset="-120"/>
              </a:rPr>
              <a:t>25%</a:t>
            </a:r>
            <a:endParaRPr lang="en-US" sz="6400" dirty="0"/>
          </a:p>
        </p:txBody>
      </p:sp>
      <p:sp>
        <p:nvSpPr>
          <p:cNvPr id="12" name="Text 7"/>
          <p:cNvSpPr/>
          <p:nvPr/>
        </p:nvSpPr>
        <p:spPr>
          <a:xfrm>
            <a:off x="2243947" y="10600790"/>
            <a:ext cx="1439513" cy="931333"/>
          </a:xfrm>
          <a:prstGeom prst="rect">
            <a:avLst/>
          </a:prstGeom>
          <a:noFill/>
          <a:ln/>
        </p:spPr>
        <p:txBody>
          <a:bodyPr wrap="square" lIns="0" tIns="0" rIns="0" bIns="0" rtlCol="0" anchor="t"/>
          <a:lstStyle/>
          <a:p>
            <a:pPr marL="0" indent="0" algn="l">
              <a:lnSpc>
                <a:spcPts val="6000"/>
              </a:lnSpc>
              <a:buNone/>
            </a:pPr>
            <a:r>
              <a:rPr lang="en-US" sz="4000" kern="0" spc="-40" dirty="0">
                <a:solidFill>
                  <a:srgbClr val="000000">
                    <a:alpha val="100000"/>
                  </a:srgbClr>
                </a:solidFill>
                <a:latin typeface="Inter Bold" pitchFamily="34" charset="0"/>
                <a:ea typeface="Inter Bold" pitchFamily="34" charset="-122"/>
                <a:cs typeface="Inter Bold" pitchFamily="34" charset="-120"/>
              </a:rPr>
              <a:t>0.3M</a:t>
            </a:r>
            <a:endParaRPr lang="en-US" sz="4000" dirty="0"/>
          </a:p>
        </p:txBody>
      </p:sp>
      <p:sp>
        <p:nvSpPr>
          <p:cNvPr id="16" name="Shape 8"/>
          <p:cNvSpPr/>
          <p:nvPr/>
        </p:nvSpPr>
        <p:spPr>
          <a:xfrm>
            <a:off x="2243947" y="1004199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17" name="Text 9"/>
          <p:cNvSpPr/>
          <p:nvPr/>
        </p:nvSpPr>
        <p:spPr>
          <a:xfrm>
            <a:off x="2468341" y="10130890"/>
            <a:ext cx="745160"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Support</a:t>
            </a:r>
            <a:endParaRPr lang="en-US" sz="1400" dirty="0"/>
          </a:p>
        </p:txBody>
      </p:sp>
      <p:sp>
        <p:nvSpPr>
          <p:cNvPr id="18" name="Text 10"/>
          <p:cNvSpPr/>
          <p:nvPr/>
        </p:nvSpPr>
        <p:spPr>
          <a:xfrm>
            <a:off x="4171140" y="10078720"/>
            <a:ext cx="1426812" cy="931333"/>
          </a:xfrm>
          <a:prstGeom prst="rect">
            <a:avLst/>
          </a:prstGeom>
          <a:noFill/>
          <a:ln/>
        </p:spPr>
        <p:txBody>
          <a:bodyPr wrap="square" lIns="0" tIns="0" rIns="0" bIns="0" rtlCol="0" anchor="t"/>
          <a:lstStyle/>
          <a:p>
            <a:pPr marL="0" indent="0" algn="l">
              <a:lnSpc>
                <a:spcPts val="6000"/>
              </a:lnSpc>
              <a:buNone/>
            </a:pPr>
            <a:r>
              <a:rPr lang="en-US" sz="4000" kern="0" spc="-40" dirty="0">
                <a:solidFill>
                  <a:srgbClr val="000000">
                    <a:alpha val="100000"/>
                  </a:srgbClr>
                </a:solidFill>
                <a:latin typeface="Inter Bold" pitchFamily="34" charset="0"/>
                <a:ea typeface="Inter Bold" pitchFamily="34" charset="-122"/>
                <a:cs typeface="Inter Bold" pitchFamily="34" charset="-120"/>
              </a:rPr>
              <a:t>0.6M</a:t>
            </a:r>
            <a:endParaRPr lang="en-US" sz="4000" dirty="0"/>
          </a:p>
        </p:txBody>
      </p:sp>
      <p:sp>
        <p:nvSpPr>
          <p:cNvPr id="22" name="Shape 11"/>
          <p:cNvSpPr/>
          <p:nvPr/>
        </p:nvSpPr>
        <p:spPr>
          <a:xfrm>
            <a:off x="4171140" y="951992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23" name="Text 12"/>
          <p:cNvSpPr/>
          <p:nvPr/>
        </p:nvSpPr>
        <p:spPr>
          <a:xfrm>
            <a:off x="4560656" y="9608820"/>
            <a:ext cx="427620"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POS</a:t>
            </a:r>
            <a:endParaRPr lang="en-US" sz="1400" dirty="0"/>
          </a:p>
        </p:txBody>
      </p:sp>
      <p:sp>
        <p:nvSpPr>
          <p:cNvPr id="24" name="Text 13"/>
          <p:cNvSpPr/>
          <p:nvPr/>
        </p:nvSpPr>
        <p:spPr>
          <a:xfrm>
            <a:off x="6369416" y="8969328"/>
            <a:ext cx="956853" cy="931333"/>
          </a:xfrm>
          <a:prstGeom prst="rect">
            <a:avLst/>
          </a:prstGeom>
          <a:noFill/>
          <a:ln/>
        </p:spPr>
        <p:txBody>
          <a:bodyPr wrap="square" lIns="0" tIns="0" rIns="0" bIns="0" rtlCol="0" anchor="t"/>
          <a:lstStyle/>
          <a:p>
            <a:pPr marL="0" indent="0" algn="l">
              <a:lnSpc>
                <a:spcPts val="6000"/>
              </a:lnSpc>
              <a:buNone/>
            </a:pPr>
            <a:r>
              <a:rPr lang="en-US" sz="4000" kern="0" spc="-40" dirty="0">
                <a:solidFill>
                  <a:srgbClr val="000000">
                    <a:alpha val="100000"/>
                  </a:srgbClr>
                </a:solidFill>
                <a:latin typeface="Inter Bold" pitchFamily="34" charset="0"/>
                <a:ea typeface="Inter Bold" pitchFamily="34" charset="-122"/>
                <a:cs typeface="Inter Bold" pitchFamily="34" charset="-120"/>
              </a:rPr>
              <a:t>2M</a:t>
            </a:r>
            <a:endParaRPr lang="en-US" sz="4000" dirty="0"/>
          </a:p>
        </p:txBody>
      </p:sp>
      <p:sp>
        <p:nvSpPr>
          <p:cNvPr id="28" name="Shape 14"/>
          <p:cNvSpPr/>
          <p:nvPr/>
        </p:nvSpPr>
        <p:spPr>
          <a:xfrm>
            <a:off x="6106917" y="8410528"/>
            <a:ext cx="1219352" cy="457200"/>
          </a:xfrm>
          <a:prstGeom prst="roundRect">
            <a:avLst>
              <a:gd name="adj" fmla="val 112000"/>
            </a:avLst>
          </a:prstGeom>
          <a:solidFill>
            <a:srgbClr val="FFD4A5">
              <a:alpha val="100000"/>
            </a:srgbClr>
          </a:solidFill>
          <a:ln w="12700">
            <a:solidFill>
              <a:srgbClr val="FF8B32"/>
            </a:solidFill>
            <a:prstDash val="solid"/>
          </a:ln>
        </p:spPr>
      </p:sp>
      <p:sp>
        <p:nvSpPr>
          <p:cNvPr id="29" name="Text 15"/>
          <p:cNvSpPr/>
          <p:nvPr/>
        </p:nvSpPr>
        <p:spPr>
          <a:xfrm>
            <a:off x="6471029" y="8499428"/>
            <a:ext cx="465725"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CRM</a:t>
            </a:r>
            <a:endParaRPr lang="en-US" sz="1400" dirty="0"/>
          </a:p>
        </p:txBody>
      </p:sp>
      <p:sp>
        <p:nvSpPr>
          <p:cNvPr id="30" name="Text 16"/>
          <p:cNvSpPr/>
          <p:nvPr/>
        </p:nvSpPr>
        <p:spPr>
          <a:xfrm>
            <a:off x="8271702" y="6818696"/>
            <a:ext cx="1287094" cy="931333"/>
          </a:xfrm>
          <a:prstGeom prst="rect">
            <a:avLst/>
          </a:prstGeom>
          <a:noFill/>
          <a:ln/>
        </p:spPr>
        <p:txBody>
          <a:bodyPr wrap="square" lIns="0" tIns="0" rIns="0" bIns="0" rtlCol="0" anchor="t"/>
          <a:lstStyle/>
          <a:p>
            <a:pPr marL="0" indent="0" algn="l">
              <a:lnSpc>
                <a:spcPts val="6000"/>
              </a:lnSpc>
              <a:buNone/>
            </a:pPr>
            <a:r>
              <a:rPr lang="en-US" sz="4000" kern="0" spc="-40" dirty="0">
                <a:solidFill>
                  <a:srgbClr val="000000">
                    <a:alpha val="100000"/>
                  </a:srgbClr>
                </a:solidFill>
                <a:latin typeface="Inter Bold" pitchFamily="34" charset="0"/>
                <a:ea typeface="Inter Bold" pitchFamily="34" charset="-122"/>
                <a:cs typeface="Inter Bold" pitchFamily="34" charset="-120"/>
              </a:rPr>
              <a:t>24M</a:t>
            </a:r>
            <a:endParaRPr lang="en-US" sz="4000" dirty="0"/>
          </a:p>
        </p:txBody>
      </p:sp>
      <p:sp>
        <p:nvSpPr>
          <p:cNvPr id="34" name="Shape 17"/>
          <p:cNvSpPr/>
          <p:nvPr/>
        </p:nvSpPr>
        <p:spPr>
          <a:xfrm>
            <a:off x="8271702" y="6259896"/>
            <a:ext cx="1219352" cy="457200"/>
          </a:xfrm>
          <a:prstGeom prst="roundRect">
            <a:avLst>
              <a:gd name="adj" fmla="val 112000"/>
            </a:avLst>
          </a:prstGeom>
          <a:solidFill>
            <a:srgbClr val="FFD4A5">
              <a:alpha val="100000"/>
            </a:srgbClr>
          </a:solidFill>
          <a:ln w="12700">
            <a:solidFill>
              <a:srgbClr val="FF8B32"/>
            </a:solidFill>
            <a:prstDash val="solid"/>
          </a:ln>
        </p:spPr>
      </p:sp>
      <p:sp>
        <p:nvSpPr>
          <p:cNvPr id="35" name="Text 18"/>
          <p:cNvSpPr/>
          <p:nvPr/>
        </p:nvSpPr>
        <p:spPr>
          <a:xfrm>
            <a:off x="8673919" y="6348796"/>
            <a:ext cx="402217"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App</a:t>
            </a:r>
            <a:endParaRPr lang="en-US" sz="1400" dirty="0"/>
          </a:p>
        </p:txBody>
      </p:sp>
      <p:sp>
        <p:nvSpPr>
          <p:cNvPr id="36" name="Text 19"/>
          <p:cNvSpPr/>
          <p:nvPr/>
        </p:nvSpPr>
        <p:spPr>
          <a:xfrm>
            <a:off x="10440785" y="4223759"/>
            <a:ext cx="1299796" cy="931333"/>
          </a:xfrm>
          <a:prstGeom prst="rect">
            <a:avLst/>
          </a:prstGeom>
          <a:noFill/>
          <a:ln/>
        </p:spPr>
        <p:txBody>
          <a:bodyPr wrap="square" lIns="0" tIns="0" rIns="0" bIns="0" rtlCol="0" anchor="t"/>
          <a:lstStyle/>
          <a:p>
            <a:pPr marL="0" indent="0" algn="l">
              <a:lnSpc>
                <a:spcPts val="6000"/>
              </a:lnSpc>
              <a:buNone/>
            </a:pPr>
            <a:r>
              <a:rPr lang="en-US" sz="4000" kern="0" spc="-40" dirty="0">
                <a:solidFill>
                  <a:srgbClr val="000000">
                    <a:alpha val="100000"/>
                  </a:srgbClr>
                </a:solidFill>
                <a:latin typeface="Inter Bold" pitchFamily="34" charset="0"/>
                <a:ea typeface="Inter Bold" pitchFamily="34" charset="-122"/>
                <a:cs typeface="Inter Bold" pitchFamily="34" charset="-120"/>
              </a:rPr>
              <a:t>38M</a:t>
            </a:r>
            <a:endParaRPr lang="en-US" sz="4000" dirty="0"/>
          </a:p>
        </p:txBody>
      </p:sp>
      <p:sp>
        <p:nvSpPr>
          <p:cNvPr id="40" name="Shape 20"/>
          <p:cNvSpPr/>
          <p:nvPr/>
        </p:nvSpPr>
        <p:spPr>
          <a:xfrm>
            <a:off x="10440785" y="3664959"/>
            <a:ext cx="1219352" cy="457200"/>
          </a:xfrm>
          <a:prstGeom prst="roundRect">
            <a:avLst>
              <a:gd name="adj" fmla="val 112000"/>
            </a:avLst>
          </a:prstGeom>
          <a:solidFill>
            <a:srgbClr val="FFD4A5">
              <a:alpha val="100000"/>
            </a:srgbClr>
          </a:solidFill>
          <a:ln w="12700">
            <a:solidFill>
              <a:srgbClr val="FF8B32"/>
            </a:solidFill>
            <a:prstDash val="solid"/>
          </a:ln>
        </p:spPr>
      </p:sp>
      <p:sp>
        <p:nvSpPr>
          <p:cNvPr id="41" name="Text 21"/>
          <p:cNvSpPr/>
          <p:nvPr/>
        </p:nvSpPr>
        <p:spPr>
          <a:xfrm>
            <a:off x="10817598" y="3753859"/>
            <a:ext cx="440322"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Web</a:t>
            </a:r>
            <a:endParaRPr lang="en-US" sz="1400" dirty="0"/>
          </a:p>
        </p:txBody>
      </p:sp>
      <p:sp>
        <p:nvSpPr>
          <p:cNvPr id="42" name="Text 22"/>
          <p:cNvSpPr/>
          <p:nvPr/>
        </p:nvSpPr>
        <p:spPr>
          <a:xfrm>
            <a:off x="1524191" y="1524000"/>
            <a:ext cx="8120548" cy="1159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Data Ingestion Map</a:t>
            </a:r>
            <a:endParaRPr lang="en-US" sz="6400" dirty="0"/>
          </a:p>
        </p:txBody>
      </p:sp>
      <p:sp>
        <p:nvSpPr>
          <p:cNvPr id="43" name="Text 23"/>
          <p:cNvSpPr/>
          <p:nvPr/>
        </p:nvSpPr>
        <p:spPr>
          <a:xfrm>
            <a:off x="15025978" y="1524000"/>
            <a:ext cx="7904621" cy="12869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The Data Ingestion Map is a visual representation that outlines the flow of data from various sources into a centralized system.</a:t>
            </a:r>
            <a:r>
              <a:rPr lang="en-US" sz="1600" dirty="0">
                <a:solidFill>
                  <a:srgbClr val="6D6D6D">
                    <a:alpha val="100000"/>
                  </a:srgbClr>
                </a:solidFill>
                <a:latin typeface="Inter Regular" pitchFamily="34" charset="0"/>
                <a:ea typeface="Inter Regular" pitchFamily="34" charset="-122"/>
                <a:cs typeface="Inter Regular" pitchFamily="34" charset="-120"/>
              </a:rPr>
              <a:t> It helps in understanding how data is collected, processed, and stored, ensuring efficient data management and integration.</a:t>
            </a:r>
            <a:endParaRPr lang="en-US" sz="1600" dirty="0"/>
          </a:p>
        </p:txBody>
      </p:sp>
      <p:sp>
        <p:nvSpPr>
          <p:cNvPr id="44" name="Shape 24"/>
          <p:cNvSpPr/>
          <p:nvPr/>
        </p:nvSpPr>
        <p:spPr>
          <a:xfrm>
            <a:off x="15673759" y="11468100"/>
            <a:ext cx="6363495" cy="1079500"/>
          </a:xfrm>
          <a:prstGeom prst="rect">
            <a:avLst/>
          </a:prstGeom>
          <a:noFill/>
          <a:ln/>
        </p:spPr>
      </p:sp>
      <p:sp>
        <p:nvSpPr>
          <p:cNvPr id="45" name="Shape 25"/>
          <p:cNvSpPr/>
          <p:nvPr/>
        </p:nvSpPr>
        <p:spPr>
          <a:xfrm>
            <a:off x="15673759" y="11468100"/>
            <a:ext cx="6363495" cy="1079500"/>
          </a:xfrm>
          <a:prstGeom prst="roundRect">
            <a:avLst>
              <a:gd name="adj" fmla="val 11859"/>
            </a:avLst>
          </a:prstGeom>
          <a:solidFill>
            <a:srgbClr val="F6F6F6">
              <a:alpha val="100000"/>
            </a:srgbClr>
          </a:solidFill>
          <a:ln w="12700">
            <a:solidFill>
              <a:srgbClr val="D1D1D1"/>
            </a:solidFill>
            <a:prstDash val="solid"/>
          </a:ln>
        </p:spPr>
      </p:sp>
      <p:sp>
        <p:nvSpPr>
          <p:cNvPr id="46" name="Text 26"/>
          <p:cNvSpPr/>
          <p:nvPr/>
        </p:nvSpPr>
        <p:spPr>
          <a:xfrm>
            <a:off x="16372346" y="11709400"/>
            <a:ext cx="5427812" cy="677333"/>
          </a:xfrm>
          <a:prstGeom prst="rect">
            <a:avLst/>
          </a:prstGeom>
          <a:noFill/>
          <a:ln/>
        </p:spPr>
        <p:txBody>
          <a:bodyPr wrap="square" lIns="0" tIns="0" rIns="0" bIns="0" rtlCol="0" anchor="t"/>
          <a:lstStyle/>
          <a:p>
            <a:pPr marL="0" indent="0" algn="l">
              <a:lnSpc>
                <a:spcPts val="2400"/>
              </a:lnSpc>
              <a:buNone/>
            </a:pPr>
            <a:r>
              <a:rPr lang="en-US" sz="1600" dirty="0">
                <a:solidFill>
                  <a:srgbClr val="454545">
                    <a:alpha val="100000"/>
                  </a:srgbClr>
                </a:solidFill>
                <a:latin typeface="Inter Regular" pitchFamily="34" charset="0"/>
                <a:ea typeface="Inter Regular" pitchFamily="34" charset="-122"/>
                <a:cs typeface="Inter Regular" pitchFamily="34" charset="-120"/>
              </a:rPr>
              <a:t>Implement dynamic scaling or queuing for high-volume data streams to ensure reliability during peak loads.</a:t>
            </a:r>
            <a:endParaRPr lang="en-US" sz="1600" dirty="0"/>
          </a:p>
        </p:txBody>
      </p:sp>
      <p:pic>
        <p:nvPicPr>
          <p:cNvPr id="48" name="Image 19" descr=" "/>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997636" y="11776075"/>
            <a:ext cx="139739" cy="196850"/>
          </a:xfrm>
          <a:prstGeom prst="rect">
            <a:avLst/>
          </a:prstGeom>
        </p:spPr>
      </p:pic>
      <p:sp>
        <p:nvSpPr>
          <p:cNvPr id="33" name="Text 10">
            <a:extLst>
              <a:ext uri="{FF2B5EF4-FFF2-40B4-BE49-F238E27FC236}">
                <a16:creationId xmlns:a16="http://schemas.microsoft.com/office/drawing/2014/main" id="{488C9B99-8888-43CB-AE77-526D92415FFE}"/>
              </a:ext>
            </a:extLst>
          </p:cNvPr>
          <p:cNvSpPr/>
          <p:nvPr/>
        </p:nvSpPr>
        <p:spPr>
          <a:xfrm>
            <a:off x="16664483" y="7810339"/>
            <a:ext cx="3658057" cy="1752600"/>
          </a:xfrm>
          <a:prstGeom prst="rect">
            <a:avLst/>
          </a:prstGeom>
          <a:noFill/>
          <a:ln/>
        </p:spPr>
        <p:txBody>
          <a:bodyPr wrap="square" lIns="0" tIns="0" rIns="0" bIns="0" rtlCol="0" anchor="t"/>
          <a:lstStyle/>
          <a:p>
            <a:pPr marL="0" indent="0" algn="l">
              <a:lnSpc>
                <a:spcPts val="10560"/>
              </a:lnSpc>
              <a:buNone/>
            </a:pPr>
            <a:r>
              <a:rPr lang="en-US" sz="9600" kern="0" spc="-96" dirty="0">
                <a:gradFill>
                  <a:gsLst>
                    <a:gs pos="0">
                      <a:schemeClr val="bg1"/>
                    </a:gs>
                    <a:gs pos="100000">
                      <a:schemeClr val="bg1">
                        <a:alpha val="7000"/>
                      </a:schemeClr>
                    </a:gs>
                  </a:gsLst>
                  <a:lin ang="5400000" scaled="1"/>
                </a:gradFill>
                <a:latin typeface="Inter Bold" pitchFamily="34" charset="0"/>
                <a:ea typeface="Inter Bold" pitchFamily="34" charset="-122"/>
                <a:cs typeface="Inter Bold" pitchFamily="34" charset="-120"/>
              </a:rPr>
              <a:t>75%</a:t>
            </a:r>
            <a:endParaRPr lang="en-US" sz="9600" dirty="0">
              <a:gradFill>
                <a:gsLst>
                  <a:gs pos="0">
                    <a:schemeClr val="bg1"/>
                  </a:gs>
                  <a:gs pos="100000">
                    <a:schemeClr val="bg1">
                      <a:alpha val="7000"/>
                    </a:schemeClr>
                  </a:gs>
                </a:gsLst>
                <a:lin ang="5400000" scaled="1"/>
              </a:gra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BC22BAFE-8AE4-4870-8540-7371A92BC2E9}"/>
              </a:ext>
            </a:extLst>
          </p:cNvPr>
          <p:cNvGrpSpPr/>
          <p:nvPr/>
        </p:nvGrpSpPr>
        <p:grpSpPr>
          <a:xfrm>
            <a:off x="19033329" y="4864100"/>
            <a:ext cx="3804126" cy="8851900"/>
            <a:chOff x="19033329" y="4864100"/>
            <a:chExt cx="3804126" cy="8851900"/>
          </a:xfrm>
        </p:grpSpPr>
        <p:pic>
          <p:nvPicPr>
            <p:cNvPr id="13" name="Image 6"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039680" y="4864100"/>
              <a:ext cx="3797775" cy="8851900"/>
            </a:xfrm>
            <a:prstGeom prst="rect">
              <a:avLst/>
            </a:prstGeom>
          </p:spPr>
        </p:pic>
        <p:pic>
          <p:nvPicPr>
            <p:cNvPr id="17" name="Image 8"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33329" y="4864100"/>
              <a:ext cx="12702" cy="8851900"/>
            </a:xfrm>
            <a:prstGeom prst="rect">
              <a:avLst/>
            </a:prstGeom>
          </p:spPr>
        </p:pic>
      </p:grpSp>
      <p:grpSp>
        <p:nvGrpSpPr>
          <p:cNvPr id="43" name="Group 42">
            <a:extLst>
              <a:ext uri="{FF2B5EF4-FFF2-40B4-BE49-F238E27FC236}">
                <a16:creationId xmlns:a16="http://schemas.microsoft.com/office/drawing/2014/main" id="{ADB80B82-E9BF-44B0-9F60-72D59ACF986E}"/>
              </a:ext>
            </a:extLst>
          </p:cNvPr>
          <p:cNvGrpSpPr/>
          <p:nvPr/>
        </p:nvGrpSpPr>
        <p:grpSpPr>
          <a:xfrm>
            <a:off x="15642005" y="6858000"/>
            <a:ext cx="3397675" cy="6858000"/>
            <a:chOff x="15642005" y="6858000"/>
            <a:chExt cx="3397675" cy="6858000"/>
          </a:xfrm>
        </p:grpSpPr>
        <p:pic>
          <p:nvPicPr>
            <p:cNvPr id="8"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48356" y="6858000"/>
              <a:ext cx="3391324" cy="6858000"/>
            </a:xfrm>
            <a:prstGeom prst="rect">
              <a:avLst/>
            </a:prstGeom>
          </p:spPr>
        </p:pic>
        <p:pic>
          <p:nvPicPr>
            <p:cNvPr id="12" name="Image 5"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642005" y="6858000"/>
              <a:ext cx="12702" cy="6858000"/>
            </a:xfrm>
            <a:prstGeom prst="rect">
              <a:avLst/>
            </a:prstGeom>
          </p:spPr>
        </p:pic>
      </p:grpSp>
      <p:grpSp>
        <p:nvGrpSpPr>
          <p:cNvPr id="42" name="Group 41">
            <a:extLst>
              <a:ext uri="{FF2B5EF4-FFF2-40B4-BE49-F238E27FC236}">
                <a16:creationId xmlns:a16="http://schemas.microsoft.com/office/drawing/2014/main" id="{BA4FAC83-32EB-43FC-AB23-815744F971E1}"/>
              </a:ext>
            </a:extLst>
          </p:cNvPr>
          <p:cNvGrpSpPr/>
          <p:nvPr/>
        </p:nvGrpSpPr>
        <p:grpSpPr>
          <a:xfrm>
            <a:off x="12047456" y="8813800"/>
            <a:ext cx="3600900" cy="4902200"/>
            <a:chOff x="12047456" y="8813800"/>
            <a:chExt cx="3600900" cy="4902200"/>
          </a:xfrm>
        </p:grpSpPr>
        <p:pic>
          <p:nvPicPr>
            <p:cNvPr id="3" name="Image 1"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053807" y="8813800"/>
              <a:ext cx="3594549" cy="4902200"/>
            </a:xfrm>
            <a:prstGeom prst="rect">
              <a:avLst/>
            </a:prstGeom>
          </p:spPr>
        </p:pic>
        <p:pic>
          <p:nvPicPr>
            <p:cNvPr id="7" name="Image 2"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047456" y="8813800"/>
              <a:ext cx="12702" cy="4902200"/>
            </a:xfrm>
            <a:prstGeom prst="rect">
              <a:avLst/>
            </a:prstGeom>
          </p:spPr>
        </p:pic>
      </p:grpSp>
      <p:sp>
        <p:nvSpPr>
          <p:cNvPr id="4" name="Shape 0"/>
          <p:cNvSpPr/>
          <p:nvPr/>
        </p:nvSpPr>
        <p:spPr>
          <a:xfrm>
            <a:off x="12307838" y="9067800"/>
            <a:ext cx="2083060" cy="533400"/>
          </a:xfrm>
          <a:prstGeom prst="roundRect">
            <a:avLst>
              <a:gd name="adj" fmla="val 96000"/>
            </a:avLst>
          </a:prstGeom>
          <a:solidFill>
            <a:srgbClr val="FF8B32">
              <a:alpha val="100000"/>
            </a:srgbClr>
          </a:solidFill>
          <a:ln w="12700">
            <a:solidFill>
              <a:srgbClr val="FF5102"/>
            </a:solidFill>
            <a:prstDash val="solid"/>
          </a:ln>
        </p:spPr>
      </p:sp>
      <p:sp>
        <p:nvSpPr>
          <p:cNvPr id="46" name="Text 2">
            <a:extLst>
              <a:ext uri="{FF2B5EF4-FFF2-40B4-BE49-F238E27FC236}">
                <a16:creationId xmlns:a16="http://schemas.microsoft.com/office/drawing/2014/main" id="{810124C2-F0C7-481F-AF3A-A36A49963BF6}"/>
              </a:ext>
            </a:extLst>
          </p:cNvPr>
          <p:cNvSpPr/>
          <p:nvPr/>
        </p:nvSpPr>
        <p:spPr>
          <a:xfrm>
            <a:off x="15883336" y="7848600"/>
            <a:ext cx="3099187" cy="1752600"/>
          </a:xfrm>
          <a:prstGeom prst="rect">
            <a:avLst/>
          </a:prstGeom>
          <a:noFill/>
          <a:ln/>
        </p:spPr>
        <p:txBody>
          <a:bodyPr wrap="square" lIns="0" tIns="0" rIns="0" bIns="0" rtlCol="0" anchor="t"/>
          <a:lstStyle/>
          <a:p>
            <a:pPr marL="0" indent="0" algn="l">
              <a:lnSpc>
                <a:spcPts val="10560"/>
              </a:lnSpc>
              <a:buNone/>
            </a:pPr>
            <a:r>
              <a:rPr lang="en-US" sz="9600" kern="0" spc="-96" dirty="0">
                <a:gradFill>
                  <a:gsLst>
                    <a:gs pos="52000">
                      <a:srgbClr val="FFB28F"/>
                    </a:gs>
                    <a:gs pos="0">
                      <a:srgbClr val="FF5102"/>
                    </a:gs>
                    <a:gs pos="100000">
                      <a:schemeClr val="bg1">
                        <a:alpha val="7000"/>
                      </a:schemeClr>
                    </a:gs>
                  </a:gsLst>
                  <a:lin ang="5400000" scaled="1"/>
                </a:gradFill>
                <a:latin typeface="Inter Bold" pitchFamily="34" charset="0"/>
                <a:ea typeface="Inter Bold" pitchFamily="34" charset="-122"/>
                <a:cs typeface="Inter Bold" pitchFamily="34" charset="-120"/>
              </a:rPr>
              <a:t>31M</a:t>
            </a:r>
            <a:endParaRPr lang="en-US" sz="9600" dirty="0">
              <a:gradFill>
                <a:gsLst>
                  <a:gs pos="52000">
                    <a:srgbClr val="FFB28F"/>
                  </a:gs>
                  <a:gs pos="0">
                    <a:srgbClr val="FF5102"/>
                  </a:gs>
                  <a:gs pos="100000">
                    <a:schemeClr val="bg1">
                      <a:alpha val="7000"/>
                    </a:schemeClr>
                  </a:gs>
                </a:gsLst>
                <a:lin ang="5400000" scaled="1"/>
              </a:gradFill>
            </a:endParaRPr>
          </a:p>
        </p:txBody>
      </p:sp>
      <p:sp>
        <p:nvSpPr>
          <p:cNvPr id="5" name="Text 1"/>
          <p:cNvSpPr/>
          <p:nvPr/>
        </p:nvSpPr>
        <p:spPr>
          <a:xfrm>
            <a:off x="12625378" y="9144000"/>
            <a:ext cx="1570763" cy="465667"/>
          </a:xfrm>
          <a:prstGeom prst="rect">
            <a:avLst/>
          </a:prstGeom>
          <a:noFill/>
          <a:ln/>
        </p:spPr>
        <p:txBody>
          <a:bodyPr wrap="square" lIns="0" tIns="0" rIns="0" bIns="0" rtlCol="0" anchor="t"/>
          <a:lstStyle/>
          <a:p>
            <a:pPr marL="0" indent="0" algn="l">
              <a:lnSpc>
                <a:spcPts val="3000"/>
              </a:lnSpc>
              <a:buNone/>
            </a:pPr>
            <a:r>
              <a:rPr lang="en-US" sz="2000" dirty="0">
                <a:solidFill>
                  <a:srgbClr val="FFFFFF">
                    <a:alpha val="100000"/>
                  </a:srgbClr>
                </a:solidFill>
                <a:latin typeface="Inter Regular" pitchFamily="34" charset="0"/>
                <a:ea typeface="Inter Regular" pitchFamily="34" charset="-122"/>
                <a:cs typeface="Inter Regular" pitchFamily="34" charset="-120"/>
              </a:rPr>
              <a:t>Raw Profiles</a:t>
            </a:r>
            <a:endParaRPr lang="en-US" sz="2000" dirty="0"/>
          </a:p>
        </p:txBody>
      </p:sp>
      <p:sp>
        <p:nvSpPr>
          <p:cNvPr id="6" name="Text 2"/>
          <p:cNvSpPr/>
          <p:nvPr/>
        </p:nvSpPr>
        <p:spPr>
          <a:xfrm>
            <a:off x="12307838" y="9728200"/>
            <a:ext cx="3099187" cy="1752600"/>
          </a:xfrm>
          <a:prstGeom prst="rect">
            <a:avLst/>
          </a:prstGeom>
          <a:noFill/>
          <a:ln/>
        </p:spPr>
        <p:txBody>
          <a:bodyPr wrap="square" lIns="0" tIns="0" rIns="0" bIns="0" rtlCol="0" anchor="t"/>
          <a:lstStyle/>
          <a:p>
            <a:pPr marL="0" indent="0" algn="l">
              <a:lnSpc>
                <a:spcPts val="10560"/>
              </a:lnSpc>
              <a:buNone/>
            </a:pPr>
            <a:r>
              <a:rPr lang="en-US" sz="9600" kern="0" spc="-96" dirty="0">
                <a:solidFill>
                  <a:srgbClr val="82260C">
                    <a:alpha val="100000"/>
                  </a:srgbClr>
                </a:solidFill>
                <a:latin typeface="Inter Bold" pitchFamily="34" charset="0"/>
                <a:ea typeface="Inter Bold" pitchFamily="34" charset="-122"/>
                <a:cs typeface="Inter Bold" pitchFamily="34" charset="-120"/>
              </a:rPr>
              <a:t>42M</a:t>
            </a:r>
            <a:endParaRPr lang="en-US" sz="9600" dirty="0"/>
          </a:p>
        </p:txBody>
      </p:sp>
      <p:sp>
        <p:nvSpPr>
          <p:cNvPr id="9" name="Shape 3"/>
          <p:cNvSpPr/>
          <p:nvPr/>
        </p:nvSpPr>
        <p:spPr>
          <a:xfrm>
            <a:off x="15902388" y="7112000"/>
            <a:ext cx="1778222" cy="533400"/>
          </a:xfrm>
          <a:prstGeom prst="roundRect">
            <a:avLst>
              <a:gd name="adj" fmla="val 96000"/>
            </a:avLst>
          </a:prstGeom>
          <a:solidFill>
            <a:srgbClr val="F6F6F6">
              <a:alpha val="100000"/>
            </a:srgbClr>
          </a:solidFill>
          <a:ln w="12700">
            <a:solidFill>
              <a:srgbClr val="D1D1D1"/>
            </a:solidFill>
            <a:prstDash val="solid"/>
          </a:ln>
        </p:spPr>
      </p:sp>
      <p:sp>
        <p:nvSpPr>
          <p:cNvPr id="10" name="Text 4"/>
          <p:cNvSpPr/>
          <p:nvPr/>
        </p:nvSpPr>
        <p:spPr>
          <a:xfrm>
            <a:off x="16219927" y="7188200"/>
            <a:ext cx="1189715" cy="465667"/>
          </a:xfrm>
          <a:prstGeom prst="rect">
            <a:avLst/>
          </a:prstGeom>
          <a:noFill/>
          <a:ln/>
        </p:spPr>
        <p:txBody>
          <a:bodyPr wrap="square" lIns="0" tIns="0" rIns="0" bIns="0" rtlCol="0" anchor="t"/>
          <a:lstStyle/>
          <a:p>
            <a:pPr marL="0" indent="0" algn="l">
              <a:lnSpc>
                <a:spcPts val="3000"/>
              </a:lnSpc>
              <a:buNone/>
            </a:pPr>
            <a:r>
              <a:rPr lang="en-US" sz="2000" dirty="0">
                <a:solidFill>
                  <a:srgbClr val="454545">
                    <a:alpha val="100000"/>
                  </a:srgbClr>
                </a:solidFill>
                <a:latin typeface="Inter Regular" pitchFamily="34" charset="0"/>
                <a:ea typeface="Inter Regular" pitchFamily="34" charset="-122"/>
                <a:cs typeface="Inter Regular" pitchFamily="34" charset="-120"/>
              </a:rPr>
              <a:t>Deduped</a:t>
            </a:r>
            <a:endParaRPr lang="en-US" sz="2000" dirty="0"/>
          </a:p>
        </p:txBody>
      </p:sp>
      <p:sp>
        <p:nvSpPr>
          <p:cNvPr id="14" name="Shape 5"/>
          <p:cNvSpPr/>
          <p:nvPr/>
        </p:nvSpPr>
        <p:spPr>
          <a:xfrm>
            <a:off x="19293711" y="5118100"/>
            <a:ext cx="1778222" cy="533400"/>
          </a:xfrm>
          <a:prstGeom prst="roundRect">
            <a:avLst>
              <a:gd name="adj" fmla="val 96000"/>
            </a:avLst>
          </a:prstGeom>
          <a:solidFill>
            <a:srgbClr val="F6F6F6">
              <a:alpha val="100000"/>
            </a:srgbClr>
          </a:solidFill>
          <a:ln w="12700">
            <a:solidFill>
              <a:srgbClr val="D1D1D1"/>
            </a:solidFill>
            <a:prstDash val="solid"/>
          </a:ln>
        </p:spPr>
      </p:sp>
      <p:sp>
        <p:nvSpPr>
          <p:cNvPr id="47" name="Text 2">
            <a:extLst>
              <a:ext uri="{FF2B5EF4-FFF2-40B4-BE49-F238E27FC236}">
                <a16:creationId xmlns:a16="http://schemas.microsoft.com/office/drawing/2014/main" id="{E04CD734-725E-42A1-9756-7F91BC5AC248}"/>
              </a:ext>
            </a:extLst>
          </p:cNvPr>
          <p:cNvSpPr/>
          <p:nvPr/>
        </p:nvSpPr>
        <p:spPr>
          <a:xfrm>
            <a:off x="19350580" y="5892800"/>
            <a:ext cx="3797775" cy="1752600"/>
          </a:xfrm>
          <a:prstGeom prst="rect">
            <a:avLst/>
          </a:prstGeom>
          <a:noFill/>
          <a:ln/>
        </p:spPr>
        <p:txBody>
          <a:bodyPr wrap="square" lIns="0" tIns="0" rIns="0" bIns="0" rtlCol="0" anchor="t"/>
          <a:lstStyle/>
          <a:p>
            <a:pPr marL="0" indent="0" algn="l">
              <a:lnSpc>
                <a:spcPts val="10560"/>
              </a:lnSpc>
              <a:buNone/>
            </a:pPr>
            <a:r>
              <a:rPr lang="en-US" sz="9600" kern="0" spc="-96" dirty="0">
                <a:gradFill>
                  <a:gsLst>
                    <a:gs pos="52000">
                      <a:srgbClr val="FFB28F"/>
                    </a:gs>
                    <a:gs pos="0">
                      <a:srgbClr val="FF5102"/>
                    </a:gs>
                    <a:gs pos="100000">
                      <a:schemeClr val="bg1">
                        <a:alpha val="7000"/>
                      </a:schemeClr>
                    </a:gs>
                  </a:gsLst>
                  <a:lin ang="5400000" scaled="1"/>
                </a:gradFill>
                <a:latin typeface="Inter Bold" pitchFamily="34" charset="0"/>
                <a:ea typeface="Inter Bold" pitchFamily="34" charset="-122"/>
              </a:rPr>
              <a:t>27.5M</a:t>
            </a:r>
            <a:endParaRPr lang="en-US" sz="9600" dirty="0">
              <a:gradFill>
                <a:gsLst>
                  <a:gs pos="52000">
                    <a:srgbClr val="FFB28F"/>
                  </a:gs>
                  <a:gs pos="0">
                    <a:srgbClr val="FF5102"/>
                  </a:gs>
                  <a:gs pos="100000">
                    <a:schemeClr val="bg1">
                      <a:alpha val="7000"/>
                    </a:schemeClr>
                  </a:gs>
                </a:gsLst>
                <a:lin ang="5400000" scaled="1"/>
              </a:gradFill>
            </a:endParaRPr>
          </a:p>
        </p:txBody>
      </p:sp>
      <p:sp>
        <p:nvSpPr>
          <p:cNvPr id="15" name="Text 6"/>
          <p:cNvSpPr/>
          <p:nvPr/>
        </p:nvSpPr>
        <p:spPr>
          <a:xfrm>
            <a:off x="19611251" y="5194300"/>
            <a:ext cx="1189715" cy="465667"/>
          </a:xfrm>
          <a:prstGeom prst="rect">
            <a:avLst/>
          </a:prstGeom>
          <a:noFill/>
          <a:ln/>
        </p:spPr>
        <p:txBody>
          <a:bodyPr wrap="square" lIns="0" tIns="0" rIns="0" bIns="0" rtlCol="0" anchor="t"/>
          <a:lstStyle/>
          <a:p>
            <a:pPr marL="0" indent="0" algn="l">
              <a:lnSpc>
                <a:spcPts val="3000"/>
              </a:lnSpc>
              <a:buNone/>
            </a:pPr>
            <a:r>
              <a:rPr lang="en-US" sz="2000" dirty="0">
                <a:solidFill>
                  <a:srgbClr val="454545">
                    <a:alpha val="100000"/>
                  </a:srgbClr>
                </a:solidFill>
                <a:latin typeface="Inter Regular" pitchFamily="34" charset="0"/>
                <a:ea typeface="Inter Regular" pitchFamily="34" charset="-122"/>
                <a:cs typeface="Inter Regular" pitchFamily="34" charset="-120"/>
              </a:rPr>
              <a:t>Resolved</a:t>
            </a:r>
            <a:endParaRPr lang="en-US" sz="2000" dirty="0"/>
          </a:p>
        </p:txBody>
      </p:sp>
      <p:sp>
        <p:nvSpPr>
          <p:cNvPr id="18" name="Text 7"/>
          <p:cNvSpPr/>
          <p:nvPr/>
        </p:nvSpPr>
        <p:spPr>
          <a:xfrm>
            <a:off x="22261649" y="1524000"/>
            <a:ext cx="567338"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008</a:t>
            </a:r>
            <a:endParaRPr lang="en-US" sz="2000" dirty="0"/>
          </a:p>
        </p:txBody>
      </p:sp>
      <p:pic>
        <p:nvPicPr>
          <p:cNvPr id="19" name="Image 9"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524191" y="1524000"/>
            <a:ext cx="444556" cy="622300"/>
          </a:xfrm>
          <a:prstGeom prst="rect">
            <a:avLst/>
          </a:prstGeom>
        </p:spPr>
      </p:pic>
      <p:sp>
        <p:nvSpPr>
          <p:cNvPr id="20" name="Text 8"/>
          <p:cNvSpPr/>
          <p:nvPr/>
        </p:nvSpPr>
        <p:spPr>
          <a:xfrm>
            <a:off x="2032254" y="1549400"/>
            <a:ext cx="1117740" cy="698500"/>
          </a:xfrm>
          <a:prstGeom prst="rect">
            <a:avLst/>
          </a:prstGeom>
          <a:noFill/>
          <a:ln/>
        </p:spPr>
        <p:txBody>
          <a:bodyPr wrap="square" lIns="0" tIns="0" rIns="0" bIns="0" rtlCol="0" anchor="t"/>
          <a:lstStyle/>
          <a:p>
            <a:pPr marL="0" indent="0" algn="ctr">
              <a:lnSpc>
                <a:spcPts val="4500"/>
              </a:lnSpc>
              <a:buNone/>
            </a:pPr>
            <a:r>
              <a:rPr lang="en-US" sz="3000" kern="0" spc="-120" dirty="0">
                <a:solidFill>
                  <a:srgbClr val="000000">
                    <a:alpha val="100000"/>
                  </a:srgbClr>
                </a:solidFill>
                <a:latin typeface="Funnel Display Bold" pitchFamily="34" charset="0"/>
                <a:ea typeface="Funnel Display Bold" pitchFamily="34" charset="-122"/>
                <a:cs typeface="Funnel Display Bold" pitchFamily="34" charset="-120"/>
              </a:rPr>
              <a:t>Clario</a:t>
            </a:r>
            <a:endParaRPr lang="en-US" sz="3000" dirty="0"/>
          </a:p>
        </p:txBody>
      </p:sp>
      <p:sp>
        <p:nvSpPr>
          <p:cNvPr id="21" name="Text 9"/>
          <p:cNvSpPr/>
          <p:nvPr/>
        </p:nvSpPr>
        <p:spPr>
          <a:xfrm>
            <a:off x="1524191" y="2908300"/>
            <a:ext cx="8069742"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Identity Resolution &amp; Match Rates</a:t>
            </a:r>
            <a:endParaRPr lang="en-US" sz="6400" dirty="0"/>
          </a:p>
        </p:txBody>
      </p:sp>
      <p:sp>
        <p:nvSpPr>
          <p:cNvPr id="22" name="Text 10"/>
          <p:cNvSpPr/>
          <p:nvPr/>
        </p:nvSpPr>
        <p:spPr>
          <a:xfrm>
            <a:off x="15915089" y="3340100"/>
            <a:ext cx="7015510" cy="9821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Identity resolution is the process of linking data points about an individual across platforms.</a:t>
            </a:r>
            <a:r>
              <a:rPr lang="en-US" sz="1600" dirty="0">
                <a:solidFill>
                  <a:srgbClr val="6D6D6D">
                    <a:alpha val="100000"/>
                  </a:srgbClr>
                </a:solidFill>
                <a:latin typeface="Inter Regular" pitchFamily="34" charset="0"/>
                <a:ea typeface="Inter Regular" pitchFamily="34" charset="-122"/>
                <a:cs typeface="Inter Regular" pitchFamily="34" charset="-120"/>
              </a:rPr>
              <a:t> It's vital for businesses to understand customers and enhance engagement.</a:t>
            </a:r>
            <a:endParaRPr lang="en-US" sz="1600" dirty="0"/>
          </a:p>
        </p:txBody>
      </p:sp>
      <p:grpSp>
        <p:nvGrpSpPr>
          <p:cNvPr id="45" name="Group 44">
            <a:extLst>
              <a:ext uri="{FF2B5EF4-FFF2-40B4-BE49-F238E27FC236}">
                <a16:creationId xmlns:a16="http://schemas.microsoft.com/office/drawing/2014/main" id="{3DC9FEF9-5B40-4BCA-AB26-FFD50B75E3F4}"/>
              </a:ext>
            </a:extLst>
          </p:cNvPr>
          <p:cNvGrpSpPr/>
          <p:nvPr/>
        </p:nvGrpSpPr>
        <p:grpSpPr>
          <a:xfrm>
            <a:off x="1524191" y="5486400"/>
            <a:ext cx="9488086" cy="6464300"/>
            <a:chOff x="1524191" y="5486400"/>
            <a:chExt cx="9488086" cy="6464300"/>
          </a:xfrm>
        </p:grpSpPr>
        <p:sp>
          <p:nvSpPr>
            <p:cNvPr id="23" name="Shape 11"/>
            <p:cNvSpPr/>
            <p:nvPr/>
          </p:nvSpPr>
          <p:spPr>
            <a:xfrm>
              <a:off x="1524191" y="5486400"/>
              <a:ext cx="9488086" cy="6464300"/>
            </a:xfrm>
            <a:prstGeom prst="rect">
              <a:avLst/>
            </a:prstGeom>
            <a:noFill/>
            <a:ln/>
          </p:spPr>
        </p:sp>
        <p:sp>
          <p:nvSpPr>
            <p:cNvPr id="24" name="Shape 12"/>
            <p:cNvSpPr/>
            <p:nvPr/>
          </p:nvSpPr>
          <p:spPr>
            <a:xfrm>
              <a:off x="1547637" y="5486400"/>
              <a:ext cx="228629" cy="1397000"/>
            </a:xfrm>
            <a:prstGeom prst="rect">
              <a:avLst/>
            </a:prstGeom>
            <a:solidFill>
              <a:srgbClr val="FF5102">
                <a:alpha val="100000"/>
              </a:srgbClr>
            </a:solidFill>
            <a:ln/>
          </p:spPr>
        </p:sp>
        <p:pic>
          <p:nvPicPr>
            <p:cNvPr id="25" name="Image 10"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52819" y="5486400"/>
              <a:ext cx="7392324" cy="3086100"/>
            </a:xfrm>
            <a:prstGeom prst="rect">
              <a:avLst/>
            </a:prstGeom>
          </p:spPr>
        </p:pic>
        <p:sp>
          <p:nvSpPr>
            <p:cNvPr id="26" name="Text 13"/>
            <p:cNvSpPr/>
            <p:nvPr/>
          </p:nvSpPr>
          <p:spPr>
            <a:xfrm>
              <a:off x="1956044" y="6070600"/>
              <a:ext cx="613910" cy="296333"/>
            </a:xfrm>
            <a:prstGeom prst="rect">
              <a:avLst/>
            </a:prstGeom>
            <a:noFill/>
            <a:ln/>
          </p:spPr>
          <p:txBody>
            <a:bodyPr wrap="square" lIns="0" tIns="0" rIns="0" bIns="0" rtlCol="0" anchor="t"/>
            <a:lstStyle/>
            <a:p>
              <a:pPr marL="0" indent="0" algn="l">
                <a:lnSpc>
                  <a:spcPts val="1760"/>
                </a:lnSpc>
                <a:buNone/>
              </a:pPr>
              <a:r>
                <a:rPr lang="en-US" sz="1600" dirty="0">
                  <a:solidFill>
                    <a:srgbClr val="FFF6EC">
                      <a:alpha val="100000"/>
                    </a:srgbClr>
                  </a:solidFill>
                  <a:latin typeface="Inter Bold" pitchFamily="34" charset="0"/>
                  <a:ea typeface="Inter Bold" pitchFamily="34" charset="-122"/>
                  <a:cs typeface="Inter Bold" pitchFamily="34" charset="-120"/>
                </a:rPr>
                <a:t>Email</a:t>
              </a:r>
              <a:endParaRPr lang="en-US" sz="1600" dirty="0"/>
            </a:p>
          </p:txBody>
        </p:sp>
        <p:pic>
          <p:nvPicPr>
            <p:cNvPr id="27" name="Image 11"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752819" y="7175500"/>
              <a:ext cx="7392324" cy="1816100"/>
            </a:xfrm>
            <a:prstGeom prst="rect">
              <a:avLst/>
            </a:prstGeom>
          </p:spPr>
        </p:pic>
        <p:sp>
          <p:nvSpPr>
            <p:cNvPr id="28" name="Shape 14"/>
            <p:cNvSpPr/>
            <p:nvPr/>
          </p:nvSpPr>
          <p:spPr>
            <a:xfrm>
              <a:off x="1548905" y="7175500"/>
              <a:ext cx="228629" cy="1397000"/>
            </a:xfrm>
            <a:prstGeom prst="rect">
              <a:avLst/>
            </a:prstGeom>
            <a:solidFill>
              <a:srgbClr val="FF6A0A">
                <a:alpha val="100000"/>
              </a:srgbClr>
            </a:solidFill>
            <a:ln/>
          </p:spPr>
        </p:sp>
        <p:sp>
          <p:nvSpPr>
            <p:cNvPr id="29" name="Text 15"/>
            <p:cNvSpPr/>
            <p:nvPr/>
          </p:nvSpPr>
          <p:spPr>
            <a:xfrm>
              <a:off x="1956044" y="7759700"/>
              <a:ext cx="702821" cy="296333"/>
            </a:xfrm>
            <a:prstGeom prst="rect">
              <a:avLst/>
            </a:prstGeom>
            <a:noFill/>
            <a:ln/>
          </p:spPr>
          <p:txBody>
            <a:bodyPr wrap="square" lIns="0" tIns="0" rIns="0" bIns="0" rtlCol="0" anchor="t"/>
            <a:lstStyle/>
            <a:p>
              <a:pPr marL="0" indent="0" algn="l">
                <a:lnSpc>
                  <a:spcPts val="1760"/>
                </a:lnSpc>
                <a:buNone/>
              </a:pPr>
              <a:r>
                <a:rPr lang="en-US" sz="1600" dirty="0">
                  <a:solidFill>
                    <a:srgbClr val="FFF6EC">
                      <a:alpha val="100000"/>
                    </a:srgbClr>
                  </a:solidFill>
                  <a:latin typeface="Inter Bold" pitchFamily="34" charset="0"/>
                  <a:ea typeface="Inter Bold" pitchFamily="34" charset="-122"/>
                  <a:cs typeface="Inter Bold" pitchFamily="34" charset="-120"/>
                </a:rPr>
                <a:t>Phone</a:t>
              </a:r>
              <a:endParaRPr lang="en-US" sz="1600" dirty="0"/>
            </a:p>
          </p:txBody>
        </p:sp>
        <p:sp>
          <p:nvSpPr>
            <p:cNvPr id="30" name="Shape 16"/>
            <p:cNvSpPr/>
            <p:nvPr/>
          </p:nvSpPr>
          <p:spPr>
            <a:xfrm>
              <a:off x="9551594" y="8445500"/>
              <a:ext cx="1460683" cy="533400"/>
            </a:xfrm>
            <a:prstGeom prst="roundRect">
              <a:avLst>
                <a:gd name="adj" fmla="val 96000"/>
              </a:avLst>
            </a:prstGeom>
            <a:solidFill>
              <a:srgbClr val="F6F6F6">
                <a:alpha val="100000"/>
              </a:srgbClr>
            </a:solidFill>
            <a:ln w="12700">
              <a:solidFill>
                <a:srgbClr val="D1D1D1"/>
              </a:solidFill>
              <a:prstDash val="solid"/>
            </a:ln>
          </p:spPr>
        </p:sp>
        <p:sp>
          <p:nvSpPr>
            <p:cNvPr id="31" name="Text 17"/>
            <p:cNvSpPr/>
            <p:nvPr/>
          </p:nvSpPr>
          <p:spPr>
            <a:xfrm>
              <a:off x="9805626" y="8597900"/>
              <a:ext cx="1020361" cy="296333"/>
            </a:xfrm>
            <a:prstGeom prst="rect">
              <a:avLst/>
            </a:prstGeom>
            <a:noFill/>
            <a:ln/>
          </p:spPr>
          <p:txBody>
            <a:bodyPr wrap="square" lIns="0" tIns="0" rIns="0" bIns="0" rtlCol="0" anchor="t"/>
            <a:lstStyle/>
            <a:p>
              <a:pPr marL="0" indent="0" algn="l">
                <a:lnSpc>
                  <a:spcPts val="176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Unified ID</a:t>
              </a:r>
              <a:endParaRPr lang="en-US" sz="1600" dirty="0"/>
            </a:p>
          </p:txBody>
        </p:sp>
        <p:sp>
          <p:nvSpPr>
            <p:cNvPr id="32" name="Shape 18"/>
            <p:cNvSpPr/>
            <p:nvPr/>
          </p:nvSpPr>
          <p:spPr>
            <a:xfrm>
              <a:off x="9145143" y="7175500"/>
              <a:ext cx="228629" cy="3086100"/>
            </a:xfrm>
            <a:prstGeom prst="rect">
              <a:avLst/>
            </a:prstGeom>
            <a:solidFill>
              <a:srgbClr val="FFF6EC">
                <a:alpha val="100000"/>
              </a:srgbClr>
            </a:solidFill>
            <a:ln/>
          </p:spPr>
        </p:sp>
        <p:pic>
          <p:nvPicPr>
            <p:cNvPr id="33" name="Image 12"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752819" y="8445500"/>
              <a:ext cx="7392324" cy="1816100"/>
            </a:xfrm>
            <a:prstGeom prst="rect">
              <a:avLst/>
            </a:prstGeom>
          </p:spPr>
        </p:pic>
        <p:sp>
          <p:nvSpPr>
            <p:cNvPr id="34" name="Shape 19"/>
            <p:cNvSpPr/>
            <p:nvPr/>
          </p:nvSpPr>
          <p:spPr>
            <a:xfrm>
              <a:off x="1548905" y="8864600"/>
              <a:ext cx="228629" cy="1397000"/>
            </a:xfrm>
            <a:prstGeom prst="rect">
              <a:avLst/>
            </a:prstGeom>
            <a:solidFill>
              <a:srgbClr val="FF8B32">
                <a:alpha val="100000"/>
              </a:srgbClr>
            </a:solidFill>
            <a:ln/>
          </p:spPr>
        </p:sp>
        <p:sp>
          <p:nvSpPr>
            <p:cNvPr id="35" name="Text 20"/>
            <p:cNvSpPr/>
            <p:nvPr/>
          </p:nvSpPr>
          <p:spPr>
            <a:xfrm>
              <a:off x="1956044" y="9448800"/>
              <a:ext cx="766329" cy="296333"/>
            </a:xfrm>
            <a:prstGeom prst="rect">
              <a:avLst/>
            </a:prstGeom>
            <a:noFill/>
            <a:ln/>
          </p:spPr>
          <p:txBody>
            <a:bodyPr wrap="square" lIns="0" tIns="0" rIns="0" bIns="0" rtlCol="0" anchor="t"/>
            <a:lstStyle/>
            <a:p>
              <a:pPr marL="0" indent="0" algn="l">
                <a:lnSpc>
                  <a:spcPts val="1760"/>
                </a:lnSpc>
                <a:buNone/>
              </a:pPr>
              <a:r>
                <a:rPr lang="en-US" sz="1600" dirty="0">
                  <a:solidFill>
                    <a:srgbClr val="FFF6EC">
                      <a:alpha val="100000"/>
                    </a:srgbClr>
                  </a:solidFill>
                  <a:latin typeface="Inter Bold" pitchFamily="34" charset="0"/>
                  <a:ea typeface="Inter Bold" pitchFamily="34" charset="-122"/>
                  <a:cs typeface="Inter Bold" pitchFamily="34" charset="-120"/>
                </a:rPr>
                <a:t>Cookie</a:t>
              </a:r>
              <a:endParaRPr lang="en-US" sz="1600" dirty="0"/>
            </a:p>
          </p:txBody>
        </p:sp>
        <p:pic>
          <p:nvPicPr>
            <p:cNvPr id="36" name="Image 13"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752819" y="8864600"/>
              <a:ext cx="7392324" cy="3086100"/>
            </a:xfrm>
            <a:prstGeom prst="rect">
              <a:avLst/>
            </a:prstGeom>
          </p:spPr>
        </p:pic>
        <p:sp>
          <p:nvSpPr>
            <p:cNvPr id="37" name="Shape 21"/>
            <p:cNvSpPr/>
            <p:nvPr/>
          </p:nvSpPr>
          <p:spPr>
            <a:xfrm>
              <a:off x="1548905" y="10553700"/>
              <a:ext cx="228629" cy="1397000"/>
            </a:xfrm>
            <a:prstGeom prst="rect">
              <a:avLst/>
            </a:prstGeom>
            <a:solidFill>
              <a:srgbClr val="FFB66D">
                <a:alpha val="100000"/>
              </a:srgbClr>
            </a:solidFill>
            <a:ln/>
          </p:spPr>
        </p:sp>
        <p:sp>
          <p:nvSpPr>
            <p:cNvPr id="38" name="Text 22"/>
            <p:cNvSpPr/>
            <p:nvPr/>
          </p:nvSpPr>
          <p:spPr>
            <a:xfrm>
              <a:off x="1956044" y="11137900"/>
              <a:ext cx="753628" cy="296333"/>
            </a:xfrm>
            <a:prstGeom prst="rect">
              <a:avLst/>
            </a:prstGeom>
            <a:noFill/>
            <a:ln/>
          </p:spPr>
          <p:txBody>
            <a:bodyPr wrap="square" lIns="0" tIns="0" rIns="0" bIns="0" rtlCol="0" anchor="t"/>
            <a:lstStyle/>
            <a:p>
              <a:pPr marL="0" indent="0" algn="l">
                <a:lnSpc>
                  <a:spcPts val="1760"/>
                </a:lnSpc>
                <a:buNone/>
              </a:pPr>
              <a:r>
                <a:rPr lang="en-US" sz="1600" dirty="0">
                  <a:solidFill>
                    <a:srgbClr val="FFF6EC">
                      <a:alpha val="100000"/>
                    </a:srgbClr>
                  </a:solidFill>
                  <a:latin typeface="Inter Bold" pitchFamily="34" charset="0"/>
                  <a:ea typeface="Inter Bold" pitchFamily="34" charset="-122"/>
                  <a:cs typeface="Inter Bold" pitchFamily="34" charset="-120"/>
                </a:rPr>
                <a:t>Device</a:t>
              </a:r>
              <a:endParaRPr lang="en-US" sz="1600"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grpSp>
        <p:nvGrpSpPr>
          <p:cNvPr id="67" name="Group 66">
            <a:extLst>
              <a:ext uri="{FF2B5EF4-FFF2-40B4-BE49-F238E27FC236}">
                <a16:creationId xmlns:a16="http://schemas.microsoft.com/office/drawing/2014/main" id="{2584C559-3D9B-4A5F-B43C-3D41D32C40A8}"/>
              </a:ext>
            </a:extLst>
          </p:cNvPr>
          <p:cNvGrpSpPr/>
          <p:nvPr/>
        </p:nvGrpSpPr>
        <p:grpSpPr>
          <a:xfrm>
            <a:off x="12320540" y="6985000"/>
            <a:ext cx="8878410" cy="5511800"/>
            <a:chOff x="12320540" y="6985000"/>
            <a:chExt cx="8878410" cy="5511800"/>
          </a:xfrm>
        </p:grpSpPr>
        <p:sp>
          <p:nvSpPr>
            <p:cNvPr id="2" name="Shape 0"/>
            <p:cNvSpPr/>
            <p:nvPr/>
          </p:nvSpPr>
          <p:spPr>
            <a:xfrm>
              <a:off x="12320540" y="6985000"/>
              <a:ext cx="8878410" cy="5511800"/>
            </a:xfrm>
            <a:prstGeom prst="rect">
              <a:avLst/>
            </a:prstGeom>
            <a:noFill/>
            <a:ln/>
          </p:spPr>
        </p:sp>
        <p:pic>
          <p:nvPicPr>
            <p:cNvPr id="3"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849156" y="11963400"/>
              <a:ext cx="2349794" cy="533400"/>
            </a:xfrm>
            <a:prstGeom prst="rect">
              <a:avLst/>
            </a:prstGeom>
          </p:spPr>
        </p:pic>
        <p:sp>
          <p:nvSpPr>
            <p:cNvPr id="4" name="Text 1"/>
            <p:cNvSpPr/>
            <p:nvPr/>
          </p:nvSpPr>
          <p:spPr>
            <a:xfrm>
              <a:off x="19255607" y="12077700"/>
              <a:ext cx="1617335"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Sample Schema</a:t>
              </a:r>
              <a:endParaRPr lang="en-US" sz="1600" dirty="0"/>
            </a:p>
          </p:txBody>
        </p:sp>
        <p:pic>
          <p:nvPicPr>
            <p:cNvPr id="5"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320540" y="6985000"/>
              <a:ext cx="5715714" cy="4876800"/>
            </a:xfrm>
            <a:prstGeom prst="rect">
              <a:avLst/>
            </a:prstGeom>
          </p:spPr>
        </p:pic>
        <p:pic>
          <p:nvPicPr>
            <p:cNvPr id="6"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023553" y="11131550"/>
              <a:ext cx="838305" cy="1117600"/>
            </a:xfrm>
            <a:prstGeom prst="rect">
              <a:avLst/>
            </a:prstGeom>
          </p:spPr>
        </p:pic>
        <p:sp>
          <p:nvSpPr>
            <p:cNvPr id="7" name="Shape 2"/>
            <p:cNvSpPr/>
            <p:nvPr/>
          </p:nvSpPr>
          <p:spPr>
            <a:xfrm rot="10800000">
              <a:off x="18798350" y="12179300"/>
              <a:ext cx="127016" cy="127000"/>
            </a:xfrm>
            <a:prstGeom prst="ellipse">
              <a:avLst/>
            </a:prstGeom>
            <a:solidFill>
              <a:srgbClr val="FFB66D">
                <a:alpha val="100000"/>
              </a:srgbClr>
            </a:solidFill>
            <a:ln w="12700">
              <a:solidFill>
                <a:srgbClr val="FFF6EC"/>
              </a:solidFill>
              <a:prstDash val="solid"/>
            </a:ln>
          </p:spPr>
        </p:sp>
        <p:sp>
          <p:nvSpPr>
            <p:cNvPr id="8" name="Shape 3"/>
            <p:cNvSpPr/>
            <p:nvPr/>
          </p:nvSpPr>
          <p:spPr>
            <a:xfrm rot="10800000">
              <a:off x="17960045" y="11074400"/>
              <a:ext cx="127016" cy="127000"/>
            </a:xfrm>
            <a:prstGeom prst="ellipse">
              <a:avLst/>
            </a:prstGeom>
            <a:solidFill>
              <a:srgbClr val="FFB66D">
                <a:alpha val="100000"/>
              </a:srgbClr>
            </a:solidFill>
            <a:ln w="12700">
              <a:solidFill>
                <a:srgbClr val="82260C"/>
              </a:solidFill>
              <a:prstDash val="solid"/>
            </a:ln>
          </p:spPr>
        </p:sp>
        <p:pic>
          <p:nvPicPr>
            <p:cNvPr id="9"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752394" y="7416800"/>
              <a:ext cx="4839305" cy="533400"/>
            </a:xfrm>
            <a:prstGeom prst="rect">
              <a:avLst/>
            </a:prstGeom>
          </p:spPr>
        </p:pic>
        <p:sp>
          <p:nvSpPr>
            <p:cNvPr id="10" name="Text 4"/>
            <p:cNvSpPr/>
            <p:nvPr/>
          </p:nvSpPr>
          <p:spPr>
            <a:xfrm>
              <a:off x="13400175" y="7531100"/>
              <a:ext cx="3611485" cy="372533"/>
            </a:xfrm>
            <a:prstGeom prst="rect">
              <a:avLst/>
            </a:prstGeom>
            <a:noFill/>
            <a:ln/>
          </p:spPr>
          <p:txBody>
            <a:bodyPr wrap="square" lIns="0" tIns="0" rIns="0" bIns="0" rtlCol="0" anchor="t"/>
            <a:lstStyle/>
            <a:p>
              <a:pPr marL="0" indent="0" algn="l">
                <a:lnSpc>
                  <a:spcPts val="2400"/>
                </a:lnSpc>
                <a:buNone/>
              </a:pPr>
              <a:r>
                <a:rPr lang="en-US" sz="1600" dirty="0">
                  <a:solidFill>
                    <a:srgbClr val="FFFCEA">
                      <a:alpha val="100000"/>
                    </a:srgbClr>
                  </a:solidFill>
                  <a:latin typeface="Inter Regular" pitchFamily="34" charset="0"/>
                  <a:ea typeface="Inter Regular" pitchFamily="34" charset="-122"/>
                  <a:cs typeface="Inter Regular" pitchFamily="34" charset="-120"/>
                </a:rPr>
                <a:t>profile_id: Unique customer identifier</a:t>
              </a:r>
              <a:endParaRPr lang="en-US" sz="1600" dirty="0"/>
            </a:p>
          </p:txBody>
        </p:sp>
        <p:pic>
          <p:nvPicPr>
            <p:cNvPr id="11" name="Image 4" descr=" "/>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2752394" y="8102600"/>
              <a:ext cx="4839305" cy="533400"/>
            </a:xfrm>
            <a:prstGeom prst="rect">
              <a:avLst/>
            </a:prstGeom>
          </p:spPr>
        </p:pic>
        <p:sp>
          <p:nvSpPr>
            <p:cNvPr id="12" name="Text 5"/>
            <p:cNvSpPr/>
            <p:nvPr/>
          </p:nvSpPr>
          <p:spPr>
            <a:xfrm>
              <a:off x="13196949" y="8204200"/>
              <a:ext cx="4017936" cy="372533"/>
            </a:xfrm>
            <a:prstGeom prst="rect">
              <a:avLst/>
            </a:prstGeom>
            <a:noFill/>
            <a:ln/>
          </p:spPr>
          <p:txBody>
            <a:bodyPr wrap="square" lIns="0" tIns="0" rIns="0" bIns="0" rtlCol="0" anchor="t"/>
            <a:lstStyle/>
            <a:p>
              <a:pPr marL="0" indent="0" algn="l">
                <a:lnSpc>
                  <a:spcPts val="2400"/>
                </a:lnSpc>
                <a:buNone/>
              </a:pPr>
              <a:r>
                <a:rPr lang="en-US" sz="1600" dirty="0">
                  <a:solidFill>
                    <a:srgbClr val="FFFCEA">
                      <a:alpha val="100000"/>
                    </a:srgbClr>
                  </a:solidFill>
                  <a:latin typeface="Inter Regular" pitchFamily="34" charset="0"/>
                  <a:ea typeface="Inter Regular" pitchFamily="34" charset="-122"/>
                  <a:cs typeface="Inter Regular" pitchFamily="34" charset="-120"/>
                </a:rPr>
                <a:t>pii_hash: Pseudonymized identifier for PII</a:t>
              </a:r>
              <a:endParaRPr lang="en-US" sz="1600" dirty="0"/>
            </a:p>
          </p:txBody>
        </p:sp>
        <p:pic>
          <p:nvPicPr>
            <p:cNvPr id="13" name="Image 5" descr=" "/>
            <p:cNvPicPr>
              <a:picLocks noChangeAspect="1"/>
            </p:cNvPicPr>
            <p:nvPr/>
          </p:nvPicPr>
          <p:blipFill>
            <a:blip r:embed="rId9">
              <a:extLst>
                <a:ext uri="{96DAC541-7B7A-43D3-8B79-37D633B846F1}">
                  <asvg:svgBlip xmlns:asvg="http://schemas.microsoft.com/office/drawing/2016/SVG/main" r:embed="rId12"/>
                </a:ext>
              </a:extLst>
            </a:blip>
            <a:stretch>
              <a:fillRect/>
            </a:stretch>
          </p:blipFill>
          <p:spPr>
            <a:xfrm>
              <a:off x="12752394" y="8788400"/>
              <a:ext cx="4839305" cy="533400"/>
            </a:xfrm>
            <a:prstGeom prst="rect">
              <a:avLst/>
            </a:prstGeom>
          </p:spPr>
        </p:pic>
        <p:sp>
          <p:nvSpPr>
            <p:cNvPr id="14" name="Text 6"/>
            <p:cNvSpPr/>
            <p:nvPr/>
          </p:nvSpPr>
          <p:spPr>
            <a:xfrm>
              <a:off x="13158845" y="8902700"/>
              <a:ext cx="4094145" cy="372533"/>
            </a:xfrm>
            <a:prstGeom prst="rect">
              <a:avLst/>
            </a:prstGeom>
            <a:noFill/>
            <a:ln/>
          </p:spPr>
          <p:txBody>
            <a:bodyPr wrap="square" lIns="0" tIns="0" rIns="0" bIns="0" rtlCol="0" anchor="t"/>
            <a:lstStyle/>
            <a:p>
              <a:pPr marL="0" indent="0" algn="l">
                <a:lnSpc>
                  <a:spcPts val="2400"/>
                </a:lnSpc>
                <a:buNone/>
              </a:pPr>
              <a:r>
                <a:rPr lang="en-US" sz="1600" dirty="0">
                  <a:solidFill>
                    <a:srgbClr val="FFFCEA">
                      <a:alpha val="100000"/>
                    </a:srgbClr>
                  </a:solidFill>
                  <a:latin typeface="Inter Regular" pitchFamily="34" charset="0"/>
                  <a:ea typeface="Inter Regular" pitchFamily="34" charset="-122"/>
                  <a:cs typeface="Inter Regular" pitchFamily="34" charset="-120"/>
                </a:rPr>
                <a:t>consent_status: Current status of consent</a:t>
              </a:r>
              <a:endParaRPr lang="en-US" sz="1600" dirty="0"/>
            </a:p>
          </p:txBody>
        </p:sp>
        <p:pic>
          <p:nvPicPr>
            <p:cNvPr id="15" name="Image 6" descr=" "/>
            <p:cNvPicPr>
              <a:picLocks noChangeAspect="1"/>
            </p:cNvPicPr>
            <p:nvPr/>
          </p:nvPicPr>
          <p:blipFill>
            <a:blip r:embed="rId9">
              <a:extLst>
                <a:ext uri="{96DAC541-7B7A-43D3-8B79-37D633B846F1}">
                  <asvg:svgBlip xmlns:asvg="http://schemas.microsoft.com/office/drawing/2016/SVG/main" r:embed="rId13"/>
                </a:ext>
              </a:extLst>
            </a:blip>
            <a:stretch>
              <a:fillRect/>
            </a:stretch>
          </p:blipFill>
          <p:spPr>
            <a:xfrm>
              <a:off x="12752394" y="9474200"/>
              <a:ext cx="4839305" cy="533400"/>
            </a:xfrm>
            <a:prstGeom prst="rect">
              <a:avLst/>
            </a:prstGeom>
          </p:spPr>
        </p:pic>
        <p:sp>
          <p:nvSpPr>
            <p:cNvPr id="16" name="Text 7"/>
            <p:cNvSpPr/>
            <p:nvPr/>
          </p:nvSpPr>
          <p:spPr>
            <a:xfrm>
              <a:off x="13095337" y="9588500"/>
              <a:ext cx="4221161" cy="372533"/>
            </a:xfrm>
            <a:prstGeom prst="rect">
              <a:avLst/>
            </a:prstGeom>
            <a:noFill/>
            <a:ln/>
          </p:spPr>
          <p:txBody>
            <a:bodyPr wrap="square" lIns="0" tIns="0" rIns="0" bIns="0" rtlCol="0" anchor="t"/>
            <a:lstStyle/>
            <a:p>
              <a:pPr marL="0" indent="0" algn="l">
                <a:lnSpc>
                  <a:spcPts val="2400"/>
                </a:lnSpc>
                <a:buNone/>
              </a:pPr>
              <a:r>
                <a:rPr lang="en-US" sz="1600" dirty="0">
                  <a:solidFill>
                    <a:srgbClr val="FFFCEA">
                      <a:alpha val="100000"/>
                    </a:srgbClr>
                  </a:solidFill>
                  <a:latin typeface="Inter Regular" pitchFamily="34" charset="0"/>
                  <a:ea typeface="Inter Regular" pitchFamily="34" charset="-122"/>
                  <a:cs typeface="Inter Regular" pitchFamily="34" charset="-120"/>
                </a:rPr>
                <a:t>last_seen_ts: Timestamp for last interaction</a:t>
              </a:r>
              <a:endParaRPr lang="en-US" sz="1600" dirty="0"/>
            </a:p>
          </p:txBody>
        </p:sp>
        <p:pic>
          <p:nvPicPr>
            <p:cNvPr id="17" name="Image 7" descr=" "/>
            <p:cNvPicPr>
              <a:picLocks noChangeAspect="1"/>
            </p:cNvPicPr>
            <p:nvPr/>
          </p:nvPicPr>
          <p:blipFill>
            <a:blip r:embed="rId9">
              <a:extLst>
                <a:ext uri="{96DAC541-7B7A-43D3-8B79-37D633B846F1}">
                  <asvg:svgBlip xmlns:asvg="http://schemas.microsoft.com/office/drawing/2016/SVG/main" r:embed="rId14"/>
                </a:ext>
              </a:extLst>
            </a:blip>
            <a:stretch>
              <a:fillRect/>
            </a:stretch>
          </p:blipFill>
          <p:spPr>
            <a:xfrm>
              <a:off x="12752394" y="10160000"/>
              <a:ext cx="4839305" cy="533400"/>
            </a:xfrm>
            <a:prstGeom prst="rect">
              <a:avLst/>
            </a:prstGeom>
          </p:spPr>
        </p:pic>
        <p:sp>
          <p:nvSpPr>
            <p:cNvPr id="18" name="Text 8"/>
            <p:cNvSpPr/>
            <p:nvPr/>
          </p:nvSpPr>
          <p:spPr>
            <a:xfrm>
              <a:off x="13171546" y="10261600"/>
              <a:ext cx="4068742" cy="372533"/>
            </a:xfrm>
            <a:prstGeom prst="rect">
              <a:avLst/>
            </a:prstGeom>
            <a:noFill/>
            <a:ln/>
          </p:spPr>
          <p:txBody>
            <a:bodyPr wrap="square" lIns="0" tIns="0" rIns="0" bIns="0" rtlCol="0" anchor="t"/>
            <a:lstStyle/>
            <a:p>
              <a:pPr marL="0" indent="0" algn="l">
                <a:lnSpc>
                  <a:spcPts val="2400"/>
                </a:lnSpc>
                <a:buNone/>
              </a:pPr>
              <a:r>
                <a:rPr lang="en-US" sz="1600" dirty="0">
                  <a:solidFill>
                    <a:srgbClr val="FFFCEA">
                      <a:alpha val="100000"/>
                    </a:srgbClr>
                  </a:solidFill>
                  <a:latin typeface="Inter Regular" pitchFamily="34" charset="0"/>
                  <a:ea typeface="Inter Regular" pitchFamily="34" charset="-122"/>
                  <a:cs typeface="Inter Regular" pitchFamily="34" charset="-120"/>
                </a:rPr>
                <a:t>purchase_id: Unique ID for each purchase</a:t>
              </a:r>
              <a:endParaRPr lang="en-US" sz="1600" dirty="0"/>
            </a:p>
          </p:txBody>
        </p:sp>
        <p:pic>
          <p:nvPicPr>
            <p:cNvPr id="19" name="Image 8" descr=" "/>
            <p:cNvPicPr>
              <a:picLocks noChangeAspect="1"/>
            </p:cNvPicPr>
            <p:nvPr/>
          </p:nvPicPr>
          <p:blipFill>
            <a:blip r:embed="rId9">
              <a:extLst>
                <a:ext uri="{96DAC541-7B7A-43D3-8B79-37D633B846F1}">
                  <asvg:svgBlip xmlns:asvg="http://schemas.microsoft.com/office/drawing/2016/SVG/main" r:embed="rId15"/>
                </a:ext>
              </a:extLst>
            </a:blip>
            <a:stretch>
              <a:fillRect/>
            </a:stretch>
          </p:blipFill>
          <p:spPr>
            <a:xfrm>
              <a:off x="12752394" y="10845800"/>
              <a:ext cx="4839305" cy="533400"/>
            </a:xfrm>
            <a:prstGeom prst="rect">
              <a:avLst/>
            </a:prstGeom>
          </p:spPr>
        </p:pic>
        <p:sp>
          <p:nvSpPr>
            <p:cNvPr id="20" name="Text 9"/>
            <p:cNvSpPr/>
            <p:nvPr/>
          </p:nvSpPr>
          <p:spPr>
            <a:xfrm>
              <a:off x="13374772" y="10960100"/>
              <a:ext cx="3674993" cy="372533"/>
            </a:xfrm>
            <a:prstGeom prst="rect">
              <a:avLst/>
            </a:prstGeom>
            <a:noFill/>
            <a:ln/>
          </p:spPr>
          <p:txBody>
            <a:bodyPr wrap="square" lIns="0" tIns="0" rIns="0" bIns="0" rtlCol="0" anchor="t"/>
            <a:lstStyle/>
            <a:p>
              <a:pPr marL="0" indent="0" algn="l">
                <a:lnSpc>
                  <a:spcPts val="2400"/>
                </a:lnSpc>
                <a:buNone/>
              </a:pPr>
              <a:r>
                <a:rPr lang="en-US" sz="1600" dirty="0">
                  <a:solidFill>
                    <a:srgbClr val="FFFCEA">
                      <a:alpha val="100000"/>
                    </a:srgbClr>
                  </a:solidFill>
                  <a:latin typeface="Inter Regular" pitchFamily="34" charset="0"/>
                  <a:ea typeface="Inter Regular" pitchFamily="34" charset="-122"/>
                  <a:cs typeface="Inter Regular" pitchFamily="34" charset="-120"/>
                </a:rPr>
                <a:t>device_id: Device used for interaction</a:t>
              </a:r>
              <a:endParaRPr lang="en-US" sz="1600" dirty="0"/>
            </a:p>
          </p:txBody>
        </p:sp>
      </p:grpSp>
      <p:sp>
        <p:nvSpPr>
          <p:cNvPr id="21" name="Shape 10"/>
          <p:cNvSpPr/>
          <p:nvPr/>
        </p:nvSpPr>
        <p:spPr>
          <a:xfrm>
            <a:off x="12320540" y="3797300"/>
            <a:ext cx="7849581" cy="2667000"/>
          </a:xfrm>
          <a:prstGeom prst="rect">
            <a:avLst/>
          </a:prstGeom>
          <a:noFill/>
          <a:ln/>
        </p:spPr>
      </p:sp>
      <p:pic>
        <p:nvPicPr>
          <p:cNvPr id="22" name="Image 9" descr=" "/>
          <p:cNvPicPr>
            <a:picLocks noChangeAspect="1"/>
          </p:cNvPicPr>
          <p:nvPr/>
        </p:nvPicPr>
        <p:blipFill>
          <a:blip r:embed="rId3">
            <a:extLst>
              <a:ext uri="{96DAC541-7B7A-43D3-8B79-37D633B846F1}">
                <asvg:svgBlip xmlns:asvg="http://schemas.microsoft.com/office/drawing/2016/SVG/main" r:embed="rId16"/>
              </a:ext>
            </a:extLst>
          </a:blip>
          <a:stretch>
            <a:fillRect/>
          </a:stretch>
        </p:blipFill>
        <p:spPr>
          <a:xfrm>
            <a:off x="17820327" y="3797300"/>
            <a:ext cx="2349794" cy="533400"/>
          </a:xfrm>
          <a:prstGeom prst="rect">
            <a:avLst/>
          </a:prstGeom>
        </p:spPr>
      </p:pic>
      <p:sp>
        <p:nvSpPr>
          <p:cNvPr id="23" name="Text 11"/>
          <p:cNvSpPr/>
          <p:nvPr/>
        </p:nvSpPr>
        <p:spPr>
          <a:xfrm>
            <a:off x="18315689" y="3911600"/>
            <a:ext cx="1439513"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Central Profile</a:t>
            </a:r>
            <a:endParaRPr lang="en-US" sz="1600" dirty="0"/>
          </a:p>
        </p:txBody>
      </p:sp>
      <p:pic>
        <p:nvPicPr>
          <p:cNvPr id="24" name="Image 10"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2320540" y="3797300"/>
            <a:ext cx="4661483" cy="2667000"/>
          </a:xfrm>
          <a:prstGeom prst="rect">
            <a:avLst/>
          </a:prstGeom>
        </p:spPr>
      </p:pic>
      <p:pic>
        <p:nvPicPr>
          <p:cNvPr id="25" name="Image 11"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982022" y="4070350"/>
            <a:ext cx="838305" cy="1117600"/>
          </a:xfrm>
          <a:prstGeom prst="rect">
            <a:avLst/>
          </a:prstGeom>
        </p:spPr>
      </p:pic>
      <p:sp>
        <p:nvSpPr>
          <p:cNvPr id="26" name="Shape 12"/>
          <p:cNvSpPr/>
          <p:nvPr/>
        </p:nvSpPr>
        <p:spPr>
          <a:xfrm rot="10800000">
            <a:off x="17756819" y="4013200"/>
            <a:ext cx="127016" cy="127000"/>
          </a:xfrm>
          <a:prstGeom prst="ellipse">
            <a:avLst/>
          </a:prstGeom>
          <a:solidFill>
            <a:srgbClr val="FFB66D">
              <a:alpha val="100000"/>
            </a:srgbClr>
          </a:solidFill>
          <a:ln w="12700">
            <a:solidFill>
              <a:srgbClr val="82260C"/>
            </a:solidFill>
            <a:prstDash val="solid"/>
          </a:ln>
        </p:spPr>
      </p:sp>
      <p:sp>
        <p:nvSpPr>
          <p:cNvPr id="27" name="Shape 13"/>
          <p:cNvSpPr/>
          <p:nvPr/>
        </p:nvSpPr>
        <p:spPr>
          <a:xfrm rot="10800000">
            <a:off x="16918515" y="5118100"/>
            <a:ext cx="127016" cy="127000"/>
          </a:xfrm>
          <a:prstGeom prst="ellipse">
            <a:avLst/>
          </a:prstGeom>
          <a:solidFill>
            <a:srgbClr val="FFB66D">
              <a:alpha val="100000"/>
            </a:srgbClr>
          </a:solidFill>
          <a:ln w="12700">
            <a:solidFill>
              <a:srgbClr val="82260C"/>
            </a:solidFill>
            <a:prstDash val="solid"/>
          </a:ln>
        </p:spPr>
      </p:sp>
      <p:pic>
        <p:nvPicPr>
          <p:cNvPr id="28" name="Image 12"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2701588" y="4178300"/>
            <a:ext cx="1778222" cy="533400"/>
          </a:xfrm>
          <a:prstGeom prst="rect">
            <a:avLst/>
          </a:prstGeom>
        </p:spPr>
      </p:pic>
      <p:sp>
        <p:nvSpPr>
          <p:cNvPr id="29" name="Text 14"/>
          <p:cNvSpPr/>
          <p:nvPr/>
        </p:nvSpPr>
        <p:spPr>
          <a:xfrm>
            <a:off x="13273159" y="4292600"/>
            <a:ext cx="690120" cy="372533"/>
          </a:xfrm>
          <a:prstGeom prst="rect">
            <a:avLst/>
          </a:prstGeom>
          <a:noFill/>
          <a:ln/>
        </p:spPr>
        <p:txBody>
          <a:bodyPr wrap="square" lIns="0" tIns="0" rIns="0" bIns="0" rtlCol="0" anchor="t"/>
          <a:lstStyle/>
          <a:p>
            <a:pPr marL="0" indent="0" algn="l">
              <a:lnSpc>
                <a:spcPts val="2400"/>
              </a:lnSpc>
              <a:buNone/>
            </a:pPr>
            <a:r>
              <a:rPr lang="en-US" sz="1600" dirty="0">
                <a:solidFill>
                  <a:srgbClr val="D1D1D1">
                    <a:alpha val="100000"/>
                  </a:srgbClr>
                </a:solidFill>
                <a:latin typeface="Inter Regular" pitchFamily="34" charset="0"/>
                <a:ea typeface="Inter Regular" pitchFamily="34" charset="-122"/>
                <a:cs typeface="Inter Regular" pitchFamily="34" charset="-120"/>
              </a:rPr>
              <a:t>Profile</a:t>
            </a:r>
            <a:endParaRPr lang="en-US" sz="1600" dirty="0"/>
          </a:p>
        </p:txBody>
      </p:sp>
      <p:pic>
        <p:nvPicPr>
          <p:cNvPr id="30" name="Image 13" descr=" "/>
          <p:cNvPicPr>
            <a:picLocks noChangeAspect="1"/>
          </p:cNvPicPr>
          <p:nvPr/>
        </p:nvPicPr>
        <p:blipFill>
          <a:blip r:embed="rId21">
            <a:extLst>
              <a:ext uri="{96DAC541-7B7A-43D3-8B79-37D633B846F1}">
                <asvg:svgBlip xmlns:asvg="http://schemas.microsoft.com/office/drawing/2016/SVG/main" r:embed="rId23"/>
              </a:ext>
            </a:extLst>
          </a:blip>
          <a:stretch>
            <a:fillRect/>
          </a:stretch>
        </p:blipFill>
        <p:spPr>
          <a:xfrm>
            <a:off x="12701588" y="4864100"/>
            <a:ext cx="1778222" cy="533400"/>
          </a:xfrm>
          <a:prstGeom prst="rect">
            <a:avLst/>
          </a:prstGeom>
        </p:spPr>
      </p:pic>
      <p:sp>
        <p:nvSpPr>
          <p:cNvPr id="31" name="Text 15"/>
          <p:cNvSpPr/>
          <p:nvPr/>
        </p:nvSpPr>
        <p:spPr>
          <a:xfrm>
            <a:off x="13209651" y="4965700"/>
            <a:ext cx="829837" cy="372533"/>
          </a:xfrm>
          <a:prstGeom prst="rect">
            <a:avLst/>
          </a:prstGeom>
          <a:noFill/>
          <a:ln/>
        </p:spPr>
        <p:txBody>
          <a:bodyPr wrap="square" lIns="0" tIns="0" rIns="0" bIns="0" rtlCol="0" anchor="t"/>
          <a:lstStyle/>
          <a:p>
            <a:pPr marL="0" indent="0" algn="l">
              <a:lnSpc>
                <a:spcPts val="2400"/>
              </a:lnSpc>
              <a:buNone/>
            </a:pPr>
            <a:r>
              <a:rPr lang="en-US" sz="1600" dirty="0">
                <a:solidFill>
                  <a:srgbClr val="D1D1D1">
                    <a:alpha val="100000"/>
                  </a:srgbClr>
                </a:solidFill>
                <a:latin typeface="Inter Regular" pitchFamily="34" charset="0"/>
                <a:ea typeface="Inter Regular" pitchFamily="34" charset="-122"/>
                <a:cs typeface="Inter Regular" pitchFamily="34" charset="-120"/>
              </a:rPr>
              <a:t>Devices</a:t>
            </a:r>
            <a:endParaRPr lang="en-US" sz="1600" dirty="0"/>
          </a:p>
        </p:txBody>
      </p:sp>
      <p:pic>
        <p:nvPicPr>
          <p:cNvPr id="32" name="Image 14" descr=" "/>
          <p:cNvPicPr>
            <a:picLocks noChangeAspect="1"/>
          </p:cNvPicPr>
          <p:nvPr/>
        </p:nvPicPr>
        <p:blipFill>
          <a:blip r:embed="rId21">
            <a:extLst>
              <a:ext uri="{96DAC541-7B7A-43D3-8B79-37D633B846F1}">
                <asvg:svgBlip xmlns:asvg="http://schemas.microsoft.com/office/drawing/2016/SVG/main" r:embed="rId24"/>
              </a:ext>
            </a:extLst>
          </a:blip>
          <a:stretch>
            <a:fillRect/>
          </a:stretch>
        </p:blipFill>
        <p:spPr>
          <a:xfrm>
            <a:off x="12701588" y="5549900"/>
            <a:ext cx="1778222" cy="533400"/>
          </a:xfrm>
          <a:prstGeom prst="rect">
            <a:avLst/>
          </a:prstGeom>
        </p:spPr>
      </p:pic>
      <p:sp>
        <p:nvSpPr>
          <p:cNvPr id="33" name="Text 16"/>
          <p:cNvSpPr/>
          <p:nvPr/>
        </p:nvSpPr>
        <p:spPr>
          <a:xfrm>
            <a:off x="13260457" y="5664200"/>
            <a:ext cx="715523" cy="372533"/>
          </a:xfrm>
          <a:prstGeom prst="rect">
            <a:avLst/>
          </a:prstGeom>
          <a:noFill/>
          <a:ln/>
        </p:spPr>
        <p:txBody>
          <a:bodyPr wrap="square" lIns="0" tIns="0" rIns="0" bIns="0" rtlCol="0" anchor="t"/>
          <a:lstStyle/>
          <a:p>
            <a:pPr marL="0" indent="0" algn="l">
              <a:lnSpc>
                <a:spcPts val="2400"/>
              </a:lnSpc>
              <a:buNone/>
            </a:pPr>
            <a:r>
              <a:rPr lang="en-US" sz="1600" dirty="0">
                <a:solidFill>
                  <a:srgbClr val="D1D1D1">
                    <a:alpha val="100000"/>
                  </a:srgbClr>
                </a:solidFill>
                <a:latin typeface="Inter Regular" pitchFamily="34" charset="0"/>
                <a:ea typeface="Inter Regular" pitchFamily="34" charset="-122"/>
                <a:cs typeface="Inter Regular" pitchFamily="34" charset="-120"/>
              </a:rPr>
              <a:t>Events</a:t>
            </a:r>
            <a:endParaRPr lang="en-US" sz="1600" dirty="0"/>
          </a:p>
        </p:txBody>
      </p:sp>
      <p:pic>
        <p:nvPicPr>
          <p:cNvPr id="34" name="Image 15" descr=" "/>
          <p:cNvPicPr>
            <a:picLocks noChangeAspect="1"/>
          </p:cNvPicPr>
          <p:nvPr/>
        </p:nvPicPr>
        <p:blipFill>
          <a:blip r:embed="rId21">
            <a:extLst>
              <a:ext uri="{96DAC541-7B7A-43D3-8B79-37D633B846F1}">
                <asvg:svgBlip xmlns:asvg="http://schemas.microsoft.com/office/drawing/2016/SVG/main" r:embed="rId25"/>
              </a:ext>
            </a:extLst>
          </a:blip>
          <a:stretch>
            <a:fillRect/>
          </a:stretch>
        </p:blipFill>
        <p:spPr>
          <a:xfrm>
            <a:off x="14810051" y="4178300"/>
            <a:ext cx="1778222" cy="533400"/>
          </a:xfrm>
          <a:prstGeom prst="rect">
            <a:avLst/>
          </a:prstGeom>
        </p:spPr>
      </p:pic>
      <p:sp>
        <p:nvSpPr>
          <p:cNvPr id="35" name="Text 17"/>
          <p:cNvSpPr/>
          <p:nvPr/>
        </p:nvSpPr>
        <p:spPr>
          <a:xfrm>
            <a:off x="15191099" y="4292600"/>
            <a:ext cx="1071167" cy="372533"/>
          </a:xfrm>
          <a:prstGeom prst="rect">
            <a:avLst/>
          </a:prstGeom>
          <a:noFill/>
          <a:ln/>
        </p:spPr>
        <p:txBody>
          <a:bodyPr wrap="square" lIns="0" tIns="0" rIns="0" bIns="0" rtlCol="0" anchor="t"/>
          <a:lstStyle/>
          <a:p>
            <a:pPr marL="0" indent="0" algn="l">
              <a:lnSpc>
                <a:spcPts val="2400"/>
              </a:lnSpc>
              <a:buNone/>
            </a:pPr>
            <a:r>
              <a:rPr lang="en-US" sz="1600" dirty="0">
                <a:solidFill>
                  <a:srgbClr val="D1D1D1">
                    <a:alpha val="100000"/>
                  </a:srgbClr>
                </a:solidFill>
                <a:latin typeface="Inter Regular" pitchFamily="34" charset="0"/>
                <a:ea typeface="Inter Regular" pitchFamily="34" charset="-122"/>
                <a:cs typeface="Inter Regular" pitchFamily="34" charset="-120"/>
              </a:rPr>
              <a:t>Purchases</a:t>
            </a:r>
            <a:endParaRPr lang="en-US" sz="1600" dirty="0"/>
          </a:p>
        </p:txBody>
      </p:sp>
      <p:pic>
        <p:nvPicPr>
          <p:cNvPr id="36" name="Image 16" descr=" "/>
          <p:cNvPicPr>
            <a:picLocks noChangeAspect="1"/>
          </p:cNvPicPr>
          <p:nvPr/>
        </p:nvPicPr>
        <p:blipFill>
          <a:blip r:embed="rId21">
            <a:extLst>
              <a:ext uri="{96DAC541-7B7A-43D3-8B79-37D633B846F1}">
                <asvg:svgBlip xmlns:asvg="http://schemas.microsoft.com/office/drawing/2016/SVG/main" r:embed="rId26"/>
              </a:ext>
            </a:extLst>
          </a:blip>
          <a:stretch>
            <a:fillRect/>
          </a:stretch>
        </p:blipFill>
        <p:spPr>
          <a:xfrm>
            <a:off x="14810051" y="4864100"/>
            <a:ext cx="1778222" cy="533400"/>
          </a:xfrm>
          <a:prstGeom prst="rect">
            <a:avLst/>
          </a:prstGeom>
        </p:spPr>
      </p:pic>
      <p:sp>
        <p:nvSpPr>
          <p:cNvPr id="37" name="Text 18"/>
          <p:cNvSpPr/>
          <p:nvPr/>
        </p:nvSpPr>
        <p:spPr>
          <a:xfrm>
            <a:off x="15241905" y="4965700"/>
            <a:ext cx="982256" cy="372533"/>
          </a:xfrm>
          <a:prstGeom prst="rect">
            <a:avLst/>
          </a:prstGeom>
          <a:noFill/>
          <a:ln/>
        </p:spPr>
        <p:txBody>
          <a:bodyPr wrap="square" lIns="0" tIns="0" rIns="0" bIns="0" rtlCol="0" anchor="t"/>
          <a:lstStyle/>
          <a:p>
            <a:pPr marL="0" indent="0" algn="l">
              <a:lnSpc>
                <a:spcPts val="2400"/>
              </a:lnSpc>
              <a:buNone/>
            </a:pPr>
            <a:r>
              <a:rPr lang="en-US" sz="1600" dirty="0">
                <a:solidFill>
                  <a:srgbClr val="D1D1D1">
                    <a:alpha val="100000"/>
                  </a:srgbClr>
                </a:solidFill>
                <a:latin typeface="Inter Regular" pitchFamily="34" charset="0"/>
                <a:ea typeface="Inter Regular" pitchFamily="34" charset="-122"/>
                <a:cs typeface="Inter Regular" pitchFamily="34" charset="-120"/>
              </a:rPr>
              <a:t>Consents</a:t>
            </a:r>
            <a:endParaRPr lang="en-US" sz="1600" dirty="0"/>
          </a:p>
        </p:txBody>
      </p:sp>
      <p:pic>
        <p:nvPicPr>
          <p:cNvPr id="38" name="Image 17" descr=" "/>
          <p:cNvPicPr>
            <a:picLocks noChangeAspect="1"/>
          </p:cNvPicPr>
          <p:nvPr/>
        </p:nvPicPr>
        <p:blipFill>
          <a:blip r:embed="rId21">
            <a:extLst>
              <a:ext uri="{96DAC541-7B7A-43D3-8B79-37D633B846F1}">
                <asvg:svgBlip xmlns:asvg="http://schemas.microsoft.com/office/drawing/2016/SVG/main" r:embed="rId27"/>
              </a:ext>
            </a:extLst>
          </a:blip>
          <a:stretch>
            <a:fillRect/>
          </a:stretch>
        </p:blipFill>
        <p:spPr>
          <a:xfrm>
            <a:off x="14810051" y="5549900"/>
            <a:ext cx="1778222" cy="533400"/>
          </a:xfrm>
          <a:prstGeom prst="rect">
            <a:avLst/>
          </a:prstGeom>
        </p:spPr>
      </p:pic>
      <p:sp>
        <p:nvSpPr>
          <p:cNvPr id="39" name="Text 19"/>
          <p:cNvSpPr/>
          <p:nvPr/>
        </p:nvSpPr>
        <p:spPr>
          <a:xfrm>
            <a:off x="15127591" y="5664200"/>
            <a:ext cx="1223586" cy="372533"/>
          </a:xfrm>
          <a:prstGeom prst="rect">
            <a:avLst/>
          </a:prstGeom>
          <a:noFill/>
          <a:ln/>
        </p:spPr>
        <p:txBody>
          <a:bodyPr wrap="square" lIns="0" tIns="0" rIns="0" bIns="0" rtlCol="0" anchor="t"/>
          <a:lstStyle/>
          <a:p>
            <a:pPr marL="0" indent="0" algn="l">
              <a:lnSpc>
                <a:spcPts val="2400"/>
              </a:lnSpc>
              <a:buNone/>
            </a:pPr>
            <a:r>
              <a:rPr lang="en-US" sz="1600" dirty="0">
                <a:solidFill>
                  <a:srgbClr val="D1D1D1">
                    <a:alpha val="100000"/>
                  </a:srgbClr>
                </a:solidFill>
                <a:latin typeface="Inter Regular" pitchFamily="34" charset="0"/>
                <a:ea typeface="Inter Regular" pitchFamily="34" charset="-122"/>
                <a:cs typeface="Inter Regular" pitchFamily="34" charset="-120"/>
              </a:rPr>
              <a:t>Preferences</a:t>
            </a:r>
            <a:endParaRPr lang="en-US" sz="1600" dirty="0"/>
          </a:p>
        </p:txBody>
      </p:sp>
      <p:sp>
        <p:nvSpPr>
          <p:cNvPr id="40" name="Text 20"/>
          <p:cNvSpPr/>
          <p:nvPr/>
        </p:nvSpPr>
        <p:spPr>
          <a:xfrm>
            <a:off x="1524191" y="1524000"/>
            <a:ext cx="8069742"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FFFFFF">
                    <a:alpha val="100000"/>
                  </a:srgbClr>
                </a:solidFill>
                <a:latin typeface="Inter Semi Bold" pitchFamily="34" charset="0"/>
                <a:ea typeface="Inter Semi Bold" pitchFamily="34" charset="-122"/>
                <a:cs typeface="Inter Semi Bold" pitchFamily="34" charset="-120"/>
              </a:rPr>
              <a:t>Customer 360 Data </a:t>
            </a:r>
            <a:r>
              <a:rPr lang="en-US" sz="6400" kern="0" spc="-64" dirty="0">
                <a:solidFill>
                  <a:srgbClr val="FF5102">
                    <a:alpha val="100000"/>
                  </a:srgbClr>
                </a:solidFill>
                <a:latin typeface="Inter Semi Bold" pitchFamily="34" charset="0"/>
                <a:ea typeface="Inter Semi Bold" pitchFamily="34" charset="-122"/>
                <a:cs typeface="Inter Semi Bold" pitchFamily="34" charset="-120"/>
              </a:rPr>
              <a:t>Model</a:t>
            </a:r>
            <a:endParaRPr lang="en-US" sz="6400" dirty="0"/>
          </a:p>
        </p:txBody>
      </p:sp>
      <p:sp>
        <p:nvSpPr>
          <p:cNvPr id="41" name="Text 21"/>
          <p:cNvSpPr/>
          <p:nvPr/>
        </p:nvSpPr>
        <p:spPr>
          <a:xfrm>
            <a:off x="12384048" y="1524000"/>
            <a:ext cx="6926599" cy="12869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The Customer 360 Data Model consolidates customer information from multiple sources into a unified view, helping businesses understand customer behaviors and preferences. </a:t>
            </a:r>
            <a:r>
              <a:rPr lang="en-US" sz="1600" dirty="0">
                <a:solidFill>
                  <a:srgbClr val="888888">
                    <a:alpha val="100000"/>
                  </a:srgbClr>
                </a:solidFill>
                <a:latin typeface="Inter Regular" pitchFamily="34" charset="0"/>
                <a:ea typeface="Inter Regular" pitchFamily="34" charset="-122"/>
                <a:cs typeface="Inter Regular" pitchFamily="34" charset="-120"/>
              </a:rPr>
              <a:t>This leads to more personalized marketing strategies and enhanced customer service.</a:t>
            </a:r>
            <a:endParaRPr lang="en-US" sz="1600" dirty="0"/>
          </a:p>
        </p:txBody>
      </p:sp>
      <p:sp>
        <p:nvSpPr>
          <p:cNvPr id="42" name="Text 22"/>
          <p:cNvSpPr/>
          <p:nvPr/>
        </p:nvSpPr>
        <p:spPr>
          <a:xfrm>
            <a:off x="22261649" y="1524000"/>
            <a:ext cx="567338" cy="364067"/>
          </a:xfrm>
          <a:prstGeom prst="rect">
            <a:avLst/>
          </a:prstGeom>
          <a:noFill/>
          <a:ln/>
        </p:spPr>
        <p:txBody>
          <a:bodyPr wrap="square" lIns="0" tIns="0" rIns="0" bIns="0" rtlCol="0" anchor="t"/>
          <a:lstStyle/>
          <a:p>
            <a:pPr marL="0" indent="0" algn="ctr">
              <a:lnSpc>
                <a:spcPts val="2200"/>
              </a:lnSpc>
              <a:buNone/>
            </a:pPr>
            <a:r>
              <a:rPr lang="en-US" sz="2000" dirty="0">
                <a:solidFill>
                  <a:srgbClr val="FFFFFF">
                    <a:alpha val="100000"/>
                  </a:srgbClr>
                </a:solidFill>
                <a:latin typeface="Inter Regular" pitchFamily="34" charset="0"/>
                <a:ea typeface="Inter Regular" pitchFamily="34" charset="-122"/>
                <a:cs typeface="Inter Regular" pitchFamily="34" charset="-120"/>
              </a:rPr>
              <a:t>009</a:t>
            </a:r>
            <a:endParaRPr lang="en-US" sz="2000" dirty="0"/>
          </a:p>
        </p:txBody>
      </p:sp>
      <p:sp>
        <p:nvSpPr>
          <p:cNvPr id="43" name="Text 23"/>
          <p:cNvSpPr/>
          <p:nvPr/>
        </p:nvSpPr>
        <p:spPr>
          <a:xfrm>
            <a:off x="1854432" y="3810000"/>
            <a:ext cx="5249990"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Profile</a:t>
            </a:r>
            <a:endParaRPr lang="en-US" sz="1600" dirty="0"/>
          </a:p>
        </p:txBody>
      </p:sp>
      <p:sp>
        <p:nvSpPr>
          <p:cNvPr id="44" name="Text 24"/>
          <p:cNvSpPr/>
          <p:nvPr/>
        </p:nvSpPr>
        <p:spPr>
          <a:xfrm>
            <a:off x="1854432" y="4216400"/>
            <a:ext cx="5249990" cy="677333"/>
          </a:xfrm>
          <a:prstGeom prst="rect">
            <a:avLst/>
          </a:prstGeom>
          <a:noFill/>
          <a:ln/>
        </p:spPr>
        <p:txBody>
          <a:bodyPr wrap="square" lIns="0" tIns="0" rIns="0" bIns="0" rtlCol="0" anchor="t"/>
          <a:lstStyle/>
          <a:p>
            <a:pPr marL="0" indent="0" algn="l">
              <a:lnSpc>
                <a:spcPts val="2400"/>
              </a:lnSpc>
              <a:buNone/>
            </a:pPr>
            <a:r>
              <a:rPr lang="en-US" sz="1600" dirty="0">
                <a:solidFill>
                  <a:srgbClr val="B0B0B0">
                    <a:alpha val="100000"/>
                  </a:srgbClr>
                </a:solidFill>
                <a:latin typeface="Inter Regular" pitchFamily="34" charset="0"/>
                <a:ea typeface="Inter Regular" pitchFamily="34" charset="-122"/>
                <a:cs typeface="Inter Regular" pitchFamily="34" charset="-120"/>
              </a:rPr>
              <a:t>Understanding customer identity is crucial. It includes names, contact details, and insights into behaviors.</a:t>
            </a:r>
            <a:endParaRPr lang="en-US" sz="1600" dirty="0"/>
          </a:p>
        </p:txBody>
      </p:sp>
      <p:pic>
        <p:nvPicPr>
          <p:cNvPr id="45" name="Image 18" descr=" "/>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541128" y="3877729"/>
            <a:ext cx="169357" cy="169329"/>
          </a:xfrm>
          <a:prstGeom prst="rect">
            <a:avLst/>
          </a:prstGeom>
        </p:spPr>
      </p:pic>
      <p:pic>
        <p:nvPicPr>
          <p:cNvPr id="46" name="Image 19" descr=" "/>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524191" y="5035550"/>
            <a:ext cx="5398175" cy="12700"/>
          </a:xfrm>
          <a:prstGeom prst="rect">
            <a:avLst/>
          </a:prstGeom>
        </p:spPr>
      </p:pic>
      <p:pic>
        <p:nvPicPr>
          <p:cNvPr id="47" name="Image 20" descr=" "/>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541128" y="5325529"/>
            <a:ext cx="169357" cy="169329"/>
          </a:xfrm>
          <a:prstGeom prst="rect">
            <a:avLst/>
          </a:prstGeom>
        </p:spPr>
      </p:pic>
      <p:sp>
        <p:nvSpPr>
          <p:cNvPr id="48" name="Text 25"/>
          <p:cNvSpPr/>
          <p:nvPr/>
        </p:nvSpPr>
        <p:spPr>
          <a:xfrm>
            <a:off x="1854432" y="5257800"/>
            <a:ext cx="5275393"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Devices</a:t>
            </a:r>
            <a:endParaRPr lang="en-US" sz="1600" dirty="0"/>
          </a:p>
        </p:txBody>
      </p:sp>
      <p:sp>
        <p:nvSpPr>
          <p:cNvPr id="49" name="Text 26"/>
          <p:cNvSpPr/>
          <p:nvPr/>
        </p:nvSpPr>
        <p:spPr>
          <a:xfrm>
            <a:off x="1854432" y="5664200"/>
            <a:ext cx="5275393" cy="677333"/>
          </a:xfrm>
          <a:prstGeom prst="rect">
            <a:avLst/>
          </a:prstGeom>
          <a:noFill/>
          <a:ln/>
        </p:spPr>
        <p:txBody>
          <a:bodyPr wrap="square" lIns="0" tIns="0" rIns="0" bIns="0" rtlCol="0" anchor="t"/>
          <a:lstStyle/>
          <a:p>
            <a:pPr marL="0" indent="0" algn="l">
              <a:lnSpc>
                <a:spcPts val="2400"/>
              </a:lnSpc>
              <a:buNone/>
            </a:pPr>
            <a:r>
              <a:rPr lang="en-US" sz="1600" dirty="0">
                <a:solidFill>
                  <a:srgbClr val="B0B0B0">
                    <a:alpha val="100000"/>
                  </a:srgbClr>
                </a:solidFill>
                <a:latin typeface="Inter Regular" pitchFamily="34" charset="0"/>
                <a:ea typeface="Inter Regular" pitchFamily="34" charset="-122"/>
                <a:cs typeface="Inter Regular" pitchFamily="34" charset="-120"/>
              </a:rPr>
              <a:t>All devices linked to this profile, including smartphones and tablets, are here.</a:t>
            </a:r>
            <a:endParaRPr lang="en-US" sz="1600" dirty="0"/>
          </a:p>
        </p:txBody>
      </p:sp>
      <p:pic>
        <p:nvPicPr>
          <p:cNvPr id="50" name="Image 21" descr=" "/>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524191" y="6483350"/>
            <a:ext cx="5398175" cy="12700"/>
          </a:xfrm>
          <a:prstGeom prst="rect">
            <a:avLst/>
          </a:prstGeom>
        </p:spPr>
      </p:pic>
      <p:pic>
        <p:nvPicPr>
          <p:cNvPr id="51" name="Image 22" descr=" "/>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541128" y="6773329"/>
            <a:ext cx="169357" cy="169329"/>
          </a:xfrm>
          <a:prstGeom prst="rect">
            <a:avLst/>
          </a:prstGeom>
        </p:spPr>
      </p:pic>
      <p:sp>
        <p:nvSpPr>
          <p:cNvPr id="52" name="Text 27"/>
          <p:cNvSpPr/>
          <p:nvPr/>
        </p:nvSpPr>
        <p:spPr>
          <a:xfrm>
            <a:off x="1854432" y="6705600"/>
            <a:ext cx="5249990"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Events</a:t>
            </a:r>
            <a:endParaRPr lang="en-US" sz="1600" dirty="0"/>
          </a:p>
        </p:txBody>
      </p:sp>
      <p:sp>
        <p:nvSpPr>
          <p:cNvPr id="53" name="Text 28"/>
          <p:cNvSpPr/>
          <p:nvPr/>
        </p:nvSpPr>
        <p:spPr>
          <a:xfrm>
            <a:off x="1854432" y="7112000"/>
            <a:ext cx="5249990" cy="677333"/>
          </a:xfrm>
          <a:prstGeom prst="rect">
            <a:avLst/>
          </a:prstGeom>
          <a:noFill/>
          <a:ln/>
        </p:spPr>
        <p:txBody>
          <a:bodyPr wrap="square" lIns="0" tIns="0" rIns="0" bIns="0" rtlCol="0" anchor="t"/>
          <a:lstStyle/>
          <a:p>
            <a:pPr marL="0" indent="0" algn="l">
              <a:lnSpc>
                <a:spcPts val="2400"/>
              </a:lnSpc>
              <a:buNone/>
            </a:pPr>
            <a:r>
              <a:rPr lang="en-US" sz="1600" dirty="0">
                <a:solidFill>
                  <a:srgbClr val="B0B0B0">
                    <a:alpha val="100000"/>
                  </a:srgbClr>
                </a:solidFill>
                <a:latin typeface="Inter Regular" pitchFamily="34" charset="0"/>
                <a:ea typeface="Inter Regular" pitchFamily="34" charset="-122"/>
                <a:cs typeface="Inter Regular" pitchFamily="34" charset="-120"/>
              </a:rPr>
              <a:t>A comprehensive overview of past interactions and engagement activities.</a:t>
            </a:r>
            <a:endParaRPr lang="en-US" sz="1600" dirty="0"/>
          </a:p>
        </p:txBody>
      </p:sp>
      <p:pic>
        <p:nvPicPr>
          <p:cNvPr id="54" name="Image 23" descr=" "/>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524191" y="7931150"/>
            <a:ext cx="5398175" cy="12700"/>
          </a:xfrm>
          <a:prstGeom prst="rect">
            <a:avLst/>
          </a:prstGeom>
        </p:spPr>
      </p:pic>
      <p:pic>
        <p:nvPicPr>
          <p:cNvPr id="55" name="Image 24" descr=" "/>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541128" y="8221129"/>
            <a:ext cx="169357" cy="169329"/>
          </a:xfrm>
          <a:prstGeom prst="rect">
            <a:avLst/>
          </a:prstGeom>
        </p:spPr>
      </p:pic>
      <p:sp>
        <p:nvSpPr>
          <p:cNvPr id="56" name="Text 29"/>
          <p:cNvSpPr/>
          <p:nvPr/>
        </p:nvSpPr>
        <p:spPr>
          <a:xfrm>
            <a:off x="1854432" y="8153400"/>
            <a:ext cx="5275393"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Purchases</a:t>
            </a:r>
            <a:endParaRPr lang="en-US" sz="1600" dirty="0"/>
          </a:p>
        </p:txBody>
      </p:sp>
      <p:sp>
        <p:nvSpPr>
          <p:cNvPr id="57" name="Text 30"/>
          <p:cNvSpPr/>
          <p:nvPr/>
        </p:nvSpPr>
        <p:spPr>
          <a:xfrm>
            <a:off x="1854432" y="8559800"/>
            <a:ext cx="5275393" cy="677333"/>
          </a:xfrm>
          <a:prstGeom prst="rect">
            <a:avLst/>
          </a:prstGeom>
          <a:noFill/>
          <a:ln/>
        </p:spPr>
        <p:txBody>
          <a:bodyPr wrap="square" lIns="0" tIns="0" rIns="0" bIns="0" rtlCol="0" anchor="t"/>
          <a:lstStyle/>
          <a:p>
            <a:pPr marL="0" indent="0" algn="l">
              <a:lnSpc>
                <a:spcPts val="2400"/>
              </a:lnSpc>
              <a:buNone/>
            </a:pPr>
            <a:r>
              <a:rPr lang="en-US" sz="1600" dirty="0">
                <a:solidFill>
                  <a:srgbClr val="B0B0B0">
                    <a:alpha val="100000"/>
                  </a:srgbClr>
                </a:solidFill>
                <a:latin typeface="Inter Regular" pitchFamily="34" charset="0"/>
                <a:ea typeface="Inter Regular" pitchFamily="34" charset="-122"/>
                <a:cs typeface="Inter Regular" pitchFamily="34" charset="-120"/>
              </a:rPr>
              <a:t>Transaction history overview: purchases, payments, and financial activities.</a:t>
            </a:r>
            <a:endParaRPr lang="en-US" sz="1600" dirty="0"/>
          </a:p>
        </p:txBody>
      </p:sp>
      <p:pic>
        <p:nvPicPr>
          <p:cNvPr id="58" name="Image 25" descr=" "/>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524191" y="9378950"/>
            <a:ext cx="5398175" cy="12700"/>
          </a:xfrm>
          <a:prstGeom prst="rect">
            <a:avLst/>
          </a:prstGeom>
        </p:spPr>
      </p:pic>
      <p:pic>
        <p:nvPicPr>
          <p:cNvPr id="59" name="Image 26" descr=" "/>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541128" y="9668929"/>
            <a:ext cx="169357" cy="169329"/>
          </a:xfrm>
          <a:prstGeom prst="rect">
            <a:avLst/>
          </a:prstGeom>
        </p:spPr>
      </p:pic>
      <p:sp>
        <p:nvSpPr>
          <p:cNvPr id="60" name="Text 31"/>
          <p:cNvSpPr/>
          <p:nvPr/>
        </p:nvSpPr>
        <p:spPr>
          <a:xfrm>
            <a:off x="1854432" y="9601200"/>
            <a:ext cx="5275393"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Consents</a:t>
            </a:r>
            <a:endParaRPr lang="en-US" sz="1600" dirty="0"/>
          </a:p>
        </p:txBody>
      </p:sp>
      <p:sp>
        <p:nvSpPr>
          <p:cNvPr id="61" name="Text 32"/>
          <p:cNvSpPr/>
          <p:nvPr/>
        </p:nvSpPr>
        <p:spPr>
          <a:xfrm>
            <a:off x="1854432" y="10007600"/>
            <a:ext cx="5275393" cy="677333"/>
          </a:xfrm>
          <a:prstGeom prst="rect">
            <a:avLst/>
          </a:prstGeom>
          <a:noFill/>
          <a:ln/>
        </p:spPr>
        <p:txBody>
          <a:bodyPr wrap="square" lIns="0" tIns="0" rIns="0" bIns="0" rtlCol="0" anchor="t"/>
          <a:lstStyle/>
          <a:p>
            <a:pPr marL="0" indent="0" algn="l">
              <a:lnSpc>
                <a:spcPts val="2400"/>
              </a:lnSpc>
              <a:buNone/>
            </a:pPr>
            <a:r>
              <a:rPr lang="en-US" sz="1600" dirty="0">
                <a:solidFill>
                  <a:srgbClr val="B0B0B0">
                    <a:alpha val="100000"/>
                  </a:srgbClr>
                </a:solidFill>
                <a:latin typeface="Inter Regular" pitchFamily="34" charset="0"/>
                <a:ea typeface="Inter Regular" pitchFamily="34" charset="-122"/>
                <a:cs typeface="Inter Regular" pitchFamily="34" charset="-120"/>
              </a:rPr>
              <a:t>Understanding GDPR and CCPA consent is crucial for organizations handling personal data.</a:t>
            </a:r>
            <a:endParaRPr lang="en-US" sz="1600" dirty="0"/>
          </a:p>
        </p:txBody>
      </p:sp>
      <p:pic>
        <p:nvPicPr>
          <p:cNvPr id="62" name="Image 27" descr=" "/>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524191" y="10826750"/>
            <a:ext cx="5398175" cy="12700"/>
          </a:xfrm>
          <a:prstGeom prst="rect">
            <a:avLst/>
          </a:prstGeom>
        </p:spPr>
      </p:pic>
      <p:pic>
        <p:nvPicPr>
          <p:cNvPr id="63" name="Image 28" descr=" "/>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541128" y="11116729"/>
            <a:ext cx="169357" cy="169329"/>
          </a:xfrm>
          <a:prstGeom prst="rect">
            <a:avLst/>
          </a:prstGeom>
        </p:spPr>
      </p:pic>
      <p:sp>
        <p:nvSpPr>
          <p:cNvPr id="64" name="Text 33"/>
          <p:cNvSpPr/>
          <p:nvPr/>
        </p:nvSpPr>
        <p:spPr>
          <a:xfrm>
            <a:off x="1854432" y="11049000"/>
            <a:ext cx="5275393"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Preferences</a:t>
            </a:r>
            <a:endParaRPr lang="en-US" sz="1600" dirty="0"/>
          </a:p>
        </p:txBody>
      </p:sp>
      <p:sp>
        <p:nvSpPr>
          <p:cNvPr id="65" name="Text 34"/>
          <p:cNvSpPr/>
          <p:nvPr/>
        </p:nvSpPr>
        <p:spPr>
          <a:xfrm>
            <a:off x="1854432" y="11455400"/>
            <a:ext cx="5275393" cy="677333"/>
          </a:xfrm>
          <a:prstGeom prst="rect">
            <a:avLst/>
          </a:prstGeom>
          <a:noFill/>
          <a:ln/>
        </p:spPr>
        <p:txBody>
          <a:bodyPr wrap="square" lIns="0" tIns="0" rIns="0" bIns="0" rtlCol="0" anchor="t"/>
          <a:lstStyle/>
          <a:p>
            <a:pPr marL="0" indent="0" algn="l">
              <a:lnSpc>
                <a:spcPts val="2400"/>
              </a:lnSpc>
              <a:buNone/>
            </a:pPr>
            <a:r>
              <a:rPr lang="en-US" sz="1600" dirty="0">
                <a:solidFill>
                  <a:srgbClr val="B0B0B0">
                    <a:alpha val="100000"/>
                  </a:srgbClr>
                </a:solidFill>
                <a:latin typeface="Inter Regular" pitchFamily="34" charset="0"/>
                <a:ea typeface="Inter Regular" pitchFamily="34" charset="-122"/>
                <a:cs typeface="Inter Regular" pitchFamily="34" charset="-120"/>
              </a:rPr>
              <a:t>Understanding customer preferences and managing opt-ins is crucial for tailoring services.</a:t>
            </a:r>
            <a:endParaRPr lang="en-US" sz="1600" dirty="0"/>
          </a:p>
        </p:txBody>
      </p:sp>
      <p:pic>
        <p:nvPicPr>
          <p:cNvPr id="66" name="Image 29" descr=" "/>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524191" y="12274550"/>
            <a:ext cx="5398175" cy="12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86FF4DA1-6DE4-4BC0-8D9D-B09312D1A63E}"/>
              </a:ext>
            </a:extLst>
          </p:cNvPr>
          <p:cNvGrpSpPr/>
          <p:nvPr/>
        </p:nvGrpSpPr>
        <p:grpSpPr>
          <a:xfrm>
            <a:off x="20024053" y="4864100"/>
            <a:ext cx="2826102" cy="8851900"/>
            <a:chOff x="20024053" y="4864100"/>
            <a:chExt cx="2826102" cy="8851900"/>
          </a:xfrm>
        </p:grpSpPr>
        <p:pic>
          <p:nvPicPr>
            <p:cNvPr id="3"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030403" y="4864100"/>
              <a:ext cx="2819752" cy="8851900"/>
            </a:xfrm>
            <a:prstGeom prst="rect">
              <a:avLst/>
            </a:prstGeom>
          </p:spPr>
        </p:pic>
        <p:pic>
          <p:nvPicPr>
            <p:cNvPr id="8" name="Image 6"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024053" y="4864100"/>
              <a:ext cx="12702" cy="8851900"/>
            </a:xfrm>
            <a:prstGeom prst="rect">
              <a:avLst/>
            </a:prstGeom>
          </p:spPr>
        </p:pic>
      </p:grpSp>
      <p:grpSp>
        <p:nvGrpSpPr>
          <p:cNvPr id="44" name="Group 43">
            <a:extLst>
              <a:ext uri="{FF2B5EF4-FFF2-40B4-BE49-F238E27FC236}">
                <a16:creationId xmlns:a16="http://schemas.microsoft.com/office/drawing/2014/main" id="{0A6FA6B2-762E-4EF0-ADF1-2877B9B13AD2}"/>
              </a:ext>
            </a:extLst>
          </p:cNvPr>
          <p:cNvGrpSpPr/>
          <p:nvPr/>
        </p:nvGrpSpPr>
        <p:grpSpPr>
          <a:xfrm>
            <a:off x="17153494" y="6858000"/>
            <a:ext cx="2876910" cy="6858000"/>
            <a:chOff x="17153494" y="6858000"/>
            <a:chExt cx="2876910" cy="6858000"/>
          </a:xfrm>
        </p:grpSpPr>
        <p:pic>
          <p:nvPicPr>
            <p:cNvPr id="5"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159845" y="6858000"/>
              <a:ext cx="2870559" cy="6858000"/>
            </a:xfrm>
            <a:prstGeom prst="rect">
              <a:avLst/>
            </a:prstGeom>
          </p:spPr>
        </p:pic>
        <p:pic>
          <p:nvPicPr>
            <p:cNvPr id="7" name="Image 5"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153494" y="6858000"/>
              <a:ext cx="12702" cy="6858000"/>
            </a:xfrm>
            <a:prstGeom prst="rect">
              <a:avLst/>
            </a:prstGeom>
          </p:spPr>
        </p:pic>
      </p:grpSp>
      <p:grpSp>
        <p:nvGrpSpPr>
          <p:cNvPr id="43" name="Group 42">
            <a:extLst>
              <a:ext uri="{FF2B5EF4-FFF2-40B4-BE49-F238E27FC236}">
                <a16:creationId xmlns:a16="http://schemas.microsoft.com/office/drawing/2014/main" id="{195C8173-2754-4123-9597-27E29D5C94C4}"/>
              </a:ext>
            </a:extLst>
          </p:cNvPr>
          <p:cNvGrpSpPr/>
          <p:nvPr/>
        </p:nvGrpSpPr>
        <p:grpSpPr>
          <a:xfrm>
            <a:off x="14333741" y="8813800"/>
            <a:ext cx="2826103" cy="4902200"/>
            <a:chOff x="14333741" y="8813800"/>
            <a:chExt cx="2826103" cy="4902200"/>
          </a:xfrm>
        </p:grpSpPr>
        <p:pic>
          <p:nvPicPr>
            <p:cNvPr id="4" name="Image 2"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40092" y="8813800"/>
              <a:ext cx="2819752" cy="4902200"/>
            </a:xfrm>
            <a:prstGeom prst="rect">
              <a:avLst/>
            </a:prstGeom>
          </p:spPr>
        </p:pic>
        <p:pic>
          <p:nvPicPr>
            <p:cNvPr id="37" name="Image 12"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333741" y="8813800"/>
              <a:ext cx="12702" cy="4902200"/>
            </a:xfrm>
            <a:prstGeom prst="rect">
              <a:avLst/>
            </a:prstGeom>
          </p:spPr>
        </p:pic>
      </p:grpSp>
      <p:pic>
        <p:nvPicPr>
          <p:cNvPr id="6" name="Image 4"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333741" y="8813800"/>
            <a:ext cx="12702" cy="4902200"/>
          </a:xfrm>
          <a:prstGeom prst="rect">
            <a:avLst/>
          </a:prstGeom>
        </p:spPr>
      </p:pic>
      <p:sp>
        <p:nvSpPr>
          <p:cNvPr id="9" name="Shape 0"/>
          <p:cNvSpPr/>
          <p:nvPr/>
        </p:nvSpPr>
        <p:spPr>
          <a:xfrm>
            <a:off x="14568721" y="9042400"/>
            <a:ext cx="1308264" cy="533400"/>
          </a:xfrm>
          <a:prstGeom prst="roundRect">
            <a:avLst>
              <a:gd name="adj" fmla="val 96000"/>
            </a:avLst>
          </a:prstGeom>
          <a:solidFill>
            <a:srgbClr val="FF8B32">
              <a:alpha val="100000"/>
            </a:srgbClr>
          </a:solidFill>
          <a:ln w="12700">
            <a:solidFill>
              <a:srgbClr val="FF5102"/>
            </a:solidFill>
            <a:prstDash val="solid"/>
          </a:ln>
        </p:spPr>
      </p:sp>
      <p:sp>
        <p:nvSpPr>
          <p:cNvPr id="10" name="Text 1"/>
          <p:cNvSpPr/>
          <p:nvPr/>
        </p:nvSpPr>
        <p:spPr>
          <a:xfrm>
            <a:off x="14886261" y="9118600"/>
            <a:ext cx="757861" cy="465667"/>
          </a:xfrm>
          <a:prstGeom prst="rect">
            <a:avLst/>
          </a:prstGeom>
          <a:noFill/>
          <a:ln/>
        </p:spPr>
        <p:txBody>
          <a:bodyPr wrap="square" lIns="0" tIns="0" rIns="0" bIns="0" rtlCol="0" anchor="t"/>
          <a:lstStyle/>
          <a:p>
            <a:pPr marL="0" indent="0" algn="l">
              <a:lnSpc>
                <a:spcPts val="3000"/>
              </a:lnSpc>
              <a:buNone/>
            </a:pPr>
            <a:r>
              <a:rPr lang="en-US" sz="2000" dirty="0">
                <a:solidFill>
                  <a:srgbClr val="FFFFFF">
                    <a:alpha val="100000"/>
                  </a:srgbClr>
                </a:solidFill>
                <a:latin typeface="Inter Regular" pitchFamily="34" charset="0"/>
                <a:ea typeface="Inter Regular" pitchFamily="34" charset="-122"/>
                <a:cs typeface="Inter Regular" pitchFamily="34" charset="-120"/>
              </a:rPr>
              <a:t>APAC</a:t>
            </a:r>
            <a:endParaRPr lang="en-US" sz="2000" dirty="0"/>
          </a:p>
        </p:txBody>
      </p:sp>
      <p:sp>
        <p:nvSpPr>
          <p:cNvPr id="11" name="Text 2"/>
          <p:cNvSpPr/>
          <p:nvPr/>
        </p:nvSpPr>
        <p:spPr>
          <a:xfrm>
            <a:off x="14568721" y="9829800"/>
            <a:ext cx="2959470" cy="1752600"/>
          </a:xfrm>
          <a:prstGeom prst="rect">
            <a:avLst/>
          </a:prstGeom>
          <a:noFill/>
          <a:ln/>
        </p:spPr>
        <p:txBody>
          <a:bodyPr wrap="square" lIns="0" tIns="0" rIns="0" bIns="0" rtlCol="0" anchor="t"/>
          <a:lstStyle/>
          <a:p>
            <a:pPr marL="0" indent="0" algn="l">
              <a:lnSpc>
                <a:spcPts val="10560"/>
              </a:lnSpc>
              <a:buNone/>
            </a:pPr>
            <a:r>
              <a:rPr lang="en-US" sz="9600" kern="0" spc="-96" dirty="0">
                <a:solidFill>
                  <a:srgbClr val="82260C">
                    <a:alpha val="100000"/>
                  </a:srgbClr>
                </a:solidFill>
                <a:latin typeface="Inter Bold" pitchFamily="34" charset="0"/>
                <a:ea typeface="Inter Bold" pitchFamily="34" charset="-122"/>
                <a:cs typeface="Inter Bold" pitchFamily="34" charset="-120"/>
              </a:rPr>
              <a:t>79%</a:t>
            </a:r>
            <a:endParaRPr lang="en-US" sz="9600" dirty="0"/>
          </a:p>
        </p:txBody>
      </p:sp>
      <p:sp>
        <p:nvSpPr>
          <p:cNvPr id="12" name="Shape 3"/>
          <p:cNvSpPr/>
          <p:nvPr/>
        </p:nvSpPr>
        <p:spPr>
          <a:xfrm>
            <a:off x="17388473" y="7086600"/>
            <a:ext cx="1003425" cy="533400"/>
          </a:xfrm>
          <a:prstGeom prst="roundRect">
            <a:avLst>
              <a:gd name="adj" fmla="val 96000"/>
            </a:avLst>
          </a:prstGeom>
          <a:solidFill>
            <a:srgbClr val="F6F6F6">
              <a:alpha val="100000"/>
            </a:srgbClr>
          </a:solidFill>
          <a:ln w="12700">
            <a:solidFill>
              <a:srgbClr val="D1D1D1"/>
            </a:solidFill>
            <a:prstDash val="solid"/>
          </a:ln>
        </p:spPr>
      </p:sp>
      <p:sp>
        <p:nvSpPr>
          <p:cNvPr id="13" name="Text 4"/>
          <p:cNvSpPr/>
          <p:nvPr/>
        </p:nvSpPr>
        <p:spPr>
          <a:xfrm>
            <a:off x="17706013" y="7162800"/>
            <a:ext cx="440322" cy="465667"/>
          </a:xfrm>
          <a:prstGeom prst="rect">
            <a:avLst/>
          </a:prstGeom>
          <a:noFill/>
          <a:ln/>
        </p:spPr>
        <p:txBody>
          <a:bodyPr wrap="square" lIns="0" tIns="0" rIns="0" bIns="0" rtlCol="0" anchor="t"/>
          <a:lstStyle/>
          <a:p>
            <a:pPr marL="0" indent="0" algn="l">
              <a:lnSpc>
                <a:spcPts val="3000"/>
              </a:lnSpc>
              <a:buNone/>
            </a:pPr>
            <a:r>
              <a:rPr lang="en-US" sz="2000" dirty="0">
                <a:solidFill>
                  <a:srgbClr val="454545">
                    <a:alpha val="100000"/>
                  </a:srgbClr>
                </a:solidFill>
                <a:latin typeface="Inter Regular" pitchFamily="34" charset="0"/>
                <a:ea typeface="Inter Regular" pitchFamily="34" charset="-122"/>
                <a:cs typeface="Inter Regular" pitchFamily="34" charset="-120"/>
              </a:rPr>
              <a:t>US</a:t>
            </a:r>
            <a:endParaRPr lang="en-US" sz="2000" dirty="0"/>
          </a:p>
        </p:txBody>
      </p:sp>
      <p:sp>
        <p:nvSpPr>
          <p:cNvPr id="47" name="Text 2">
            <a:extLst>
              <a:ext uri="{FF2B5EF4-FFF2-40B4-BE49-F238E27FC236}">
                <a16:creationId xmlns:a16="http://schemas.microsoft.com/office/drawing/2014/main" id="{97B9106A-419F-4A6D-A086-936FF86FAFC4}"/>
              </a:ext>
            </a:extLst>
          </p:cNvPr>
          <p:cNvSpPr/>
          <p:nvPr/>
        </p:nvSpPr>
        <p:spPr>
          <a:xfrm>
            <a:off x="20275134" y="5964767"/>
            <a:ext cx="3099187" cy="1752600"/>
          </a:xfrm>
          <a:prstGeom prst="rect">
            <a:avLst/>
          </a:prstGeom>
          <a:noFill/>
          <a:ln/>
        </p:spPr>
        <p:txBody>
          <a:bodyPr wrap="square" lIns="0" tIns="0" rIns="0" bIns="0" rtlCol="0" anchor="t"/>
          <a:lstStyle/>
          <a:p>
            <a:pPr marL="0" indent="0" algn="l">
              <a:lnSpc>
                <a:spcPts val="10560"/>
              </a:lnSpc>
              <a:buNone/>
            </a:pPr>
            <a:r>
              <a:rPr lang="en-US" sz="9600" kern="0" spc="-96" dirty="0">
                <a:gradFill>
                  <a:gsLst>
                    <a:gs pos="52000">
                      <a:srgbClr val="FFB28F"/>
                    </a:gs>
                    <a:gs pos="0">
                      <a:srgbClr val="FF5102"/>
                    </a:gs>
                    <a:gs pos="100000">
                      <a:schemeClr val="bg1">
                        <a:alpha val="7000"/>
                      </a:schemeClr>
                    </a:gs>
                  </a:gsLst>
                  <a:lin ang="5400000" scaled="1"/>
                </a:gradFill>
                <a:latin typeface="Inter Bold" pitchFamily="34" charset="0"/>
                <a:ea typeface="Inter Bold" pitchFamily="34" charset="-122"/>
                <a:cs typeface="Inter Bold" pitchFamily="34" charset="-120"/>
              </a:rPr>
              <a:t>92%</a:t>
            </a:r>
            <a:endParaRPr lang="en-US" sz="9600" dirty="0">
              <a:gradFill>
                <a:gsLst>
                  <a:gs pos="52000">
                    <a:srgbClr val="FFB28F"/>
                  </a:gs>
                  <a:gs pos="0">
                    <a:srgbClr val="FF5102"/>
                  </a:gs>
                  <a:gs pos="100000">
                    <a:schemeClr val="bg1">
                      <a:alpha val="7000"/>
                    </a:schemeClr>
                  </a:gs>
                </a:gsLst>
                <a:lin ang="5400000" scaled="1"/>
              </a:gradFill>
            </a:endParaRPr>
          </a:p>
        </p:txBody>
      </p:sp>
      <p:sp>
        <p:nvSpPr>
          <p:cNvPr id="46" name="Text 2">
            <a:extLst>
              <a:ext uri="{FF2B5EF4-FFF2-40B4-BE49-F238E27FC236}">
                <a16:creationId xmlns:a16="http://schemas.microsoft.com/office/drawing/2014/main" id="{2664A56C-4CEC-45B4-8A35-BFC2CA2CFE08}"/>
              </a:ext>
            </a:extLst>
          </p:cNvPr>
          <p:cNvSpPr/>
          <p:nvPr/>
        </p:nvSpPr>
        <p:spPr>
          <a:xfrm>
            <a:off x="17348251" y="7950200"/>
            <a:ext cx="3099187" cy="1752600"/>
          </a:xfrm>
          <a:prstGeom prst="rect">
            <a:avLst/>
          </a:prstGeom>
          <a:noFill/>
          <a:ln/>
        </p:spPr>
        <p:txBody>
          <a:bodyPr wrap="square" lIns="0" tIns="0" rIns="0" bIns="0" rtlCol="0" anchor="t"/>
          <a:lstStyle/>
          <a:p>
            <a:pPr marL="0" indent="0" algn="l">
              <a:lnSpc>
                <a:spcPts val="10560"/>
              </a:lnSpc>
              <a:buNone/>
            </a:pPr>
            <a:r>
              <a:rPr lang="en-US" sz="9600" kern="0" spc="-96" dirty="0">
                <a:gradFill>
                  <a:gsLst>
                    <a:gs pos="52000">
                      <a:srgbClr val="FFB28F"/>
                    </a:gs>
                    <a:gs pos="0">
                      <a:srgbClr val="FF5102"/>
                    </a:gs>
                    <a:gs pos="100000">
                      <a:schemeClr val="bg1">
                        <a:alpha val="7000"/>
                      </a:schemeClr>
                    </a:gs>
                  </a:gsLst>
                  <a:lin ang="5400000" scaled="1"/>
                </a:gradFill>
                <a:latin typeface="Inter Bold" pitchFamily="34" charset="0"/>
                <a:ea typeface="Inter Bold" pitchFamily="34" charset="-122"/>
                <a:cs typeface="Inter Bold" pitchFamily="34" charset="-120"/>
              </a:rPr>
              <a:t>86%</a:t>
            </a:r>
            <a:endParaRPr lang="en-US" sz="9600" dirty="0">
              <a:gradFill>
                <a:gsLst>
                  <a:gs pos="52000">
                    <a:srgbClr val="FFB28F"/>
                  </a:gs>
                  <a:gs pos="0">
                    <a:srgbClr val="FF5102"/>
                  </a:gs>
                  <a:gs pos="100000">
                    <a:schemeClr val="bg1">
                      <a:alpha val="7000"/>
                    </a:schemeClr>
                  </a:gs>
                </a:gsLst>
                <a:lin ang="5400000" scaled="1"/>
              </a:gradFill>
            </a:endParaRPr>
          </a:p>
        </p:txBody>
      </p:sp>
      <p:sp>
        <p:nvSpPr>
          <p:cNvPr id="15" name="Shape 5"/>
          <p:cNvSpPr/>
          <p:nvPr/>
        </p:nvSpPr>
        <p:spPr>
          <a:xfrm>
            <a:off x="20259032" y="5092700"/>
            <a:ext cx="965321" cy="533400"/>
          </a:xfrm>
          <a:prstGeom prst="roundRect">
            <a:avLst>
              <a:gd name="adj" fmla="val 96000"/>
            </a:avLst>
          </a:prstGeom>
          <a:solidFill>
            <a:srgbClr val="F6F6F6">
              <a:alpha val="100000"/>
            </a:srgbClr>
          </a:solidFill>
          <a:ln w="12700">
            <a:solidFill>
              <a:srgbClr val="D1D1D1"/>
            </a:solidFill>
            <a:prstDash val="solid"/>
          </a:ln>
        </p:spPr>
      </p:sp>
      <p:sp>
        <p:nvSpPr>
          <p:cNvPr id="16" name="Text 6"/>
          <p:cNvSpPr/>
          <p:nvPr/>
        </p:nvSpPr>
        <p:spPr>
          <a:xfrm>
            <a:off x="20576572" y="5168900"/>
            <a:ext cx="427620" cy="465667"/>
          </a:xfrm>
          <a:prstGeom prst="rect">
            <a:avLst/>
          </a:prstGeom>
          <a:noFill/>
          <a:ln/>
        </p:spPr>
        <p:txBody>
          <a:bodyPr wrap="square" lIns="0" tIns="0" rIns="0" bIns="0" rtlCol="0" anchor="t"/>
          <a:lstStyle/>
          <a:p>
            <a:pPr marL="0" indent="0" algn="l">
              <a:lnSpc>
                <a:spcPts val="3000"/>
              </a:lnSpc>
              <a:buNone/>
            </a:pPr>
            <a:r>
              <a:rPr lang="en-US" sz="2000" dirty="0">
                <a:solidFill>
                  <a:srgbClr val="454545">
                    <a:alpha val="100000"/>
                  </a:srgbClr>
                </a:solidFill>
                <a:latin typeface="Inter Regular" pitchFamily="34" charset="0"/>
                <a:ea typeface="Inter Regular" pitchFamily="34" charset="-122"/>
                <a:cs typeface="Inter Regular" pitchFamily="34" charset="-120"/>
              </a:rPr>
              <a:t>EU</a:t>
            </a:r>
            <a:endParaRPr lang="en-US" sz="2000" dirty="0"/>
          </a:p>
        </p:txBody>
      </p:sp>
      <p:sp>
        <p:nvSpPr>
          <p:cNvPr id="18" name="Shape 7"/>
          <p:cNvSpPr/>
          <p:nvPr/>
        </p:nvSpPr>
        <p:spPr>
          <a:xfrm>
            <a:off x="1524191" y="5956300"/>
            <a:ext cx="11583848" cy="4203700"/>
          </a:xfrm>
          <a:prstGeom prst="rect">
            <a:avLst/>
          </a:prstGeom>
          <a:noFill/>
          <a:ln/>
        </p:spPr>
      </p:sp>
      <p:pic>
        <p:nvPicPr>
          <p:cNvPr id="19" name="Image 9"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808551" y="5988050"/>
            <a:ext cx="3086486" cy="996950"/>
          </a:xfrm>
          <a:prstGeom prst="rect">
            <a:avLst/>
          </a:prstGeom>
        </p:spPr>
      </p:pic>
      <p:sp>
        <p:nvSpPr>
          <p:cNvPr id="20" name="Shape 8"/>
          <p:cNvSpPr/>
          <p:nvPr/>
        </p:nvSpPr>
        <p:spPr>
          <a:xfrm>
            <a:off x="10313689" y="5956300"/>
            <a:ext cx="76210" cy="76200"/>
          </a:xfrm>
          <a:prstGeom prst="ellipse">
            <a:avLst/>
          </a:prstGeom>
          <a:solidFill>
            <a:srgbClr val="FFFFFF">
              <a:alpha val="100000"/>
            </a:srgbClr>
          </a:solidFill>
          <a:ln w="12700">
            <a:solidFill>
              <a:srgbClr val="FF5102"/>
            </a:solidFill>
            <a:prstDash val="solid"/>
          </a:ln>
        </p:spPr>
      </p:sp>
      <p:pic>
        <p:nvPicPr>
          <p:cNvPr id="21" name="Image 10" descr=" "/>
          <p:cNvPicPr>
            <a:picLocks noChangeAspect="1"/>
          </p:cNvPicPr>
          <p:nvPr/>
        </p:nvPicPr>
        <p:blipFill>
          <a:blip r:embed="rId15">
            <a:extLst>
              <a:ext uri="{96DAC541-7B7A-43D3-8B79-37D633B846F1}">
                <asvg:svgBlip xmlns:asvg="http://schemas.microsoft.com/office/drawing/2016/SVG/main" r:embed="rId17"/>
              </a:ext>
            </a:extLst>
          </a:blip>
          <a:stretch>
            <a:fillRect/>
          </a:stretch>
        </p:blipFill>
        <p:spPr>
          <a:xfrm>
            <a:off x="5734767" y="5988050"/>
            <a:ext cx="3086486" cy="996950"/>
          </a:xfrm>
          <a:prstGeom prst="rect">
            <a:avLst/>
          </a:prstGeom>
        </p:spPr>
      </p:pic>
      <p:sp>
        <p:nvSpPr>
          <p:cNvPr id="22" name="Shape 9"/>
          <p:cNvSpPr/>
          <p:nvPr/>
        </p:nvSpPr>
        <p:spPr>
          <a:xfrm>
            <a:off x="7239905" y="5956300"/>
            <a:ext cx="76210" cy="76200"/>
          </a:xfrm>
          <a:prstGeom prst="ellipse">
            <a:avLst/>
          </a:prstGeom>
          <a:solidFill>
            <a:srgbClr val="FFFFFF">
              <a:alpha val="100000"/>
            </a:srgbClr>
          </a:solidFill>
          <a:ln w="12700">
            <a:solidFill>
              <a:srgbClr val="FF5102"/>
            </a:solidFill>
            <a:prstDash val="solid"/>
          </a:ln>
        </p:spPr>
      </p:sp>
      <p:pic>
        <p:nvPicPr>
          <p:cNvPr id="23" name="Image 11" descr=" "/>
          <p:cNvPicPr>
            <a:picLocks noChangeAspect="1"/>
          </p:cNvPicPr>
          <p:nvPr/>
        </p:nvPicPr>
        <p:blipFill>
          <a:blip r:embed="rId15">
            <a:extLst>
              <a:ext uri="{96DAC541-7B7A-43D3-8B79-37D633B846F1}">
                <asvg:svgBlip xmlns:asvg="http://schemas.microsoft.com/office/drawing/2016/SVG/main" r:embed="rId18"/>
              </a:ext>
            </a:extLst>
          </a:blip>
          <a:stretch>
            <a:fillRect/>
          </a:stretch>
        </p:blipFill>
        <p:spPr>
          <a:xfrm>
            <a:off x="2660983" y="5988050"/>
            <a:ext cx="3086486" cy="996950"/>
          </a:xfrm>
          <a:prstGeom prst="rect">
            <a:avLst/>
          </a:prstGeom>
        </p:spPr>
      </p:pic>
      <p:sp>
        <p:nvSpPr>
          <p:cNvPr id="24" name="Shape 10"/>
          <p:cNvSpPr/>
          <p:nvPr/>
        </p:nvSpPr>
        <p:spPr>
          <a:xfrm>
            <a:off x="4166121" y="5956300"/>
            <a:ext cx="76210" cy="76200"/>
          </a:xfrm>
          <a:prstGeom prst="ellipse">
            <a:avLst/>
          </a:prstGeom>
          <a:solidFill>
            <a:srgbClr val="FFFFFF">
              <a:alpha val="100000"/>
            </a:srgbClr>
          </a:solidFill>
          <a:ln w="12700">
            <a:solidFill>
              <a:srgbClr val="FF5102"/>
            </a:solidFill>
            <a:prstDash val="solid"/>
          </a:ln>
        </p:spPr>
      </p:sp>
      <p:sp>
        <p:nvSpPr>
          <p:cNvPr id="25" name="Shape 11"/>
          <p:cNvSpPr/>
          <p:nvPr/>
        </p:nvSpPr>
        <p:spPr>
          <a:xfrm>
            <a:off x="1524191" y="6718300"/>
            <a:ext cx="2451406" cy="2451100"/>
          </a:xfrm>
          <a:prstGeom prst="ellipse">
            <a:avLst/>
          </a:prstGeom>
          <a:solidFill>
            <a:srgbClr val="FF5102">
              <a:alpha val="100000"/>
            </a:srgbClr>
          </a:solidFill>
          <a:ln/>
        </p:spPr>
      </p:sp>
      <p:sp>
        <p:nvSpPr>
          <p:cNvPr id="26" name="Text 12"/>
          <p:cNvSpPr/>
          <p:nvPr/>
        </p:nvSpPr>
        <p:spPr>
          <a:xfrm>
            <a:off x="2362495" y="7835900"/>
            <a:ext cx="842539" cy="296333"/>
          </a:xfrm>
          <a:prstGeom prst="rect">
            <a:avLst/>
          </a:prstGeom>
          <a:noFill/>
          <a:ln/>
        </p:spPr>
        <p:txBody>
          <a:bodyPr wrap="square" lIns="0" tIns="0" rIns="0" bIns="0" rtlCol="0" anchor="t"/>
          <a:lstStyle/>
          <a:p>
            <a:pPr marL="0" indent="0" algn="l">
              <a:lnSpc>
                <a:spcPts val="176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Capture</a:t>
            </a:r>
            <a:endParaRPr lang="en-US" sz="1600" dirty="0"/>
          </a:p>
        </p:txBody>
      </p:sp>
      <p:sp>
        <p:nvSpPr>
          <p:cNvPr id="27" name="Shape 13"/>
          <p:cNvSpPr/>
          <p:nvPr/>
        </p:nvSpPr>
        <p:spPr>
          <a:xfrm>
            <a:off x="4509064" y="6718300"/>
            <a:ext cx="2451406" cy="2451100"/>
          </a:xfrm>
          <a:prstGeom prst="ellipse">
            <a:avLst/>
          </a:prstGeom>
          <a:solidFill>
            <a:srgbClr val="FF6A0A">
              <a:alpha val="100000"/>
            </a:srgbClr>
          </a:solidFill>
          <a:ln/>
        </p:spPr>
      </p:sp>
      <p:sp>
        <p:nvSpPr>
          <p:cNvPr id="28" name="Text 14"/>
          <p:cNvSpPr/>
          <p:nvPr/>
        </p:nvSpPr>
        <p:spPr>
          <a:xfrm>
            <a:off x="5474384" y="7835900"/>
            <a:ext cx="588507" cy="296333"/>
          </a:xfrm>
          <a:prstGeom prst="rect">
            <a:avLst/>
          </a:prstGeom>
          <a:noFill/>
          <a:ln/>
        </p:spPr>
        <p:txBody>
          <a:bodyPr wrap="square" lIns="0" tIns="0" rIns="0" bIns="0" rtlCol="0" anchor="t"/>
          <a:lstStyle/>
          <a:p>
            <a:pPr marL="0" indent="0" algn="l">
              <a:lnSpc>
                <a:spcPts val="176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Store</a:t>
            </a:r>
            <a:endParaRPr lang="en-US" sz="1600" dirty="0"/>
          </a:p>
        </p:txBody>
      </p:sp>
      <p:sp>
        <p:nvSpPr>
          <p:cNvPr id="29" name="Shape 15"/>
          <p:cNvSpPr/>
          <p:nvPr/>
        </p:nvSpPr>
        <p:spPr>
          <a:xfrm>
            <a:off x="7582848" y="6718300"/>
            <a:ext cx="2451406" cy="2451100"/>
          </a:xfrm>
          <a:prstGeom prst="ellipse">
            <a:avLst/>
          </a:prstGeom>
          <a:solidFill>
            <a:srgbClr val="FF8B32">
              <a:alpha val="100000"/>
            </a:srgbClr>
          </a:solidFill>
          <a:ln/>
        </p:spPr>
      </p:sp>
      <p:sp>
        <p:nvSpPr>
          <p:cNvPr id="30" name="Text 16"/>
          <p:cNvSpPr/>
          <p:nvPr/>
        </p:nvSpPr>
        <p:spPr>
          <a:xfrm>
            <a:off x="8446556" y="7835900"/>
            <a:ext cx="804434" cy="296333"/>
          </a:xfrm>
          <a:prstGeom prst="rect">
            <a:avLst/>
          </a:prstGeom>
          <a:noFill/>
          <a:ln/>
        </p:spPr>
        <p:txBody>
          <a:bodyPr wrap="square" lIns="0" tIns="0" rIns="0" bIns="0" rtlCol="0" anchor="t"/>
          <a:lstStyle/>
          <a:p>
            <a:pPr marL="0" indent="0" algn="l">
              <a:lnSpc>
                <a:spcPts val="176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Enforce</a:t>
            </a:r>
            <a:endParaRPr lang="en-US" sz="1600" dirty="0"/>
          </a:p>
        </p:txBody>
      </p:sp>
      <p:sp>
        <p:nvSpPr>
          <p:cNvPr id="31" name="Shape 17"/>
          <p:cNvSpPr/>
          <p:nvPr/>
        </p:nvSpPr>
        <p:spPr>
          <a:xfrm>
            <a:off x="10656632" y="6718300"/>
            <a:ext cx="2451406" cy="2451100"/>
          </a:xfrm>
          <a:prstGeom prst="ellipse">
            <a:avLst/>
          </a:prstGeom>
          <a:solidFill>
            <a:srgbClr val="FFB66D">
              <a:alpha val="100000"/>
            </a:srgbClr>
          </a:solidFill>
          <a:ln/>
        </p:spPr>
      </p:sp>
      <p:sp>
        <p:nvSpPr>
          <p:cNvPr id="32" name="Text 18"/>
          <p:cNvSpPr/>
          <p:nvPr/>
        </p:nvSpPr>
        <p:spPr>
          <a:xfrm>
            <a:off x="11634654" y="7835900"/>
            <a:ext cx="575805" cy="296333"/>
          </a:xfrm>
          <a:prstGeom prst="rect">
            <a:avLst/>
          </a:prstGeom>
          <a:noFill/>
          <a:ln/>
        </p:spPr>
        <p:txBody>
          <a:bodyPr wrap="square" lIns="0" tIns="0" rIns="0" bIns="0" rtlCol="0" anchor="t"/>
          <a:lstStyle/>
          <a:p>
            <a:pPr marL="0" indent="0" algn="l">
              <a:lnSpc>
                <a:spcPts val="176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Audit</a:t>
            </a:r>
            <a:endParaRPr lang="en-US" sz="1600" dirty="0"/>
          </a:p>
        </p:txBody>
      </p:sp>
      <p:sp>
        <p:nvSpPr>
          <p:cNvPr id="33" name="Text 19"/>
          <p:cNvSpPr/>
          <p:nvPr/>
        </p:nvSpPr>
        <p:spPr>
          <a:xfrm>
            <a:off x="1490320" y="9474200"/>
            <a:ext cx="2519148" cy="524933"/>
          </a:xfrm>
          <a:prstGeom prst="rect">
            <a:avLst/>
          </a:prstGeom>
          <a:noFill/>
          <a:ln/>
        </p:spPr>
        <p:txBody>
          <a:bodyPr wrap="square" lIns="0" tIns="0" rIns="0" bIns="0" rtlCol="0" anchor="t"/>
          <a:lstStyle/>
          <a:p>
            <a:pPr marL="0" indent="0" algn="ctr">
              <a:lnSpc>
                <a:spcPts val="176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Collect consent and preferences at data entry</a:t>
            </a:r>
            <a:endParaRPr lang="en-US" sz="1600" dirty="0"/>
          </a:p>
        </p:txBody>
      </p:sp>
      <p:sp>
        <p:nvSpPr>
          <p:cNvPr id="34" name="Text 20"/>
          <p:cNvSpPr/>
          <p:nvPr/>
        </p:nvSpPr>
        <p:spPr>
          <a:xfrm>
            <a:off x="4475193" y="9474200"/>
            <a:ext cx="2519148" cy="753533"/>
          </a:xfrm>
          <a:prstGeom prst="rect">
            <a:avLst/>
          </a:prstGeom>
          <a:noFill/>
          <a:ln/>
        </p:spPr>
        <p:txBody>
          <a:bodyPr wrap="square" lIns="0" tIns="0" rIns="0" bIns="0" rtlCol="0" anchor="t"/>
          <a:lstStyle/>
          <a:p>
            <a:pPr marL="0" indent="0" algn="ctr">
              <a:lnSpc>
                <a:spcPts val="1760"/>
              </a:lnSpc>
              <a:buNone/>
            </a:pPr>
            <a:r>
              <a:rPr lang="en-US" sz="1600" dirty="0">
                <a:solidFill>
                  <a:srgbClr val="6D6D6D">
                    <a:alpha val="100000"/>
                  </a:srgbClr>
                </a:solidFill>
                <a:latin typeface="Inter Regular" pitchFamily="34" charset="0"/>
                <a:ea typeface="Inter Regular" pitchFamily="34" charset="-122"/>
                <a:cs typeface="Inter Regular" pitchFamily="34" charset="-120"/>
              </a:rPr>
              <a:t>Secure storage of consent status linked to the profile</a:t>
            </a:r>
            <a:endParaRPr lang="en-US" sz="1600" dirty="0"/>
          </a:p>
        </p:txBody>
      </p:sp>
      <p:sp>
        <p:nvSpPr>
          <p:cNvPr id="35" name="Text 21"/>
          <p:cNvSpPr/>
          <p:nvPr/>
        </p:nvSpPr>
        <p:spPr>
          <a:xfrm>
            <a:off x="7548977" y="9474200"/>
            <a:ext cx="2519148" cy="753533"/>
          </a:xfrm>
          <a:prstGeom prst="rect">
            <a:avLst/>
          </a:prstGeom>
          <a:noFill/>
          <a:ln/>
        </p:spPr>
        <p:txBody>
          <a:bodyPr wrap="square" lIns="0" tIns="0" rIns="0" bIns="0" rtlCol="0" anchor="t"/>
          <a:lstStyle/>
          <a:p>
            <a:pPr marL="0" indent="0" algn="ctr">
              <a:lnSpc>
                <a:spcPts val="1760"/>
              </a:lnSpc>
              <a:buNone/>
            </a:pPr>
            <a:r>
              <a:rPr lang="en-US" sz="1600" dirty="0">
                <a:solidFill>
                  <a:srgbClr val="6D6D6D">
                    <a:alpha val="100000"/>
                  </a:srgbClr>
                </a:solidFill>
                <a:latin typeface="Inter Regular" pitchFamily="34" charset="0"/>
                <a:ea typeface="Inter Regular" pitchFamily="34" charset="-122"/>
                <a:cs typeface="Inter Regular" pitchFamily="34" charset="-120"/>
              </a:rPr>
              <a:t>Check consent status at query and export time, ensuring compliance</a:t>
            </a:r>
            <a:endParaRPr lang="en-US" sz="1600" dirty="0"/>
          </a:p>
        </p:txBody>
      </p:sp>
      <p:sp>
        <p:nvSpPr>
          <p:cNvPr id="36" name="Text 22"/>
          <p:cNvSpPr/>
          <p:nvPr/>
        </p:nvSpPr>
        <p:spPr>
          <a:xfrm>
            <a:off x="10622761" y="9474200"/>
            <a:ext cx="2519148" cy="753533"/>
          </a:xfrm>
          <a:prstGeom prst="rect">
            <a:avLst/>
          </a:prstGeom>
          <a:noFill/>
          <a:ln/>
        </p:spPr>
        <p:txBody>
          <a:bodyPr wrap="square" lIns="0" tIns="0" rIns="0" bIns="0" rtlCol="0" anchor="t"/>
          <a:lstStyle/>
          <a:p>
            <a:pPr marL="0" indent="0" algn="ctr">
              <a:lnSpc>
                <a:spcPts val="1760"/>
              </a:lnSpc>
              <a:buNone/>
            </a:pPr>
            <a:r>
              <a:rPr lang="en-US" sz="1600" dirty="0">
                <a:solidFill>
                  <a:srgbClr val="6D6D6D">
                    <a:alpha val="100000"/>
                  </a:srgbClr>
                </a:solidFill>
                <a:latin typeface="Inter Regular" pitchFamily="34" charset="0"/>
                <a:ea typeface="Inter Regular" pitchFamily="34" charset="-122"/>
                <a:cs typeface="Inter Regular" pitchFamily="34" charset="-120"/>
              </a:rPr>
              <a:t>Track consent history and changes for compliance purposes </a:t>
            </a:r>
            <a:endParaRPr lang="en-US" sz="1600" dirty="0"/>
          </a:p>
        </p:txBody>
      </p:sp>
      <p:sp>
        <p:nvSpPr>
          <p:cNvPr id="38" name="Text 23"/>
          <p:cNvSpPr/>
          <p:nvPr/>
        </p:nvSpPr>
        <p:spPr>
          <a:xfrm>
            <a:off x="22287052" y="1524000"/>
            <a:ext cx="529233"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010</a:t>
            </a:r>
            <a:endParaRPr lang="en-US" sz="2000" dirty="0"/>
          </a:p>
        </p:txBody>
      </p:sp>
      <p:pic>
        <p:nvPicPr>
          <p:cNvPr id="39" name="Image 13"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524191" y="1524000"/>
            <a:ext cx="444556" cy="622300"/>
          </a:xfrm>
          <a:prstGeom prst="rect">
            <a:avLst/>
          </a:prstGeom>
        </p:spPr>
      </p:pic>
      <p:sp>
        <p:nvSpPr>
          <p:cNvPr id="40" name="Text 24"/>
          <p:cNvSpPr/>
          <p:nvPr/>
        </p:nvSpPr>
        <p:spPr>
          <a:xfrm>
            <a:off x="2032254" y="1549400"/>
            <a:ext cx="1117740" cy="698500"/>
          </a:xfrm>
          <a:prstGeom prst="rect">
            <a:avLst/>
          </a:prstGeom>
          <a:noFill/>
          <a:ln/>
        </p:spPr>
        <p:txBody>
          <a:bodyPr wrap="square" lIns="0" tIns="0" rIns="0" bIns="0" rtlCol="0" anchor="t"/>
          <a:lstStyle/>
          <a:p>
            <a:pPr marL="0" indent="0" algn="ctr">
              <a:lnSpc>
                <a:spcPts val="4500"/>
              </a:lnSpc>
              <a:buNone/>
            </a:pPr>
            <a:r>
              <a:rPr lang="en-US" sz="3000" kern="0" spc="-120" dirty="0">
                <a:solidFill>
                  <a:srgbClr val="000000">
                    <a:alpha val="100000"/>
                  </a:srgbClr>
                </a:solidFill>
                <a:latin typeface="Funnel Display Bold" pitchFamily="34" charset="0"/>
                <a:ea typeface="Funnel Display Bold" pitchFamily="34" charset="-122"/>
                <a:cs typeface="Funnel Display Bold" pitchFamily="34" charset="-120"/>
              </a:rPr>
              <a:t>Clario</a:t>
            </a:r>
            <a:endParaRPr lang="en-US" sz="3000" dirty="0"/>
          </a:p>
        </p:txBody>
      </p:sp>
      <p:sp>
        <p:nvSpPr>
          <p:cNvPr id="41" name="Text 25"/>
          <p:cNvSpPr/>
          <p:nvPr/>
        </p:nvSpPr>
        <p:spPr>
          <a:xfrm>
            <a:off x="1524191" y="2908300"/>
            <a:ext cx="8002000" cy="1549400"/>
          </a:xfrm>
          <a:prstGeom prst="rect">
            <a:avLst/>
          </a:prstGeom>
          <a:noFill/>
          <a:ln/>
        </p:spPr>
        <p:txBody>
          <a:bodyPr wrap="square" lIns="0" tIns="0" rIns="0" bIns="0" rtlCol="0" anchor="t"/>
          <a:lstStyle/>
          <a:p>
            <a:pPr marL="0" indent="0" algn="l">
              <a:lnSpc>
                <a:spcPts val="5280"/>
              </a:lnSpc>
              <a:buNone/>
            </a:pPr>
            <a:r>
              <a:rPr lang="en-US" sz="4800" kern="0" spc="-48" dirty="0">
                <a:solidFill>
                  <a:srgbClr val="000000">
                    <a:alpha val="100000"/>
                  </a:srgbClr>
                </a:solidFill>
                <a:latin typeface="Inter Bold" pitchFamily="34" charset="0"/>
                <a:ea typeface="Inter Bold" pitchFamily="34" charset="-122"/>
                <a:cs typeface="Inter Bold" pitchFamily="34" charset="-120"/>
              </a:rPr>
              <a:t>Consent &amp; Preference Management</a:t>
            </a:r>
            <a:endParaRPr lang="en-US" sz="4800" dirty="0"/>
          </a:p>
        </p:txBody>
      </p:sp>
      <p:sp>
        <p:nvSpPr>
          <p:cNvPr id="42" name="Text 26"/>
          <p:cNvSpPr/>
          <p:nvPr/>
        </p:nvSpPr>
        <p:spPr>
          <a:xfrm>
            <a:off x="14340092" y="2971800"/>
            <a:ext cx="8590507" cy="12869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Consent and Preference Management allows individuals to control how their personal information is collected, used, and shared. </a:t>
            </a:r>
            <a:r>
              <a:rPr lang="en-US" sz="1600" dirty="0">
                <a:solidFill>
                  <a:srgbClr val="5D5D5D">
                    <a:alpha val="100000"/>
                  </a:srgbClr>
                </a:solidFill>
                <a:latin typeface="Inter Regular" pitchFamily="34" charset="0"/>
                <a:ea typeface="Inter Regular" pitchFamily="34" charset="-122"/>
                <a:cs typeface="Inter Regular" pitchFamily="34" charset="-120"/>
              </a:rPr>
              <a:t>It includes obtaining explicit consent for data processing and managing communication preferences, which enhances user trust and ensures compliance with data protection laws.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24191" y="1524000"/>
            <a:ext cx="8488894"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Data Quality &amp; Reliability Dashboard</a:t>
            </a:r>
            <a:endParaRPr lang="en-US" sz="6400" dirty="0"/>
          </a:p>
        </p:txBody>
      </p:sp>
      <p:sp>
        <p:nvSpPr>
          <p:cNvPr id="3" name="Text 1"/>
          <p:cNvSpPr/>
          <p:nvPr/>
        </p:nvSpPr>
        <p:spPr>
          <a:xfrm>
            <a:off x="12447556" y="1524000"/>
            <a:ext cx="7345751" cy="9821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Real-time processing allows immediate data analysis, crucial for online transactions. Batch processing collects data over time for tasks like payroll. </a:t>
            </a:r>
            <a:r>
              <a:rPr lang="en-US" sz="1600" dirty="0">
                <a:solidFill>
                  <a:srgbClr val="454545">
                    <a:alpha val="100000"/>
                  </a:srgbClr>
                </a:solidFill>
                <a:latin typeface="Inter Regular" pitchFamily="34" charset="0"/>
                <a:ea typeface="Inter Regular" pitchFamily="34" charset="-122"/>
                <a:cs typeface="Inter Regular" pitchFamily="34" charset="-120"/>
              </a:rPr>
              <a:t>Each method has its advantages based on business needs.</a:t>
            </a:r>
            <a:endParaRPr lang="en-US" sz="1600" dirty="0"/>
          </a:p>
        </p:txBody>
      </p:sp>
      <p:sp>
        <p:nvSpPr>
          <p:cNvPr id="4" name="Text 2"/>
          <p:cNvSpPr/>
          <p:nvPr/>
        </p:nvSpPr>
        <p:spPr>
          <a:xfrm>
            <a:off x="22388665" y="1524000"/>
            <a:ext cx="491128"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011</a:t>
            </a:r>
            <a:endParaRPr lang="en-US" sz="2000" dirty="0"/>
          </a:p>
        </p:txBody>
      </p:sp>
      <p:grpSp>
        <p:nvGrpSpPr>
          <p:cNvPr id="21" name="Group 20">
            <a:extLst>
              <a:ext uri="{FF2B5EF4-FFF2-40B4-BE49-F238E27FC236}">
                <a16:creationId xmlns:a16="http://schemas.microsoft.com/office/drawing/2014/main" id="{AFA5445D-15A7-4120-8CDD-CAD4AF3FBAE4}"/>
              </a:ext>
            </a:extLst>
          </p:cNvPr>
          <p:cNvGrpSpPr/>
          <p:nvPr/>
        </p:nvGrpSpPr>
        <p:grpSpPr>
          <a:xfrm>
            <a:off x="1524191" y="4851400"/>
            <a:ext cx="4940918" cy="4940300"/>
            <a:chOff x="1524191" y="4851400"/>
            <a:chExt cx="4940918" cy="4940300"/>
          </a:xfrm>
        </p:grpSpPr>
        <p:sp>
          <p:nvSpPr>
            <p:cNvPr id="5" name="Shape 3"/>
            <p:cNvSpPr/>
            <p:nvPr/>
          </p:nvSpPr>
          <p:spPr>
            <a:xfrm>
              <a:off x="1524191" y="4851400"/>
              <a:ext cx="4940918" cy="4940300"/>
            </a:xfrm>
            <a:prstGeom prst="rect">
              <a:avLst/>
            </a:prstGeom>
            <a:noFill/>
            <a:ln/>
          </p:spPr>
        </p:sp>
        <p:pic>
          <p:nvPicPr>
            <p:cNvPr id="6"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191" y="4851400"/>
              <a:ext cx="4940918" cy="4940300"/>
            </a:xfrm>
            <a:prstGeom prst="rect">
              <a:avLst/>
            </a:prstGeom>
          </p:spPr>
        </p:pic>
        <p:sp>
          <p:nvSpPr>
            <p:cNvPr id="8" name="Text 4"/>
            <p:cNvSpPr/>
            <p:nvPr/>
          </p:nvSpPr>
          <p:spPr>
            <a:xfrm>
              <a:off x="2366729" y="7670800"/>
              <a:ext cx="3255840" cy="982133"/>
            </a:xfrm>
            <a:prstGeom prst="rect">
              <a:avLst/>
            </a:prstGeom>
            <a:noFill/>
            <a:ln/>
          </p:spPr>
          <p:txBody>
            <a:bodyPr wrap="square" lIns="0" tIns="0" rIns="0" bIns="0" rtlCol="0" anchor="t"/>
            <a:lstStyle/>
            <a:p>
              <a:pPr marL="0" indent="0" algn="ctr">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Completeness</a:t>
              </a:r>
              <a:r>
                <a:rPr lang="en-US" sz="1600" dirty="0">
                  <a:solidFill>
                    <a:srgbClr val="FFFFFF">
                      <a:alpha val="100000"/>
                    </a:srgbClr>
                  </a:solidFill>
                  <a:latin typeface="Inter Regular" pitchFamily="34" charset="0"/>
                  <a:ea typeface="Inter Regular" pitchFamily="34" charset="-122"/>
                  <a:cs typeface="Inter Regular" pitchFamily="34" charset="-120"/>
                </a:rPr>
                <a:t>, of profiles are fully populated (missing less than 5% of data fields).</a:t>
              </a:r>
              <a:endParaRPr lang="en-US" sz="1600" dirty="0"/>
            </a:p>
          </p:txBody>
        </p:sp>
      </p:grpSp>
      <p:sp>
        <p:nvSpPr>
          <p:cNvPr id="25" name="Text 10">
            <a:extLst>
              <a:ext uri="{FF2B5EF4-FFF2-40B4-BE49-F238E27FC236}">
                <a16:creationId xmlns:a16="http://schemas.microsoft.com/office/drawing/2014/main" id="{619F163F-A99F-4AD9-9D5F-C941EBBCF6E1}"/>
              </a:ext>
            </a:extLst>
          </p:cNvPr>
          <p:cNvSpPr/>
          <p:nvPr/>
        </p:nvSpPr>
        <p:spPr>
          <a:xfrm>
            <a:off x="2603826" y="6149920"/>
            <a:ext cx="3018744" cy="1285596"/>
          </a:xfrm>
          <a:prstGeom prst="rect">
            <a:avLst/>
          </a:prstGeom>
          <a:noFill/>
          <a:ln/>
        </p:spPr>
        <p:txBody>
          <a:bodyPr wrap="square" lIns="0" tIns="0" rIns="0" bIns="0" rtlCol="0" anchor="t"/>
          <a:lstStyle/>
          <a:p>
            <a:pPr marL="0" indent="0" algn="l">
              <a:lnSpc>
                <a:spcPts val="10560"/>
              </a:lnSpc>
              <a:buNone/>
            </a:pPr>
            <a:r>
              <a:rPr lang="en-US" sz="9600" kern="0" spc="-96" dirty="0">
                <a:gradFill>
                  <a:gsLst>
                    <a:gs pos="0">
                      <a:schemeClr val="bg1"/>
                    </a:gs>
                    <a:gs pos="100000">
                      <a:schemeClr val="bg1">
                        <a:alpha val="7000"/>
                      </a:schemeClr>
                    </a:gs>
                  </a:gsLst>
                  <a:lin ang="5400000" scaled="1"/>
                </a:gradFill>
                <a:latin typeface="Inter Bold" pitchFamily="34" charset="0"/>
                <a:ea typeface="Inter Bold" pitchFamily="34" charset="-122"/>
                <a:cs typeface="Inter Bold" pitchFamily="34" charset="-120"/>
              </a:rPr>
              <a:t>95%</a:t>
            </a:r>
            <a:endParaRPr lang="en-US" sz="9600" dirty="0">
              <a:gradFill>
                <a:gsLst>
                  <a:gs pos="0">
                    <a:schemeClr val="bg1"/>
                  </a:gs>
                  <a:gs pos="100000">
                    <a:schemeClr val="bg1">
                      <a:alpha val="7000"/>
                    </a:schemeClr>
                  </a:gs>
                </a:gsLst>
                <a:lin ang="5400000" scaled="1"/>
              </a:gradFill>
            </a:endParaRPr>
          </a:p>
        </p:txBody>
      </p:sp>
      <p:grpSp>
        <p:nvGrpSpPr>
          <p:cNvPr id="22" name="Group 21">
            <a:extLst>
              <a:ext uri="{FF2B5EF4-FFF2-40B4-BE49-F238E27FC236}">
                <a16:creationId xmlns:a16="http://schemas.microsoft.com/office/drawing/2014/main" id="{8031702A-2088-4CD6-8FF0-A808DA402452}"/>
              </a:ext>
            </a:extLst>
          </p:cNvPr>
          <p:cNvGrpSpPr/>
          <p:nvPr/>
        </p:nvGrpSpPr>
        <p:grpSpPr>
          <a:xfrm>
            <a:off x="6985873" y="4851400"/>
            <a:ext cx="4940918" cy="4940300"/>
            <a:chOff x="6985873" y="4851400"/>
            <a:chExt cx="4940918" cy="4940300"/>
          </a:xfrm>
        </p:grpSpPr>
        <p:sp>
          <p:nvSpPr>
            <p:cNvPr id="9" name="Shape 5"/>
            <p:cNvSpPr/>
            <p:nvPr/>
          </p:nvSpPr>
          <p:spPr>
            <a:xfrm>
              <a:off x="6985873" y="4851400"/>
              <a:ext cx="4940918" cy="4940300"/>
            </a:xfrm>
            <a:prstGeom prst="rect">
              <a:avLst/>
            </a:prstGeom>
            <a:noFill/>
            <a:ln/>
          </p:spPr>
        </p:sp>
        <p:sp>
          <p:nvSpPr>
            <p:cNvPr id="10" name="Shape 6"/>
            <p:cNvSpPr/>
            <p:nvPr/>
          </p:nvSpPr>
          <p:spPr>
            <a:xfrm>
              <a:off x="6985873" y="4851400"/>
              <a:ext cx="4940918" cy="4940300"/>
            </a:xfrm>
            <a:prstGeom prst="ellipse">
              <a:avLst/>
            </a:prstGeom>
            <a:solidFill>
              <a:srgbClr val="F6F6F6">
                <a:alpha val="100000"/>
              </a:srgbClr>
            </a:solidFill>
            <a:ln w="12700">
              <a:solidFill>
                <a:srgbClr val="D1D1D1"/>
              </a:solidFill>
              <a:prstDash val="solid"/>
            </a:ln>
          </p:spPr>
        </p:sp>
        <p:sp>
          <p:nvSpPr>
            <p:cNvPr id="11" name="Text 7"/>
            <p:cNvSpPr/>
            <p:nvPr/>
          </p:nvSpPr>
          <p:spPr>
            <a:xfrm>
              <a:off x="8154419" y="6070600"/>
              <a:ext cx="3048381" cy="1752600"/>
            </a:xfrm>
            <a:prstGeom prst="rect">
              <a:avLst/>
            </a:prstGeom>
            <a:noFill/>
            <a:ln/>
          </p:spPr>
          <p:txBody>
            <a:bodyPr wrap="square" lIns="0" tIns="0" rIns="0" bIns="0" rtlCol="0" anchor="t"/>
            <a:lstStyle/>
            <a:p>
              <a:pPr marL="0" indent="0" algn="l">
                <a:lnSpc>
                  <a:spcPts val="10560"/>
                </a:lnSpc>
                <a:buNone/>
              </a:pPr>
              <a:r>
                <a:rPr lang="en-US" sz="9600" kern="0" spc="-96" dirty="0">
                  <a:solidFill>
                    <a:srgbClr val="82260C">
                      <a:alpha val="100000"/>
                    </a:srgbClr>
                  </a:solidFill>
                  <a:latin typeface="Inter Bold" pitchFamily="34" charset="0"/>
                  <a:ea typeface="Inter Bold" pitchFamily="34" charset="-122"/>
                  <a:cs typeface="Inter Bold" pitchFamily="34" charset="-120"/>
                </a:rPr>
                <a:t>93%</a:t>
              </a:r>
              <a:endParaRPr lang="en-US" sz="9600" dirty="0"/>
            </a:p>
          </p:txBody>
        </p:sp>
        <p:sp>
          <p:nvSpPr>
            <p:cNvPr id="12" name="Text 8"/>
            <p:cNvSpPr/>
            <p:nvPr/>
          </p:nvSpPr>
          <p:spPr>
            <a:xfrm>
              <a:off x="7828412" y="7670800"/>
              <a:ext cx="3255840" cy="982133"/>
            </a:xfrm>
            <a:prstGeom prst="rect">
              <a:avLst/>
            </a:prstGeom>
            <a:noFill/>
            <a:ln/>
          </p:spPr>
          <p:txBody>
            <a:bodyPr wrap="square" lIns="0" tIns="0" rIns="0" bIns="0" rtlCol="0" anchor="t"/>
            <a:lstStyle/>
            <a:p>
              <a:pPr marL="0" indent="0" algn="ctr">
                <a:lnSpc>
                  <a:spcPts val="2400"/>
                </a:lnSpc>
                <a:buNone/>
              </a:pPr>
              <a:r>
                <a:rPr lang="en-US" sz="1600" dirty="0">
                  <a:solidFill>
                    <a:srgbClr val="000000">
                      <a:alpha val="100000"/>
                    </a:srgbClr>
                  </a:solidFill>
                  <a:latin typeface="Inter Bold" pitchFamily="34" charset="0"/>
                  <a:ea typeface="Inter Bold" pitchFamily="34" charset="-122"/>
                  <a:cs typeface="Inter Bold" pitchFamily="34" charset="-120"/>
                </a:rPr>
                <a:t>Accuracy,</a:t>
              </a:r>
              <a:r>
                <a:rPr lang="en-US" sz="1600" dirty="0">
                  <a:solidFill>
                    <a:srgbClr val="000000">
                      <a:alpha val="100000"/>
                    </a:srgbClr>
                  </a:solidFill>
                  <a:latin typeface="Inter Regular" pitchFamily="34" charset="0"/>
                  <a:ea typeface="Inter Regular" pitchFamily="34" charset="-122"/>
                  <a:cs typeface="Inter Regular" pitchFamily="34" charset="-120"/>
                </a:rPr>
                <a:t> of data is validated as correct through matching and verification systems.</a:t>
              </a:r>
              <a:endParaRPr lang="en-US" sz="1600" dirty="0"/>
            </a:p>
          </p:txBody>
        </p:sp>
      </p:grpSp>
      <p:grpSp>
        <p:nvGrpSpPr>
          <p:cNvPr id="23" name="Group 22">
            <a:extLst>
              <a:ext uri="{FF2B5EF4-FFF2-40B4-BE49-F238E27FC236}">
                <a16:creationId xmlns:a16="http://schemas.microsoft.com/office/drawing/2014/main" id="{ADBFC6A6-F1B6-423D-9FED-2BA26FF28494}"/>
              </a:ext>
            </a:extLst>
          </p:cNvPr>
          <p:cNvGrpSpPr/>
          <p:nvPr/>
        </p:nvGrpSpPr>
        <p:grpSpPr>
          <a:xfrm>
            <a:off x="12447556" y="4851400"/>
            <a:ext cx="4940918" cy="4940300"/>
            <a:chOff x="12447556" y="4851400"/>
            <a:chExt cx="4940918" cy="4940300"/>
          </a:xfrm>
        </p:grpSpPr>
        <p:sp>
          <p:nvSpPr>
            <p:cNvPr id="13" name="Shape 9"/>
            <p:cNvSpPr/>
            <p:nvPr/>
          </p:nvSpPr>
          <p:spPr>
            <a:xfrm>
              <a:off x="12447556" y="4851400"/>
              <a:ext cx="4940918" cy="4940300"/>
            </a:xfrm>
            <a:prstGeom prst="rect">
              <a:avLst/>
            </a:prstGeom>
            <a:noFill/>
            <a:ln/>
          </p:spPr>
        </p:sp>
        <p:sp>
          <p:nvSpPr>
            <p:cNvPr id="14" name="Shape 10"/>
            <p:cNvSpPr/>
            <p:nvPr/>
          </p:nvSpPr>
          <p:spPr>
            <a:xfrm>
              <a:off x="12447556" y="4851400"/>
              <a:ext cx="4940918" cy="4940300"/>
            </a:xfrm>
            <a:prstGeom prst="ellipse">
              <a:avLst/>
            </a:prstGeom>
            <a:solidFill>
              <a:srgbClr val="F6F6F6">
                <a:alpha val="100000"/>
              </a:srgbClr>
            </a:solidFill>
            <a:ln w="12700">
              <a:solidFill>
                <a:srgbClr val="D1D1D1"/>
              </a:solidFill>
              <a:prstDash val="solid"/>
            </a:ln>
          </p:spPr>
        </p:sp>
        <p:sp>
          <p:nvSpPr>
            <p:cNvPr id="15" name="Text 11"/>
            <p:cNvSpPr/>
            <p:nvPr/>
          </p:nvSpPr>
          <p:spPr>
            <a:xfrm>
              <a:off x="13616102" y="6070600"/>
              <a:ext cx="3048381" cy="1752600"/>
            </a:xfrm>
            <a:prstGeom prst="rect">
              <a:avLst/>
            </a:prstGeom>
            <a:noFill/>
            <a:ln/>
          </p:spPr>
          <p:txBody>
            <a:bodyPr wrap="square" lIns="0" tIns="0" rIns="0" bIns="0" rtlCol="0" anchor="t"/>
            <a:lstStyle/>
            <a:p>
              <a:pPr marL="0" indent="0" algn="l">
                <a:lnSpc>
                  <a:spcPts val="10560"/>
                </a:lnSpc>
                <a:buNone/>
              </a:pPr>
              <a:r>
                <a:rPr lang="en-US" sz="9600" kern="0" spc="-96" dirty="0">
                  <a:solidFill>
                    <a:srgbClr val="82260C">
                      <a:alpha val="100000"/>
                    </a:srgbClr>
                  </a:solidFill>
                  <a:latin typeface="Inter Bold" pitchFamily="34" charset="0"/>
                  <a:ea typeface="Inter Bold" pitchFamily="34" charset="-122"/>
                  <a:cs typeface="Inter Bold" pitchFamily="34" charset="-120"/>
                </a:rPr>
                <a:t>88%</a:t>
              </a:r>
              <a:endParaRPr lang="en-US" sz="9600" dirty="0"/>
            </a:p>
          </p:txBody>
        </p:sp>
        <p:sp>
          <p:nvSpPr>
            <p:cNvPr id="16" name="Text 12"/>
            <p:cNvSpPr/>
            <p:nvPr/>
          </p:nvSpPr>
          <p:spPr>
            <a:xfrm>
              <a:off x="13290094" y="7670800"/>
              <a:ext cx="3255840" cy="982133"/>
            </a:xfrm>
            <a:prstGeom prst="rect">
              <a:avLst/>
            </a:prstGeom>
            <a:noFill/>
            <a:ln/>
          </p:spPr>
          <p:txBody>
            <a:bodyPr wrap="square" lIns="0" tIns="0" rIns="0" bIns="0" rtlCol="0" anchor="t"/>
            <a:lstStyle/>
            <a:p>
              <a:pPr marL="0" indent="0" algn="ctr">
                <a:lnSpc>
                  <a:spcPts val="2400"/>
                </a:lnSpc>
                <a:buNone/>
              </a:pPr>
              <a:r>
                <a:rPr lang="en-US" sz="1600" dirty="0">
                  <a:solidFill>
                    <a:srgbClr val="000000">
                      <a:alpha val="100000"/>
                    </a:srgbClr>
                  </a:solidFill>
                  <a:latin typeface="Inter Bold" pitchFamily="34" charset="0"/>
                  <a:ea typeface="Inter Bold" pitchFamily="34" charset="-122"/>
                  <a:cs typeface="Inter Bold" pitchFamily="34" charset="-120"/>
                </a:rPr>
                <a:t>Timeliness,</a:t>
              </a:r>
              <a:r>
                <a:rPr lang="en-US" sz="1600" dirty="0">
                  <a:solidFill>
                    <a:srgbClr val="000000">
                      <a:alpha val="100000"/>
                    </a:srgbClr>
                  </a:solidFill>
                  <a:latin typeface="Inter Regular" pitchFamily="34" charset="0"/>
                  <a:ea typeface="Inter Regular" pitchFamily="34" charset="-122"/>
                  <a:cs typeface="Inter Regular" pitchFamily="34" charset="-120"/>
                </a:rPr>
                <a:t> of data is processed and updated within the expected timeframe, with an SLO of 95%.</a:t>
              </a:r>
              <a:endParaRPr lang="en-US" sz="1600" dirty="0"/>
            </a:p>
          </p:txBody>
        </p:sp>
      </p:grpSp>
      <p:grpSp>
        <p:nvGrpSpPr>
          <p:cNvPr id="24" name="Group 23">
            <a:extLst>
              <a:ext uri="{FF2B5EF4-FFF2-40B4-BE49-F238E27FC236}">
                <a16:creationId xmlns:a16="http://schemas.microsoft.com/office/drawing/2014/main" id="{238BDA4A-658C-42B0-953D-822D9649B315}"/>
              </a:ext>
            </a:extLst>
          </p:cNvPr>
          <p:cNvGrpSpPr/>
          <p:nvPr/>
        </p:nvGrpSpPr>
        <p:grpSpPr>
          <a:xfrm>
            <a:off x="17909238" y="4851400"/>
            <a:ext cx="4940918" cy="4940300"/>
            <a:chOff x="17909238" y="4851400"/>
            <a:chExt cx="4940918" cy="4940300"/>
          </a:xfrm>
        </p:grpSpPr>
        <p:sp>
          <p:nvSpPr>
            <p:cNvPr id="17" name="Shape 13"/>
            <p:cNvSpPr/>
            <p:nvPr/>
          </p:nvSpPr>
          <p:spPr>
            <a:xfrm>
              <a:off x="17909238" y="4851400"/>
              <a:ext cx="4940918" cy="4940300"/>
            </a:xfrm>
            <a:prstGeom prst="rect">
              <a:avLst/>
            </a:prstGeom>
            <a:noFill/>
            <a:ln/>
          </p:spPr>
        </p:sp>
        <p:sp>
          <p:nvSpPr>
            <p:cNvPr id="18" name="Shape 14"/>
            <p:cNvSpPr/>
            <p:nvPr/>
          </p:nvSpPr>
          <p:spPr>
            <a:xfrm>
              <a:off x="17909238" y="4851400"/>
              <a:ext cx="4940918" cy="4940300"/>
            </a:xfrm>
            <a:prstGeom prst="ellipse">
              <a:avLst/>
            </a:prstGeom>
            <a:solidFill>
              <a:srgbClr val="F6F6F6">
                <a:alpha val="100000"/>
              </a:srgbClr>
            </a:solidFill>
            <a:ln w="12700">
              <a:solidFill>
                <a:srgbClr val="D1D1D1"/>
              </a:solidFill>
              <a:prstDash val="solid"/>
            </a:ln>
          </p:spPr>
        </p:sp>
        <p:sp>
          <p:nvSpPr>
            <p:cNvPr id="19" name="Text 15"/>
            <p:cNvSpPr/>
            <p:nvPr/>
          </p:nvSpPr>
          <p:spPr>
            <a:xfrm>
              <a:off x="19077784" y="6070600"/>
              <a:ext cx="2832454" cy="1752600"/>
            </a:xfrm>
            <a:prstGeom prst="rect">
              <a:avLst/>
            </a:prstGeom>
            <a:noFill/>
            <a:ln/>
          </p:spPr>
          <p:txBody>
            <a:bodyPr wrap="square" lIns="0" tIns="0" rIns="0" bIns="0" rtlCol="0" anchor="t"/>
            <a:lstStyle/>
            <a:p>
              <a:pPr marL="0" indent="0" algn="l">
                <a:lnSpc>
                  <a:spcPts val="10560"/>
                </a:lnSpc>
                <a:buNone/>
              </a:pPr>
              <a:r>
                <a:rPr lang="en-US" sz="9600" kern="0" spc="-96" dirty="0">
                  <a:solidFill>
                    <a:srgbClr val="82260C">
                      <a:alpha val="100000"/>
                    </a:srgbClr>
                  </a:solidFill>
                  <a:latin typeface="Inter Bold" pitchFamily="34" charset="0"/>
                  <a:ea typeface="Inter Bold" pitchFamily="34" charset="-122"/>
                  <a:cs typeface="Inter Bold" pitchFamily="34" charset="-120"/>
                </a:rPr>
                <a:t>91%</a:t>
              </a:r>
              <a:endParaRPr lang="en-US" sz="9600" dirty="0"/>
            </a:p>
          </p:txBody>
        </p:sp>
        <p:sp>
          <p:nvSpPr>
            <p:cNvPr id="20" name="Text 16"/>
            <p:cNvSpPr/>
            <p:nvPr/>
          </p:nvSpPr>
          <p:spPr>
            <a:xfrm>
              <a:off x="18751777" y="7670800"/>
              <a:ext cx="3255840" cy="1286933"/>
            </a:xfrm>
            <a:prstGeom prst="rect">
              <a:avLst/>
            </a:prstGeom>
            <a:noFill/>
            <a:ln/>
          </p:spPr>
          <p:txBody>
            <a:bodyPr wrap="square" lIns="0" tIns="0" rIns="0" bIns="0" rtlCol="0" anchor="t"/>
            <a:lstStyle/>
            <a:p>
              <a:pPr marL="0" indent="0" algn="ctr">
                <a:lnSpc>
                  <a:spcPts val="2400"/>
                </a:lnSpc>
                <a:buNone/>
              </a:pPr>
              <a:r>
                <a:rPr lang="en-US" sz="1600" dirty="0">
                  <a:solidFill>
                    <a:srgbClr val="000000">
                      <a:alpha val="100000"/>
                    </a:srgbClr>
                  </a:solidFill>
                  <a:latin typeface="Inter Bold" pitchFamily="34" charset="0"/>
                  <a:ea typeface="Inter Bold" pitchFamily="34" charset="-122"/>
                  <a:cs typeface="Inter Bold" pitchFamily="34" charset="-120"/>
                </a:rPr>
                <a:t>Consistency, </a:t>
              </a:r>
              <a:r>
                <a:rPr lang="en-US" sz="1600" dirty="0">
                  <a:solidFill>
                    <a:srgbClr val="000000">
                      <a:alpha val="100000"/>
                    </a:srgbClr>
                  </a:solidFill>
                  <a:latin typeface="Inter Regular" pitchFamily="34" charset="0"/>
                  <a:ea typeface="Inter Regular" pitchFamily="34" charset="-122"/>
                  <a:cs typeface="Inter Regular" pitchFamily="34" charset="-120"/>
                </a:rPr>
                <a:t>of data entries are consistent across systems (no major discrepancies between different data sources).</a:t>
              </a:r>
              <a:endParaRPr lang="en-US" sz="1600"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066508" y="4152900"/>
            <a:ext cx="8732800" cy="6643097"/>
          </a:xfrm>
          <a:prstGeom prst="rect">
            <a:avLst/>
          </a:prstGeom>
          <a:noFill/>
          <a:ln/>
        </p:spPr>
      </p:sp>
      <p:grpSp>
        <p:nvGrpSpPr>
          <p:cNvPr id="55" name="Group 54">
            <a:extLst>
              <a:ext uri="{FF2B5EF4-FFF2-40B4-BE49-F238E27FC236}">
                <a16:creationId xmlns:a16="http://schemas.microsoft.com/office/drawing/2014/main" id="{FB4876FA-3DD6-4798-B7F3-67BC9D9E887E}"/>
              </a:ext>
            </a:extLst>
          </p:cNvPr>
          <p:cNvGrpSpPr/>
          <p:nvPr/>
        </p:nvGrpSpPr>
        <p:grpSpPr>
          <a:xfrm>
            <a:off x="12066508" y="4152900"/>
            <a:ext cx="1897414" cy="3664942"/>
            <a:chOff x="12066508" y="4152900"/>
            <a:chExt cx="1897414" cy="3664942"/>
          </a:xfrm>
        </p:grpSpPr>
        <p:sp>
          <p:nvSpPr>
            <p:cNvPr id="3" name="Text 1"/>
            <p:cNvSpPr/>
            <p:nvPr/>
          </p:nvSpPr>
          <p:spPr>
            <a:xfrm>
              <a:off x="12210459" y="4152900"/>
              <a:ext cx="1617335" cy="677333"/>
            </a:xfrm>
            <a:prstGeom prst="rect">
              <a:avLst/>
            </a:prstGeom>
            <a:noFill/>
            <a:ln/>
          </p:spPr>
          <p:txBody>
            <a:bodyPr wrap="square" lIns="0" tIns="0" rIns="0" bIns="0" rtlCol="0" anchor="t"/>
            <a:lstStyle/>
            <a:p>
              <a:pPr marL="0" indent="0" algn="ctr">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Web/App Event Tracking</a:t>
              </a:r>
              <a:endParaRPr lang="en-US" sz="1600" dirty="0"/>
            </a:p>
          </p:txBody>
        </p:sp>
        <p:pic>
          <p:nvPicPr>
            <p:cNvPr id="4"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066508" y="5937250"/>
              <a:ext cx="1897414" cy="1880592"/>
            </a:xfrm>
            <a:prstGeom prst="rect">
              <a:avLst/>
            </a:prstGeom>
          </p:spPr>
        </p:pic>
        <p:pic>
          <p:nvPicPr>
            <p:cNvPr id="5"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012776" y="6540500"/>
              <a:ext cx="12702" cy="1270000"/>
            </a:xfrm>
            <a:prstGeom prst="rect">
              <a:avLst/>
            </a:prstGeom>
          </p:spPr>
        </p:pic>
        <p:pic>
          <p:nvPicPr>
            <p:cNvPr id="6"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066508" y="5930900"/>
              <a:ext cx="1897414" cy="611597"/>
            </a:xfrm>
            <a:prstGeom prst="rect">
              <a:avLst/>
            </a:prstGeom>
          </p:spPr>
        </p:pic>
        <p:sp>
          <p:nvSpPr>
            <p:cNvPr id="7" name="Shape 2"/>
            <p:cNvSpPr/>
            <p:nvPr/>
          </p:nvSpPr>
          <p:spPr>
            <a:xfrm>
              <a:off x="12409451" y="494030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8" name="Text 3"/>
            <p:cNvSpPr/>
            <p:nvPr/>
          </p:nvSpPr>
          <p:spPr>
            <a:xfrm>
              <a:off x="12684652" y="5029200"/>
              <a:ext cx="656249"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Source</a:t>
              </a:r>
              <a:endParaRPr lang="en-US" sz="1400" dirty="0"/>
            </a:p>
          </p:txBody>
        </p:sp>
      </p:grpSp>
      <p:grpSp>
        <p:nvGrpSpPr>
          <p:cNvPr id="54" name="Group 53">
            <a:extLst>
              <a:ext uri="{FF2B5EF4-FFF2-40B4-BE49-F238E27FC236}">
                <a16:creationId xmlns:a16="http://schemas.microsoft.com/office/drawing/2014/main" id="{24406FA1-3ECC-4BE6-993A-A25A3B9A92F9}"/>
              </a:ext>
            </a:extLst>
          </p:cNvPr>
          <p:cNvGrpSpPr/>
          <p:nvPr/>
        </p:nvGrpSpPr>
        <p:grpSpPr>
          <a:xfrm>
            <a:off x="14344970" y="4533900"/>
            <a:ext cx="1897414" cy="5245100"/>
            <a:chOff x="14344970" y="4533900"/>
            <a:chExt cx="1897414" cy="5245100"/>
          </a:xfrm>
        </p:grpSpPr>
        <p:sp>
          <p:nvSpPr>
            <p:cNvPr id="9" name="Text 4"/>
            <p:cNvSpPr/>
            <p:nvPr/>
          </p:nvSpPr>
          <p:spPr>
            <a:xfrm>
              <a:off x="14683035" y="4533900"/>
              <a:ext cx="1261691"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ETL Process</a:t>
              </a:r>
              <a:endParaRPr lang="en-US" sz="1600" dirty="0"/>
            </a:p>
          </p:txBody>
        </p:sp>
        <p:pic>
          <p:nvPicPr>
            <p:cNvPr id="10"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344970" y="5937250"/>
              <a:ext cx="1897414" cy="3841750"/>
            </a:xfrm>
            <a:prstGeom prst="rect">
              <a:avLst/>
            </a:prstGeom>
          </p:spPr>
        </p:pic>
        <p:pic>
          <p:nvPicPr>
            <p:cNvPr id="11" name="Image 4"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91238" y="6540500"/>
              <a:ext cx="12702" cy="3238500"/>
            </a:xfrm>
            <a:prstGeom prst="rect">
              <a:avLst/>
            </a:prstGeom>
          </p:spPr>
        </p:pic>
        <p:pic>
          <p:nvPicPr>
            <p:cNvPr id="12" name="Image 5"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344970" y="5930900"/>
              <a:ext cx="1897414" cy="611597"/>
            </a:xfrm>
            <a:prstGeom prst="rect">
              <a:avLst/>
            </a:prstGeom>
          </p:spPr>
        </p:pic>
        <p:sp>
          <p:nvSpPr>
            <p:cNvPr id="13" name="Shape 5"/>
            <p:cNvSpPr/>
            <p:nvPr/>
          </p:nvSpPr>
          <p:spPr>
            <a:xfrm>
              <a:off x="14683035" y="494030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14" name="Text 6"/>
            <p:cNvSpPr/>
            <p:nvPr/>
          </p:nvSpPr>
          <p:spPr>
            <a:xfrm>
              <a:off x="14818519" y="5029200"/>
              <a:ext cx="922982"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Transform</a:t>
              </a:r>
              <a:endParaRPr lang="en-US" sz="1400" dirty="0"/>
            </a:p>
          </p:txBody>
        </p:sp>
      </p:grpSp>
      <p:grpSp>
        <p:nvGrpSpPr>
          <p:cNvPr id="56" name="Group 55">
            <a:extLst>
              <a:ext uri="{FF2B5EF4-FFF2-40B4-BE49-F238E27FC236}">
                <a16:creationId xmlns:a16="http://schemas.microsoft.com/office/drawing/2014/main" id="{432F05E8-7706-4007-AFA1-830A94F19785}"/>
              </a:ext>
            </a:extLst>
          </p:cNvPr>
          <p:cNvGrpSpPr/>
          <p:nvPr/>
        </p:nvGrpSpPr>
        <p:grpSpPr>
          <a:xfrm>
            <a:off x="16623432" y="4152900"/>
            <a:ext cx="1897414" cy="6643092"/>
            <a:chOff x="16623432" y="4152900"/>
            <a:chExt cx="1897414" cy="6643092"/>
          </a:xfrm>
        </p:grpSpPr>
        <p:sp>
          <p:nvSpPr>
            <p:cNvPr id="15" name="Text 7"/>
            <p:cNvSpPr/>
            <p:nvPr/>
          </p:nvSpPr>
          <p:spPr>
            <a:xfrm>
              <a:off x="16770329" y="4152900"/>
              <a:ext cx="1617335" cy="677333"/>
            </a:xfrm>
            <a:prstGeom prst="rect">
              <a:avLst/>
            </a:prstGeom>
            <a:noFill/>
            <a:ln/>
          </p:spPr>
          <p:txBody>
            <a:bodyPr wrap="square" lIns="0" tIns="0" rIns="0" bIns="0" rtlCol="0" anchor="t"/>
            <a:lstStyle/>
            <a:p>
              <a:pPr marL="0" indent="0" algn="ctr">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Customer Segmentation</a:t>
              </a:r>
              <a:endParaRPr lang="en-US" sz="1600" dirty="0"/>
            </a:p>
          </p:txBody>
        </p:sp>
        <p:pic>
          <p:nvPicPr>
            <p:cNvPr id="16" name="Image 6"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623432" y="5937250"/>
              <a:ext cx="1897414" cy="4858742"/>
            </a:xfrm>
            <a:prstGeom prst="rect">
              <a:avLst/>
            </a:prstGeom>
          </p:spPr>
        </p:pic>
        <p:pic>
          <p:nvPicPr>
            <p:cNvPr id="17" name="Image 7"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569700" y="6540500"/>
              <a:ext cx="12702" cy="4254500"/>
            </a:xfrm>
            <a:prstGeom prst="rect">
              <a:avLst/>
            </a:prstGeom>
          </p:spPr>
        </p:pic>
        <p:pic>
          <p:nvPicPr>
            <p:cNvPr id="18" name="Image 8"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623432" y="5930900"/>
              <a:ext cx="1897414" cy="611597"/>
            </a:xfrm>
            <a:prstGeom prst="rect">
              <a:avLst/>
            </a:prstGeom>
          </p:spPr>
        </p:pic>
        <p:sp>
          <p:nvSpPr>
            <p:cNvPr id="19" name="Shape 8"/>
            <p:cNvSpPr/>
            <p:nvPr/>
          </p:nvSpPr>
          <p:spPr>
            <a:xfrm>
              <a:off x="16969321" y="494030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20" name="Text 9"/>
            <p:cNvSpPr/>
            <p:nvPr/>
          </p:nvSpPr>
          <p:spPr>
            <a:xfrm>
              <a:off x="17282627" y="5029200"/>
              <a:ext cx="580039"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Model</a:t>
              </a:r>
              <a:endParaRPr lang="en-US" sz="1400" dirty="0"/>
            </a:p>
          </p:txBody>
        </p:sp>
      </p:grpSp>
      <p:grpSp>
        <p:nvGrpSpPr>
          <p:cNvPr id="57" name="Group 56">
            <a:extLst>
              <a:ext uri="{FF2B5EF4-FFF2-40B4-BE49-F238E27FC236}">
                <a16:creationId xmlns:a16="http://schemas.microsoft.com/office/drawing/2014/main" id="{D4438650-FB24-4019-A6A0-7100A95F15D5}"/>
              </a:ext>
            </a:extLst>
          </p:cNvPr>
          <p:cNvGrpSpPr/>
          <p:nvPr/>
        </p:nvGrpSpPr>
        <p:grpSpPr>
          <a:xfrm>
            <a:off x="18866091" y="4152900"/>
            <a:ext cx="1960278" cy="5626100"/>
            <a:chOff x="18866091" y="4152900"/>
            <a:chExt cx="1960278" cy="5626100"/>
          </a:xfrm>
        </p:grpSpPr>
        <p:sp>
          <p:nvSpPr>
            <p:cNvPr id="21" name="Text 10"/>
            <p:cNvSpPr/>
            <p:nvPr/>
          </p:nvSpPr>
          <p:spPr>
            <a:xfrm>
              <a:off x="18866091" y="4152900"/>
              <a:ext cx="1960278" cy="677333"/>
            </a:xfrm>
            <a:prstGeom prst="rect">
              <a:avLst/>
            </a:prstGeom>
            <a:noFill/>
            <a:ln/>
          </p:spPr>
          <p:txBody>
            <a:bodyPr wrap="square" lIns="0" tIns="0" rIns="0" bIns="0" rtlCol="0" anchor="t"/>
            <a:lstStyle/>
            <a:p>
              <a:pPr marL="0" indent="0" algn="ctr">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Customer Lifetime Value (CLTV)</a:t>
              </a:r>
              <a:endParaRPr lang="en-US" sz="1600" dirty="0"/>
            </a:p>
          </p:txBody>
        </p:sp>
        <p:pic>
          <p:nvPicPr>
            <p:cNvPr id="22" name="Image 9"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8901894" y="5937250"/>
              <a:ext cx="1897414" cy="3841750"/>
            </a:xfrm>
            <a:prstGeom prst="rect">
              <a:avLst/>
            </a:prstGeom>
          </p:spPr>
        </p:pic>
        <p:pic>
          <p:nvPicPr>
            <p:cNvPr id="23" name="Image 10"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9848162" y="6540500"/>
              <a:ext cx="12702" cy="3238500"/>
            </a:xfrm>
            <a:prstGeom prst="rect">
              <a:avLst/>
            </a:prstGeom>
          </p:spPr>
        </p:pic>
        <p:pic>
          <p:nvPicPr>
            <p:cNvPr id="24" name="Image 11"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8901894" y="5930900"/>
              <a:ext cx="1897414" cy="611597"/>
            </a:xfrm>
            <a:prstGeom prst="rect">
              <a:avLst/>
            </a:prstGeom>
          </p:spPr>
        </p:pic>
        <p:sp>
          <p:nvSpPr>
            <p:cNvPr id="25" name="Shape 11"/>
            <p:cNvSpPr/>
            <p:nvPr/>
          </p:nvSpPr>
          <p:spPr>
            <a:xfrm>
              <a:off x="19242905" y="494030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26" name="Text 12"/>
            <p:cNvSpPr/>
            <p:nvPr/>
          </p:nvSpPr>
          <p:spPr>
            <a:xfrm>
              <a:off x="19352985" y="5029200"/>
              <a:ext cx="986490"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Dashboard</a:t>
              </a:r>
              <a:endParaRPr lang="en-US" sz="1400" dirty="0"/>
            </a:p>
          </p:txBody>
        </p:sp>
      </p:grpSp>
      <p:sp>
        <p:nvSpPr>
          <p:cNvPr id="27" name="Text 13"/>
          <p:cNvSpPr/>
          <p:nvPr/>
        </p:nvSpPr>
        <p:spPr>
          <a:xfrm>
            <a:off x="1524191" y="1524000"/>
            <a:ext cx="8069742"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Lineage &amp; Catalog (Trust Layer)</a:t>
            </a:r>
            <a:endParaRPr lang="en-US" sz="6400" dirty="0"/>
          </a:p>
        </p:txBody>
      </p:sp>
      <p:sp>
        <p:nvSpPr>
          <p:cNvPr id="28" name="Text 14"/>
          <p:cNvSpPr/>
          <p:nvPr/>
        </p:nvSpPr>
        <p:spPr>
          <a:xfrm>
            <a:off x="12041105" y="1524000"/>
            <a:ext cx="7726799" cy="9821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Real-time processing allows immediate data analysis, crucial for online transactions. Batch processing collects data over time for tasks like payroll. </a:t>
            </a:r>
            <a:r>
              <a:rPr lang="en-US" sz="1600" dirty="0">
                <a:solidFill>
                  <a:srgbClr val="454545">
                    <a:alpha val="100000"/>
                  </a:srgbClr>
                </a:solidFill>
                <a:latin typeface="Inter Regular" pitchFamily="34" charset="0"/>
                <a:ea typeface="Inter Regular" pitchFamily="34" charset="-122"/>
                <a:cs typeface="Inter Regular" pitchFamily="34" charset="-120"/>
              </a:rPr>
              <a:t>Each method has its advantages based on business needs.</a:t>
            </a:r>
            <a:endParaRPr lang="en-US" sz="1600" dirty="0"/>
          </a:p>
        </p:txBody>
      </p:sp>
      <p:sp>
        <p:nvSpPr>
          <p:cNvPr id="29" name="Text 15"/>
          <p:cNvSpPr/>
          <p:nvPr/>
        </p:nvSpPr>
        <p:spPr>
          <a:xfrm>
            <a:off x="22375963" y="1524000"/>
            <a:ext cx="516531"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012</a:t>
            </a:r>
            <a:endParaRPr lang="en-US" sz="2000" dirty="0"/>
          </a:p>
        </p:txBody>
      </p:sp>
      <p:grpSp>
        <p:nvGrpSpPr>
          <p:cNvPr id="49" name="Group 48">
            <a:extLst>
              <a:ext uri="{FF2B5EF4-FFF2-40B4-BE49-F238E27FC236}">
                <a16:creationId xmlns:a16="http://schemas.microsoft.com/office/drawing/2014/main" id="{C96747D6-8112-473C-926E-6965D4B9D432}"/>
              </a:ext>
            </a:extLst>
          </p:cNvPr>
          <p:cNvGrpSpPr/>
          <p:nvPr/>
        </p:nvGrpSpPr>
        <p:grpSpPr>
          <a:xfrm>
            <a:off x="1524191" y="4330700"/>
            <a:ext cx="6528616" cy="1905000"/>
            <a:chOff x="1524191" y="4330700"/>
            <a:chExt cx="6528616" cy="1905000"/>
          </a:xfrm>
        </p:grpSpPr>
        <p:sp>
          <p:nvSpPr>
            <p:cNvPr id="30" name="Shape 16"/>
            <p:cNvSpPr/>
            <p:nvPr/>
          </p:nvSpPr>
          <p:spPr>
            <a:xfrm>
              <a:off x="1524191" y="4330700"/>
              <a:ext cx="6528616" cy="1905000"/>
            </a:xfrm>
            <a:prstGeom prst="rect">
              <a:avLst/>
            </a:prstGeom>
            <a:noFill/>
            <a:ln/>
          </p:spPr>
        </p:sp>
        <p:sp>
          <p:nvSpPr>
            <p:cNvPr id="31" name="Shape 17"/>
            <p:cNvSpPr/>
            <p:nvPr/>
          </p:nvSpPr>
          <p:spPr>
            <a:xfrm>
              <a:off x="1524191" y="4330700"/>
              <a:ext cx="6528616" cy="1905000"/>
            </a:xfrm>
            <a:prstGeom prst="roundRect">
              <a:avLst>
                <a:gd name="adj" fmla="val 6720"/>
              </a:avLst>
            </a:prstGeom>
            <a:solidFill>
              <a:srgbClr val="F6F6F6">
                <a:alpha val="100000"/>
              </a:srgbClr>
            </a:solidFill>
            <a:ln w="12700">
              <a:solidFill>
                <a:srgbClr val="D1D1D1"/>
              </a:solidFill>
              <a:prstDash val="solid"/>
            </a:ln>
          </p:spPr>
        </p:sp>
        <p:sp>
          <p:nvSpPr>
            <p:cNvPr id="32" name="Text 18"/>
            <p:cNvSpPr/>
            <p:nvPr/>
          </p:nvSpPr>
          <p:spPr>
            <a:xfrm>
              <a:off x="2692737" y="5194300"/>
              <a:ext cx="4551402" cy="677333"/>
            </a:xfrm>
            <a:prstGeom prst="rect">
              <a:avLst/>
            </a:prstGeom>
            <a:noFill/>
            <a:ln/>
          </p:spPr>
          <p:txBody>
            <a:bodyPr wrap="square" lIns="0" tIns="0" rIns="0" bIns="0" rtlCol="0" anchor="t"/>
            <a:lstStyle/>
            <a:p>
              <a:pPr marL="0" indent="0" algn="l">
                <a:lnSpc>
                  <a:spcPts val="2400"/>
                </a:lnSpc>
                <a:buNone/>
              </a:pPr>
              <a:r>
                <a:rPr lang="en-US" sz="1600" dirty="0">
                  <a:solidFill>
                    <a:srgbClr val="6D6D6D">
                      <a:alpha val="100000"/>
                    </a:srgbClr>
                  </a:solidFill>
                  <a:latin typeface="Inter Regular" pitchFamily="34" charset="0"/>
                  <a:ea typeface="Inter Regular" pitchFamily="34" charset="-122"/>
                  <a:cs typeface="Inter Regular" pitchFamily="34" charset="-120"/>
                </a:rPr>
                <a:t>A user logged in the last 30 days for better engagement tracking.</a:t>
              </a:r>
              <a:endParaRPr lang="en-US" sz="1600" dirty="0"/>
            </a:p>
          </p:txBody>
        </p:sp>
        <p:sp>
          <p:nvSpPr>
            <p:cNvPr id="33" name="Text 19"/>
            <p:cNvSpPr/>
            <p:nvPr/>
          </p:nvSpPr>
          <p:spPr>
            <a:xfrm>
              <a:off x="2692737" y="4711700"/>
              <a:ext cx="1223586" cy="372533"/>
            </a:xfrm>
            <a:prstGeom prst="rect">
              <a:avLst/>
            </a:prstGeom>
            <a:noFill/>
            <a:ln/>
          </p:spPr>
          <p:txBody>
            <a:bodyPr wrap="square" lIns="0" tIns="0" rIns="0" bIns="0" rtlCol="0" anchor="t"/>
            <a:lstStyle/>
            <a:p>
              <a:pPr marL="0" indent="0" algn="l">
                <a:lnSpc>
                  <a:spcPts val="2400"/>
                </a:lnSpc>
                <a:buNone/>
              </a:pPr>
              <a:r>
                <a:rPr lang="en-US" sz="1600" dirty="0">
                  <a:solidFill>
                    <a:srgbClr val="6D6D6D">
                      <a:alpha val="100000"/>
                    </a:srgbClr>
                  </a:solidFill>
                  <a:latin typeface="Inter Bold" pitchFamily="34" charset="0"/>
                  <a:ea typeface="Inter Bold" pitchFamily="34" charset="-122"/>
                  <a:cs typeface="Inter Bold" pitchFamily="34" charset="-120"/>
                </a:rPr>
                <a:t>Active User</a:t>
              </a:r>
              <a:endParaRPr lang="en-US" sz="1600" dirty="0"/>
            </a:p>
          </p:txBody>
        </p:sp>
        <p:pic>
          <p:nvPicPr>
            <p:cNvPr id="35" name="Image 13"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2133867" y="4737100"/>
              <a:ext cx="101613" cy="101600"/>
            </a:xfrm>
            <a:prstGeom prst="rect">
              <a:avLst/>
            </a:prstGeom>
          </p:spPr>
        </p:pic>
        <p:pic>
          <p:nvPicPr>
            <p:cNvPr id="36" name="Image 14"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2083060" y="4876800"/>
              <a:ext cx="203225" cy="114300"/>
            </a:xfrm>
            <a:prstGeom prst="rect">
              <a:avLst/>
            </a:prstGeom>
          </p:spPr>
        </p:pic>
      </p:grpSp>
      <p:grpSp>
        <p:nvGrpSpPr>
          <p:cNvPr id="53" name="Group 52">
            <a:extLst>
              <a:ext uri="{FF2B5EF4-FFF2-40B4-BE49-F238E27FC236}">
                <a16:creationId xmlns:a16="http://schemas.microsoft.com/office/drawing/2014/main" id="{2A67D531-BB2B-4BDE-8B53-FDF87EB64F36}"/>
              </a:ext>
            </a:extLst>
          </p:cNvPr>
          <p:cNvGrpSpPr/>
          <p:nvPr/>
        </p:nvGrpSpPr>
        <p:grpSpPr>
          <a:xfrm>
            <a:off x="1524191" y="6489700"/>
            <a:ext cx="6528616" cy="1905000"/>
            <a:chOff x="1524191" y="6489700"/>
            <a:chExt cx="6528616" cy="1905000"/>
          </a:xfrm>
        </p:grpSpPr>
        <p:sp>
          <p:nvSpPr>
            <p:cNvPr id="37" name="Shape 20"/>
            <p:cNvSpPr/>
            <p:nvPr/>
          </p:nvSpPr>
          <p:spPr>
            <a:xfrm>
              <a:off x="1524191" y="6489700"/>
              <a:ext cx="6528616" cy="1905000"/>
            </a:xfrm>
            <a:prstGeom prst="rect">
              <a:avLst/>
            </a:prstGeom>
            <a:noFill/>
            <a:ln/>
          </p:spPr>
        </p:sp>
        <p:sp>
          <p:nvSpPr>
            <p:cNvPr id="38" name="Shape 21"/>
            <p:cNvSpPr/>
            <p:nvPr/>
          </p:nvSpPr>
          <p:spPr>
            <a:xfrm>
              <a:off x="1524191" y="6489700"/>
              <a:ext cx="6528616" cy="1905000"/>
            </a:xfrm>
            <a:prstGeom prst="roundRect">
              <a:avLst>
                <a:gd name="adj" fmla="val 6720"/>
              </a:avLst>
            </a:prstGeom>
            <a:solidFill>
              <a:srgbClr val="F6F6F6">
                <a:alpha val="100000"/>
              </a:srgbClr>
            </a:solidFill>
            <a:ln w="12700">
              <a:solidFill>
                <a:srgbClr val="D1D1D1"/>
              </a:solidFill>
              <a:prstDash val="solid"/>
            </a:ln>
          </p:spPr>
        </p:sp>
        <p:sp>
          <p:nvSpPr>
            <p:cNvPr id="39" name="Text 22"/>
            <p:cNvSpPr/>
            <p:nvPr/>
          </p:nvSpPr>
          <p:spPr>
            <a:xfrm>
              <a:off x="2692737" y="7353300"/>
              <a:ext cx="4551402" cy="677333"/>
            </a:xfrm>
            <a:prstGeom prst="rect">
              <a:avLst/>
            </a:prstGeom>
            <a:noFill/>
            <a:ln/>
          </p:spPr>
          <p:txBody>
            <a:bodyPr wrap="square" lIns="0" tIns="0" rIns="0" bIns="0" rtlCol="0" anchor="t"/>
            <a:lstStyle/>
            <a:p>
              <a:pPr marL="0" indent="0" algn="l">
                <a:lnSpc>
                  <a:spcPts val="2400"/>
                </a:lnSpc>
                <a:buNone/>
              </a:pPr>
              <a:r>
                <a:rPr lang="en-US" dirty="0"/>
                <a:t>Revenue expected from a customer over their relationship. This </a:t>
              </a:r>
              <a:r>
                <a:rPr lang="en-US"/>
                <a:t>metric guides retention.</a:t>
              </a:r>
              <a:endParaRPr lang="en-US" dirty="0"/>
            </a:p>
          </p:txBody>
        </p:sp>
        <p:sp>
          <p:nvSpPr>
            <p:cNvPr id="40" name="Text 23"/>
            <p:cNvSpPr/>
            <p:nvPr/>
          </p:nvSpPr>
          <p:spPr>
            <a:xfrm>
              <a:off x="2692737" y="6870700"/>
              <a:ext cx="3268542" cy="372533"/>
            </a:xfrm>
            <a:prstGeom prst="rect">
              <a:avLst/>
            </a:prstGeom>
            <a:noFill/>
            <a:ln/>
          </p:spPr>
          <p:txBody>
            <a:bodyPr wrap="square" lIns="0" tIns="0" rIns="0" bIns="0" rtlCol="0" anchor="t"/>
            <a:lstStyle/>
            <a:p>
              <a:pPr marL="0" indent="0" algn="l">
                <a:lnSpc>
                  <a:spcPts val="2400"/>
                </a:lnSpc>
                <a:buNone/>
              </a:pPr>
              <a:r>
                <a:rPr lang="en-US" dirty="0"/>
                <a:t>Customer </a:t>
              </a:r>
              <a:r>
                <a:rPr lang="en-US"/>
                <a:t>Lifetime Value (CLTV)</a:t>
              </a:r>
              <a:endParaRPr lang="en-US" dirty="0"/>
            </a:p>
          </p:txBody>
        </p:sp>
        <p:pic>
          <p:nvPicPr>
            <p:cNvPr id="42" name="Image 16"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032677" y="6872374"/>
              <a:ext cx="303955" cy="302034"/>
            </a:xfrm>
            <a:prstGeom prst="rect">
              <a:avLst/>
            </a:prstGeom>
          </p:spPr>
        </p:pic>
      </p:grpSp>
      <p:grpSp>
        <p:nvGrpSpPr>
          <p:cNvPr id="50" name="Group 49">
            <a:extLst>
              <a:ext uri="{FF2B5EF4-FFF2-40B4-BE49-F238E27FC236}">
                <a16:creationId xmlns:a16="http://schemas.microsoft.com/office/drawing/2014/main" id="{09DA191A-CA78-4A90-94CC-D02A62B465EB}"/>
              </a:ext>
            </a:extLst>
          </p:cNvPr>
          <p:cNvGrpSpPr/>
          <p:nvPr/>
        </p:nvGrpSpPr>
        <p:grpSpPr>
          <a:xfrm>
            <a:off x="1524191" y="8648700"/>
            <a:ext cx="6528616" cy="1905000"/>
            <a:chOff x="1524191" y="8648700"/>
            <a:chExt cx="6528616" cy="1905000"/>
          </a:xfrm>
        </p:grpSpPr>
        <p:sp>
          <p:nvSpPr>
            <p:cNvPr id="43" name="Shape 24"/>
            <p:cNvSpPr/>
            <p:nvPr/>
          </p:nvSpPr>
          <p:spPr>
            <a:xfrm>
              <a:off x="1524191" y="8648700"/>
              <a:ext cx="6528616" cy="1905000"/>
            </a:xfrm>
            <a:prstGeom prst="rect">
              <a:avLst/>
            </a:prstGeom>
            <a:noFill/>
            <a:ln/>
          </p:spPr>
        </p:sp>
        <p:sp>
          <p:nvSpPr>
            <p:cNvPr id="44" name="Shape 25"/>
            <p:cNvSpPr/>
            <p:nvPr/>
          </p:nvSpPr>
          <p:spPr>
            <a:xfrm>
              <a:off x="1524191" y="8648700"/>
              <a:ext cx="6528616" cy="1905000"/>
            </a:xfrm>
            <a:prstGeom prst="roundRect">
              <a:avLst>
                <a:gd name="adj" fmla="val 6720"/>
              </a:avLst>
            </a:prstGeom>
            <a:solidFill>
              <a:srgbClr val="F6F6F6">
                <a:alpha val="100000"/>
              </a:srgbClr>
            </a:solidFill>
            <a:ln w="12700">
              <a:solidFill>
                <a:srgbClr val="D1D1D1"/>
              </a:solidFill>
              <a:prstDash val="solid"/>
            </a:ln>
          </p:spPr>
        </p:sp>
        <p:sp>
          <p:nvSpPr>
            <p:cNvPr id="45" name="Text 26"/>
            <p:cNvSpPr/>
            <p:nvPr/>
          </p:nvSpPr>
          <p:spPr>
            <a:xfrm>
              <a:off x="2692737" y="9512300"/>
              <a:ext cx="4551402" cy="677333"/>
            </a:xfrm>
            <a:prstGeom prst="rect">
              <a:avLst/>
            </a:prstGeom>
            <a:noFill/>
            <a:ln/>
          </p:spPr>
          <p:txBody>
            <a:bodyPr wrap="square" lIns="0" tIns="0" rIns="0" bIns="0" rtlCol="0" anchor="t"/>
            <a:lstStyle/>
            <a:p>
              <a:pPr marL="0" indent="0" algn="l">
                <a:lnSpc>
                  <a:spcPts val="2400"/>
                </a:lnSpc>
                <a:buNone/>
              </a:pPr>
              <a:r>
                <a:rPr lang="en-US" sz="1600" dirty="0">
                  <a:solidFill>
                    <a:srgbClr val="6D6D6D">
                      <a:alpha val="100000"/>
                    </a:srgbClr>
                  </a:solidFill>
                  <a:latin typeface="Inter Regular" pitchFamily="34" charset="0"/>
                  <a:ea typeface="Inter Regular" pitchFamily="34" charset="-122"/>
                  <a:cs typeface="Inter Regular" pitchFamily="34" charset="-120"/>
                </a:rPr>
                <a:t>The average number of purchases made by a customer over a given time period.</a:t>
              </a:r>
              <a:endParaRPr lang="en-US" sz="1600" dirty="0"/>
            </a:p>
          </p:txBody>
        </p:sp>
        <p:sp>
          <p:nvSpPr>
            <p:cNvPr id="46" name="Text 27"/>
            <p:cNvSpPr/>
            <p:nvPr/>
          </p:nvSpPr>
          <p:spPr>
            <a:xfrm>
              <a:off x="2692737" y="9029700"/>
              <a:ext cx="2112697" cy="372533"/>
            </a:xfrm>
            <a:prstGeom prst="rect">
              <a:avLst/>
            </a:prstGeom>
            <a:noFill/>
            <a:ln/>
          </p:spPr>
          <p:txBody>
            <a:bodyPr wrap="square" lIns="0" tIns="0" rIns="0" bIns="0" rtlCol="0" anchor="t"/>
            <a:lstStyle/>
            <a:p>
              <a:pPr marL="0" indent="0" algn="l">
                <a:lnSpc>
                  <a:spcPts val="2400"/>
                </a:lnSpc>
                <a:buNone/>
              </a:pPr>
              <a:r>
                <a:rPr lang="en-US" sz="1600" dirty="0">
                  <a:solidFill>
                    <a:srgbClr val="6D6D6D">
                      <a:alpha val="100000"/>
                    </a:srgbClr>
                  </a:solidFill>
                  <a:latin typeface="Inter Bold" pitchFamily="34" charset="0"/>
                  <a:ea typeface="Inter Bold" pitchFamily="34" charset="-122"/>
                  <a:cs typeface="Inter Bold" pitchFamily="34" charset="-120"/>
                </a:rPr>
                <a:t>Purchase Frequency</a:t>
              </a:r>
              <a:endParaRPr lang="en-US" sz="1600" dirty="0"/>
            </a:p>
          </p:txBody>
        </p:sp>
        <p:pic>
          <p:nvPicPr>
            <p:cNvPr id="48" name="Image 18" descr=" "/>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057657" y="9055100"/>
              <a:ext cx="243509" cy="243483"/>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graphicFrame>
        <p:nvGraphicFramePr>
          <p:cNvPr id="58" name="Chart 57">
            <a:extLst>
              <a:ext uri="{FF2B5EF4-FFF2-40B4-BE49-F238E27FC236}">
                <a16:creationId xmlns:a16="http://schemas.microsoft.com/office/drawing/2014/main" id="{266F0486-8EC3-44C3-B077-8D01748CE6D1}"/>
              </a:ext>
            </a:extLst>
          </p:cNvPr>
          <p:cNvGraphicFramePr/>
          <p:nvPr>
            <p:extLst>
              <p:ext uri="{D42A27DB-BD31-4B8C-83A1-F6EECF244321}">
                <p14:modId xmlns:p14="http://schemas.microsoft.com/office/powerpoint/2010/main" val="2781143086"/>
              </p:ext>
            </p:extLst>
          </p:nvPr>
        </p:nvGraphicFramePr>
        <p:xfrm>
          <a:off x="1824587" y="5168900"/>
          <a:ext cx="6276318" cy="611505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 0"/>
          <p:cNvSpPr/>
          <p:nvPr/>
        </p:nvSpPr>
        <p:spPr>
          <a:xfrm>
            <a:off x="1524191" y="1524000"/>
            <a:ext cx="8069742"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Real-Time vs Batch Processing Lanes</a:t>
            </a:r>
            <a:endParaRPr lang="en-US" sz="6400" dirty="0"/>
          </a:p>
        </p:txBody>
      </p:sp>
      <p:sp>
        <p:nvSpPr>
          <p:cNvPr id="3" name="Text 1"/>
          <p:cNvSpPr/>
          <p:nvPr/>
        </p:nvSpPr>
        <p:spPr>
          <a:xfrm>
            <a:off x="12041105" y="1524000"/>
            <a:ext cx="7726799" cy="9821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Real-time processing allows immediate data analysis, crucial for online transactions. Batch processing collects data over time for tasks like payroll. </a:t>
            </a:r>
            <a:r>
              <a:rPr lang="en-US" sz="1600" dirty="0">
                <a:solidFill>
                  <a:srgbClr val="454545">
                    <a:alpha val="100000"/>
                  </a:srgbClr>
                </a:solidFill>
                <a:latin typeface="Inter Regular" pitchFamily="34" charset="0"/>
                <a:ea typeface="Inter Regular" pitchFamily="34" charset="-122"/>
                <a:cs typeface="Inter Regular" pitchFamily="34" charset="-120"/>
              </a:rPr>
              <a:t>Each method has its advantages based on business needs.</a:t>
            </a:r>
            <a:endParaRPr lang="en-US" sz="1600" dirty="0"/>
          </a:p>
        </p:txBody>
      </p:sp>
      <p:sp>
        <p:nvSpPr>
          <p:cNvPr id="4" name="Text 2"/>
          <p:cNvSpPr/>
          <p:nvPr/>
        </p:nvSpPr>
        <p:spPr>
          <a:xfrm>
            <a:off x="22375963" y="1524000"/>
            <a:ext cx="529233"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013</a:t>
            </a:r>
            <a:endParaRPr lang="en-US" sz="2000" dirty="0"/>
          </a:p>
        </p:txBody>
      </p:sp>
      <p:sp>
        <p:nvSpPr>
          <p:cNvPr id="5" name="Shape 3"/>
          <p:cNvSpPr/>
          <p:nvPr/>
        </p:nvSpPr>
        <p:spPr>
          <a:xfrm>
            <a:off x="2626160" y="3937000"/>
            <a:ext cx="5144144" cy="7361277"/>
          </a:xfrm>
          <a:prstGeom prst="rect">
            <a:avLst/>
          </a:prstGeom>
          <a:noFill/>
          <a:ln/>
        </p:spPr>
      </p:sp>
      <p:sp>
        <p:nvSpPr>
          <p:cNvPr id="6" name="Text 4"/>
          <p:cNvSpPr/>
          <p:nvPr/>
        </p:nvSpPr>
        <p:spPr>
          <a:xfrm>
            <a:off x="2632994" y="6659033"/>
            <a:ext cx="1833262" cy="931333"/>
          </a:xfrm>
          <a:prstGeom prst="rect">
            <a:avLst/>
          </a:prstGeom>
          <a:noFill/>
          <a:ln/>
        </p:spPr>
        <p:txBody>
          <a:bodyPr wrap="square" lIns="0" tIns="0" rIns="0" bIns="0" rtlCol="0" anchor="t"/>
          <a:lstStyle/>
          <a:p>
            <a:pPr marL="0" indent="0" algn="l">
              <a:lnSpc>
                <a:spcPts val="6000"/>
              </a:lnSpc>
              <a:buNone/>
            </a:pPr>
            <a:r>
              <a:rPr lang="en-US" sz="4000" kern="0" spc="-40" dirty="0">
                <a:solidFill>
                  <a:srgbClr val="000000">
                    <a:alpha val="100000"/>
                  </a:srgbClr>
                </a:solidFill>
                <a:latin typeface="Inter Bold" pitchFamily="34" charset="0"/>
                <a:ea typeface="Inter Bold" pitchFamily="34" charset="-122"/>
                <a:cs typeface="Inter Bold" pitchFamily="34" charset="-120"/>
              </a:rPr>
              <a:t>180ms</a:t>
            </a:r>
            <a:endParaRPr lang="en-US" sz="4000" dirty="0"/>
          </a:p>
        </p:txBody>
      </p:sp>
      <p:sp>
        <p:nvSpPr>
          <p:cNvPr id="10" name="Shape 5"/>
          <p:cNvSpPr/>
          <p:nvPr/>
        </p:nvSpPr>
        <p:spPr>
          <a:xfrm>
            <a:off x="2632994" y="6100233"/>
            <a:ext cx="1219352" cy="457200"/>
          </a:xfrm>
          <a:prstGeom prst="roundRect">
            <a:avLst>
              <a:gd name="adj" fmla="val 112000"/>
            </a:avLst>
          </a:prstGeom>
          <a:solidFill>
            <a:srgbClr val="FFD4A5">
              <a:alpha val="100000"/>
            </a:srgbClr>
          </a:solidFill>
          <a:ln w="12700">
            <a:solidFill>
              <a:srgbClr val="FF8B32"/>
            </a:solidFill>
            <a:prstDash val="solid"/>
          </a:ln>
        </p:spPr>
      </p:sp>
      <p:sp>
        <p:nvSpPr>
          <p:cNvPr id="11" name="Text 6"/>
          <p:cNvSpPr/>
          <p:nvPr/>
        </p:nvSpPr>
        <p:spPr>
          <a:xfrm>
            <a:off x="2781179" y="6189133"/>
            <a:ext cx="910280"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Real-Time</a:t>
            </a:r>
            <a:endParaRPr lang="en-US" sz="1400" dirty="0"/>
          </a:p>
        </p:txBody>
      </p:sp>
      <p:sp>
        <p:nvSpPr>
          <p:cNvPr id="12" name="Text 7"/>
          <p:cNvSpPr/>
          <p:nvPr/>
        </p:nvSpPr>
        <p:spPr>
          <a:xfrm>
            <a:off x="5509420" y="4495800"/>
            <a:ext cx="2023786" cy="931333"/>
          </a:xfrm>
          <a:prstGeom prst="rect">
            <a:avLst/>
          </a:prstGeom>
          <a:noFill/>
          <a:ln/>
        </p:spPr>
        <p:txBody>
          <a:bodyPr wrap="square" lIns="0" tIns="0" rIns="0" bIns="0" rtlCol="0" anchor="t"/>
          <a:lstStyle/>
          <a:p>
            <a:pPr marL="0" indent="0" algn="l">
              <a:lnSpc>
                <a:spcPts val="6000"/>
              </a:lnSpc>
              <a:buNone/>
            </a:pPr>
            <a:r>
              <a:rPr lang="en-US" sz="4000" kern="0" spc="-40" dirty="0">
                <a:solidFill>
                  <a:srgbClr val="000000">
                    <a:alpha val="100000"/>
                  </a:srgbClr>
                </a:solidFill>
                <a:latin typeface="Inter Bold" pitchFamily="34" charset="0"/>
                <a:ea typeface="Inter Bold" pitchFamily="34" charset="-122"/>
                <a:cs typeface="Inter Bold" pitchFamily="34" charset="-120"/>
              </a:rPr>
              <a:t>2 hours</a:t>
            </a:r>
            <a:endParaRPr lang="en-US" sz="4000" dirty="0"/>
          </a:p>
        </p:txBody>
      </p:sp>
      <p:sp>
        <p:nvSpPr>
          <p:cNvPr id="16" name="Shape 8"/>
          <p:cNvSpPr/>
          <p:nvPr/>
        </p:nvSpPr>
        <p:spPr>
          <a:xfrm>
            <a:off x="5509420" y="393700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17" name="Text 9"/>
          <p:cNvSpPr/>
          <p:nvPr/>
        </p:nvSpPr>
        <p:spPr>
          <a:xfrm>
            <a:off x="5835427" y="4025900"/>
            <a:ext cx="554636"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Batch</a:t>
            </a:r>
            <a:endParaRPr lang="en-US" sz="1400" dirty="0"/>
          </a:p>
        </p:txBody>
      </p:sp>
      <p:sp>
        <p:nvSpPr>
          <p:cNvPr id="18" name="Shape 10"/>
          <p:cNvSpPr/>
          <p:nvPr/>
        </p:nvSpPr>
        <p:spPr>
          <a:xfrm>
            <a:off x="12320540" y="3937000"/>
            <a:ext cx="7849581" cy="4076700"/>
          </a:xfrm>
          <a:prstGeom prst="rect">
            <a:avLst/>
          </a:prstGeom>
          <a:noFill/>
          <a:ln/>
        </p:spPr>
      </p:sp>
      <p:sp>
        <p:nvSpPr>
          <p:cNvPr id="19" name="Shape 11"/>
          <p:cNvSpPr/>
          <p:nvPr/>
        </p:nvSpPr>
        <p:spPr>
          <a:xfrm>
            <a:off x="12320540" y="3937000"/>
            <a:ext cx="7849581" cy="4076700"/>
          </a:xfrm>
          <a:prstGeom prst="roundRect">
            <a:avLst>
              <a:gd name="adj" fmla="val 4935"/>
            </a:avLst>
          </a:prstGeom>
          <a:solidFill>
            <a:srgbClr val="F6F6F6">
              <a:alpha val="100000"/>
            </a:srgbClr>
          </a:solidFill>
          <a:ln w="12700">
            <a:solidFill>
              <a:srgbClr val="D1D1D1"/>
            </a:solidFill>
            <a:prstDash val="solid"/>
          </a:ln>
        </p:spPr>
      </p:sp>
      <p:graphicFrame>
        <p:nvGraphicFramePr>
          <p:cNvPr id="62" name="Chart 61">
            <a:extLst>
              <a:ext uri="{FF2B5EF4-FFF2-40B4-BE49-F238E27FC236}">
                <a16:creationId xmlns:a16="http://schemas.microsoft.com/office/drawing/2014/main" id="{4F066471-5A0F-465F-A8E8-EAFF22245C44}"/>
              </a:ext>
            </a:extLst>
          </p:cNvPr>
          <p:cNvGraphicFramePr/>
          <p:nvPr>
            <p:extLst>
              <p:ext uri="{D42A27DB-BD31-4B8C-83A1-F6EECF244321}">
                <p14:modId xmlns:p14="http://schemas.microsoft.com/office/powerpoint/2010/main" val="2780768502"/>
              </p:ext>
            </p:extLst>
          </p:nvPr>
        </p:nvGraphicFramePr>
        <p:xfrm>
          <a:off x="11546490" y="3649367"/>
          <a:ext cx="9258710" cy="4601667"/>
        </p:xfrm>
        <a:graphic>
          <a:graphicData uri="http://schemas.openxmlformats.org/drawingml/2006/chart">
            <c:chart xmlns:c="http://schemas.openxmlformats.org/drawingml/2006/chart" xmlns:r="http://schemas.openxmlformats.org/officeDocument/2006/relationships" r:id="rId4"/>
          </a:graphicData>
        </a:graphic>
      </p:graphicFrame>
      <p:pic>
        <p:nvPicPr>
          <p:cNvPr id="20" name="Image 6"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95237" y="4368800"/>
            <a:ext cx="7093837" cy="2800350"/>
          </a:xfrm>
          <a:prstGeom prst="rect">
            <a:avLst/>
          </a:prstGeom>
        </p:spPr>
      </p:pic>
      <p:sp>
        <p:nvSpPr>
          <p:cNvPr id="21" name="Shape 12"/>
          <p:cNvSpPr/>
          <p:nvPr/>
        </p:nvSpPr>
        <p:spPr>
          <a:xfrm>
            <a:off x="12701588" y="7454900"/>
            <a:ext cx="1270159" cy="304800"/>
          </a:xfrm>
          <a:prstGeom prst="rect">
            <a:avLst/>
          </a:prstGeom>
          <a:noFill/>
          <a:ln/>
        </p:spPr>
      </p:sp>
      <p:sp>
        <p:nvSpPr>
          <p:cNvPr id="22" name="Shape 13"/>
          <p:cNvSpPr/>
          <p:nvPr/>
        </p:nvSpPr>
        <p:spPr>
          <a:xfrm>
            <a:off x="12701588" y="7518400"/>
            <a:ext cx="177822" cy="177800"/>
          </a:xfrm>
          <a:prstGeom prst="ellipse">
            <a:avLst/>
          </a:prstGeom>
          <a:solidFill>
            <a:srgbClr val="FF5102">
              <a:alpha val="100000"/>
            </a:srgbClr>
          </a:solidFill>
          <a:ln/>
        </p:spPr>
      </p:sp>
      <p:sp>
        <p:nvSpPr>
          <p:cNvPr id="23" name="Text 14"/>
          <p:cNvSpPr/>
          <p:nvPr/>
        </p:nvSpPr>
        <p:spPr>
          <a:xfrm>
            <a:off x="13006426" y="7454900"/>
            <a:ext cx="103306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Real-Time</a:t>
            </a:r>
            <a:endParaRPr lang="en-US" sz="1600" dirty="0"/>
          </a:p>
        </p:txBody>
      </p:sp>
      <p:sp>
        <p:nvSpPr>
          <p:cNvPr id="24" name="Shape 15"/>
          <p:cNvSpPr/>
          <p:nvPr/>
        </p:nvSpPr>
        <p:spPr>
          <a:xfrm>
            <a:off x="14174972" y="7454900"/>
            <a:ext cx="863708" cy="304800"/>
          </a:xfrm>
          <a:prstGeom prst="rect">
            <a:avLst/>
          </a:prstGeom>
          <a:noFill/>
          <a:ln/>
        </p:spPr>
      </p:sp>
      <p:sp>
        <p:nvSpPr>
          <p:cNvPr id="25" name="Shape 16"/>
          <p:cNvSpPr/>
          <p:nvPr/>
        </p:nvSpPr>
        <p:spPr>
          <a:xfrm>
            <a:off x="14174972" y="7518400"/>
            <a:ext cx="177822" cy="177800"/>
          </a:xfrm>
          <a:prstGeom prst="ellipse">
            <a:avLst/>
          </a:prstGeom>
          <a:solidFill>
            <a:srgbClr val="FFB66D">
              <a:alpha val="100000"/>
            </a:srgbClr>
          </a:solidFill>
          <a:ln/>
        </p:spPr>
      </p:sp>
      <p:sp>
        <p:nvSpPr>
          <p:cNvPr id="26" name="Text 17"/>
          <p:cNvSpPr/>
          <p:nvPr/>
        </p:nvSpPr>
        <p:spPr>
          <a:xfrm>
            <a:off x="14479810" y="7454900"/>
            <a:ext cx="62661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Batch</a:t>
            </a:r>
            <a:endParaRPr lang="en-US" sz="1600" dirty="0"/>
          </a:p>
        </p:txBody>
      </p:sp>
      <p:sp>
        <p:nvSpPr>
          <p:cNvPr id="29" name="Text 18"/>
          <p:cNvSpPr/>
          <p:nvPr/>
        </p:nvSpPr>
        <p:spPr>
          <a:xfrm>
            <a:off x="13082635" y="4495800"/>
            <a:ext cx="1121974" cy="931333"/>
          </a:xfrm>
          <a:prstGeom prst="rect">
            <a:avLst/>
          </a:prstGeom>
          <a:noFill/>
          <a:ln/>
        </p:spPr>
        <p:txBody>
          <a:bodyPr wrap="square" lIns="0" tIns="0" rIns="0" bIns="0" rtlCol="0" anchor="t"/>
          <a:lstStyle/>
          <a:p>
            <a:pPr marL="0" indent="0" algn="l">
              <a:lnSpc>
                <a:spcPts val="6000"/>
              </a:lnSpc>
              <a:buNone/>
            </a:pPr>
            <a:r>
              <a:rPr lang="en-US" sz="4000" kern="0" spc="-40" dirty="0">
                <a:solidFill>
                  <a:srgbClr val="000000">
                    <a:alpha val="100000"/>
                  </a:srgbClr>
                </a:solidFill>
                <a:latin typeface="Inter Bold" pitchFamily="34" charset="0"/>
                <a:ea typeface="Inter Bold" pitchFamily="34" charset="-122"/>
                <a:cs typeface="Inter Bold" pitchFamily="34" charset="-120"/>
              </a:rPr>
              <a:t>95k</a:t>
            </a:r>
            <a:endParaRPr lang="en-US" sz="4000" dirty="0"/>
          </a:p>
        </p:txBody>
      </p:sp>
      <p:sp>
        <p:nvSpPr>
          <p:cNvPr id="30" name="Text 19"/>
          <p:cNvSpPr/>
          <p:nvPr/>
        </p:nvSpPr>
        <p:spPr>
          <a:xfrm>
            <a:off x="14111464" y="4838700"/>
            <a:ext cx="893345"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events/s</a:t>
            </a:r>
            <a:endParaRPr lang="en-US" sz="1600" dirty="0"/>
          </a:p>
        </p:txBody>
      </p:sp>
      <p:sp>
        <p:nvSpPr>
          <p:cNvPr id="31" name="Shape 20"/>
          <p:cNvSpPr/>
          <p:nvPr/>
        </p:nvSpPr>
        <p:spPr>
          <a:xfrm>
            <a:off x="12320540" y="8839200"/>
            <a:ext cx="9958045" cy="2451100"/>
          </a:xfrm>
          <a:prstGeom prst="rect">
            <a:avLst/>
          </a:prstGeom>
          <a:noFill/>
          <a:ln/>
        </p:spPr>
      </p:sp>
      <p:pic>
        <p:nvPicPr>
          <p:cNvPr id="32" name="Image 9"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320540" y="9652000"/>
            <a:ext cx="9958045" cy="825500"/>
          </a:xfrm>
          <a:prstGeom prst="rect">
            <a:avLst/>
          </a:prstGeom>
        </p:spPr>
      </p:pic>
      <p:pic>
        <p:nvPicPr>
          <p:cNvPr id="33" name="Image 10"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320540" y="10477500"/>
            <a:ext cx="9958045" cy="812800"/>
          </a:xfrm>
          <a:prstGeom prst="rect">
            <a:avLst/>
          </a:prstGeom>
        </p:spPr>
      </p:pic>
      <p:pic>
        <p:nvPicPr>
          <p:cNvPr id="34" name="Image 11"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803700" y="9747250"/>
            <a:ext cx="12702" cy="577143"/>
          </a:xfrm>
          <a:prstGeom prst="rect">
            <a:avLst/>
          </a:prstGeom>
        </p:spPr>
      </p:pic>
      <p:pic>
        <p:nvPicPr>
          <p:cNvPr id="35" name="Image 12"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803700" y="10575106"/>
            <a:ext cx="12702" cy="577143"/>
          </a:xfrm>
          <a:prstGeom prst="rect">
            <a:avLst/>
          </a:prstGeom>
        </p:spPr>
      </p:pic>
      <p:pic>
        <p:nvPicPr>
          <p:cNvPr id="36" name="Image 13"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7293211" y="9747250"/>
            <a:ext cx="12702" cy="577143"/>
          </a:xfrm>
          <a:prstGeom prst="rect">
            <a:avLst/>
          </a:prstGeom>
        </p:spPr>
      </p:pic>
      <p:pic>
        <p:nvPicPr>
          <p:cNvPr id="37" name="Image 14"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293211" y="10575106"/>
            <a:ext cx="12702" cy="577143"/>
          </a:xfrm>
          <a:prstGeom prst="rect">
            <a:avLst/>
          </a:prstGeom>
        </p:spPr>
      </p:pic>
      <p:pic>
        <p:nvPicPr>
          <p:cNvPr id="38" name="Image 15"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9782723" y="9747250"/>
            <a:ext cx="12702" cy="577143"/>
          </a:xfrm>
          <a:prstGeom prst="rect">
            <a:avLst/>
          </a:prstGeom>
        </p:spPr>
      </p:pic>
      <p:pic>
        <p:nvPicPr>
          <p:cNvPr id="39" name="Image 16"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9782723" y="10575106"/>
            <a:ext cx="12702" cy="577143"/>
          </a:xfrm>
          <a:prstGeom prst="rect">
            <a:avLst/>
          </a:prstGeom>
        </p:spPr>
      </p:pic>
      <p:pic>
        <p:nvPicPr>
          <p:cNvPr id="40" name="Image 17"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568221" y="10471150"/>
            <a:ext cx="9513489" cy="12700"/>
          </a:xfrm>
          <a:prstGeom prst="rect">
            <a:avLst/>
          </a:prstGeom>
        </p:spPr>
      </p:pic>
      <p:sp>
        <p:nvSpPr>
          <p:cNvPr id="41" name="Text 21"/>
          <p:cNvSpPr/>
          <p:nvPr/>
        </p:nvSpPr>
        <p:spPr>
          <a:xfrm>
            <a:off x="13082635" y="9931400"/>
            <a:ext cx="103306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Real-Time</a:t>
            </a:r>
            <a:endParaRPr lang="en-US" sz="1600" dirty="0"/>
          </a:p>
        </p:txBody>
      </p:sp>
      <p:sp>
        <p:nvSpPr>
          <p:cNvPr id="42" name="Text 22"/>
          <p:cNvSpPr/>
          <p:nvPr/>
        </p:nvSpPr>
        <p:spPr>
          <a:xfrm>
            <a:off x="15724565" y="10731500"/>
            <a:ext cx="664716"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1 hour</a:t>
            </a:r>
            <a:endParaRPr lang="en-US" sz="1600" dirty="0"/>
          </a:p>
        </p:txBody>
      </p:sp>
      <p:sp>
        <p:nvSpPr>
          <p:cNvPr id="43" name="Text 23"/>
          <p:cNvSpPr/>
          <p:nvPr/>
        </p:nvSpPr>
        <p:spPr>
          <a:xfrm>
            <a:off x="15673759" y="9906000"/>
            <a:ext cx="702821"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100ms</a:t>
            </a:r>
            <a:endParaRPr lang="en-US" sz="1600" dirty="0"/>
          </a:p>
        </p:txBody>
      </p:sp>
      <p:sp>
        <p:nvSpPr>
          <p:cNvPr id="44" name="Text 24"/>
          <p:cNvSpPr/>
          <p:nvPr/>
        </p:nvSpPr>
        <p:spPr>
          <a:xfrm>
            <a:off x="18175972" y="10706100"/>
            <a:ext cx="79173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2 hours</a:t>
            </a:r>
            <a:endParaRPr lang="en-US" sz="1600" dirty="0"/>
          </a:p>
        </p:txBody>
      </p:sp>
      <p:sp>
        <p:nvSpPr>
          <p:cNvPr id="45" name="Text 25"/>
          <p:cNvSpPr/>
          <p:nvPr/>
        </p:nvSpPr>
        <p:spPr>
          <a:xfrm>
            <a:off x="18226778" y="9906000"/>
            <a:ext cx="702821"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180ms</a:t>
            </a:r>
            <a:endParaRPr lang="en-US" sz="1600" dirty="0"/>
          </a:p>
        </p:txBody>
      </p:sp>
      <p:sp>
        <p:nvSpPr>
          <p:cNvPr id="46" name="Text 26"/>
          <p:cNvSpPr/>
          <p:nvPr/>
        </p:nvSpPr>
        <p:spPr>
          <a:xfrm>
            <a:off x="20640080" y="10706100"/>
            <a:ext cx="79173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2 hours</a:t>
            </a:r>
            <a:endParaRPr lang="en-US" sz="1600" dirty="0"/>
          </a:p>
        </p:txBody>
      </p:sp>
      <p:sp>
        <p:nvSpPr>
          <p:cNvPr id="47" name="Text 27"/>
          <p:cNvSpPr/>
          <p:nvPr/>
        </p:nvSpPr>
        <p:spPr>
          <a:xfrm>
            <a:off x="20957619" y="9906000"/>
            <a:ext cx="169355"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a:t>
            </a:r>
            <a:endParaRPr lang="en-US" sz="1600" dirty="0"/>
          </a:p>
        </p:txBody>
      </p:sp>
      <p:sp>
        <p:nvSpPr>
          <p:cNvPr id="48" name="Text 28"/>
          <p:cNvSpPr/>
          <p:nvPr/>
        </p:nvSpPr>
        <p:spPr>
          <a:xfrm>
            <a:off x="13285861" y="10655300"/>
            <a:ext cx="62661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Batch</a:t>
            </a:r>
            <a:endParaRPr lang="en-US" sz="1600" dirty="0"/>
          </a:p>
        </p:txBody>
      </p:sp>
      <p:pic>
        <p:nvPicPr>
          <p:cNvPr id="49" name="Image 18"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2320540" y="8839200"/>
            <a:ext cx="2489511" cy="812800"/>
          </a:xfrm>
          <a:prstGeom prst="rect">
            <a:avLst/>
          </a:prstGeom>
        </p:spPr>
      </p:pic>
      <p:sp>
        <p:nvSpPr>
          <p:cNvPr id="50" name="Shape 29"/>
          <p:cNvSpPr/>
          <p:nvPr/>
        </p:nvSpPr>
        <p:spPr>
          <a:xfrm>
            <a:off x="14810051" y="8839200"/>
            <a:ext cx="2489511" cy="812800"/>
          </a:xfrm>
          <a:prstGeom prst="rect">
            <a:avLst/>
          </a:prstGeom>
          <a:solidFill>
            <a:srgbClr val="FF6A0A">
              <a:alpha val="100000"/>
            </a:srgbClr>
          </a:solidFill>
          <a:ln/>
        </p:spPr>
      </p:sp>
      <p:sp>
        <p:nvSpPr>
          <p:cNvPr id="51" name="Shape 30"/>
          <p:cNvSpPr/>
          <p:nvPr/>
        </p:nvSpPr>
        <p:spPr>
          <a:xfrm>
            <a:off x="17299562" y="8839200"/>
            <a:ext cx="2489511" cy="812800"/>
          </a:xfrm>
          <a:prstGeom prst="rect">
            <a:avLst/>
          </a:prstGeom>
          <a:solidFill>
            <a:srgbClr val="FF8B32">
              <a:alpha val="100000"/>
            </a:srgbClr>
          </a:solidFill>
          <a:ln/>
        </p:spPr>
      </p:sp>
      <p:pic>
        <p:nvPicPr>
          <p:cNvPr id="52" name="Image 19"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9789073" y="8839200"/>
            <a:ext cx="2489511" cy="812800"/>
          </a:xfrm>
          <a:prstGeom prst="rect">
            <a:avLst/>
          </a:prstGeom>
        </p:spPr>
      </p:pic>
      <p:sp>
        <p:nvSpPr>
          <p:cNvPr id="53" name="Text 31"/>
          <p:cNvSpPr/>
          <p:nvPr/>
        </p:nvSpPr>
        <p:spPr>
          <a:xfrm>
            <a:off x="12765095" y="9093200"/>
            <a:ext cx="1655440"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Processing Type</a:t>
            </a:r>
            <a:endParaRPr lang="en-US" sz="1600" dirty="0"/>
          </a:p>
        </p:txBody>
      </p:sp>
      <p:sp>
        <p:nvSpPr>
          <p:cNvPr id="54" name="Text 32"/>
          <p:cNvSpPr/>
          <p:nvPr/>
        </p:nvSpPr>
        <p:spPr>
          <a:xfrm>
            <a:off x="15445130" y="9093200"/>
            <a:ext cx="1274393"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P50 Latency</a:t>
            </a:r>
            <a:endParaRPr lang="en-US" sz="1600" dirty="0"/>
          </a:p>
        </p:txBody>
      </p:sp>
      <p:sp>
        <p:nvSpPr>
          <p:cNvPr id="55" name="Text 33"/>
          <p:cNvSpPr/>
          <p:nvPr/>
        </p:nvSpPr>
        <p:spPr>
          <a:xfrm>
            <a:off x="17934642" y="9093200"/>
            <a:ext cx="1274393"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P50 Latency</a:t>
            </a:r>
            <a:endParaRPr lang="en-US" sz="1600" dirty="0"/>
          </a:p>
        </p:txBody>
      </p:sp>
      <p:sp>
        <p:nvSpPr>
          <p:cNvPr id="56" name="Text 34"/>
          <p:cNvSpPr/>
          <p:nvPr/>
        </p:nvSpPr>
        <p:spPr>
          <a:xfrm>
            <a:off x="20805200" y="9093200"/>
            <a:ext cx="461491"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SLA</a:t>
            </a:r>
            <a:endParaRPr lang="en-US" sz="1600" dirty="0"/>
          </a:p>
        </p:txBody>
      </p:sp>
      <p:pic>
        <p:nvPicPr>
          <p:cNvPr id="57" name="Image 20"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2320540" y="8839200"/>
            <a:ext cx="9958045" cy="2451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287052" y="1524000"/>
            <a:ext cx="529233"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014</a:t>
            </a:r>
            <a:endParaRPr lang="en-US" sz="2000" dirty="0"/>
          </a:p>
        </p:txBody>
      </p:sp>
      <p:pic>
        <p:nvPicPr>
          <p:cNvPr id="3"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191" y="1524000"/>
            <a:ext cx="444556" cy="622300"/>
          </a:xfrm>
          <a:prstGeom prst="rect">
            <a:avLst/>
          </a:prstGeom>
        </p:spPr>
      </p:pic>
      <p:sp>
        <p:nvSpPr>
          <p:cNvPr id="4" name="Text 1"/>
          <p:cNvSpPr/>
          <p:nvPr/>
        </p:nvSpPr>
        <p:spPr>
          <a:xfrm>
            <a:off x="2032254" y="1549400"/>
            <a:ext cx="1117740" cy="698500"/>
          </a:xfrm>
          <a:prstGeom prst="rect">
            <a:avLst/>
          </a:prstGeom>
          <a:noFill/>
          <a:ln/>
        </p:spPr>
        <p:txBody>
          <a:bodyPr wrap="square" lIns="0" tIns="0" rIns="0" bIns="0" rtlCol="0" anchor="t"/>
          <a:lstStyle/>
          <a:p>
            <a:pPr marL="0" indent="0" algn="ctr">
              <a:lnSpc>
                <a:spcPts val="4500"/>
              </a:lnSpc>
              <a:buNone/>
            </a:pPr>
            <a:r>
              <a:rPr lang="en-US" sz="3000" kern="0" spc="-120" dirty="0">
                <a:solidFill>
                  <a:srgbClr val="000000">
                    <a:alpha val="100000"/>
                  </a:srgbClr>
                </a:solidFill>
                <a:latin typeface="Funnel Display Bold" pitchFamily="34" charset="0"/>
                <a:ea typeface="Funnel Display Bold" pitchFamily="34" charset="-122"/>
                <a:cs typeface="Funnel Display Bold" pitchFamily="34" charset="-120"/>
              </a:rPr>
              <a:t>Clario</a:t>
            </a:r>
            <a:endParaRPr lang="en-US" sz="3000" dirty="0"/>
          </a:p>
        </p:txBody>
      </p:sp>
      <p:sp>
        <p:nvSpPr>
          <p:cNvPr id="5" name="Text 2"/>
          <p:cNvSpPr/>
          <p:nvPr/>
        </p:nvSpPr>
        <p:spPr>
          <a:xfrm>
            <a:off x="1524191" y="2908300"/>
            <a:ext cx="8069742"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Segmentation &amp; Audience Builder</a:t>
            </a:r>
            <a:endParaRPr lang="en-US" sz="6400" dirty="0"/>
          </a:p>
        </p:txBody>
      </p:sp>
      <p:sp>
        <p:nvSpPr>
          <p:cNvPr id="6" name="Text 3"/>
          <p:cNvSpPr/>
          <p:nvPr/>
        </p:nvSpPr>
        <p:spPr>
          <a:xfrm>
            <a:off x="14644930" y="3035300"/>
            <a:ext cx="7904621" cy="15917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Customer data is often scattered across various platforms, leading to inefficiencies and a lack of cohesive insights. </a:t>
            </a:r>
            <a:r>
              <a:rPr lang="en-US" sz="1600" dirty="0">
                <a:solidFill>
                  <a:srgbClr val="6D6D6D">
                    <a:alpha val="100000"/>
                  </a:srgbClr>
                </a:solidFill>
                <a:latin typeface="Inter Regular" pitchFamily="34" charset="0"/>
                <a:ea typeface="Inter Regular" pitchFamily="34" charset="-122"/>
                <a:cs typeface="Inter Regular" pitchFamily="34" charset="-120"/>
              </a:rPr>
              <a:t>This fragmentation makes it challenging for businesses to understand their customers fully and deliver personalized experiences. Addressing this issue is crucial for enhancing customer relationships and driving growth.</a:t>
            </a:r>
            <a:endParaRPr lang="en-US" sz="1600" dirty="0"/>
          </a:p>
        </p:txBody>
      </p:sp>
      <p:sp>
        <p:nvSpPr>
          <p:cNvPr id="7" name="Shape 4"/>
          <p:cNvSpPr/>
          <p:nvPr/>
        </p:nvSpPr>
        <p:spPr>
          <a:xfrm>
            <a:off x="1524191" y="5321300"/>
            <a:ext cx="10453407" cy="6464300"/>
          </a:xfrm>
          <a:prstGeom prst="rect">
            <a:avLst/>
          </a:prstGeom>
          <a:noFill/>
          <a:ln/>
        </p:spPr>
      </p:sp>
      <p:sp>
        <p:nvSpPr>
          <p:cNvPr id="8" name="Shape 5"/>
          <p:cNvSpPr/>
          <p:nvPr/>
        </p:nvSpPr>
        <p:spPr>
          <a:xfrm>
            <a:off x="5499787" y="5321300"/>
            <a:ext cx="6477810" cy="6464300"/>
          </a:xfrm>
          <a:prstGeom prst="ellipse">
            <a:avLst/>
          </a:prstGeom>
          <a:solidFill>
            <a:srgbClr val="FFB66D">
              <a:alpha val="100000"/>
            </a:srgbClr>
          </a:solidFill>
          <a:ln/>
        </p:spPr>
      </p:sp>
      <p:sp>
        <p:nvSpPr>
          <p:cNvPr id="9" name="Shape 6"/>
          <p:cNvSpPr/>
          <p:nvPr/>
        </p:nvSpPr>
        <p:spPr>
          <a:xfrm>
            <a:off x="8611676" y="758190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10" name="Text 7"/>
          <p:cNvSpPr/>
          <p:nvPr/>
        </p:nvSpPr>
        <p:spPr>
          <a:xfrm>
            <a:off x="8886877" y="7670800"/>
            <a:ext cx="668950"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At-Risk</a:t>
            </a:r>
            <a:endParaRPr lang="en-US" sz="1400" dirty="0"/>
          </a:p>
        </p:txBody>
      </p:sp>
      <p:pic>
        <p:nvPicPr>
          <p:cNvPr id="12"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4191" y="5321300"/>
            <a:ext cx="6477810" cy="6464300"/>
          </a:xfrm>
          <a:prstGeom prst="rect">
            <a:avLst/>
          </a:prstGeom>
        </p:spPr>
      </p:pic>
      <p:sp>
        <p:nvSpPr>
          <p:cNvPr id="36" name="Text 10">
            <a:extLst>
              <a:ext uri="{FF2B5EF4-FFF2-40B4-BE49-F238E27FC236}">
                <a16:creationId xmlns:a16="http://schemas.microsoft.com/office/drawing/2014/main" id="{F0CB1FF9-ED91-469F-9E2F-29E20966C3EF}"/>
              </a:ext>
            </a:extLst>
          </p:cNvPr>
          <p:cNvSpPr/>
          <p:nvPr/>
        </p:nvSpPr>
        <p:spPr>
          <a:xfrm>
            <a:off x="2159037" y="8303683"/>
            <a:ext cx="3658057" cy="1752600"/>
          </a:xfrm>
          <a:prstGeom prst="rect">
            <a:avLst/>
          </a:prstGeom>
          <a:noFill/>
          <a:ln/>
        </p:spPr>
        <p:txBody>
          <a:bodyPr wrap="square" lIns="0" tIns="0" rIns="0" bIns="0" rtlCol="0" anchor="t"/>
          <a:lstStyle/>
          <a:p>
            <a:pPr marL="0" indent="0" algn="l">
              <a:lnSpc>
                <a:spcPts val="10560"/>
              </a:lnSpc>
              <a:buNone/>
            </a:pPr>
            <a:r>
              <a:rPr lang="en-US" sz="9600" kern="0" spc="-96" dirty="0">
                <a:gradFill>
                  <a:gsLst>
                    <a:gs pos="0">
                      <a:schemeClr val="bg1"/>
                    </a:gs>
                    <a:gs pos="100000">
                      <a:schemeClr val="bg1">
                        <a:alpha val="7000"/>
                      </a:schemeClr>
                    </a:gs>
                  </a:gsLst>
                  <a:lin ang="5400000" scaled="1"/>
                </a:gradFill>
                <a:latin typeface="Inter Bold" pitchFamily="34" charset="0"/>
                <a:ea typeface="Inter Bold" pitchFamily="34" charset="-122"/>
                <a:cs typeface="Inter Bold" pitchFamily="34" charset="-120"/>
              </a:rPr>
              <a:t>3.4M</a:t>
            </a:r>
            <a:endParaRPr lang="en-US" sz="9600" dirty="0">
              <a:gradFill>
                <a:gsLst>
                  <a:gs pos="0">
                    <a:schemeClr val="bg1"/>
                  </a:gs>
                  <a:gs pos="100000">
                    <a:schemeClr val="bg1">
                      <a:alpha val="7000"/>
                    </a:schemeClr>
                  </a:gs>
                </a:gsLst>
                <a:lin ang="5400000" scaled="1"/>
              </a:gradFill>
            </a:endParaRPr>
          </a:p>
        </p:txBody>
      </p:sp>
      <p:sp>
        <p:nvSpPr>
          <p:cNvPr id="13" name="Shape 8"/>
          <p:cNvSpPr/>
          <p:nvPr/>
        </p:nvSpPr>
        <p:spPr>
          <a:xfrm>
            <a:off x="2222778" y="7581900"/>
            <a:ext cx="2032254" cy="457200"/>
          </a:xfrm>
          <a:prstGeom prst="roundRect">
            <a:avLst>
              <a:gd name="adj" fmla="val 112000"/>
            </a:avLst>
          </a:prstGeom>
          <a:solidFill>
            <a:srgbClr val="FFD4A5">
              <a:alpha val="100000"/>
            </a:srgbClr>
          </a:solidFill>
          <a:ln w="12700">
            <a:solidFill>
              <a:srgbClr val="FF8B32"/>
            </a:solidFill>
            <a:prstDash val="solid"/>
          </a:ln>
        </p:spPr>
      </p:sp>
      <p:sp>
        <p:nvSpPr>
          <p:cNvPr id="14" name="Text 9"/>
          <p:cNvSpPr/>
          <p:nvPr/>
        </p:nvSpPr>
        <p:spPr>
          <a:xfrm>
            <a:off x="2421769" y="7670800"/>
            <a:ext cx="1621569"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High-value Repeat</a:t>
            </a:r>
            <a:endParaRPr lang="en-US" sz="1400" dirty="0"/>
          </a:p>
        </p:txBody>
      </p:sp>
      <p:pic>
        <p:nvPicPr>
          <p:cNvPr id="16" name="Image 4"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99787" y="6001432"/>
            <a:ext cx="2502213" cy="5104023"/>
          </a:xfrm>
          <a:prstGeom prst="rect">
            <a:avLst/>
          </a:prstGeom>
        </p:spPr>
      </p:pic>
      <p:sp>
        <p:nvSpPr>
          <p:cNvPr id="38" name="Text 10">
            <a:extLst>
              <a:ext uri="{FF2B5EF4-FFF2-40B4-BE49-F238E27FC236}">
                <a16:creationId xmlns:a16="http://schemas.microsoft.com/office/drawing/2014/main" id="{ECED2C61-A61F-42A4-B21B-14A9292744E5}"/>
              </a:ext>
            </a:extLst>
          </p:cNvPr>
          <p:cNvSpPr/>
          <p:nvPr/>
        </p:nvSpPr>
        <p:spPr>
          <a:xfrm>
            <a:off x="6009623" y="7742896"/>
            <a:ext cx="1586159" cy="1752600"/>
          </a:xfrm>
          <a:prstGeom prst="rect">
            <a:avLst/>
          </a:prstGeom>
          <a:noFill/>
          <a:ln/>
        </p:spPr>
        <p:txBody>
          <a:bodyPr wrap="square" lIns="0" tIns="0" rIns="0" bIns="0" rtlCol="0" anchor="t"/>
          <a:lstStyle/>
          <a:p>
            <a:pPr marL="0" indent="0" algn="l">
              <a:lnSpc>
                <a:spcPts val="10560"/>
              </a:lnSpc>
              <a:buNone/>
            </a:pPr>
            <a:r>
              <a:rPr lang="en-US" sz="4600" kern="0" spc="-96" dirty="0">
                <a:gradFill>
                  <a:gsLst>
                    <a:gs pos="0">
                      <a:srgbClr val="82260C"/>
                    </a:gs>
                    <a:gs pos="100000">
                      <a:srgbClr val="82260C">
                        <a:alpha val="7000"/>
                      </a:srgbClr>
                    </a:gs>
                  </a:gsLst>
                  <a:lin ang="5400000" scaled="1"/>
                </a:gradFill>
                <a:latin typeface="Inter Bold" pitchFamily="34" charset="0"/>
                <a:ea typeface="Inter Bold" pitchFamily="34" charset="-122"/>
                <a:cs typeface="Inter Bold" pitchFamily="34" charset="-120"/>
              </a:rPr>
              <a:t>0.2M</a:t>
            </a:r>
            <a:endParaRPr lang="en-US" sz="4600" dirty="0">
              <a:gradFill>
                <a:gsLst>
                  <a:gs pos="0">
                    <a:srgbClr val="82260C"/>
                  </a:gs>
                  <a:gs pos="100000">
                    <a:srgbClr val="82260C">
                      <a:alpha val="7000"/>
                    </a:srgbClr>
                  </a:gs>
                </a:gsLst>
                <a:lin ang="5400000" scaled="1"/>
              </a:gradFill>
            </a:endParaRPr>
          </a:p>
        </p:txBody>
      </p:sp>
      <p:sp>
        <p:nvSpPr>
          <p:cNvPr id="35" name="Text 10">
            <a:extLst>
              <a:ext uri="{FF2B5EF4-FFF2-40B4-BE49-F238E27FC236}">
                <a16:creationId xmlns:a16="http://schemas.microsoft.com/office/drawing/2014/main" id="{5DAD280D-07F5-47DF-9FAD-D03D662F46B9}"/>
              </a:ext>
            </a:extLst>
          </p:cNvPr>
          <p:cNvSpPr/>
          <p:nvPr/>
        </p:nvSpPr>
        <p:spPr>
          <a:xfrm>
            <a:off x="8547756" y="8280400"/>
            <a:ext cx="3658057" cy="1752600"/>
          </a:xfrm>
          <a:prstGeom prst="rect">
            <a:avLst/>
          </a:prstGeom>
          <a:noFill/>
          <a:ln/>
        </p:spPr>
        <p:txBody>
          <a:bodyPr wrap="square" lIns="0" tIns="0" rIns="0" bIns="0" rtlCol="0" anchor="t"/>
          <a:lstStyle/>
          <a:p>
            <a:pPr marL="0" indent="0" algn="l">
              <a:lnSpc>
                <a:spcPts val="10560"/>
              </a:lnSpc>
              <a:buNone/>
            </a:pPr>
            <a:r>
              <a:rPr lang="en-US" sz="9600" kern="0" spc="-96" dirty="0">
                <a:gradFill>
                  <a:gsLst>
                    <a:gs pos="0">
                      <a:schemeClr val="bg1"/>
                    </a:gs>
                    <a:gs pos="100000">
                      <a:schemeClr val="bg1">
                        <a:alpha val="7000"/>
                      </a:schemeClr>
                    </a:gs>
                  </a:gsLst>
                  <a:lin ang="5400000" scaled="1"/>
                </a:gradFill>
                <a:latin typeface="Inter Bold" pitchFamily="34" charset="0"/>
                <a:ea typeface="Inter Bold" pitchFamily="34" charset="-122"/>
                <a:cs typeface="Inter Bold" pitchFamily="34" charset="-120"/>
              </a:rPr>
              <a:t>1.1M</a:t>
            </a:r>
            <a:endParaRPr lang="en-US" sz="9600" dirty="0">
              <a:gradFill>
                <a:gsLst>
                  <a:gs pos="0">
                    <a:schemeClr val="bg1"/>
                  </a:gs>
                  <a:gs pos="100000">
                    <a:schemeClr val="bg1">
                      <a:alpha val="7000"/>
                    </a:schemeClr>
                  </a:gs>
                </a:gsLst>
                <a:lin ang="5400000" scaled="1"/>
              </a:gradFill>
            </a:endParaRPr>
          </a:p>
        </p:txBody>
      </p:sp>
      <p:pic>
        <p:nvPicPr>
          <p:cNvPr id="18" name="Image 6"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644930" y="5676900"/>
            <a:ext cx="7836879" cy="5003800"/>
          </a:xfrm>
          <a:prstGeom prst="rect">
            <a:avLst/>
          </a:prstGeom>
        </p:spPr>
      </p:pic>
      <p:sp>
        <p:nvSpPr>
          <p:cNvPr id="19" name="Text 10"/>
          <p:cNvSpPr/>
          <p:nvPr/>
        </p:nvSpPr>
        <p:spPr>
          <a:xfrm>
            <a:off x="15152994" y="6819900"/>
            <a:ext cx="5681843" cy="296333"/>
          </a:xfrm>
          <a:prstGeom prst="rect">
            <a:avLst/>
          </a:prstGeom>
          <a:noFill/>
          <a:ln/>
        </p:spPr>
        <p:txBody>
          <a:bodyPr wrap="square" lIns="0" tIns="0" rIns="0" bIns="0" rtlCol="0" anchor="t"/>
          <a:lstStyle/>
          <a:p>
            <a:pPr marL="0" indent="0" algn="l">
              <a:lnSpc>
                <a:spcPts val="176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Customers who have made multiple high-value purchases.</a:t>
            </a:r>
            <a:endParaRPr lang="en-US" sz="1600" dirty="0"/>
          </a:p>
        </p:txBody>
      </p:sp>
      <p:sp>
        <p:nvSpPr>
          <p:cNvPr id="20" name="Text 11"/>
          <p:cNvSpPr/>
          <p:nvPr/>
        </p:nvSpPr>
        <p:spPr>
          <a:xfrm>
            <a:off x="15152994" y="8191500"/>
            <a:ext cx="4195758" cy="296333"/>
          </a:xfrm>
          <a:prstGeom prst="rect">
            <a:avLst/>
          </a:prstGeom>
          <a:noFill/>
          <a:ln/>
        </p:spPr>
        <p:txBody>
          <a:bodyPr wrap="square" lIns="0" tIns="0" rIns="0" bIns="0" rtlCol="0" anchor="t"/>
          <a:lstStyle/>
          <a:p>
            <a:pPr marL="0" indent="0" algn="l">
              <a:lnSpc>
                <a:spcPts val="176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Customers who have shown signs of churn</a:t>
            </a:r>
            <a:endParaRPr lang="en-US" sz="1600" dirty="0"/>
          </a:p>
        </p:txBody>
      </p:sp>
      <p:sp>
        <p:nvSpPr>
          <p:cNvPr id="21" name="Text 12"/>
          <p:cNvSpPr/>
          <p:nvPr/>
        </p:nvSpPr>
        <p:spPr>
          <a:xfrm>
            <a:off x="15152994" y="9563100"/>
            <a:ext cx="6774180" cy="6773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Customers who are both “High-value Repeat” and “At-Risk,” representing potential message collision risk.</a:t>
            </a:r>
            <a:endParaRPr lang="en-US" sz="1600" dirty="0"/>
          </a:p>
        </p:txBody>
      </p:sp>
      <p:sp>
        <p:nvSpPr>
          <p:cNvPr id="22" name="Shape 13"/>
          <p:cNvSpPr/>
          <p:nvPr/>
        </p:nvSpPr>
        <p:spPr>
          <a:xfrm>
            <a:off x="15152994" y="6184900"/>
            <a:ext cx="2438705" cy="457200"/>
          </a:xfrm>
          <a:prstGeom prst="roundRect">
            <a:avLst>
              <a:gd name="adj" fmla="val 112000"/>
            </a:avLst>
          </a:prstGeom>
          <a:solidFill>
            <a:srgbClr val="F6F6F6">
              <a:alpha val="100000"/>
            </a:srgbClr>
          </a:solidFill>
          <a:ln w="12700">
            <a:solidFill>
              <a:srgbClr val="D1D1D1"/>
            </a:solidFill>
            <a:prstDash val="solid"/>
          </a:ln>
        </p:spPr>
      </p:sp>
      <p:sp>
        <p:nvSpPr>
          <p:cNvPr id="23" name="Text 14"/>
          <p:cNvSpPr/>
          <p:nvPr/>
        </p:nvSpPr>
        <p:spPr>
          <a:xfrm>
            <a:off x="15771138" y="6273800"/>
            <a:ext cx="1621569" cy="325967"/>
          </a:xfrm>
          <a:prstGeom prst="rect">
            <a:avLst/>
          </a:prstGeom>
          <a:noFill/>
          <a:ln/>
        </p:spPr>
        <p:txBody>
          <a:bodyPr wrap="square" lIns="0" tIns="0" rIns="0" bIns="0" rtlCol="0" anchor="t"/>
          <a:lstStyle/>
          <a:p>
            <a:pPr marL="0" indent="0" algn="ctr">
              <a:lnSpc>
                <a:spcPts val="2100"/>
              </a:lnSpc>
              <a:buNone/>
            </a:pPr>
            <a:r>
              <a:rPr lang="en-US" sz="1400" dirty="0">
                <a:solidFill>
                  <a:srgbClr val="454545">
                    <a:alpha val="100000"/>
                  </a:srgbClr>
                </a:solidFill>
                <a:latin typeface="Inter Regular" pitchFamily="34" charset="0"/>
                <a:ea typeface="Inter Regular" pitchFamily="34" charset="-122"/>
                <a:cs typeface="Inter Regular" pitchFamily="34" charset="-120"/>
              </a:rPr>
              <a:t>High-value Repeat</a:t>
            </a:r>
            <a:endParaRPr lang="en-US" sz="1400" dirty="0"/>
          </a:p>
        </p:txBody>
      </p:sp>
      <p:sp>
        <p:nvSpPr>
          <p:cNvPr id="24" name="Shape 15"/>
          <p:cNvSpPr/>
          <p:nvPr/>
        </p:nvSpPr>
        <p:spPr>
          <a:xfrm>
            <a:off x="15318115" y="6337300"/>
            <a:ext cx="152419" cy="152400"/>
          </a:xfrm>
          <a:prstGeom prst="ellipse">
            <a:avLst/>
          </a:prstGeom>
          <a:solidFill>
            <a:srgbClr val="CC3702">
              <a:alpha val="100000"/>
            </a:srgbClr>
          </a:solidFill>
          <a:ln/>
        </p:spPr>
      </p:sp>
      <p:pic>
        <p:nvPicPr>
          <p:cNvPr id="25" name="Image 7"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629303" y="6311900"/>
            <a:ext cx="12702" cy="203200"/>
          </a:xfrm>
          <a:prstGeom prst="rect">
            <a:avLst/>
          </a:prstGeom>
        </p:spPr>
      </p:pic>
      <p:sp>
        <p:nvSpPr>
          <p:cNvPr id="26" name="Shape 16"/>
          <p:cNvSpPr/>
          <p:nvPr/>
        </p:nvSpPr>
        <p:spPr>
          <a:xfrm>
            <a:off x="15152994" y="7556500"/>
            <a:ext cx="1613102" cy="457200"/>
          </a:xfrm>
          <a:prstGeom prst="roundRect">
            <a:avLst>
              <a:gd name="adj" fmla="val 112000"/>
            </a:avLst>
          </a:prstGeom>
          <a:solidFill>
            <a:srgbClr val="F6F6F6">
              <a:alpha val="100000"/>
            </a:srgbClr>
          </a:solidFill>
          <a:ln w="12700">
            <a:solidFill>
              <a:srgbClr val="D1D1D1"/>
            </a:solidFill>
            <a:prstDash val="solid"/>
          </a:ln>
        </p:spPr>
      </p:sp>
      <p:sp>
        <p:nvSpPr>
          <p:cNvPr id="27" name="Text 17"/>
          <p:cNvSpPr/>
          <p:nvPr/>
        </p:nvSpPr>
        <p:spPr>
          <a:xfrm>
            <a:off x="15771138" y="7645400"/>
            <a:ext cx="668950" cy="325967"/>
          </a:xfrm>
          <a:prstGeom prst="rect">
            <a:avLst/>
          </a:prstGeom>
          <a:noFill/>
          <a:ln/>
        </p:spPr>
        <p:txBody>
          <a:bodyPr wrap="square" lIns="0" tIns="0" rIns="0" bIns="0" rtlCol="0" anchor="t"/>
          <a:lstStyle/>
          <a:p>
            <a:pPr marL="0" indent="0" algn="ctr">
              <a:lnSpc>
                <a:spcPts val="2100"/>
              </a:lnSpc>
              <a:buNone/>
            </a:pPr>
            <a:r>
              <a:rPr lang="en-US" sz="1400" dirty="0">
                <a:solidFill>
                  <a:srgbClr val="454545">
                    <a:alpha val="100000"/>
                  </a:srgbClr>
                </a:solidFill>
                <a:latin typeface="Inter Regular" pitchFamily="34" charset="0"/>
                <a:ea typeface="Inter Regular" pitchFamily="34" charset="-122"/>
                <a:cs typeface="Inter Regular" pitchFamily="34" charset="-120"/>
              </a:rPr>
              <a:t>At-Risk</a:t>
            </a:r>
            <a:endParaRPr lang="en-US" sz="1400" dirty="0"/>
          </a:p>
        </p:txBody>
      </p:sp>
      <p:sp>
        <p:nvSpPr>
          <p:cNvPr id="28" name="Shape 18"/>
          <p:cNvSpPr/>
          <p:nvPr/>
        </p:nvSpPr>
        <p:spPr>
          <a:xfrm>
            <a:off x="15318115" y="7708900"/>
            <a:ext cx="152419" cy="152400"/>
          </a:xfrm>
          <a:prstGeom prst="ellipse">
            <a:avLst/>
          </a:prstGeom>
          <a:solidFill>
            <a:srgbClr val="FFB66D">
              <a:alpha val="100000"/>
            </a:srgbClr>
          </a:solidFill>
          <a:ln/>
        </p:spPr>
      </p:sp>
      <p:pic>
        <p:nvPicPr>
          <p:cNvPr id="29" name="Image 8"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629303" y="7683500"/>
            <a:ext cx="12702" cy="203200"/>
          </a:xfrm>
          <a:prstGeom prst="rect">
            <a:avLst/>
          </a:prstGeom>
        </p:spPr>
      </p:pic>
      <p:sp>
        <p:nvSpPr>
          <p:cNvPr id="30" name="Shape 19"/>
          <p:cNvSpPr/>
          <p:nvPr/>
        </p:nvSpPr>
        <p:spPr>
          <a:xfrm>
            <a:off x="15152994" y="8928100"/>
            <a:ext cx="1613102" cy="457200"/>
          </a:xfrm>
          <a:prstGeom prst="roundRect">
            <a:avLst>
              <a:gd name="adj" fmla="val 112000"/>
            </a:avLst>
          </a:prstGeom>
          <a:solidFill>
            <a:srgbClr val="F6F6F6">
              <a:alpha val="100000"/>
            </a:srgbClr>
          </a:solidFill>
          <a:ln w="12700">
            <a:solidFill>
              <a:srgbClr val="D1D1D1"/>
            </a:solidFill>
            <a:prstDash val="solid"/>
          </a:ln>
        </p:spPr>
      </p:sp>
      <p:sp>
        <p:nvSpPr>
          <p:cNvPr id="31" name="Text 20"/>
          <p:cNvSpPr/>
          <p:nvPr/>
        </p:nvSpPr>
        <p:spPr>
          <a:xfrm>
            <a:off x="15771138" y="9017000"/>
            <a:ext cx="719757" cy="325967"/>
          </a:xfrm>
          <a:prstGeom prst="rect">
            <a:avLst/>
          </a:prstGeom>
          <a:noFill/>
          <a:ln/>
        </p:spPr>
        <p:txBody>
          <a:bodyPr wrap="square" lIns="0" tIns="0" rIns="0" bIns="0" rtlCol="0" anchor="t"/>
          <a:lstStyle/>
          <a:p>
            <a:pPr marL="0" indent="0" algn="ctr">
              <a:lnSpc>
                <a:spcPts val="2100"/>
              </a:lnSpc>
              <a:buNone/>
            </a:pPr>
            <a:r>
              <a:rPr lang="en-US" sz="1400" dirty="0">
                <a:solidFill>
                  <a:srgbClr val="454545">
                    <a:alpha val="100000"/>
                  </a:srgbClr>
                </a:solidFill>
                <a:latin typeface="Inter Regular" pitchFamily="34" charset="0"/>
                <a:ea typeface="Inter Regular" pitchFamily="34" charset="-122"/>
                <a:cs typeface="Inter Regular" pitchFamily="34" charset="-120"/>
              </a:rPr>
              <a:t>Overlap</a:t>
            </a:r>
            <a:endParaRPr lang="en-US" sz="1400" dirty="0"/>
          </a:p>
        </p:txBody>
      </p:sp>
      <p:sp>
        <p:nvSpPr>
          <p:cNvPr id="32" name="Shape 21"/>
          <p:cNvSpPr/>
          <p:nvPr/>
        </p:nvSpPr>
        <p:spPr>
          <a:xfrm>
            <a:off x="15318115" y="9080500"/>
            <a:ext cx="152419" cy="152400"/>
          </a:xfrm>
          <a:prstGeom prst="ellipse">
            <a:avLst/>
          </a:prstGeom>
          <a:solidFill>
            <a:srgbClr val="FF6A0A">
              <a:alpha val="100000"/>
            </a:srgbClr>
          </a:solidFill>
          <a:ln/>
        </p:spPr>
      </p:sp>
      <p:pic>
        <p:nvPicPr>
          <p:cNvPr id="33" name="Image 9"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629303" y="9055100"/>
            <a:ext cx="12702" cy="203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24191" y="5969000"/>
            <a:ext cx="10542318" cy="5143500"/>
          </a:xfrm>
          <a:prstGeom prst="rect">
            <a:avLst/>
          </a:prstGeom>
          <a:noFill/>
          <a:ln/>
        </p:spPr>
      </p:sp>
      <p:sp>
        <p:nvSpPr>
          <p:cNvPr id="3" name="Shape 1"/>
          <p:cNvSpPr/>
          <p:nvPr/>
        </p:nvSpPr>
        <p:spPr>
          <a:xfrm>
            <a:off x="1524191" y="5969000"/>
            <a:ext cx="5144143" cy="5143500"/>
          </a:xfrm>
          <a:prstGeom prst="rect">
            <a:avLst/>
          </a:prstGeom>
          <a:noFill/>
          <a:ln/>
        </p:spPr>
      </p:sp>
      <p:pic>
        <p:nvPicPr>
          <p:cNvPr id="4"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191" y="5969000"/>
            <a:ext cx="5144143" cy="5143500"/>
          </a:xfrm>
          <a:prstGeom prst="rect">
            <a:avLst/>
          </a:prstGeom>
        </p:spPr>
      </p:pic>
      <p:sp>
        <p:nvSpPr>
          <p:cNvPr id="5" name="Shape 2"/>
          <p:cNvSpPr/>
          <p:nvPr/>
        </p:nvSpPr>
        <p:spPr>
          <a:xfrm>
            <a:off x="3086486" y="6845300"/>
            <a:ext cx="2032254" cy="457200"/>
          </a:xfrm>
          <a:prstGeom prst="roundRect">
            <a:avLst>
              <a:gd name="adj" fmla="val 112000"/>
            </a:avLst>
          </a:prstGeom>
          <a:solidFill>
            <a:srgbClr val="FFD4A5">
              <a:alpha val="100000"/>
            </a:srgbClr>
          </a:solidFill>
          <a:ln w="12700">
            <a:solidFill>
              <a:srgbClr val="FF8B32"/>
            </a:solidFill>
            <a:prstDash val="solid"/>
          </a:ln>
        </p:spPr>
      </p:sp>
      <p:sp>
        <p:nvSpPr>
          <p:cNvPr id="6" name="Text 3"/>
          <p:cNvSpPr/>
          <p:nvPr/>
        </p:nvSpPr>
        <p:spPr>
          <a:xfrm>
            <a:off x="3285477" y="6934200"/>
            <a:ext cx="1621569"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High-value Repeat</a:t>
            </a:r>
            <a:endParaRPr lang="en-US" sz="1400" dirty="0"/>
          </a:p>
        </p:txBody>
      </p:sp>
      <p:sp>
        <p:nvSpPr>
          <p:cNvPr id="7" name="Text 4"/>
          <p:cNvSpPr/>
          <p:nvPr/>
        </p:nvSpPr>
        <p:spPr>
          <a:xfrm>
            <a:off x="2468342" y="8991600"/>
            <a:ext cx="3255840" cy="1286933"/>
          </a:xfrm>
          <a:prstGeom prst="rect">
            <a:avLst/>
          </a:prstGeom>
          <a:noFill/>
          <a:ln/>
        </p:spPr>
        <p:txBody>
          <a:bodyPr wrap="square" lIns="0" tIns="0" rIns="0" bIns="0" rtlCol="0" anchor="t"/>
          <a:lstStyle/>
          <a:p>
            <a:pPr marL="0" indent="0" algn="ctr">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Plot a diagonal </a:t>
            </a:r>
            <a:r>
              <a:rPr lang="en-US" sz="1600" dirty="0">
                <a:solidFill>
                  <a:srgbClr val="FFFFFF">
                    <a:alpha val="100000"/>
                  </a:srgbClr>
                </a:solidFill>
                <a:latin typeface="Inter Regular" pitchFamily="34" charset="0"/>
                <a:ea typeface="Inter Regular" pitchFamily="34" charset="-122"/>
                <a:cs typeface="Inter Regular" pitchFamily="34" charset="-120"/>
              </a:rPr>
              <a:t>line for a random classifier, with the curve showing the model’s ability to distinguish between classes.</a:t>
            </a:r>
            <a:endParaRPr lang="en-US" sz="1600" dirty="0"/>
          </a:p>
        </p:txBody>
      </p:sp>
      <p:sp>
        <p:nvSpPr>
          <p:cNvPr id="39" name="Text 10">
            <a:extLst>
              <a:ext uri="{FF2B5EF4-FFF2-40B4-BE49-F238E27FC236}">
                <a16:creationId xmlns:a16="http://schemas.microsoft.com/office/drawing/2014/main" id="{9213F53A-C9BA-4EBE-970A-94F1A78EAFF9}"/>
              </a:ext>
            </a:extLst>
          </p:cNvPr>
          <p:cNvSpPr/>
          <p:nvPr/>
        </p:nvSpPr>
        <p:spPr>
          <a:xfrm>
            <a:off x="2403168" y="7627544"/>
            <a:ext cx="3658057" cy="1752600"/>
          </a:xfrm>
          <a:prstGeom prst="rect">
            <a:avLst/>
          </a:prstGeom>
          <a:noFill/>
          <a:ln/>
        </p:spPr>
        <p:txBody>
          <a:bodyPr wrap="square" lIns="0" tIns="0" rIns="0" bIns="0" rtlCol="0" anchor="t"/>
          <a:lstStyle/>
          <a:p>
            <a:pPr marL="0" indent="0" algn="l">
              <a:lnSpc>
                <a:spcPts val="10560"/>
              </a:lnSpc>
              <a:buNone/>
            </a:pPr>
            <a:r>
              <a:rPr lang="en-US" sz="9600" kern="0" spc="-96" dirty="0">
                <a:gradFill>
                  <a:gsLst>
                    <a:gs pos="0">
                      <a:schemeClr val="bg1"/>
                    </a:gs>
                    <a:gs pos="100000">
                      <a:schemeClr val="bg1">
                        <a:alpha val="7000"/>
                      </a:schemeClr>
                    </a:gs>
                  </a:gsLst>
                  <a:lin ang="5400000" scaled="1"/>
                </a:gradFill>
                <a:latin typeface="Inter Bold" pitchFamily="34" charset="0"/>
                <a:ea typeface="Inter Bold" pitchFamily="34" charset="-122"/>
                <a:cs typeface="Inter Bold" pitchFamily="34" charset="-120"/>
              </a:rPr>
              <a:t>0.82</a:t>
            </a:r>
            <a:endParaRPr lang="en-US" sz="9600" dirty="0">
              <a:gradFill>
                <a:gsLst>
                  <a:gs pos="0">
                    <a:schemeClr val="bg1"/>
                  </a:gs>
                  <a:gs pos="100000">
                    <a:schemeClr val="bg1">
                      <a:alpha val="7000"/>
                    </a:schemeClr>
                  </a:gs>
                </a:gsLst>
                <a:lin ang="5400000" scaled="1"/>
              </a:gradFill>
            </a:endParaRPr>
          </a:p>
        </p:txBody>
      </p:sp>
      <p:sp>
        <p:nvSpPr>
          <p:cNvPr id="8" name="Text 5"/>
          <p:cNvSpPr/>
          <p:nvPr/>
        </p:nvSpPr>
        <p:spPr>
          <a:xfrm>
            <a:off x="5131441" y="7747000"/>
            <a:ext cx="652015" cy="6773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Auc</a:t>
            </a:r>
            <a:endParaRPr lang="en-US" sz="1600" dirty="0"/>
          </a:p>
          <a:p>
            <a:pPr marL="0" indent="0" algn="l">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Score</a:t>
            </a:r>
            <a:endParaRPr lang="en-US" sz="1600" dirty="0"/>
          </a:p>
        </p:txBody>
      </p:sp>
      <p:sp>
        <p:nvSpPr>
          <p:cNvPr id="10" name="Shape 6"/>
          <p:cNvSpPr/>
          <p:nvPr/>
        </p:nvSpPr>
        <p:spPr>
          <a:xfrm>
            <a:off x="6922365" y="5969000"/>
            <a:ext cx="5144143" cy="5143500"/>
          </a:xfrm>
          <a:prstGeom prst="rect">
            <a:avLst/>
          </a:prstGeom>
          <a:noFill/>
          <a:ln/>
        </p:spPr>
      </p:sp>
      <p:sp>
        <p:nvSpPr>
          <p:cNvPr id="11" name="Shape 7"/>
          <p:cNvSpPr/>
          <p:nvPr/>
        </p:nvSpPr>
        <p:spPr>
          <a:xfrm>
            <a:off x="6922365" y="5969000"/>
            <a:ext cx="5144143" cy="5143500"/>
          </a:xfrm>
          <a:prstGeom prst="ellipse">
            <a:avLst/>
          </a:prstGeom>
          <a:solidFill>
            <a:srgbClr val="FFB66D">
              <a:alpha val="100000"/>
            </a:srgbClr>
          </a:solidFill>
          <a:ln/>
        </p:spPr>
      </p:sp>
      <p:sp>
        <p:nvSpPr>
          <p:cNvPr id="38" name="Text 10">
            <a:extLst>
              <a:ext uri="{FF2B5EF4-FFF2-40B4-BE49-F238E27FC236}">
                <a16:creationId xmlns:a16="http://schemas.microsoft.com/office/drawing/2014/main" id="{D24DE20B-A606-4460-9E5E-3FBE44810CEA}"/>
              </a:ext>
            </a:extLst>
          </p:cNvPr>
          <p:cNvSpPr/>
          <p:nvPr/>
        </p:nvSpPr>
        <p:spPr>
          <a:xfrm>
            <a:off x="7798471" y="7623907"/>
            <a:ext cx="3658057" cy="1752600"/>
          </a:xfrm>
          <a:prstGeom prst="rect">
            <a:avLst/>
          </a:prstGeom>
          <a:noFill/>
          <a:ln/>
        </p:spPr>
        <p:txBody>
          <a:bodyPr wrap="square" lIns="0" tIns="0" rIns="0" bIns="0" rtlCol="0" anchor="t"/>
          <a:lstStyle/>
          <a:p>
            <a:pPr marL="0" indent="0" algn="l">
              <a:lnSpc>
                <a:spcPts val="10560"/>
              </a:lnSpc>
              <a:buNone/>
            </a:pPr>
            <a:r>
              <a:rPr lang="en-US" sz="9600" kern="0" spc="-96" dirty="0">
                <a:gradFill>
                  <a:gsLst>
                    <a:gs pos="0">
                      <a:schemeClr val="bg1"/>
                    </a:gs>
                    <a:gs pos="100000">
                      <a:schemeClr val="bg1">
                        <a:alpha val="7000"/>
                      </a:schemeClr>
                    </a:gs>
                  </a:gsLst>
                  <a:lin ang="5400000" scaled="1"/>
                </a:gradFill>
                <a:latin typeface="Inter Bold" pitchFamily="34" charset="0"/>
                <a:ea typeface="Inter Bold" pitchFamily="34" charset="-122"/>
                <a:cs typeface="Inter Bold" pitchFamily="34" charset="-120"/>
              </a:rPr>
              <a:t>2.9×</a:t>
            </a:r>
            <a:endParaRPr lang="en-US" sz="9600" dirty="0">
              <a:gradFill>
                <a:gsLst>
                  <a:gs pos="0">
                    <a:schemeClr val="bg1"/>
                  </a:gs>
                  <a:gs pos="100000">
                    <a:schemeClr val="bg1">
                      <a:alpha val="7000"/>
                    </a:schemeClr>
                  </a:gs>
                </a:gsLst>
                <a:lin ang="5400000" scaled="1"/>
              </a:gradFill>
            </a:endParaRPr>
          </a:p>
        </p:txBody>
      </p:sp>
      <p:sp>
        <p:nvSpPr>
          <p:cNvPr id="12" name="Shape 8"/>
          <p:cNvSpPr/>
          <p:nvPr/>
        </p:nvSpPr>
        <p:spPr>
          <a:xfrm>
            <a:off x="8484660" y="6845300"/>
            <a:ext cx="2032254" cy="457200"/>
          </a:xfrm>
          <a:prstGeom prst="roundRect">
            <a:avLst>
              <a:gd name="adj" fmla="val 112000"/>
            </a:avLst>
          </a:prstGeom>
          <a:solidFill>
            <a:srgbClr val="FFD4A5">
              <a:alpha val="100000"/>
            </a:srgbClr>
          </a:solidFill>
          <a:ln w="12700">
            <a:solidFill>
              <a:srgbClr val="FF8B32"/>
            </a:solidFill>
            <a:prstDash val="solid"/>
          </a:ln>
        </p:spPr>
      </p:sp>
      <p:sp>
        <p:nvSpPr>
          <p:cNvPr id="13" name="Text 9"/>
          <p:cNvSpPr/>
          <p:nvPr/>
        </p:nvSpPr>
        <p:spPr>
          <a:xfrm>
            <a:off x="8683652" y="6934200"/>
            <a:ext cx="1621569"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High-value Repeat</a:t>
            </a:r>
            <a:endParaRPr lang="en-US" sz="1400" dirty="0"/>
          </a:p>
        </p:txBody>
      </p:sp>
      <p:sp>
        <p:nvSpPr>
          <p:cNvPr id="14" name="Text 10"/>
          <p:cNvSpPr/>
          <p:nvPr/>
        </p:nvSpPr>
        <p:spPr>
          <a:xfrm>
            <a:off x="7866517" y="8991600"/>
            <a:ext cx="3255840" cy="1286933"/>
          </a:xfrm>
          <a:prstGeom prst="rect">
            <a:avLst/>
          </a:prstGeom>
          <a:noFill/>
          <a:ln/>
        </p:spPr>
        <p:txBody>
          <a:bodyPr wrap="square" lIns="0" tIns="0" rIns="0" bIns="0" rtlCol="0" anchor="t"/>
          <a:lstStyle/>
          <a:p>
            <a:pPr marL="0" indent="0" algn="ctr">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Show precision vs recall tradeoff </a:t>
            </a:r>
            <a:r>
              <a:rPr lang="en-US" sz="1600" dirty="0">
                <a:solidFill>
                  <a:srgbClr val="FFFFFF">
                    <a:alpha val="100000"/>
                  </a:srgbClr>
                </a:solidFill>
                <a:latin typeface="Inter Regular" pitchFamily="34" charset="0"/>
                <a:ea typeface="Inter Regular" pitchFamily="34" charset="-122"/>
                <a:cs typeface="Inter Regular" pitchFamily="34" charset="-120"/>
              </a:rPr>
              <a:t>for a specific threshold, indicating model performance on imbalanced classes.</a:t>
            </a:r>
            <a:endParaRPr lang="en-US" sz="1600" dirty="0"/>
          </a:p>
        </p:txBody>
      </p:sp>
      <p:sp>
        <p:nvSpPr>
          <p:cNvPr id="15" name="Text 11"/>
          <p:cNvSpPr/>
          <p:nvPr/>
        </p:nvSpPr>
        <p:spPr>
          <a:xfrm>
            <a:off x="10529616" y="7747000"/>
            <a:ext cx="652015" cy="6773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Auc</a:t>
            </a:r>
            <a:endParaRPr lang="en-US" sz="1600" dirty="0"/>
          </a:p>
          <a:p>
            <a:pPr marL="0" indent="0" algn="l">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Score</a:t>
            </a:r>
            <a:endParaRPr lang="en-US" sz="1600" dirty="0"/>
          </a:p>
        </p:txBody>
      </p:sp>
      <p:sp>
        <p:nvSpPr>
          <p:cNvPr id="17" name="Shape 12"/>
          <p:cNvSpPr/>
          <p:nvPr/>
        </p:nvSpPr>
        <p:spPr>
          <a:xfrm>
            <a:off x="14390899" y="6515100"/>
            <a:ext cx="7849581" cy="4457700"/>
          </a:xfrm>
          <a:prstGeom prst="rect">
            <a:avLst/>
          </a:prstGeom>
          <a:noFill/>
          <a:ln/>
        </p:spPr>
      </p:sp>
      <p:sp>
        <p:nvSpPr>
          <p:cNvPr id="18" name="Shape 13"/>
          <p:cNvSpPr/>
          <p:nvPr/>
        </p:nvSpPr>
        <p:spPr>
          <a:xfrm>
            <a:off x="14390899" y="6515100"/>
            <a:ext cx="7849581" cy="4457700"/>
          </a:xfrm>
          <a:prstGeom prst="roundRect">
            <a:avLst>
              <a:gd name="adj" fmla="val 4513"/>
            </a:avLst>
          </a:prstGeom>
          <a:solidFill>
            <a:srgbClr val="F6F6F6">
              <a:alpha val="100000"/>
            </a:srgbClr>
          </a:solidFill>
          <a:ln w="12700">
            <a:solidFill>
              <a:srgbClr val="D1D1D1"/>
            </a:solidFill>
            <a:prstDash val="solid"/>
          </a:ln>
        </p:spPr>
      </p:sp>
      <p:pic>
        <p:nvPicPr>
          <p:cNvPr id="19" name="Image 3"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943418" y="6946900"/>
            <a:ext cx="6738192" cy="2597150"/>
          </a:xfrm>
          <a:prstGeom prst="rect">
            <a:avLst/>
          </a:prstGeom>
        </p:spPr>
      </p:pic>
      <p:sp>
        <p:nvSpPr>
          <p:cNvPr id="20" name="Shape 14"/>
          <p:cNvSpPr/>
          <p:nvPr/>
        </p:nvSpPr>
        <p:spPr>
          <a:xfrm>
            <a:off x="14771946" y="10287000"/>
            <a:ext cx="4318540" cy="304800"/>
          </a:xfrm>
          <a:prstGeom prst="rect">
            <a:avLst/>
          </a:prstGeom>
          <a:noFill/>
          <a:ln/>
        </p:spPr>
      </p:sp>
      <p:sp>
        <p:nvSpPr>
          <p:cNvPr id="21" name="Shape 15"/>
          <p:cNvSpPr/>
          <p:nvPr/>
        </p:nvSpPr>
        <p:spPr>
          <a:xfrm>
            <a:off x="14771946" y="10287000"/>
            <a:ext cx="2108464" cy="304800"/>
          </a:xfrm>
          <a:prstGeom prst="rect">
            <a:avLst/>
          </a:prstGeom>
          <a:noFill/>
          <a:ln/>
        </p:spPr>
      </p:sp>
      <p:sp>
        <p:nvSpPr>
          <p:cNvPr id="22" name="Shape 16"/>
          <p:cNvSpPr/>
          <p:nvPr/>
        </p:nvSpPr>
        <p:spPr>
          <a:xfrm>
            <a:off x="14771946" y="10350500"/>
            <a:ext cx="177822" cy="177800"/>
          </a:xfrm>
          <a:prstGeom prst="ellipse">
            <a:avLst/>
          </a:prstGeom>
          <a:solidFill>
            <a:srgbClr val="FF5102">
              <a:alpha val="100000"/>
            </a:srgbClr>
          </a:solidFill>
          <a:ln/>
        </p:spPr>
      </p:sp>
      <p:graphicFrame>
        <p:nvGraphicFramePr>
          <p:cNvPr id="37" name="Chart 36">
            <a:extLst>
              <a:ext uri="{FF2B5EF4-FFF2-40B4-BE49-F238E27FC236}">
                <a16:creationId xmlns:a16="http://schemas.microsoft.com/office/drawing/2014/main" id="{A5FBD1BD-A359-4968-A855-39421F4D7B52}"/>
              </a:ext>
            </a:extLst>
          </p:cNvPr>
          <p:cNvGraphicFramePr/>
          <p:nvPr>
            <p:extLst>
              <p:ext uri="{D42A27DB-BD31-4B8C-83A1-F6EECF244321}">
                <p14:modId xmlns:p14="http://schemas.microsoft.com/office/powerpoint/2010/main" val="2085826562"/>
              </p:ext>
            </p:extLst>
          </p:nvPr>
        </p:nvGraphicFramePr>
        <p:xfrm>
          <a:off x="13683159" y="6273609"/>
          <a:ext cx="9258710" cy="4301082"/>
        </p:xfrm>
        <a:graphic>
          <a:graphicData uri="http://schemas.openxmlformats.org/drawingml/2006/chart">
            <c:chart xmlns:c="http://schemas.openxmlformats.org/drawingml/2006/chart" xmlns:r="http://schemas.openxmlformats.org/officeDocument/2006/relationships" r:id="rId7"/>
          </a:graphicData>
        </a:graphic>
      </p:graphicFrame>
      <p:sp>
        <p:nvSpPr>
          <p:cNvPr id="23" name="Text 17"/>
          <p:cNvSpPr/>
          <p:nvPr/>
        </p:nvSpPr>
        <p:spPr>
          <a:xfrm>
            <a:off x="15076784" y="10287000"/>
            <a:ext cx="1871367"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Perfect Calibration</a:t>
            </a:r>
            <a:endParaRPr lang="en-US" sz="1600" dirty="0"/>
          </a:p>
        </p:txBody>
      </p:sp>
      <p:sp>
        <p:nvSpPr>
          <p:cNvPr id="24" name="Shape 18"/>
          <p:cNvSpPr/>
          <p:nvPr/>
        </p:nvSpPr>
        <p:spPr>
          <a:xfrm>
            <a:off x="17083635" y="10287000"/>
            <a:ext cx="2006851" cy="304800"/>
          </a:xfrm>
          <a:prstGeom prst="rect">
            <a:avLst/>
          </a:prstGeom>
          <a:noFill/>
          <a:ln/>
        </p:spPr>
      </p:sp>
      <p:sp>
        <p:nvSpPr>
          <p:cNvPr id="25" name="Shape 19"/>
          <p:cNvSpPr/>
          <p:nvPr/>
        </p:nvSpPr>
        <p:spPr>
          <a:xfrm>
            <a:off x="17083635" y="10350500"/>
            <a:ext cx="177822" cy="177800"/>
          </a:xfrm>
          <a:prstGeom prst="ellipse">
            <a:avLst/>
          </a:prstGeom>
          <a:solidFill>
            <a:srgbClr val="FFB66D">
              <a:alpha val="100000"/>
            </a:srgbClr>
          </a:solidFill>
          <a:ln/>
        </p:spPr>
      </p:sp>
      <p:sp>
        <p:nvSpPr>
          <p:cNvPr id="26" name="Text 20"/>
          <p:cNvSpPr/>
          <p:nvPr/>
        </p:nvSpPr>
        <p:spPr>
          <a:xfrm>
            <a:off x="17388473" y="10287000"/>
            <a:ext cx="1769755"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Actual Calibration</a:t>
            </a:r>
            <a:endParaRPr lang="en-US" sz="1600" dirty="0"/>
          </a:p>
        </p:txBody>
      </p:sp>
      <p:sp>
        <p:nvSpPr>
          <p:cNvPr id="27" name="Text 21"/>
          <p:cNvSpPr/>
          <p:nvPr/>
        </p:nvSpPr>
        <p:spPr>
          <a:xfrm rot="16200000">
            <a:off x="14333726" y="8202315"/>
            <a:ext cx="935684" cy="325967"/>
          </a:xfrm>
          <a:prstGeom prst="rect">
            <a:avLst/>
          </a:prstGeom>
          <a:noFill/>
          <a:ln/>
        </p:spPr>
        <p:txBody>
          <a:bodyPr wrap="square" lIns="0" tIns="0" rIns="0" bIns="0" rtlCol="0" anchor="t"/>
          <a:lstStyle/>
          <a:p>
            <a:pPr marL="0" indent="0" algn="l">
              <a:lnSpc>
                <a:spcPts val="2100"/>
              </a:lnSpc>
              <a:buNone/>
            </a:pPr>
            <a:r>
              <a:rPr lang="en-US" sz="1400" dirty="0">
                <a:solidFill>
                  <a:srgbClr val="5D5D5D">
                    <a:alpha val="100000"/>
                  </a:srgbClr>
                </a:solidFill>
                <a:latin typeface="Inter Regular" pitchFamily="34" charset="0"/>
                <a:ea typeface="Inter Regular" pitchFamily="34" charset="-122"/>
                <a:cs typeface="Inter Regular" pitchFamily="34" charset="-120"/>
              </a:rPr>
              <a:t>Purchases</a:t>
            </a:r>
            <a:endParaRPr lang="en-US" sz="1400" dirty="0"/>
          </a:p>
        </p:txBody>
      </p:sp>
      <p:sp>
        <p:nvSpPr>
          <p:cNvPr id="28" name="Text 22"/>
          <p:cNvSpPr/>
          <p:nvPr/>
        </p:nvSpPr>
        <p:spPr>
          <a:xfrm rot="21600000">
            <a:off x="17683019" y="9673357"/>
            <a:ext cx="1812093" cy="325967"/>
          </a:xfrm>
          <a:prstGeom prst="rect">
            <a:avLst/>
          </a:prstGeom>
          <a:noFill/>
          <a:ln/>
        </p:spPr>
        <p:txBody>
          <a:bodyPr wrap="square" lIns="0" tIns="0" rIns="0" bIns="0" rtlCol="0" anchor="t"/>
          <a:lstStyle/>
          <a:p>
            <a:pPr marL="0" indent="0" algn="l">
              <a:lnSpc>
                <a:spcPts val="2100"/>
              </a:lnSpc>
              <a:buNone/>
            </a:pPr>
            <a:r>
              <a:rPr lang="en-US" sz="1400" dirty="0">
                <a:solidFill>
                  <a:srgbClr val="5D5D5D">
                    <a:alpha val="100000"/>
                  </a:srgbClr>
                </a:solidFill>
                <a:latin typeface="Inter Regular" pitchFamily="34" charset="0"/>
                <a:ea typeface="Inter Regular" pitchFamily="34" charset="-122"/>
                <a:cs typeface="Inter Regular" pitchFamily="34" charset="-120"/>
              </a:rPr>
              <a:t>Predicted probability</a:t>
            </a:r>
            <a:endParaRPr lang="en-US" sz="1400" dirty="0"/>
          </a:p>
        </p:txBody>
      </p:sp>
      <p:sp>
        <p:nvSpPr>
          <p:cNvPr id="31" name="Text 23"/>
          <p:cNvSpPr/>
          <p:nvPr/>
        </p:nvSpPr>
        <p:spPr>
          <a:xfrm>
            <a:off x="22198141" y="1524000"/>
            <a:ext cx="707055"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2025</a:t>
            </a:r>
            <a:endParaRPr lang="en-US" sz="2000" dirty="0"/>
          </a:p>
        </p:txBody>
      </p:sp>
      <p:pic>
        <p:nvPicPr>
          <p:cNvPr id="32" name="Image 6" descr=" "/>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24191" y="1524000"/>
            <a:ext cx="444556" cy="622300"/>
          </a:xfrm>
          <a:prstGeom prst="rect">
            <a:avLst/>
          </a:prstGeom>
        </p:spPr>
      </p:pic>
      <p:sp>
        <p:nvSpPr>
          <p:cNvPr id="33" name="Text 24"/>
          <p:cNvSpPr/>
          <p:nvPr/>
        </p:nvSpPr>
        <p:spPr>
          <a:xfrm>
            <a:off x="2032254" y="1549400"/>
            <a:ext cx="1117740" cy="698500"/>
          </a:xfrm>
          <a:prstGeom prst="rect">
            <a:avLst/>
          </a:prstGeom>
          <a:noFill/>
          <a:ln/>
        </p:spPr>
        <p:txBody>
          <a:bodyPr wrap="square" lIns="0" tIns="0" rIns="0" bIns="0" rtlCol="0" anchor="t"/>
          <a:lstStyle/>
          <a:p>
            <a:pPr marL="0" indent="0" algn="ctr">
              <a:lnSpc>
                <a:spcPts val="4500"/>
              </a:lnSpc>
              <a:buNone/>
            </a:pPr>
            <a:r>
              <a:rPr lang="en-US" sz="3000" kern="0" spc="-120" dirty="0">
                <a:solidFill>
                  <a:srgbClr val="000000">
                    <a:alpha val="100000"/>
                  </a:srgbClr>
                </a:solidFill>
                <a:latin typeface="Funnel Display Bold" pitchFamily="34" charset="0"/>
                <a:ea typeface="Funnel Display Bold" pitchFamily="34" charset="-122"/>
                <a:cs typeface="Funnel Display Bold" pitchFamily="34" charset="-120"/>
              </a:rPr>
              <a:t>Clario</a:t>
            </a:r>
            <a:endParaRPr lang="en-US" sz="3000" dirty="0"/>
          </a:p>
        </p:txBody>
      </p:sp>
      <p:sp>
        <p:nvSpPr>
          <p:cNvPr id="34" name="Text 25"/>
          <p:cNvSpPr/>
          <p:nvPr/>
        </p:nvSpPr>
        <p:spPr>
          <a:xfrm>
            <a:off x="1524191" y="2908300"/>
            <a:ext cx="8069742"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ML Propensity &amp; CLV Models</a:t>
            </a:r>
            <a:endParaRPr lang="en-US" sz="6400" dirty="0"/>
          </a:p>
        </p:txBody>
      </p:sp>
      <p:sp>
        <p:nvSpPr>
          <p:cNvPr id="35" name="Text 26"/>
          <p:cNvSpPr/>
          <p:nvPr/>
        </p:nvSpPr>
        <p:spPr>
          <a:xfrm>
            <a:off x="14390899" y="3187700"/>
            <a:ext cx="8539701" cy="12869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Explore the power of ML Propensity and Customer Lifetime Value (CLV) Models. </a:t>
            </a:r>
            <a:r>
              <a:rPr lang="en-US" sz="1600" dirty="0">
                <a:solidFill>
                  <a:srgbClr val="454545">
                    <a:alpha val="100000"/>
                  </a:srgbClr>
                </a:solidFill>
                <a:latin typeface="Inter Regular" pitchFamily="34" charset="0"/>
                <a:ea typeface="Inter Regular" pitchFamily="34" charset="-122"/>
                <a:cs typeface="Inter Regular" pitchFamily="34" charset="-120"/>
              </a:rPr>
              <a:t>These advanced analytical tools help businesses predict customer behavior and maximize profitability by understanding how likely customers are to engage and their potential value over time.</a:t>
            </a:r>
            <a:endParaRPr lang="en-US" sz="1600" dirty="0"/>
          </a:p>
        </p:txBody>
      </p:sp>
      <p:sp>
        <p:nvSpPr>
          <p:cNvPr id="36" name="Text 27"/>
          <p:cNvSpPr/>
          <p:nvPr/>
        </p:nvSpPr>
        <p:spPr>
          <a:xfrm>
            <a:off x="14390899" y="4775200"/>
            <a:ext cx="6926599" cy="12869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Recency: 35%</a:t>
            </a:r>
            <a:endParaRPr lang="en-US" sz="1600" dirty="0"/>
          </a:p>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Category Depth: 30%</a:t>
            </a:r>
            <a:endParaRPr lang="en-US" sz="1600" dirty="0"/>
          </a:p>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Discount Sensitivity: 25%</a:t>
            </a:r>
            <a:endParaRPr lang="en-US" sz="1600" dirty="0"/>
          </a:p>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Other Features (e.g., frequency, recency of purchase): 10%</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grpSp>
        <p:nvGrpSpPr>
          <p:cNvPr id="236" name="Group 235">
            <a:extLst>
              <a:ext uri="{FF2B5EF4-FFF2-40B4-BE49-F238E27FC236}">
                <a16:creationId xmlns:a16="http://schemas.microsoft.com/office/drawing/2014/main" id="{D6AC3707-BBBF-4A4F-84DD-6001425AA7D5}"/>
              </a:ext>
            </a:extLst>
          </p:cNvPr>
          <p:cNvGrpSpPr/>
          <p:nvPr/>
        </p:nvGrpSpPr>
        <p:grpSpPr>
          <a:xfrm>
            <a:off x="1524191" y="4419600"/>
            <a:ext cx="21338667" cy="7315200"/>
            <a:chOff x="1524191" y="4419600"/>
            <a:chExt cx="21338667" cy="7315200"/>
          </a:xfrm>
        </p:grpSpPr>
        <p:sp>
          <p:nvSpPr>
            <p:cNvPr id="2" name="Shape 0"/>
            <p:cNvSpPr/>
            <p:nvPr/>
          </p:nvSpPr>
          <p:spPr>
            <a:xfrm>
              <a:off x="1524191" y="4419600"/>
              <a:ext cx="21338667" cy="7315200"/>
            </a:xfrm>
            <a:prstGeom prst="rect">
              <a:avLst/>
            </a:prstGeom>
            <a:noFill/>
            <a:ln/>
          </p:spPr>
        </p:sp>
        <p:pic>
          <p:nvPicPr>
            <p:cNvPr id="3"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814477" y="4419600"/>
              <a:ext cx="3048381" cy="812800"/>
            </a:xfrm>
            <a:prstGeom prst="rect">
              <a:avLst/>
            </a:prstGeom>
          </p:spPr>
        </p:pic>
        <p:pic>
          <p:nvPicPr>
            <p:cNvPr id="4"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4191" y="5232400"/>
              <a:ext cx="21338667" cy="812800"/>
            </a:xfrm>
            <a:prstGeom prst="rect">
              <a:avLst/>
            </a:prstGeom>
          </p:spPr>
        </p:pic>
        <p:pic>
          <p:nvPicPr>
            <p:cNvPr id="5" name="Image 2" descr=" "/>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1524191" y="6045200"/>
              <a:ext cx="21338667" cy="812800"/>
            </a:xfrm>
            <a:prstGeom prst="rect">
              <a:avLst/>
            </a:prstGeom>
          </p:spPr>
        </p:pic>
        <p:pic>
          <p:nvPicPr>
            <p:cNvPr id="6" name="Image 3" descr=" "/>
            <p:cNvPicPr>
              <a:picLocks noChangeAspect="1"/>
            </p:cNvPicPr>
            <p:nvPr/>
          </p:nvPicPr>
          <p:blipFill>
            <a:blip r:embed="rId5">
              <a:extLst>
                <a:ext uri="{96DAC541-7B7A-43D3-8B79-37D633B846F1}">
                  <asvg:svgBlip xmlns:asvg="http://schemas.microsoft.com/office/drawing/2016/SVG/main" r:embed="rId8"/>
                </a:ext>
              </a:extLst>
            </a:blip>
            <a:stretch>
              <a:fillRect/>
            </a:stretch>
          </p:blipFill>
          <p:spPr>
            <a:xfrm>
              <a:off x="1524191" y="6858000"/>
              <a:ext cx="21338667" cy="812800"/>
            </a:xfrm>
            <a:prstGeom prst="rect">
              <a:avLst/>
            </a:prstGeom>
          </p:spPr>
        </p:pic>
        <p:pic>
          <p:nvPicPr>
            <p:cNvPr id="7" name="Image 4" descr=" "/>
            <p:cNvPicPr>
              <a:picLocks noChangeAspect="1"/>
            </p:cNvPicPr>
            <p:nvPr/>
          </p:nvPicPr>
          <p:blipFill>
            <a:blip r:embed="rId5">
              <a:extLst>
                <a:ext uri="{96DAC541-7B7A-43D3-8B79-37D633B846F1}">
                  <asvg:svgBlip xmlns:asvg="http://schemas.microsoft.com/office/drawing/2016/SVG/main" r:embed="rId9"/>
                </a:ext>
              </a:extLst>
            </a:blip>
            <a:stretch>
              <a:fillRect/>
            </a:stretch>
          </p:blipFill>
          <p:spPr>
            <a:xfrm>
              <a:off x="1524191" y="9296400"/>
              <a:ext cx="21338667" cy="812800"/>
            </a:xfrm>
            <a:prstGeom prst="rect">
              <a:avLst/>
            </a:prstGeom>
          </p:spPr>
        </p:pic>
        <p:pic>
          <p:nvPicPr>
            <p:cNvPr id="8" name="Image 5" descr=" "/>
            <p:cNvPicPr>
              <a:picLocks noChangeAspect="1"/>
            </p:cNvPicPr>
            <p:nvPr/>
          </p:nvPicPr>
          <p:blipFill>
            <a:blip r:embed="rId5">
              <a:extLst>
                <a:ext uri="{96DAC541-7B7A-43D3-8B79-37D633B846F1}">
                  <asvg:svgBlip xmlns:asvg="http://schemas.microsoft.com/office/drawing/2016/SVG/main" r:embed="rId10"/>
                </a:ext>
              </a:extLst>
            </a:blip>
            <a:stretch>
              <a:fillRect/>
            </a:stretch>
          </p:blipFill>
          <p:spPr>
            <a:xfrm>
              <a:off x="1524191" y="7670800"/>
              <a:ext cx="21338667" cy="812800"/>
            </a:xfrm>
            <a:prstGeom prst="rect">
              <a:avLst/>
            </a:prstGeom>
          </p:spPr>
        </p:pic>
        <p:pic>
          <p:nvPicPr>
            <p:cNvPr id="9" name="Image 6" descr=" "/>
            <p:cNvPicPr>
              <a:picLocks noChangeAspect="1"/>
            </p:cNvPicPr>
            <p:nvPr/>
          </p:nvPicPr>
          <p:blipFill>
            <a:blip r:embed="rId5">
              <a:extLst>
                <a:ext uri="{96DAC541-7B7A-43D3-8B79-37D633B846F1}">
                  <asvg:svgBlip xmlns:asvg="http://schemas.microsoft.com/office/drawing/2016/SVG/main" r:embed="rId11"/>
                </a:ext>
              </a:extLst>
            </a:blip>
            <a:stretch>
              <a:fillRect/>
            </a:stretch>
          </p:blipFill>
          <p:spPr>
            <a:xfrm>
              <a:off x="1524191" y="10109200"/>
              <a:ext cx="21338667" cy="812800"/>
            </a:xfrm>
            <a:prstGeom prst="rect">
              <a:avLst/>
            </a:prstGeom>
          </p:spPr>
        </p:pic>
        <p:pic>
          <p:nvPicPr>
            <p:cNvPr id="10" name="Image 7" descr=" "/>
            <p:cNvPicPr>
              <a:picLocks noChangeAspect="1"/>
            </p:cNvPicPr>
            <p:nvPr/>
          </p:nvPicPr>
          <p:blipFill>
            <a:blip r:embed="rId5">
              <a:extLst>
                <a:ext uri="{96DAC541-7B7A-43D3-8B79-37D633B846F1}">
                  <asvg:svgBlip xmlns:asvg="http://schemas.microsoft.com/office/drawing/2016/SVG/main" r:embed="rId12"/>
                </a:ext>
              </a:extLst>
            </a:blip>
            <a:stretch>
              <a:fillRect/>
            </a:stretch>
          </p:blipFill>
          <p:spPr>
            <a:xfrm>
              <a:off x="1524191" y="8483600"/>
              <a:ext cx="21338667" cy="812800"/>
            </a:xfrm>
            <a:prstGeom prst="rect">
              <a:avLst/>
            </a:prstGeom>
          </p:spPr>
        </p:pic>
        <p:pic>
          <p:nvPicPr>
            <p:cNvPr id="11" name="Image 8"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24191" y="10922000"/>
              <a:ext cx="21338667" cy="812800"/>
            </a:xfrm>
            <a:prstGeom prst="rect">
              <a:avLst/>
            </a:prstGeom>
          </p:spPr>
        </p:pic>
        <p:pic>
          <p:nvPicPr>
            <p:cNvPr id="12" name="Image 9"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66221" y="5327650"/>
              <a:ext cx="12702" cy="577143"/>
            </a:xfrm>
            <a:prstGeom prst="rect">
              <a:avLst/>
            </a:prstGeom>
          </p:spPr>
        </p:pic>
        <p:pic>
          <p:nvPicPr>
            <p:cNvPr id="13" name="Image 10"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566221" y="6155506"/>
              <a:ext cx="12702" cy="577143"/>
            </a:xfrm>
            <a:prstGeom prst="rect">
              <a:avLst/>
            </a:prstGeom>
          </p:spPr>
        </p:pic>
        <p:pic>
          <p:nvPicPr>
            <p:cNvPr id="14" name="Image 11"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566221" y="6983350"/>
              <a:ext cx="12702" cy="577143"/>
            </a:xfrm>
            <a:prstGeom prst="rect">
              <a:avLst/>
            </a:prstGeom>
          </p:spPr>
        </p:pic>
        <p:pic>
          <p:nvPicPr>
            <p:cNvPr id="15" name="Image 12"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566221" y="7811207"/>
              <a:ext cx="12702" cy="577143"/>
            </a:xfrm>
            <a:prstGeom prst="rect">
              <a:avLst/>
            </a:prstGeom>
          </p:spPr>
        </p:pic>
        <p:pic>
          <p:nvPicPr>
            <p:cNvPr id="16" name="Image 13"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66221" y="8604250"/>
              <a:ext cx="12702" cy="577143"/>
            </a:xfrm>
            <a:prstGeom prst="rect">
              <a:avLst/>
            </a:prstGeom>
          </p:spPr>
        </p:pic>
        <p:pic>
          <p:nvPicPr>
            <p:cNvPr id="17" name="Image 14"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66221" y="9429750"/>
              <a:ext cx="12702" cy="577143"/>
            </a:xfrm>
            <a:prstGeom prst="rect">
              <a:avLst/>
            </a:prstGeom>
          </p:spPr>
        </p:pic>
        <p:pic>
          <p:nvPicPr>
            <p:cNvPr id="18" name="Image 15"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66221" y="10217150"/>
              <a:ext cx="12702" cy="577143"/>
            </a:xfrm>
            <a:prstGeom prst="rect">
              <a:avLst/>
            </a:prstGeom>
          </p:spPr>
        </p:pic>
        <p:pic>
          <p:nvPicPr>
            <p:cNvPr id="19" name="Image 16"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66221" y="11042650"/>
              <a:ext cx="12702" cy="577143"/>
            </a:xfrm>
            <a:prstGeom prst="rect">
              <a:avLst/>
            </a:prstGeom>
          </p:spPr>
        </p:pic>
        <p:pic>
          <p:nvPicPr>
            <p:cNvPr id="20" name="Image 17"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614602" y="5327650"/>
              <a:ext cx="12702" cy="577143"/>
            </a:xfrm>
            <a:prstGeom prst="rect">
              <a:avLst/>
            </a:prstGeom>
          </p:spPr>
        </p:pic>
        <p:pic>
          <p:nvPicPr>
            <p:cNvPr id="21" name="Image 18"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614602" y="6155506"/>
              <a:ext cx="12702" cy="577143"/>
            </a:xfrm>
            <a:prstGeom prst="rect">
              <a:avLst/>
            </a:prstGeom>
          </p:spPr>
        </p:pic>
        <p:pic>
          <p:nvPicPr>
            <p:cNvPr id="22" name="Image 19"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614602" y="6983350"/>
              <a:ext cx="12702" cy="577143"/>
            </a:xfrm>
            <a:prstGeom prst="rect">
              <a:avLst/>
            </a:prstGeom>
          </p:spPr>
        </p:pic>
        <p:pic>
          <p:nvPicPr>
            <p:cNvPr id="23" name="Image 20"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614602" y="7811207"/>
              <a:ext cx="12702" cy="577143"/>
            </a:xfrm>
            <a:prstGeom prst="rect">
              <a:avLst/>
            </a:prstGeom>
          </p:spPr>
        </p:pic>
        <p:pic>
          <p:nvPicPr>
            <p:cNvPr id="24" name="Image 21"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614602" y="8604250"/>
              <a:ext cx="12702" cy="577143"/>
            </a:xfrm>
            <a:prstGeom prst="rect">
              <a:avLst/>
            </a:prstGeom>
          </p:spPr>
        </p:pic>
        <p:pic>
          <p:nvPicPr>
            <p:cNvPr id="25" name="Image 22"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614602" y="9429750"/>
              <a:ext cx="12702" cy="577143"/>
            </a:xfrm>
            <a:prstGeom prst="rect">
              <a:avLst/>
            </a:prstGeom>
          </p:spPr>
        </p:pic>
        <p:pic>
          <p:nvPicPr>
            <p:cNvPr id="26" name="Image 23"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614602" y="10217150"/>
              <a:ext cx="12702" cy="577143"/>
            </a:xfrm>
            <a:prstGeom prst="rect">
              <a:avLst/>
            </a:prstGeom>
          </p:spPr>
        </p:pic>
        <p:pic>
          <p:nvPicPr>
            <p:cNvPr id="27" name="Image 24"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614602" y="11042650"/>
              <a:ext cx="12702" cy="577143"/>
            </a:xfrm>
            <a:prstGeom prst="rect">
              <a:avLst/>
            </a:prstGeom>
          </p:spPr>
        </p:pic>
        <p:pic>
          <p:nvPicPr>
            <p:cNvPr id="28" name="Image 25"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662983" y="5327650"/>
              <a:ext cx="12702" cy="577143"/>
            </a:xfrm>
            <a:prstGeom prst="rect">
              <a:avLst/>
            </a:prstGeom>
          </p:spPr>
        </p:pic>
        <p:pic>
          <p:nvPicPr>
            <p:cNvPr id="29" name="Image 26"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662983" y="6155506"/>
              <a:ext cx="12702" cy="577143"/>
            </a:xfrm>
            <a:prstGeom prst="rect">
              <a:avLst/>
            </a:prstGeom>
          </p:spPr>
        </p:pic>
        <p:pic>
          <p:nvPicPr>
            <p:cNvPr id="30" name="Image 27"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662983" y="6983350"/>
              <a:ext cx="12702" cy="577143"/>
            </a:xfrm>
            <a:prstGeom prst="rect">
              <a:avLst/>
            </a:prstGeom>
          </p:spPr>
        </p:pic>
        <p:pic>
          <p:nvPicPr>
            <p:cNvPr id="31" name="Image 28"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662983" y="7811207"/>
              <a:ext cx="12702" cy="577143"/>
            </a:xfrm>
            <a:prstGeom prst="rect">
              <a:avLst/>
            </a:prstGeom>
          </p:spPr>
        </p:pic>
        <p:pic>
          <p:nvPicPr>
            <p:cNvPr id="32" name="Image 29"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662983" y="8604250"/>
              <a:ext cx="12702" cy="577143"/>
            </a:xfrm>
            <a:prstGeom prst="rect">
              <a:avLst/>
            </a:prstGeom>
          </p:spPr>
        </p:pic>
        <p:pic>
          <p:nvPicPr>
            <p:cNvPr id="33" name="Image 30"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662983" y="9429750"/>
              <a:ext cx="12702" cy="577143"/>
            </a:xfrm>
            <a:prstGeom prst="rect">
              <a:avLst/>
            </a:prstGeom>
          </p:spPr>
        </p:pic>
        <p:pic>
          <p:nvPicPr>
            <p:cNvPr id="34" name="Image 31"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662983" y="10217150"/>
              <a:ext cx="12702" cy="577143"/>
            </a:xfrm>
            <a:prstGeom prst="rect">
              <a:avLst/>
            </a:prstGeom>
          </p:spPr>
        </p:pic>
        <p:pic>
          <p:nvPicPr>
            <p:cNvPr id="35" name="Image 32"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662983" y="11042650"/>
              <a:ext cx="12702" cy="577143"/>
            </a:xfrm>
            <a:prstGeom prst="rect">
              <a:avLst/>
            </a:prstGeom>
          </p:spPr>
        </p:pic>
        <p:pic>
          <p:nvPicPr>
            <p:cNvPr id="36" name="Image 33"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711364" y="5327650"/>
              <a:ext cx="12702" cy="577143"/>
            </a:xfrm>
            <a:prstGeom prst="rect">
              <a:avLst/>
            </a:prstGeom>
          </p:spPr>
        </p:pic>
        <p:pic>
          <p:nvPicPr>
            <p:cNvPr id="37" name="Image 34"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3711364" y="6155506"/>
              <a:ext cx="12702" cy="577143"/>
            </a:xfrm>
            <a:prstGeom prst="rect">
              <a:avLst/>
            </a:prstGeom>
          </p:spPr>
        </p:pic>
        <p:pic>
          <p:nvPicPr>
            <p:cNvPr id="38" name="Image 35"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3711364" y="6983350"/>
              <a:ext cx="12702" cy="577143"/>
            </a:xfrm>
            <a:prstGeom prst="rect">
              <a:avLst/>
            </a:prstGeom>
          </p:spPr>
        </p:pic>
        <p:pic>
          <p:nvPicPr>
            <p:cNvPr id="39" name="Image 36"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3711364" y="7811207"/>
              <a:ext cx="12702" cy="577143"/>
            </a:xfrm>
            <a:prstGeom prst="rect">
              <a:avLst/>
            </a:prstGeom>
          </p:spPr>
        </p:pic>
        <p:pic>
          <p:nvPicPr>
            <p:cNvPr id="40" name="Image 37"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711364" y="8604250"/>
              <a:ext cx="12702" cy="577143"/>
            </a:xfrm>
            <a:prstGeom prst="rect">
              <a:avLst/>
            </a:prstGeom>
          </p:spPr>
        </p:pic>
        <p:pic>
          <p:nvPicPr>
            <p:cNvPr id="41" name="Image 38"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711364" y="9429750"/>
              <a:ext cx="12702" cy="577143"/>
            </a:xfrm>
            <a:prstGeom prst="rect">
              <a:avLst/>
            </a:prstGeom>
          </p:spPr>
        </p:pic>
        <p:pic>
          <p:nvPicPr>
            <p:cNvPr id="42" name="Image 39"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711364" y="10217150"/>
              <a:ext cx="12702" cy="577143"/>
            </a:xfrm>
            <a:prstGeom prst="rect">
              <a:avLst/>
            </a:prstGeom>
          </p:spPr>
        </p:pic>
        <p:pic>
          <p:nvPicPr>
            <p:cNvPr id="43" name="Image 40"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711364" y="11042650"/>
              <a:ext cx="12702" cy="577143"/>
            </a:xfrm>
            <a:prstGeom prst="rect">
              <a:avLst/>
            </a:prstGeom>
          </p:spPr>
        </p:pic>
        <p:pic>
          <p:nvPicPr>
            <p:cNvPr id="44" name="Image 41"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759745" y="5327650"/>
              <a:ext cx="12702" cy="577143"/>
            </a:xfrm>
            <a:prstGeom prst="rect">
              <a:avLst/>
            </a:prstGeom>
          </p:spPr>
        </p:pic>
        <p:pic>
          <p:nvPicPr>
            <p:cNvPr id="45" name="Image 42"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6759745" y="6155506"/>
              <a:ext cx="12702" cy="577143"/>
            </a:xfrm>
            <a:prstGeom prst="rect">
              <a:avLst/>
            </a:prstGeom>
          </p:spPr>
        </p:pic>
        <p:pic>
          <p:nvPicPr>
            <p:cNvPr id="46" name="Image 43"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759745" y="6983350"/>
              <a:ext cx="12702" cy="577143"/>
            </a:xfrm>
            <a:prstGeom prst="rect">
              <a:avLst/>
            </a:prstGeom>
          </p:spPr>
        </p:pic>
        <p:pic>
          <p:nvPicPr>
            <p:cNvPr id="47" name="Image 44"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759745" y="7811207"/>
              <a:ext cx="12702" cy="577143"/>
            </a:xfrm>
            <a:prstGeom prst="rect">
              <a:avLst/>
            </a:prstGeom>
          </p:spPr>
        </p:pic>
        <p:pic>
          <p:nvPicPr>
            <p:cNvPr id="48" name="Image 45"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759745" y="8604250"/>
              <a:ext cx="12702" cy="577143"/>
            </a:xfrm>
            <a:prstGeom prst="rect">
              <a:avLst/>
            </a:prstGeom>
          </p:spPr>
        </p:pic>
        <p:pic>
          <p:nvPicPr>
            <p:cNvPr id="49" name="Image 46"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759745" y="9429750"/>
              <a:ext cx="12702" cy="577143"/>
            </a:xfrm>
            <a:prstGeom prst="rect">
              <a:avLst/>
            </a:prstGeom>
          </p:spPr>
        </p:pic>
        <p:pic>
          <p:nvPicPr>
            <p:cNvPr id="50" name="Image 47"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759745" y="10217150"/>
              <a:ext cx="12702" cy="577143"/>
            </a:xfrm>
            <a:prstGeom prst="rect">
              <a:avLst/>
            </a:prstGeom>
          </p:spPr>
        </p:pic>
        <p:pic>
          <p:nvPicPr>
            <p:cNvPr id="51" name="Image 48"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759745" y="11042650"/>
              <a:ext cx="12702" cy="577143"/>
            </a:xfrm>
            <a:prstGeom prst="rect">
              <a:avLst/>
            </a:prstGeom>
          </p:spPr>
        </p:pic>
        <p:pic>
          <p:nvPicPr>
            <p:cNvPr id="52" name="Image 49"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9808126" y="5327650"/>
              <a:ext cx="12702" cy="577143"/>
            </a:xfrm>
            <a:prstGeom prst="rect">
              <a:avLst/>
            </a:prstGeom>
          </p:spPr>
        </p:pic>
        <p:pic>
          <p:nvPicPr>
            <p:cNvPr id="53" name="Image 50"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9808126" y="6155506"/>
              <a:ext cx="12702" cy="577143"/>
            </a:xfrm>
            <a:prstGeom prst="rect">
              <a:avLst/>
            </a:prstGeom>
          </p:spPr>
        </p:pic>
        <p:pic>
          <p:nvPicPr>
            <p:cNvPr id="54" name="Image 51"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9808126" y="6983350"/>
              <a:ext cx="12702" cy="577143"/>
            </a:xfrm>
            <a:prstGeom prst="rect">
              <a:avLst/>
            </a:prstGeom>
          </p:spPr>
        </p:pic>
        <p:pic>
          <p:nvPicPr>
            <p:cNvPr id="55" name="Image 52"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9808126" y="7811207"/>
              <a:ext cx="12702" cy="577143"/>
            </a:xfrm>
            <a:prstGeom prst="rect">
              <a:avLst/>
            </a:prstGeom>
          </p:spPr>
        </p:pic>
        <p:pic>
          <p:nvPicPr>
            <p:cNvPr id="56" name="Image 53"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9808126" y="8604250"/>
              <a:ext cx="12702" cy="577143"/>
            </a:xfrm>
            <a:prstGeom prst="rect">
              <a:avLst/>
            </a:prstGeom>
          </p:spPr>
        </p:pic>
        <p:pic>
          <p:nvPicPr>
            <p:cNvPr id="57" name="Image 54"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9808126" y="9429750"/>
              <a:ext cx="12702" cy="577143"/>
            </a:xfrm>
            <a:prstGeom prst="rect">
              <a:avLst/>
            </a:prstGeom>
          </p:spPr>
        </p:pic>
        <p:pic>
          <p:nvPicPr>
            <p:cNvPr id="58" name="Image 55"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9808126" y="10217150"/>
              <a:ext cx="12702" cy="577143"/>
            </a:xfrm>
            <a:prstGeom prst="rect">
              <a:avLst/>
            </a:prstGeom>
          </p:spPr>
        </p:pic>
        <p:pic>
          <p:nvPicPr>
            <p:cNvPr id="59" name="Image 56"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9808126" y="11042650"/>
              <a:ext cx="12702" cy="577143"/>
            </a:xfrm>
            <a:prstGeom prst="rect">
              <a:avLst/>
            </a:prstGeom>
          </p:spPr>
        </p:pic>
        <p:pic>
          <p:nvPicPr>
            <p:cNvPr id="60" name="Image 57"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076710" y="6051550"/>
              <a:ext cx="20462257" cy="12700"/>
            </a:xfrm>
            <a:prstGeom prst="rect">
              <a:avLst/>
            </a:prstGeom>
          </p:spPr>
        </p:pic>
        <p:pic>
          <p:nvPicPr>
            <p:cNvPr id="61" name="Image 58"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076710" y="6864350"/>
              <a:ext cx="20462257" cy="12700"/>
            </a:xfrm>
            <a:prstGeom prst="rect">
              <a:avLst/>
            </a:prstGeom>
          </p:spPr>
        </p:pic>
        <p:pic>
          <p:nvPicPr>
            <p:cNvPr id="62" name="Image 59"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076710" y="7677150"/>
              <a:ext cx="20462257" cy="12700"/>
            </a:xfrm>
            <a:prstGeom prst="rect">
              <a:avLst/>
            </a:prstGeom>
          </p:spPr>
        </p:pic>
        <p:pic>
          <p:nvPicPr>
            <p:cNvPr id="63" name="Image 60"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076710" y="8477250"/>
              <a:ext cx="20462257" cy="12700"/>
            </a:xfrm>
            <a:prstGeom prst="rect">
              <a:avLst/>
            </a:prstGeom>
          </p:spPr>
        </p:pic>
        <p:pic>
          <p:nvPicPr>
            <p:cNvPr id="64" name="Image 61"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076710" y="9290050"/>
              <a:ext cx="20462257" cy="12700"/>
            </a:xfrm>
            <a:prstGeom prst="rect">
              <a:avLst/>
            </a:prstGeom>
          </p:spPr>
        </p:pic>
        <p:pic>
          <p:nvPicPr>
            <p:cNvPr id="65" name="Image 62"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076710" y="10102850"/>
              <a:ext cx="20462257" cy="12700"/>
            </a:xfrm>
            <a:prstGeom prst="rect">
              <a:avLst/>
            </a:prstGeom>
          </p:spPr>
        </p:pic>
        <p:pic>
          <p:nvPicPr>
            <p:cNvPr id="66" name="Image 63"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076710" y="10915650"/>
              <a:ext cx="20462257" cy="12700"/>
            </a:xfrm>
            <a:prstGeom prst="rect">
              <a:avLst/>
            </a:prstGeom>
          </p:spPr>
        </p:pic>
        <p:sp>
          <p:nvSpPr>
            <p:cNvPr id="67" name="Text 1"/>
            <p:cNvSpPr/>
            <p:nvPr/>
          </p:nvSpPr>
          <p:spPr>
            <a:xfrm>
              <a:off x="2768946" y="5524500"/>
              <a:ext cx="588507"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Email</a:t>
              </a:r>
              <a:endParaRPr lang="en-US" sz="1600" dirty="0"/>
            </a:p>
          </p:txBody>
        </p:sp>
        <p:sp>
          <p:nvSpPr>
            <p:cNvPr id="68" name="Text 2"/>
            <p:cNvSpPr/>
            <p:nvPr/>
          </p:nvSpPr>
          <p:spPr>
            <a:xfrm>
              <a:off x="2794349" y="6299200"/>
              <a:ext cx="55040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Push</a:t>
              </a:r>
              <a:endParaRPr lang="en-US" sz="1600" dirty="0"/>
            </a:p>
          </p:txBody>
        </p:sp>
        <p:sp>
          <p:nvSpPr>
            <p:cNvPr id="69" name="Text 3"/>
            <p:cNvSpPr/>
            <p:nvPr/>
          </p:nvSpPr>
          <p:spPr>
            <a:xfrm>
              <a:off x="2807051" y="7112000"/>
              <a:ext cx="512297"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SMS</a:t>
              </a:r>
              <a:endParaRPr lang="en-US" sz="1600" dirty="0"/>
            </a:p>
          </p:txBody>
        </p:sp>
        <p:sp>
          <p:nvSpPr>
            <p:cNvPr id="70" name="Text 4"/>
            <p:cNvSpPr/>
            <p:nvPr/>
          </p:nvSpPr>
          <p:spPr>
            <a:xfrm>
              <a:off x="2680035" y="7924800"/>
              <a:ext cx="779031"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GA Ads</a:t>
              </a:r>
              <a:endParaRPr lang="en-US" sz="1600" dirty="0"/>
            </a:p>
          </p:txBody>
        </p:sp>
        <p:sp>
          <p:nvSpPr>
            <p:cNvPr id="71" name="Text 5"/>
            <p:cNvSpPr/>
            <p:nvPr/>
          </p:nvSpPr>
          <p:spPr>
            <a:xfrm>
              <a:off x="2578422" y="8737600"/>
              <a:ext cx="982256"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Meta Ads</a:t>
              </a:r>
              <a:endParaRPr lang="en-US" sz="1600" dirty="0"/>
            </a:p>
          </p:txBody>
        </p:sp>
        <p:sp>
          <p:nvSpPr>
            <p:cNvPr id="72" name="Text 6"/>
            <p:cNvSpPr/>
            <p:nvPr/>
          </p:nvSpPr>
          <p:spPr>
            <a:xfrm>
              <a:off x="2502213" y="9550400"/>
              <a:ext cx="1121974"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TikTok Ads</a:t>
              </a:r>
              <a:endParaRPr lang="en-US" sz="1600" dirty="0"/>
            </a:p>
          </p:txBody>
        </p:sp>
        <p:sp>
          <p:nvSpPr>
            <p:cNvPr id="73" name="Text 7"/>
            <p:cNvSpPr/>
            <p:nvPr/>
          </p:nvSpPr>
          <p:spPr>
            <a:xfrm>
              <a:off x="2667333" y="10363200"/>
              <a:ext cx="79173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On-site</a:t>
              </a:r>
              <a:endParaRPr lang="en-US" sz="1600" dirty="0"/>
            </a:p>
          </p:txBody>
        </p:sp>
        <p:sp>
          <p:nvSpPr>
            <p:cNvPr id="74" name="Text 8"/>
            <p:cNvSpPr/>
            <p:nvPr/>
          </p:nvSpPr>
          <p:spPr>
            <a:xfrm>
              <a:off x="2489511" y="11137900"/>
              <a:ext cx="1147377"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Call-center</a:t>
              </a:r>
              <a:endParaRPr lang="en-US" sz="1600" dirty="0"/>
            </a:p>
          </p:txBody>
        </p:sp>
        <p:pic>
          <p:nvPicPr>
            <p:cNvPr id="75" name="Image 64"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524191" y="4419600"/>
              <a:ext cx="3048381" cy="812800"/>
            </a:xfrm>
            <a:prstGeom prst="rect">
              <a:avLst/>
            </a:prstGeom>
          </p:spPr>
        </p:pic>
        <p:sp>
          <p:nvSpPr>
            <p:cNvPr id="76" name="Shape 9"/>
            <p:cNvSpPr/>
            <p:nvPr/>
          </p:nvSpPr>
          <p:spPr>
            <a:xfrm>
              <a:off x="4572572" y="4419600"/>
              <a:ext cx="3048381" cy="812800"/>
            </a:xfrm>
            <a:prstGeom prst="rect">
              <a:avLst/>
            </a:prstGeom>
            <a:solidFill>
              <a:srgbClr val="FF6A0A">
                <a:alpha val="100000"/>
              </a:srgbClr>
            </a:solidFill>
            <a:ln/>
          </p:spPr>
        </p:sp>
        <p:sp>
          <p:nvSpPr>
            <p:cNvPr id="77" name="Shape 10"/>
            <p:cNvSpPr/>
            <p:nvPr/>
          </p:nvSpPr>
          <p:spPr>
            <a:xfrm>
              <a:off x="7620953" y="4419600"/>
              <a:ext cx="3048381" cy="812800"/>
            </a:xfrm>
            <a:prstGeom prst="rect">
              <a:avLst/>
            </a:prstGeom>
            <a:solidFill>
              <a:srgbClr val="FF8B32">
                <a:alpha val="100000"/>
              </a:srgbClr>
            </a:solidFill>
            <a:ln/>
          </p:spPr>
        </p:sp>
        <p:sp>
          <p:nvSpPr>
            <p:cNvPr id="78" name="Shape 11"/>
            <p:cNvSpPr/>
            <p:nvPr/>
          </p:nvSpPr>
          <p:spPr>
            <a:xfrm>
              <a:off x="10669334" y="4419600"/>
              <a:ext cx="3048381" cy="812800"/>
            </a:xfrm>
            <a:prstGeom prst="rect">
              <a:avLst/>
            </a:prstGeom>
            <a:solidFill>
              <a:srgbClr val="FFB66D">
                <a:alpha val="100000"/>
              </a:srgbClr>
            </a:solidFill>
            <a:ln/>
          </p:spPr>
        </p:sp>
        <p:sp>
          <p:nvSpPr>
            <p:cNvPr id="79" name="Shape 12"/>
            <p:cNvSpPr/>
            <p:nvPr/>
          </p:nvSpPr>
          <p:spPr>
            <a:xfrm>
              <a:off x="13717715" y="4419600"/>
              <a:ext cx="3048381" cy="812800"/>
            </a:xfrm>
            <a:prstGeom prst="rect">
              <a:avLst/>
            </a:prstGeom>
            <a:solidFill>
              <a:srgbClr val="FF8B32">
                <a:alpha val="100000"/>
              </a:srgbClr>
            </a:solidFill>
            <a:ln/>
          </p:spPr>
        </p:sp>
        <p:sp>
          <p:nvSpPr>
            <p:cNvPr id="80" name="Shape 13"/>
            <p:cNvSpPr/>
            <p:nvPr/>
          </p:nvSpPr>
          <p:spPr>
            <a:xfrm>
              <a:off x="16766096" y="4419600"/>
              <a:ext cx="3048381" cy="812800"/>
            </a:xfrm>
            <a:prstGeom prst="rect">
              <a:avLst/>
            </a:prstGeom>
            <a:solidFill>
              <a:srgbClr val="FF6A0A">
                <a:alpha val="100000"/>
              </a:srgbClr>
            </a:solidFill>
            <a:ln/>
          </p:spPr>
        </p:sp>
        <p:sp>
          <p:nvSpPr>
            <p:cNvPr id="81" name="Text 14"/>
            <p:cNvSpPr/>
            <p:nvPr/>
          </p:nvSpPr>
          <p:spPr>
            <a:xfrm>
              <a:off x="2641930" y="4673600"/>
              <a:ext cx="855240"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Channel</a:t>
              </a:r>
              <a:endParaRPr lang="en-US" sz="1600" dirty="0"/>
            </a:p>
          </p:txBody>
        </p:sp>
        <p:sp>
          <p:nvSpPr>
            <p:cNvPr id="82" name="Text 15"/>
            <p:cNvSpPr/>
            <p:nvPr/>
          </p:nvSpPr>
          <p:spPr>
            <a:xfrm>
              <a:off x="5652206" y="4673600"/>
              <a:ext cx="956853"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Profile_id</a:t>
              </a:r>
              <a:endParaRPr lang="en-US" sz="1600" dirty="0"/>
            </a:p>
          </p:txBody>
        </p:sp>
        <p:sp>
          <p:nvSpPr>
            <p:cNvPr id="83" name="Text 16"/>
            <p:cNvSpPr/>
            <p:nvPr/>
          </p:nvSpPr>
          <p:spPr>
            <a:xfrm>
              <a:off x="20500362" y="4673600"/>
              <a:ext cx="1731650"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Propensity_Score</a:t>
              </a:r>
              <a:endParaRPr lang="en-US" sz="1600" dirty="0"/>
            </a:p>
          </p:txBody>
        </p:sp>
        <p:sp>
          <p:nvSpPr>
            <p:cNvPr id="84" name="Text 17"/>
            <p:cNvSpPr/>
            <p:nvPr/>
          </p:nvSpPr>
          <p:spPr>
            <a:xfrm>
              <a:off x="17782222" y="4673600"/>
              <a:ext cx="1071167"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CLV_score</a:t>
              </a:r>
              <a:endParaRPr lang="en-US" sz="1600" dirty="0"/>
            </a:p>
          </p:txBody>
        </p:sp>
        <p:sp>
          <p:nvSpPr>
            <p:cNvPr id="85" name="Text 18"/>
            <p:cNvSpPr/>
            <p:nvPr/>
          </p:nvSpPr>
          <p:spPr>
            <a:xfrm>
              <a:off x="14822753" y="4673600"/>
              <a:ext cx="931450"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Segment</a:t>
              </a:r>
              <a:endParaRPr lang="en-US" sz="1600" dirty="0"/>
            </a:p>
          </p:txBody>
        </p:sp>
        <p:sp>
          <p:nvSpPr>
            <p:cNvPr id="86" name="Text 19"/>
            <p:cNvSpPr/>
            <p:nvPr/>
          </p:nvSpPr>
          <p:spPr>
            <a:xfrm>
              <a:off x="11456832" y="4673600"/>
              <a:ext cx="1541126"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Phone_consent</a:t>
              </a:r>
              <a:endParaRPr lang="en-US" sz="1600" dirty="0"/>
            </a:p>
          </p:txBody>
        </p:sp>
        <p:sp>
          <p:nvSpPr>
            <p:cNvPr id="87" name="Text 20"/>
            <p:cNvSpPr/>
            <p:nvPr/>
          </p:nvSpPr>
          <p:spPr>
            <a:xfrm>
              <a:off x="8446556" y="4673600"/>
              <a:ext cx="1452215"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Email_consent</a:t>
              </a:r>
              <a:endParaRPr lang="en-US" sz="1600" dirty="0"/>
            </a:p>
          </p:txBody>
        </p:sp>
        <p:pic>
          <p:nvPicPr>
            <p:cNvPr id="88" name="Image 65"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524191" y="4419600"/>
              <a:ext cx="21338667" cy="7315200"/>
            </a:xfrm>
            <a:prstGeom prst="rect">
              <a:avLst/>
            </a:prstGeom>
          </p:spPr>
        </p:pic>
        <p:pic>
          <p:nvPicPr>
            <p:cNvPr id="89" name="Image 66"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5944343" y="5461000"/>
              <a:ext cx="304838" cy="304800"/>
            </a:xfrm>
            <a:prstGeom prst="rect">
              <a:avLst/>
            </a:prstGeom>
          </p:spPr>
        </p:pic>
        <p:pic>
          <p:nvPicPr>
            <p:cNvPr id="91" name="Image 68"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6020552" y="5556250"/>
              <a:ext cx="152419" cy="114300"/>
            </a:xfrm>
            <a:prstGeom prst="rect">
              <a:avLst/>
            </a:prstGeom>
          </p:spPr>
        </p:pic>
        <p:pic>
          <p:nvPicPr>
            <p:cNvPr id="92" name="Image 69" descr=" "/>
            <p:cNvPicPr>
              <a:picLocks noChangeAspect="1"/>
            </p:cNvPicPr>
            <p:nvPr/>
          </p:nvPicPr>
          <p:blipFill>
            <a:blip r:embed="rId29">
              <a:extLst>
                <a:ext uri="{96DAC541-7B7A-43D3-8B79-37D633B846F1}">
                  <asvg:svgBlip xmlns:asvg="http://schemas.microsoft.com/office/drawing/2016/SVG/main" r:embed="rId33"/>
                </a:ext>
              </a:extLst>
            </a:blip>
            <a:stretch>
              <a:fillRect/>
            </a:stretch>
          </p:blipFill>
          <p:spPr>
            <a:xfrm>
              <a:off x="5944343" y="6299200"/>
              <a:ext cx="304838" cy="304800"/>
            </a:xfrm>
            <a:prstGeom prst="rect">
              <a:avLst/>
            </a:prstGeom>
          </p:spPr>
        </p:pic>
        <p:pic>
          <p:nvPicPr>
            <p:cNvPr id="94" name="Image 71"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6020552" y="6394450"/>
              <a:ext cx="152419" cy="114300"/>
            </a:xfrm>
            <a:prstGeom prst="rect">
              <a:avLst/>
            </a:prstGeom>
          </p:spPr>
        </p:pic>
        <p:pic>
          <p:nvPicPr>
            <p:cNvPr id="95" name="Image 72" descr=" "/>
            <p:cNvPicPr>
              <a:picLocks noChangeAspect="1"/>
            </p:cNvPicPr>
            <p:nvPr/>
          </p:nvPicPr>
          <p:blipFill>
            <a:blip r:embed="rId29">
              <a:extLst>
                <a:ext uri="{96DAC541-7B7A-43D3-8B79-37D633B846F1}">
                  <asvg:svgBlip xmlns:asvg="http://schemas.microsoft.com/office/drawing/2016/SVG/main" r:embed="rId34"/>
                </a:ext>
              </a:extLst>
            </a:blip>
            <a:stretch>
              <a:fillRect/>
            </a:stretch>
          </p:blipFill>
          <p:spPr>
            <a:xfrm>
              <a:off x="5944343" y="7112000"/>
              <a:ext cx="304838" cy="304800"/>
            </a:xfrm>
            <a:prstGeom prst="rect">
              <a:avLst/>
            </a:prstGeom>
          </p:spPr>
        </p:pic>
        <p:pic>
          <p:nvPicPr>
            <p:cNvPr id="97" name="Image 74"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6020552" y="7207250"/>
              <a:ext cx="152419" cy="114300"/>
            </a:xfrm>
            <a:prstGeom prst="rect">
              <a:avLst/>
            </a:prstGeom>
          </p:spPr>
        </p:pic>
        <p:pic>
          <p:nvPicPr>
            <p:cNvPr id="98" name="Image 75" descr=" "/>
            <p:cNvPicPr>
              <a:picLocks noChangeAspect="1"/>
            </p:cNvPicPr>
            <p:nvPr/>
          </p:nvPicPr>
          <p:blipFill>
            <a:blip r:embed="rId29">
              <a:extLst>
                <a:ext uri="{96DAC541-7B7A-43D3-8B79-37D633B846F1}">
                  <asvg:svgBlip xmlns:asvg="http://schemas.microsoft.com/office/drawing/2016/SVG/main" r:embed="rId35"/>
                </a:ext>
              </a:extLst>
            </a:blip>
            <a:stretch>
              <a:fillRect/>
            </a:stretch>
          </p:blipFill>
          <p:spPr>
            <a:xfrm>
              <a:off x="5944343" y="7924800"/>
              <a:ext cx="304838" cy="304800"/>
            </a:xfrm>
            <a:prstGeom prst="rect">
              <a:avLst/>
            </a:prstGeom>
          </p:spPr>
        </p:pic>
        <p:pic>
          <p:nvPicPr>
            <p:cNvPr id="100" name="Image 77"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6020552" y="8020050"/>
              <a:ext cx="152419" cy="114300"/>
            </a:xfrm>
            <a:prstGeom prst="rect">
              <a:avLst/>
            </a:prstGeom>
          </p:spPr>
        </p:pic>
        <p:pic>
          <p:nvPicPr>
            <p:cNvPr id="101" name="Image 78" descr=" "/>
            <p:cNvPicPr>
              <a:picLocks noChangeAspect="1"/>
            </p:cNvPicPr>
            <p:nvPr/>
          </p:nvPicPr>
          <p:blipFill>
            <a:blip r:embed="rId29">
              <a:extLst>
                <a:ext uri="{96DAC541-7B7A-43D3-8B79-37D633B846F1}">
                  <asvg:svgBlip xmlns:asvg="http://schemas.microsoft.com/office/drawing/2016/SVG/main" r:embed="rId36"/>
                </a:ext>
              </a:extLst>
            </a:blip>
            <a:stretch>
              <a:fillRect/>
            </a:stretch>
          </p:blipFill>
          <p:spPr>
            <a:xfrm>
              <a:off x="5944343" y="8737600"/>
              <a:ext cx="304838" cy="304800"/>
            </a:xfrm>
            <a:prstGeom prst="rect">
              <a:avLst/>
            </a:prstGeom>
          </p:spPr>
        </p:pic>
        <p:pic>
          <p:nvPicPr>
            <p:cNvPr id="103" name="Image 80"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6020552" y="8832850"/>
              <a:ext cx="152419" cy="114300"/>
            </a:xfrm>
            <a:prstGeom prst="rect">
              <a:avLst/>
            </a:prstGeom>
          </p:spPr>
        </p:pic>
        <p:pic>
          <p:nvPicPr>
            <p:cNvPr id="104" name="Image 81" descr=" "/>
            <p:cNvPicPr>
              <a:picLocks noChangeAspect="1"/>
            </p:cNvPicPr>
            <p:nvPr/>
          </p:nvPicPr>
          <p:blipFill>
            <a:blip r:embed="rId29">
              <a:extLst>
                <a:ext uri="{96DAC541-7B7A-43D3-8B79-37D633B846F1}">
                  <asvg:svgBlip xmlns:asvg="http://schemas.microsoft.com/office/drawing/2016/SVG/main" r:embed="rId37"/>
                </a:ext>
              </a:extLst>
            </a:blip>
            <a:stretch>
              <a:fillRect/>
            </a:stretch>
          </p:blipFill>
          <p:spPr>
            <a:xfrm>
              <a:off x="5944343" y="9563100"/>
              <a:ext cx="304838" cy="304800"/>
            </a:xfrm>
            <a:prstGeom prst="rect">
              <a:avLst/>
            </a:prstGeom>
          </p:spPr>
        </p:pic>
        <p:pic>
          <p:nvPicPr>
            <p:cNvPr id="106" name="Image 83"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6020552" y="9658350"/>
              <a:ext cx="152419" cy="114300"/>
            </a:xfrm>
            <a:prstGeom prst="rect">
              <a:avLst/>
            </a:prstGeom>
          </p:spPr>
        </p:pic>
        <p:pic>
          <p:nvPicPr>
            <p:cNvPr id="107" name="Image 84" descr=" "/>
            <p:cNvPicPr>
              <a:picLocks noChangeAspect="1"/>
            </p:cNvPicPr>
            <p:nvPr/>
          </p:nvPicPr>
          <p:blipFill>
            <a:blip r:embed="rId29">
              <a:extLst>
                <a:ext uri="{96DAC541-7B7A-43D3-8B79-37D633B846F1}">
                  <asvg:svgBlip xmlns:asvg="http://schemas.microsoft.com/office/drawing/2016/SVG/main" r:embed="rId38"/>
                </a:ext>
              </a:extLst>
            </a:blip>
            <a:stretch>
              <a:fillRect/>
            </a:stretch>
          </p:blipFill>
          <p:spPr>
            <a:xfrm>
              <a:off x="5944343" y="10350500"/>
              <a:ext cx="304838" cy="304800"/>
            </a:xfrm>
            <a:prstGeom prst="rect">
              <a:avLst/>
            </a:prstGeom>
          </p:spPr>
        </p:pic>
        <p:pic>
          <p:nvPicPr>
            <p:cNvPr id="109" name="Image 86"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6020552" y="10445750"/>
              <a:ext cx="152419" cy="114300"/>
            </a:xfrm>
            <a:prstGeom prst="rect">
              <a:avLst/>
            </a:prstGeom>
          </p:spPr>
        </p:pic>
        <p:pic>
          <p:nvPicPr>
            <p:cNvPr id="110" name="Image 87" descr=" "/>
            <p:cNvPicPr>
              <a:picLocks noChangeAspect="1"/>
            </p:cNvPicPr>
            <p:nvPr/>
          </p:nvPicPr>
          <p:blipFill>
            <a:blip r:embed="rId29">
              <a:extLst>
                <a:ext uri="{96DAC541-7B7A-43D3-8B79-37D633B846F1}">
                  <asvg:svgBlip xmlns:asvg="http://schemas.microsoft.com/office/drawing/2016/SVG/main" r:embed="rId39"/>
                </a:ext>
              </a:extLst>
            </a:blip>
            <a:stretch>
              <a:fillRect/>
            </a:stretch>
          </p:blipFill>
          <p:spPr>
            <a:xfrm>
              <a:off x="5944343" y="11137900"/>
              <a:ext cx="304838" cy="304800"/>
            </a:xfrm>
            <a:prstGeom prst="rect">
              <a:avLst/>
            </a:prstGeom>
          </p:spPr>
        </p:pic>
        <p:pic>
          <p:nvPicPr>
            <p:cNvPr id="112" name="Image 89"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6020552" y="11233150"/>
              <a:ext cx="152419" cy="114300"/>
            </a:xfrm>
            <a:prstGeom prst="rect">
              <a:avLst/>
            </a:prstGeom>
          </p:spPr>
        </p:pic>
        <p:pic>
          <p:nvPicPr>
            <p:cNvPr id="113" name="Image 90" descr=" "/>
            <p:cNvPicPr>
              <a:picLocks noChangeAspect="1"/>
            </p:cNvPicPr>
            <p:nvPr/>
          </p:nvPicPr>
          <p:blipFill>
            <a:blip r:embed="rId29">
              <a:extLst>
                <a:ext uri="{96DAC541-7B7A-43D3-8B79-37D633B846F1}">
                  <asvg:svgBlip xmlns:asvg="http://schemas.microsoft.com/office/drawing/2016/SVG/main" r:embed="rId40"/>
                </a:ext>
              </a:extLst>
            </a:blip>
            <a:stretch>
              <a:fillRect/>
            </a:stretch>
          </p:blipFill>
          <p:spPr>
            <a:xfrm>
              <a:off x="8992724" y="5461000"/>
              <a:ext cx="304838" cy="304800"/>
            </a:xfrm>
            <a:prstGeom prst="rect">
              <a:avLst/>
            </a:prstGeom>
          </p:spPr>
        </p:pic>
        <p:pic>
          <p:nvPicPr>
            <p:cNvPr id="115" name="Image 92"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9068933" y="5556250"/>
              <a:ext cx="152419" cy="114300"/>
            </a:xfrm>
            <a:prstGeom prst="rect">
              <a:avLst/>
            </a:prstGeom>
          </p:spPr>
        </p:pic>
        <p:pic>
          <p:nvPicPr>
            <p:cNvPr id="116" name="Image 93" descr=" "/>
            <p:cNvPicPr>
              <a:picLocks noChangeAspect="1"/>
            </p:cNvPicPr>
            <p:nvPr/>
          </p:nvPicPr>
          <p:blipFill>
            <a:blip r:embed="rId29">
              <a:extLst>
                <a:ext uri="{96DAC541-7B7A-43D3-8B79-37D633B846F1}">
                  <asvg:svgBlip xmlns:asvg="http://schemas.microsoft.com/office/drawing/2016/SVG/main" r:embed="rId41"/>
                </a:ext>
              </a:extLst>
            </a:blip>
            <a:stretch>
              <a:fillRect/>
            </a:stretch>
          </p:blipFill>
          <p:spPr>
            <a:xfrm>
              <a:off x="12041105" y="6299200"/>
              <a:ext cx="304838" cy="304800"/>
            </a:xfrm>
            <a:prstGeom prst="rect">
              <a:avLst/>
            </a:prstGeom>
          </p:spPr>
        </p:pic>
        <p:pic>
          <p:nvPicPr>
            <p:cNvPr id="118" name="Image 95"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2117314" y="6394450"/>
              <a:ext cx="152419" cy="114300"/>
            </a:xfrm>
            <a:prstGeom prst="rect">
              <a:avLst/>
            </a:prstGeom>
          </p:spPr>
        </p:pic>
        <p:pic>
          <p:nvPicPr>
            <p:cNvPr id="119" name="Image 96" descr=" "/>
            <p:cNvPicPr>
              <a:picLocks noChangeAspect="1"/>
            </p:cNvPicPr>
            <p:nvPr/>
          </p:nvPicPr>
          <p:blipFill>
            <a:blip r:embed="rId29">
              <a:extLst>
                <a:ext uri="{96DAC541-7B7A-43D3-8B79-37D633B846F1}">
                  <asvg:svgBlip xmlns:asvg="http://schemas.microsoft.com/office/drawing/2016/SVG/main" r:embed="rId42"/>
                </a:ext>
              </a:extLst>
            </a:blip>
            <a:stretch>
              <a:fillRect/>
            </a:stretch>
          </p:blipFill>
          <p:spPr>
            <a:xfrm>
              <a:off x="12041105" y="7112000"/>
              <a:ext cx="304838" cy="304800"/>
            </a:xfrm>
            <a:prstGeom prst="rect">
              <a:avLst/>
            </a:prstGeom>
          </p:spPr>
        </p:pic>
        <p:pic>
          <p:nvPicPr>
            <p:cNvPr id="121" name="Image 98"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2117314" y="7207250"/>
              <a:ext cx="152419" cy="114300"/>
            </a:xfrm>
            <a:prstGeom prst="rect">
              <a:avLst/>
            </a:prstGeom>
          </p:spPr>
        </p:pic>
        <p:pic>
          <p:nvPicPr>
            <p:cNvPr id="122" name="Image 99" descr=" "/>
            <p:cNvPicPr>
              <a:picLocks noChangeAspect="1"/>
            </p:cNvPicPr>
            <p:nvPr/>
          </p:nvPicPr>
          <p:blipFill>
            <a:blip r:embed="rId29">
              <a:extLst>
                <a:ext uri="{96DAC541-7B7A-43D3-8B79-37D633B846F1}">
                  <asvg:svgBlip xmlns:asvg="http://schemas.microsoft.com/office/drawing/2016/SVG/main" r:embed="rId43"/>
                </a:ext>
              </a:extLst>
            </a:blip>
            <a:stretch>
              <a:fillRect/>
            </a:stretch>
          </p:blipFill>
          <p:spPr>
            <a:xfrm>
              <a:off x="12041105" y="11137900"/>
              <a:ext cx="304838" cy="304800"/>
            </a:xfrm>
            <a:prstGeom prst="rect">
              <a:avLst/>
            </a:prstGeom>
          </p:spPr>
        </p:pic>
        <p:pic>
          <p:nvPicPr>
            <p:cNvPr id="124" name="Image 101"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2117314" y="11233150"/>
              <a:ext cx="152419" cy="114300"/>
            </a:xfrm>
            <a:prstGeom prst="rect">
              <a:avLst/>
            </a:prstGeom>
          </p:spPr>
        </p:pic>
        <p:pic>
          <p:nvPicPr>
            <p:cNvPr id="125" name="Image 102" descr=" "/>
            <p:cNvPicPr>
              <a:picLocks noChangeAspect="1"/>
            </p:cNvPicPr>
            <p:nvPr/>
          </p:nvPicPr>
          <p:blipFill>
            <a:blip r:embed="rId29">
              <a:extLst>
                <a:ext uri="{96DAC541-7B7A-43D3-8B79-37D633B846F1}">
                  <asvg:svgBlip xmlns:asvg="http://schemas.microsoft.com/office/drawing/2016/SVG/main" r:embed="rId44"/>
                </a:ext>
              </a:extLst>
            </a:blip>
            <a:stretch>
              <a:fillRect/>
            </a:stretch>
          </p:blipFill>
          <p:spPr>
            <a:xfrm>
              <a:off x="18137867" y="9550400"/>
              <a:ext cx="304838" cy="304800"/>
            </a:xfrm>
            <a:prstGeom prst="rect">
              <a:avLst/>
            </a:prstGeom>
          </p:spPr>
        </p:pic>
        <p:pic>
          <p:nvPicPr>
            <p:cNvPr id="127" name="Image 104"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8214076" y="9645650"/>
              <a:ext cx="152419" cy="114300"/>
            </a:xfrm>
            <a:prstGeom prst="rect">
              <a:avLst/>
            </a:prstGeom>
          </p:spPr>
        </p:pic>
        <p:pic>
          <p:nvPicPr>
            <p:cNvPr id="128" name="Image 105" descr=" "/>
            <p:cNvPicPr>
              <a:picLocks noChangeAspect="1"/>
            </p:cNvPicPr>
            <p:nvPr/>
          </p:nvPicPr>
          <p:blipFill>
            <a:blip r:embed="rId29">
              <a:extLst>
                <a:ext uri="{96DAC541-7B7A-43D3-8B79-37D633B846F1}">
                  <asvg:svgBlip xmlns:asvg="http://schemas.microsoft.com/office/drawing/2016/SVG/main" r:embed="rId45"/>
                </a:ext>
              </a:extLst>
            </a:blip>
            <a:stretch>
              <a:fillRect/>
            </a:stretch>
          </p:blipFill>
          <p:spPr>
            <a:xfrm>
              <a:off x="18137867" y="8737600"/>
              <a:ext cx="304838" cy="304800"/>
            </a:xfrm>
            <a:prstGeom prst="rect">
              <a:avLst/>
            </a:prstGeom>
          </p:spPr>
        </p:pic>
        <p:pic>
          <p:nvPicPr>
            <p:cNvPr id="130" name="Image 107"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8214076" y="8832850"/>
              <a:ext cx="152419" cy="114300"/>
            </a:xfrm>
            <a:prstGeom prst="rect">
              <a:avLst/>
            </a:prstGeom>
          </p:spPr>
        </p:pic>
        <p:pic>
          <p:nvPicPr>
            <p:cNvPr id="131" name="Image 108" descr=" "/>
            <p:cNvPicPr>
              <a:picLocks noChangeAspect="1"/>
            </p:cNvPicPr>
            <p:nvPr/>
          </p:nvPicPr>
          <p:blipFill>
            <a:blip r:embed="rId29">
              <a:extLst>
                <a:ext uri="{96DAC541-7B7A-43D3-8B79-37D633B846F1}">
                  <asvg:svgBlip xmlns:asvg="http://schemas.microsoft.com/office/drawing/2016/SVG/main" r:embed="rId46"/>
                </a:ext>
              </a:extLst>
            </a:blip>
            <a:stretch>
              <a:fillRect/>
            </a:stretch>
          </p:blipFill>
          <p:spPr>
            <a:xfrm>
              <a:off x="18137867" y="7924800"/>
              <a:ext cx="304838" cy="304800"/>
            </a:xfrm>
            <a:prstGeom prst="rect">
              <a:avLst/>
            </a:prstGeom>
          </p:spPr>
        </p:pic>
        <p:pic>
          <p:nvPicPr>
            <p:cNvPr id="133" name="Image 110"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8214076" y="8020050"/>
              <a:ext cx="152419" cy="114300"/>
            </a:xfrm>
            <a:prstGeom prst="rect">
              <a:avLst/>
            </a:prstGeom>
          </p:spPr>
        </p:pic>
        <p:pic>
          <p:nvPicPr>
            <p:cNvPr id="134" name="Image 111" descr=" "/>
            <p:cNvPicPr>
              <a:picLocks noChangeAspect="1"/>
            </p:cNvPicPr>
            <p:nvPr/>
          </p:nvPicPr>
          <p:blipFill>
            <a:blip r:embed="rId29">
              <a:extLst>
                <a:ext uri="{96DAC541-7B7A-43D3-8B79-37D633B846F1}">
                  <asvg:svgBlip xmlns:asvg="http://schemas.microsoft.com/office/drawing/2016/SVG/main" r:embed="rId47"/>
                </a:ext>
              </a:extLst>
            </a:blip>
            <a:stretch>
              <a:fillRect/>
            </a:stretch>
          </p:blipFill>
          <p:spPr>
            <a:xfrm>
              <a:off x="8992724" y="11137900"/>
              <a:ext cx="304838" cy="304800"/>
            </a:xfrm>
            <a:prstGeom prst="rect">
              <a:avLst/>
            </a:prstGeom>
          </p:spPr>
        </p:pic>
        <p:pic>
          <p:nvPicPr>
            <p:cNvPr id="136" name="Image 113"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9068933" y="11233150"/>
              <a:ext cx="152419" cy="114300"/>
            </a:xfrm>
            <a:prstGeom prst="rect">
              <a:avLst/>
            </a:prstGeom>
          </p:spPr>
        </p:pic>
        <p:pic>
          <p:nvPicPr>
            <p:cNvPr id="137" name="Image 114" descr=" "/>
            <p:cNvPicPr>
              <a:picLocks noChangeAspect="1"/>
            </p:cNvPicPr>
            <p:nvPr/>
          </p:nvPicPr>
          <p:blipFill>
            <a:blip r:embed="rId29">
              <a:extLst>
                <a:ext uri="{96DAC541-7B7A-43D3-8B79-37D633B846F1}">
                  <asvg:svgBlip xmlns:asvg="http://schemas.microsoft.com/office/drawing/2016/SVG/main" r:embed="rId48"/>
                </a:ext>
              </a:extLst>
            </a:blip>
            <a:stretch>
              <a:fillRect/>
            </a:stretch>
          </p:blipFill>
          <p:spPr>
            <a:xfrm>
              <a:off x="15089486" y="5461000"/>
              <a:ext cx="304838" cy="304800"/>
            </a:xfrm>
            <a:prstGeom prst="rect">
              <a:avLst/>
            </a:prstGeom>
          </p:spPr>
        </p:pic>
        <p:pic>
          <p:nvPicPr>
            <p:cNvPr id="139" name="Image 116"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5165695" y="5556250"/>
              <a:ext cx="152419" cy="114300"/>
            </a:xfrm>
            <a:prstGeom prst="rect">
              <a:avLst/>
            </a:prstGeom>
          </p:spPr>
        </p:pic>
        <p:pic>
          <p:nvPicPr>
            <p:cNvPr id="140" name="Image 117" descr=" "/>
            <p:cNvPicPr>
              <a:picLocks noChangeAspect="1"/>
            </p:cNvPicPr>
            <p:nvPr/>
          </p:nvPicPr>
          <p:blipFill>
            <a:blip r:embed="rId29">
              <a:extLst>
                <a:ext uri="{96DAC541-7B7A-43D3-8B79-37D633B846F1}">
                  <asvg:svgBlip xmlns:asvg="http://schemas.microsoft.com/office/drawing/2016/SVG/main" r:embed="rId49"/>
                </a:ext>
              </a:extLst>
            </a:blip>
            <a:stretch>
              <a:fillRect/>
            </a:stretch>
          </p:blipFill>
          <p:spPr>
            <a:xfrm>
              <a:off x="15089486" y="6299200"/>
              <a:ext cx="304838" cy="304800"/>
            </a:xfrm>
            <a:prstGeom prst="rect">
              <a:avLst/>
            </a:prstGeom>
          </p:spPr>
        </p:pic>
        <p:pic>
          <p:nvPicPr>
            <p:cNvPr id="142" name="Image 119"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5165695" y="6394450"/>
              <a:ext cx="152419" cy="114300"/>
            </a:xfrm>
            <a:prstGeom prst="rect">
              <a:avLst/>
            </a:prstGeom>
          </p:spPr>
        </p:pic>
        <p:pic>
          <p:nvPicPr>
            <p:cNvPr id="143" name="Image 120" descr=" "/>
            <p:cNvPicPr>
              <a:picLocks noChangeAspect="1"/>
            </p:cNvPicPr>
            <p:nvPr/>
          </p:nvPicPr>
          <p:blipFill>
            <a:blip r:embed="rId29">
              <a:extLst>
                <a:ext uri="{96DAC541-7B7A-43D3-8B79-37D633B846F1}">
                  <asvg:svgBlip xmlns:asvg="http://schemas.microsoft.com/office/drawing/2016/SVG/main" r:embed="rId50"/>
                </a:ext>
              </a:extLst>
            </a:blip>
            <a:stretch>
              <a:fillRect/>
            </a:stretch>
          </p:blipFill>
          <p:spPr>
            <a:xfrm>
              <a:off x="15089486" y="7112000"/>
              <a:ext cx="304838" cy="304800"/>
            </a:xfrm>
            <a:prstGeom prst="rect">
              <a:avLst/>
            </a:prstGeom>
          </p:spPr>
        </p:pic>
        <p:pic>
          <p:nvPicPr>
            <p:cNvPr id="145" name="Image 122"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5165695" y="7207250"/>
              <a:ext cx="152419" cy="114300"/>
            </a:xfrm>
            <a:prstGeom prst="rect">
              <a:avLst/>
            </a:prstGeom>
          </p:spPr>
        </p:pic>
        <p:pic>
          <p:nvPicPr>
            <p:cNvPr id="146" name="Image 123" descr=" "/>
            <p:cNvPicPr>
              <a:picLocks noChangeAspect="1"/>
            </p:cNvPicPr>
            <p:nvPr/>
          </p:nvPicPr>
          <p:blipFill>
            <a:blip r:embed="rId29">
              <a:extLst>
                <a:ext uri="{96DAC541-7B7A-43D3-8B79-37D633B846F1}">
                  <asvg:svgBlip xmlns:asvg="http://schemas.microsoft.com/office/drawing/2016/SVG/main" r:embed="rId51"/>
                </a:ext>
              </a:extLst>
            </a:blip>
            <a:stretch>
              <a:fillRect/>
            </a:stretch>
          </p:blipFill>
          <p:spPr>
            <a:xfrm>
              <a:off x="15089486" y="7924800"/>
              <a:ext cx="304838" cy="304800"/>
            </a:xfrm>
            <a:prstGeom prst="rect">
              <a:avLst/>
            </a:prstGeom>
          </p:spPr>
        </p:pic>
        <p:pic>
          <p:nvPicPr>
            <p:cNvPr id="148" name="Image 125"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5165695" y="8020050"/>
              <a:ext cx="152419" cy="114300"/>
            </a:xfrm>
            <a:prstGeom prst="rect">
              <a:avLst/>
            </a:prstGeom>
          </p:spPr>
        </p:pic>
        <p:pic>
          <p:nvPicPr>
            <p:cNvPr id="149" name="Image 126" descr=" "/>
            <p:cNvPicPr>
              <a:picLocks noChangeAspect="1"/>
            </p:cNvPicPr>
            <p:nvPr/>
          </p:nvPicPr>
          <p:blipFill>
            <a:blip r:embed="rId29">
              <a:extLst>
                <a:ext uri="{96DAC541-7B7A-43D3-8B79-37D633B846F1}">
                  <asvg:svgBlip xmlns:asvg="http://schemas.microsoft.com/office/drawing/2016/SVG/main" r:embed="rId52"/>
                </a:ext>
              </a:extLst>
            </a:blip>
            <a:stretch>
              <a:fillRect/>
            </a:stretch>
          </p:blipFill>
          <p:spPr>
            <a:xfrm>
              <a:off x="15089486" y="8737600"/>
              <a:ext cx="304838" cy="304800"/>
            </a:xfrm>
            <a:prstGeom prst="rect">
              <a:avLst/>
            </a:prstGeom>
          </p:spPr>
        </p:pic>
        <p:pic>
          <p:nvPicPr>
            <p:cNvPr id="151" name="Image 128"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5165695" y="8832850"/>
              <a:ext cx="152419" cy="114300"/>
            </a:xfrm>
            <a:prstGeom prst="rect">
              <a:avLst/>
            </a:prstGeom>
          </p:spPr>
        </p:pic>
        <p:pic>
          <p:nvPicPr>
            <p:cNvPr id="152" name="Image 129" descr=" "/>
            <p:cNvPicPr>
              <a:picLocks noChangeAspect="1"/>
            </p:cNvPicPr>
            <p:nvPr/>
          </p:nvPicPr>
          <p:blipFill>
            <a:blip r:embed="rId29">
              <a:extLst>
                <a:ext uri="{96DAC541-7B7A-43D3-8B79-37D633B846F1}">
                  <asvg:svgBlip xmlns:asvg="http://schemas.microsoft.com/office/drawing/2016/SVG/main" r:embed="rId53"/>
                </a:ext>
              </a:extLst>
            </a:blip>
            <a:stretch>
              <a:fillRect/>
            </a:stretch>
          </p:blipFill>
          <p:spPr>
            <a:xfrm>
              <a:off x="15089486" y="9563100"/>
              <a:ext cx="304838" cy="304800"/>
            </a:xfrm>
            <a:prstGeom prst="rect">
              <a:avLst/>
            </a:prstGeom>
          </p:spPr>
        </p:pic>
        <p:pic>
          <p:nvPicPr>
            <p:cNvPr id="154" name="Image 131"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5165695" y="9658350"/>
              <a:ext cx="152419" cy="114300"/>
            </a:xfrm>
            <a:prstGeom prst="rect">
              <a:avLst/>
            </a:prstGeom>
          </p:spPr>
        </p:pic>
        <p:pic>
          <p:nvPicPr>
            <p:cNvPr id="155" name="Image 132" descr=" "/>
            <p:cNvPicPr>
              <a:picLocks noChangeAspect="1"/>
            </p:cNvPicPr>
            <p:nvPr/>
          </p:nvPicPr>
          <p:blipFill>
            <a:blip r:embed="rId29">
              <a:extLst>
                <a:ext uri="{96DAC541-7B7A-43D3-8B79-37D633B846F1}">
                  <asvg:svgBlip xmlns:asvg="http://schemas.microsoft.com/office/drawing/2016/SVG/main" r:embed="rId54"/>
                </a:ext>
              </a:extLst>
            </a:blip>
            <a:stretch>
              <a:fillRect/>
            </a:stretch>
          </p:blipFill>
          <p:spPr>
            <a:xfrm>
              <a:off x="15089486" y="10350500"/>
              <a:ext cx="304838" cy="304800"/>
            </a:xfrm>
            <a:prstGeom prst="rect">
              <a:avLst/>
            </a:prstGeom>
          </p:spPr>
        </p:pic>
        <p:pic>
          <p:nvPicPr>
            <p:cNvPr id="157" name="Image 134"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5165695" y="10445750"/>
              <a:ext cx="152419" cy="114300"/>
            </a:xfrm>
            <a:prstGeom prst="rect">
              <a:avLst/>
            </a:prstGeom>
          </p:spPr>
        </p:pic>
        <p:pic>
          <p:nvPicPr>
            <p:cNvPr id="158" name="Image 135" descr=" "/>
            <p:cNvPicPr>
              <a:picLocks noChangeAspect="1"/>
            </p:cNvPicPr>
            <p:nvPr/>
          </p:nvPicPr>
          <p:blipFill>
            <a:blip r:embed="rId29">
              <a:extLst>
                <a:ext uri="{96DAC541-7B7A-43D3-8B79-37D633B846F1}">
                  <asvg:svgBlip xmlns:asvg="http://schemas.microsoft.com/office/drawing/2016/SVG/main" r:embed="rId55"/>
                </a:ext>
              </a:extLst>
            </a:blip>
            <a:stretch>
              <a:fillRect/>
            </a:stretch>
          </p:blipFill>
          <p:spPr>
            <a:xfrm>
              <a:off x="15089486" y="11137900"/>
              <a:ext cx="304838" cy="304800"/>
            </a:xfrm>
            <a:prstGeom prst="rect">
              <a:avLst/>
            </a:prstGeom>
          </p:spPr>
        </p:pic>
        <p:pic>
          <p:nvPicPr>
            <p:cNvPr id="160" name="Image 137"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5165695" y="11233150"/>
              <a:ext cx="152419" cy="114300"/>
            </a:xfrm>
            <a:prstGeom prst="rect">
              <a:avLst/>
            </a:prstGeom>
          </p:spPr>
        </p:pic>
        <p:pic>
          <p:nvPicPr>
            <p:cNvPr id="161" name="Image 138" descr=" "/>
            <p:cNvPicPr>
              <a:picLocks noChangeAspect="1"/>
            </p:cNvPicPr>
            <p:nvPr/>
          </p:nvPicPr>
          <p:blipFill>
            <a:blip r:embed="rId29">
              <a:extLst>
                <a:ext uri="{96DAC541-7B7A-43D3-8B79-37D633B846F1}">
                  <asvg:svgBlip xmlns:asvg="http://schemas.microsoft.com/office/drawing/2016/SVG/main" r:embed="rId56"/>
                </a:ext>
              </a:extLst>
            </a:blip>
            <a:stretch>
              <a:fillRect/>
            </a:stretch>
          </p:blipFill>
          <p:spPr>
            <a:xfrm>
              <a:off x="21186248" y="5461000"/>
              <a:ext cx="304838" cy="304800"/>
            </a:xfrm>
            <a:prstGeom prst="rect">
              <a:avLst/>
            </a:prstGeom>
          </p:spPr>
        </p:pic>
        <p:pic>
          <p:nvPicPr>
            <p:cNvPr id="163" name="Image 140"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1262457" y="5556250"/>
              <a:ext cx="152419" cy="114300"/>
            </a:xfrm>
            <a:prstGeom prst="rect">
              <a:avLst/>
            </a:prstGeom>
          </p:spPr>
        </p:pic>
        <p:pic>
          <p:nvPicPr>
            <p:cNvPr id="164" name="Image 141" descr=" "/>
            <p:cNvPicPr>
              <a:picLocks noChangeAspect="1"/>
            </p:cNvPicPr>
            <p:nvPr/>
          </p:nvPicPr>
          <p:blipFill>
            <a:blip r:embed="rId29">
              <a:extLst>
                <a:ext uri="{96DAC541-7B7A-43D3-8B79-37D633B846F1}">
                  <asvg:svgBlip xmlns:asvg="http://schemas.microsoft.com/office/drawing/2016/SVG/main" r:embed="rId57"/>
                </a:ext>
              </a:extLst>
            </a:blip>
            <a:stretch>
              <a:fillRect/>
            </a:stretch>
          </p:blipFill>
          <p:spPr>
            <a:xfrm>
              <a:off x="21186248" y="6299200"/>
              <a:ext cx="304838" cy="304800"/>
            </a:xfrm>
            <a:prstGeom prst="rect">
              <a:avLst/>
            </a:prstGeom>
          </p:spPr>
        </p:pic>
        <p:pic>
          <p:nvPicPr>
            <p:cNvPr id="166" name="Image 143"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1262457" y="6394450"/>
              <a:ext cx="152419" cy="114300"/>
            </a:xfrm>
            <a:prstGeom prst="rect">
              <a:avLst/>
            </a:prstGeom>
          </p:spPr>
        </p:pic>
        <p:pic>
          <p:nvPicPr>
            <p:cNvPr id="167" name="Image 144" descr=" "/>
            <p:cNvPicPr>
              <a:picLocks noChangeAspect="1"/>
            </p:cNvPicPr>
            <p:nvPr/>
          </p:nvPicPr>
          <p:blipFill>
            <a:blip r:embed="rId29">
              <a:extLst>
                <a:ext uri="{96DAC541-7B7A-43D3-8B79-37D633B846F1}">
                  <asvg:svgBlip xmlns:asvg="http://schemas.microsoft.com/office/drawing/2016/SVG/main" r:embed="rId58"/>
                </a:ext>
              </a:extLst>
            </a:blip>
            <a:stretch>
              <a:fillRect/>
            </a:stretch>
          </p:blipFill>
          <p:spPr>
            <a:xfrm>
              <a:off x="21186248" y="7112000"/>
              <a:ext cx="304838" cy="304800"/>
            </a:xfrm>
            <a:prstGeom prst="rect">
              <a:avLst/>
            </a:prstGeom>
          </p:spPr>
        </p:pic>
        <p:pic>
          <p:nvPicPr>
            <p:cNvPr id="169" name="Image 146"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1262457" y="7207250"/>
              <a:ext cx="152419" cy="114300"/>
            </a:xfrm>
            <a:prstGeom prst="rect">
              <a:avLst/>
            </a:prstGeom>
          </p:spPr>
        </p:pic>
        <p:pic>
          <p:nvPicPr>
            <p:cNvPr id="170" name="Image 147" descr=" "/>
            <p:cNvPicPr>
              <a:picLocks noChangeAspect="1"/>
            </p:cNvPicPr>
            <p:nvPr/>
          </p:nvPicPr>
          <p:blipFill>
            <a:blip r:embed="rId29">
              <a:extLst>
                <a:ext uri="{96DAC541-7B7A-43D3-8B79-37D633B846F1}">
                  <asvg:svgBlip xmlns:asvg="http://schemas.microsoft.com/office/drawing/2016/SVG/main" r:embed="rId59"/>
                </a:ext>
              </a:extLst>
            </a:blip>
            <a:stretch>
              <a:fillRect/>
            </a:stretch>
          </p:blipFill>
          <p:spPr>
            <a:xfrm>
              <a:off x="21186248" y="7924800"/>
              <a:ext cx="304838" cy="304800"/>
            </a:xfrm>
            <a:prstGeom prst="rect">
              <a:avLst/>
            </a:prstGeom>
          </p:spPr>
        </p:pic>
        <p:pic>
          <p:nvPicPr>
            <p:cNvPr id="172" name="Image 149"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1262457" y="8020050"/>
              <a:ext cx="152419" cy="114300"/>
            </a:xfrm>
            <a:prstGeom prst="rect">
              <a:avLst/>
            </a:prstGeom>
          </p:spPr>
        </p:pic>
        <p:pic>
          <p:nvPicPr>
            <p:cNvPr id="173" name="Image 150" descr=" "/>
            <p:cNvPicPr>
              <a:picLocks noChangeAspect="1"/>
            </p:cNvPicPr>
            <p:nvPr/>
          </p:nvPicPr>
          <p:blipFill>
            <a:blip r:embed="rId29">
              <a:extLst>
                <a:ext uri="{96DAC541-7B7A-43D3-8B79-37D633B846F1}">
                  <asvg:svgBlip xmlns:asvg="http://schemas.microsoft.com/office/drawing/2016/SVG/main" r:embed="rId60"/>
                </a:ext>
              </a:extLst>
            </a:blip>
            <a:stretch>
              <a:fillRect/>
            </a:stretch>
          </p:blipFill>
          <p:spPr>
            <a:xfrm>
              <a:off x="21186248" y="8737600"/>
              <a:ext cx="304838" cy="304800"/>
            </a:xfrm>
            <a:prstGeom prst="rect">
              <a:avLst/>
            </a:prstGeom>
          </p:spPr>
        </p:pic>
        <p:pic>
          <p:nvPicPr>
            <p:cNvPr id="175" name="Image 152"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1262457" y="8832850"/>
              <a:ext cx="152419" cy="114300"/>
            </a:xfrm>
            <a:prstGeom prst="rect">
              <a:avLst/>
            </a:prstGeom>
          </p:spPr>
        </p:pic>
        <p:pic>
          <p:nvPicPr>
            <p:cNvPr id="176" name="Image 153" descr=" "/>
            <p:cNvPicPr>
              <a:picLocks noChangeAspect="1"/>
            </p:cNvPicPr>
            <p:nvPr/>
          </p:nvPicPr>
          <p:blipFill>
            <a:blip r:embed="rId29">
              <a:extLst>
                <a:ext uri="{96DAC541-7B7A-43D3-8B79-37D633B846F1}">
                  <asvg:svgBlip xmlns:asvg="http://schemas.microsoft.com/office/drawing/2016/SVG/main" r:embed="rId61"/>
                </a:ext>
              </a:extLst>
            </a:blip>
            <a:stretch>
              <a:fillRect/>
            </a:stretch>
          </p:blipFill>
          <p:spPr>
            <a:xfrm>
              <a:off x="21186248" y="9563100"/>
              <a:ext cx="304838" cy="304800"/>
            </a:xfrm>
            <a:prstGeom prst="rect">
              <a:avLst/>
            </a:prstGeom>
          </p:spPr>
        </p:pic>
        <p:pic>
          <p:nvPicPr>
            <p:cNvPr id="178" name="Image 155"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1262457" y="9658350"/>
              <a:ext cx="152419" cy="114300"/>
            </a:xfrm>
            <a:prstGeom prst="rect">
              <a:avLst/>
            </a:prstGeom>
          </p:spPr>
        </p:pic>
        <p:pic>
          <p:nvPicPr>
            <p:cNvPr id="179" name="Image 156" descr=" "/>
            <p:cNvPicPr>
              <a:picLocks noChangeAspect="1"/>
            </p:cNvPicPr>
            <p:nvPr/>
          </p:nvPicPr>
          <p:blipFill>
            <a:blip r:embed="rId29">
              <a:extLst>
                <a:ext uri="{96DAC541-7B7A-43D3-8B79-37D633B846F1}">
                  <asvg:svgBlip xmlns:asvg="http://schemas.microsoft.com/office/drawing/2016/SVG/main" r:embed="rId62"/>
                </a:ext>
              </a:extLst>
            </a:blip>
            <a:stretch>
              <a:fillRect/>
            </a:stretch>
          </p:blipFill>
          <p:spPr>
            <a:xfrm>
              <a:off x="21186248" y="10350500"/>
              <a:ext cx="304838" cy="304800"/>
            </a:xfrm>
            <a:prstGeom prst="rect">
              <a:avLst/>
            </a:prstGeom>
          </p:spPr>
        </p:pic>
        <p:pic>
          <p:nvPicPr>
            <p:cNvPr id="181" name="Image 158"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1262457" y="10445750"/>
              <a:ext cx="152419" cy="114300"/>
            </a:xfrm>
            <a:prstGeom prst="rect">
              <a:avLst/>
            </a:prstGeom>
          </p:spPr>
        </p:pic>
        <p:pic>
          <p:nvPicPr>
            <p:cNvPr id="182" name="Image 159" descr=" "/>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8992724" y="6299200"/>
              <a:ext cx="304838" cy="304800"/>
            </a:xfrm>
            <a:prstGeom prst="rect">
              <a:avLst/>
            </a:prstGeom>
          </p:spPr>
        </p:pic>
        <p:pic>
          <p:nvPicPr>
            <p:cNvPr id="184" name="Image 161"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9088815" y="6391486"/>
              <a:ext cx="119044" cy="119025"/>
            </a:xfrm>
            <a:prstGeom prst="rect">
              <a:avLst/>
            </a:prstGeom>
          </p:spPr>
        </p:pic>
        <p:pic>
          <p:nvPicPr>
            <p:cNvPr id="185" name="Image 162" descr=" "/>
            <p:cNvPicPr>
              <a:picLocks noChangeAspect="1"/>
            </p:cNvPicPr>
            <p:nvPr/>
          </p:nvPicPr>
          <p:blipFill>
            <a:blip r:embed="rId63">
              <a:extLst>
                <a:ext uri="{96DAC541-7B7A-43D3-8B79-37D633B846F1}">
                  <asvg:svgBlip xmlns:asvg="http://schemas.microsoft.com/office/drawing/2016/SVG/main" r:embed="rId67"/>
                </a:ext>
              </a:extLst>
            </a:blip>
            <a:stretch>
              <a:fillRect/>
            </a:stretch>
          </p:blipFill>
          <p:spPr>
            <a:xfrm>
              <a:off x="12041105" y="5461000"/>
              <a:ext cx="304838" cy="304800"/>
            </a:xfrm>
            <a:prstGeom prst="rect">
              <a:avLst/>
            </a:prstGeom>
          </p:spPr>
        </p:pic>
        <p:pic>
          <p:nvPicPr>
            <p:cNvPr id="187" name="Image 164"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12137196" y="5553286"/>
              <a:ext cx="119044" cy="119025"/>
            </a:xfrm>
            <a:prstGeom prst="rect">
              <a:avLst/>
            </a:prstGeom>
          </p:spPr>
        </p:pic>
        <p:pic>
          <p:nvPicPr>
            <p:cNvPr id="188" name="Image 165" descr=" "/>
            <p:cNvPicPr>
              <a:picLocks noChangeAspect="1"/>
            </p:cNvPicPr>
            <p:nvPr/>
          </p:nvPicPr>
          <p:blipFill>
            <a:blip r:embed="rId63">
              <a:extLst>
                <a:ext uri="{96DAC541-7B7A-43D3-8B79-37D633B846F1}">
                  <asvg:svgBlip xmlns:asvg="http://schemas.microsoft.com/office/drawing/2016/SVG/main" r:embed="rId68"/>
                </a:ext>
              </a:extLst>
            </a:blip>
            <a:stretch>
              <a:fillRect/>
            </a:stretch>
          </p:blipFill>
          <p:spPr>
            <a:xfrm>
              <a:off x="8992724" y="7112000"/>
              <a:ext cx="304838" cy="304800"/>
            </a:xfrm>
            <a:prstGeom prst="rect">
              <a:avLst/>
            </a:prstGeom>
          </p:spPr>
        </p:pic>
        <p:pic>
          <p:nvPicPr>
            <p:cNvPr id="190" name="Image 167"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9088815" y="7204286"/>
              <a:ext cx="119044" cy="119025"/>
            </a:xfrm>
            <a:prstGeom prst="rect">
              <a:avLst/>
            </a:prstGeom>
          </p:spPr>
        </p:pic>
        <p:pic>
          <p:nvPicPr>
            <p:cNvPr id="191" name="Image 168" descr=" "/>
            <p:cNvPicPr>
              <a:picLocks noChangeAspect="1"/>
            </p:cNvPicPr>
            <p:nvPr/>
          </p:nvPicPr>
          <p:blipFill>
            <a:blip r:embed="rId63">
              <a:extLst>
                <a:ext uri="{96DAC541-7B7A-43D3-8B79-37D633B846F1}">
                  <asvg:svgBlip xmlns:asvg="http://schemas.microsoft.com/office/drawing/2016/SVG/main" r:embed="rId69"/>
                </a:ext>
              </a:extLst>
            </a:blip>
            <a:stretch>
              <a:fillRect/>
            </a:stretch>
          </p:blipFill>
          <p:spPr>
            <a:xfrm>
              <a:off x="8992724" y="7937500"/>
              <a:ext cx="304838" cy="304800"/>
            </a:xfrm>
            <a:prstGeom prst="rect">
              <a:avLst/>
            </a:prstGeom>
          </p:spPr>
        </p:pic>
        <p:pic>
          <p:nvPicPr>
            <p:cNvPr id="193" name="Image 170"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9088815" y="8029786"/>
              <a:ext cx="119044" cy="119025"/>
            </a:xfrm>
            <a:prstGeom prst="rect">
              <a:avLst/>
            </a:prstGeom>
          </p:spPr>
        </p:pic>
        <p:pic>
          <p:nvPicPr>
            <p:cNvPr id="194" name="Image 171" descr=" "/>
            <p:cNvPicPr>
              <a:picLocks noChangeAspect="1"/>
            </p:cNvPicPr>
            <p:nvPr/>
          </p:nvPicPr>
          <p:blipFill>
            <a:blip r:embed="rId63">
              <a:extLst>
                <a:ext uri="{96DAC541-7B7A-43D3-8B79-37D633B846F1}">
                  <asvg:svgBlip xmlns:asvg="http://schemas.microsoft.com/office/drawing/2016/SVG/main" r:embed="rId70"/>
                </a:ext>
              </a:extLst>
            </a:blip>
            <a:stretch>
              <a:fillRect/>
            </a:stretch>
          </p:blipFill>
          <p:spPr>
            <a:xfrm>
              <a:off x="12041105" y="7937500"/>
              <a:ext cx="304838" cy="304800"/>
            </a:xfrm>
            <a:prstGeom prst="rect">
              <a:avLst/>
            </a:prstGeom>
          </p:spPr>
        </p:pic>
        <p:pic>
          <p:nvPicPr>
            <p:cNvPr id="196" name="Image 173"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12137196" y="8029786"/>
              <a:ext cx="119044" cy="119025"/>
            </a:xfrm>
            <a:prstGeom prst="rect">
              <a:avLst/>
            </a:prstGeom>
          </p:spPr>
        </p:pic>
        <p:pic>
          <p:nvPicPr>
            <p:cNvPr id="197" name="Image 174" descr=" "/>
            <p:cNvPicPr>
              <a:picLocks noChangeAspect="1"/>
            </p:cNvPicPr>
            <p:nvPr/>
          </p:nvPicPr>
          <p:blipFill>
            <a:blip r:embed="rId63">
              <a:extLst>
                <a:ext uri="{96DAC541-7B7A-43D3-8B79-37D633B846F1}">
                  <asvg:svgBlip xmlns:asvg="http://schemas.microsoft.com/office/drawing/2016/SVG/main" r:embed="rId71"/>
                </a:ext>
              </a:extLst>
            </a:blip>
            <a:stretch>
              <a:fillRect/>
            </a:stretch>
          </p:blipFill>
          <p:spPr>
            <a:xfrm>
              <a:off x="18137867" y="5461000"/>
              <a:ext cx="304838" cy="304800"/>
            </a:xfrm>
            <a:prstGeom prst="rect">
              <a:avLst/>
            </a:prstGeom>
          </p:spPr>
        </p:pic>
        <p:pic>
          <p:nvPicPr>
            <p:cNvPr id="199" name="Image 176" descr=" "/>
            <p:cNvPicPr>
              <a:picLocks noChangeAspect="1"/>
            </p:cNvPicPr>
            <p:nvPr/>
          </p:nvPicPr>
          <p:blipFill>
            <a:blip r:embed="rId65">
              <a:extLst>
                <a:ext uri="{96DAC541-7B7A-43D3-8B79-37D633B846F1}">
                  <asvg:svgBlip xmlns:asvg="http://schemas.microsoft.com/office/drawing/2016/SVG/main" r:embed="rId72"/>
                </a:ext>
              </a:extLst>
            </a:blip>
            <a:stretch>
              <a:fillRect/>
            </a:stretch>
          </p:blipFill>
          <p:spPr>
            <a:xfrm>
              <a:off x="18233958" y="5553286"/>
              <a:ext cx="119044" cy="119025"/>
            </a:xfrm>
            <a:prstGeom prst="rect">
              <a:avLst/>
            </a:prstGeom>
          </p:spPr>
        </p:pic>
        <p:pic>
          <p:nvPicPr>
            <p:cNvPr id="200" name="Image 177" descr=" "/>
            <p:cNvPicPr>
              <a:picLocks noChangeAspect="1"/>
            </p:cNvPicPr>
            <p:nvPr/>
          </p:nvPicPr>
          <p:blipFill>
            <a:blip r:embed="rId63">
              <a:extLst>
                <a:ext uri="{96DAC541-7B7A-43D3-8B79-37D633B846F1}">
                  <asvg:svgBlip xmlns:asvg="http://schemas.microsoft.com/office/drawing/2016/SVG/main" r:embed="rId73"/>
                </a:ext>
              </a:extLst>
            </a:blip>
            <a:stretch>
              <a:fillRect/>
            </a:stretch>
          </p:blipFill>
          <p:spPr>
            <a:xfrm>
              <a:off x="8992724" y="8737600"/>
              <a:ext cx="304838" cy="304800"/>
            </a:xfrm>
            <a:prstGeom prst="rect">
              <a:avLst/>
            </a:prstGeom>
          </p:spPr>
        </p:pic>
        <p:pic>
          <p:nvPicPr>
            <p:cNvPr id="202" name="Image 179"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9088815" y="8829886"/>
              <a:ext cx="119044" cy="119025"/>
            </a:xfrm>
            <a:prstGeom prst="rect">
              <a:avLst/>
            </a:prstGeom>
          </p:spPr>
        </p:pic>
        <p:pic>
          <p:nvPicPr>
            <p:cNvPr id="203" name="Image 180" descr=" "/>
            <p:cNvPicPr>
              <a:picLocks noChangeAspect="1"/>
            </p:cNvPicPr>
            <p:nvPr/>
          </p:nvPicPr>
          <p:blipFill>
            <a:blip r:embed="rId63">
              <a:extLst>
                <a:ext uri="{96DAC541-7B7A-43D3-8B79-37D633B846F1}">
                  <asvg:svgBlip xmlns:asvg="http://schemas.microsoft.com/office/drawing/2016/SVG/main" r:embed="rId74"/>
                </a:ext>
              </a:extLst>
            </a:blip>
            <a:stretch>
              <a:fillRect/>
            </a:stretch>
          </p:blipFill>
          <p:spPr>
            <a:xfrm>
              <a:off x="12041105" y="8737600"/>
              <a:ext cx="304838" cy="304800"/>
            </a:xfrm>
            <a:prstGeom prst="rect">
              <a:avLst/>
            </a:prstGeom>
          </p:spPr>
        </p:pic>
        <p:pic>
          <p:nvPicPr>
            <p:cNvPr id="205" name="Image 182"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12137196" y="8829886"/>
              <a:ext cx="119044" cy="119025"/>
            </a:xfrm>
            <a:prstGeom prst="rect">
              <a:avLst/>
            </a:prstGeom>
          </p:spPr>
        </p:pic>
        <p:pic>
          <p:nvPicPr>
            <p:cNvPr id="206" name="Image 183" descr=" "/>
            <p:cNvPicPr>
              <a:picLocks noChangeAspect="1"/>
            </p:cNvPicPr>
            <p:nvPr/>
          </p:nvPicPr>
          <p:blipFill>
            <a:blip r:embed="rId63">
              <a:extLst>
                <a:ext uri="{96DAC541-7B7A-43D3-8B79-37D633B846F1}">
                  <asvg:svgBlip xmlns:asvg="http://schemas.microsoft.com/office/drawing/2016/SVG/main" r:embed="rId75"/>
                </a:ext>
              </a:extLst>
            </a:blip>
            <a:stretch>
              <a:fillRect/>
            </a:stretch>
          </p:blipFill>
          <p:spPr>
            <a:xfrm>
              <a:off x="18137867" y="6261100"/>
              <a:ext cx="304838" cy="304800"/>
            </a:xfrm>
            <a:prstGeom prst="rect">
              <a:avLst/>
            </a:prstGeom>
          </p:spPr>
        </p:pic>
        <p:pic>
          <p:nvPicPr>
            <p:cNvPr id="208" name="Image 185" descr=" "/>
            <p:cNvPicPr>
              <a:picLocks noChangeAspect="1"/>
            </p:cNvPicPr>
            <p:nvPr/>
          </p:nvPicPr>
          <p:blipFill>
            <a:blip r:embed="rId65">
              <a:extLst>
                <a:ext uri="{96DAC541-7B7A-43D3-8B79-37D633B846F1}">
                  <asvg:svgBlip xmlns:asvg="http://schemas.microsoft.com/office/drawing/2016/SVG/main" r:embed="rId72"/>
                </a:ext>
              </a:extLst>
            </a:blip>
            <a:stretch>
              <a:fillRect/>
            </a:stretch>
          </p:blipFill>
          <p:spPr>
            <a:xfrm>
              <a:off x="18233958" y="6353386"/>
              <a:ext cx="119044" cy="119025"/>
            </a:xfrm>
            <a:prstGeom prst="rect">
              <a:avLst/>
            </a:prstGeom>
          </p:spPr>
        </p:pic>
        <p:pic>
          <p:nvPicPr>
            <p:cNvPr id="209" name="Image 186" descr=" "/>
            <p:cNvPicPr>
              <a:picLocks noChangeAspect="1"/>
            </p:cNvPicPr>
            <p:nvPr/>
          </p:nvPicPr>
          <p:blipFill>
            <a:blip r:embed="rId63">
              <a:extLst>
                <a:ext uri="{96DAC541-7B7A-43D3-8B79-37D633B846F1}">
                  <asvg:svgBlip xmlns:asvg="http://schemas.microsoft.com/office/drawing/2016/SVG/main" r:embed="rId76"/>
                </a:ext>
              </a:extLst>
            </a:blip>
            <a:stretch>
              <a:fillRect/>
            </a:stretch>
          </p:blipFill>
          <p:spPr>
            <a:xfrm>
              <a:off x="18137867" y="10325100"/>
              <a:ext cx="304838" cy="304800"/>
            </a:xfrm>
            <a:prstGeom prst="rect">
              <a:avLst/>
            </a:prstGeom>
          </p:spPr>
        </p:pic>
        <p:pic>
          <p:nvPicPr>
            <p:cNvPr id="211" name="Image 188" descr=" "/>
            <p:cNvPicPr>
              <a:picLocks noChangeAspect="1"/>
            </p:cNvPicPr>
            <p:nvPr/>
          </p:nvPicPr>
          <p:blipFill>
            <a:blip r:embed="rId65">
              <a:extLst>
                <a:ext uri="{96DAC541-7B7A-43D3-8B79-37D633B846F1}">
                  <asvg:svgBlip xmlns:asvg="http://schemas.microsoft.com/office/drawing/2016/SVG/main" r:embed="rId72"/>
                </a:ext>
              </a:extLst>
            </a:blip>
            <a:stretch>
              <a:fillRect/>
            </a:stretch>
          </p:blipFill>
          <p:spPr>
            <a:xfrm>
              <a:off x="18233958" y="10417386"/>
              <a:ext cx="119044" cy="119025"/>
            </a:xfrm>
            <a:prstGeom prst="rect">
              <a:avLst/>
            </a:prstGeom>
          </p:spPr>
        </p:pic>
        <p:pic>
          <p:nvPicPr>
            <p:cNvPr id="212" name="Image 189" descr=" "/>
            <p:cNvPicPr>
              <a:picLocks noChangeAspect="1"/>
            </p:cNvPicPr>
            <p:nvPr/>
          </p:nvPicPr>
          <p:blipFill>
            <a:blip r:embed="rId63">
              <a:extLst>
                <a:ext uri="{96DAC541-7B7A-43D3-8B79-37D633B846F1}">
                  <asvg:svgBlip xmlns:asvg="http://schemas.microsoft.com/office/drawing/2016/SVG/main" r:embed="rId77"/>
                </a:ext>
              </a:extLst>
            </a:blip>
            <a:stretch>
              <a:fillRect/>
            </a:stretch>
          </p:blipFill>
          <p:spPr>
            <a:xfrm>
              <a:off x="8992724" y="9550400"/>
              <a:ext cx="304838" cy="304800"/>
            </a:xfrm>
            <a:prstGeom prst="rect">
              <a:avLst/>
            </a:prstGeom>
          </p:spPr>
        </p:pic>
        <p:pic>
          <p:nvPicPr>
            <p:cNvPr id="214" name="Image 191"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9088815" y="9642686"/>
              <a:ext cx="119044" cy="119025"/>
            </a:xfrm>
            <a:prstGeom prst="rect">
              <a:avLst/>
            </a:prstGeom>
          </p:spPr>
        </p:pic>
        <p:pic>
          <p:nvPicPr>
            <p:cNvPr id="215" name="Image 192" descr=" "/>
            <p:cNvPicPr>
              <a:picLocks noChangeAspect="1"/>
            </p:cNvPicPr>
            <p:nvPr/>
          </p:nvPicPr>
          <p:blipFill>
            <a:blip r:embed="rId63">
              <a:extLst>
                <a:ext uri="{96DAC541-7B7A-43D3-8B79-37D633B846F1}">
                  <asvg:svgBlip xmlns:asvg="http://schemas.microsoft.com/office/drawing/2016/SVG/main" r:embed="rId78"/>
                </a:ext>
              </a:extLst>
            </a:blip>
            <a:stretch>
              <a:fillRect/>
            </a:stretch>
          </p:blipFill>
          <p:spPr>
            <a:xfrm>
              <a:off x="12041105" y="9550400"/>
              <a:ext cx="304838" cy="304800"/>
            </a:xfrm>
            <a:prstGeom prst="rect">
              <a:avLst/>
            </a:prstGeom>
          </p:spPr>
        </p:pic>
        <p:pic>
          <p:nvPicPr>
            <p:cNvPr id="217" name="Image 194"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12137196" y="9642686"/>
              <a:ext cx="119044" cy="119025"/>
            </a:xfrm>
            <a:prstGeom prst="rect">
              <a:avLst/>
            </a:prstGeom>
          </p:spPr>
        </p:pic>
        <p:pic>
          <p:nvPicPr>
            <p:cNvPr id="218" name="Image 195" descr=" "/>
            <p:cNvPicPr>
              <a:picLocks noChangeAspect="1"/>
            </p:cNvPicPr>
            <p:nvPr/>
          </p:nvPicPr>
          <p:blipFill>
            <a:blip r:embed="rId63">
              <a:extLst>
                <a:ext uri="{96DAC541-7B7A-43D3-8B79-37D633B846F1}">
                  <asvg:svgBlip xmlns:asvg="http://schemas.microsoft.com/office/drawing/2016/SVG/main" r:embed="rId79"/>
                </a:ext>
              </a:extLst>
            </a:blip>
            <a:stretch>
              <a:fillRect/>
            </a:stretch>
          </p:blipFill>
          <p:spPr>
            <a:xfrm>
              <a:off x="18137867" y="7073900"/>
              <a:ext cx="304838" cy="304800"/>
            </a:xfrm>
            <a:prstGeom prst="rect">
              <a:avLst/>
            </a:prstGeom>
          </p:spPr>
        </p:pic>
        <p:pic>
          <p:nvPicPr>
            <p:cNvPr id="220" name="Image 197" descr=" "/>
            <p:cNvPicPr>
              <a:picLocks noChangeAspect="1"/>
            </p:cNvPicPr>
            <p:nvPr/>
          </p:nvPicPr>
          <p:blipFill>
            <a:blip r:embed="rId65">
              <a:extLst>
                <a:ext uri="{96DAC541-7B7A-43D3-8B79-37D633B846F1}">
                  <asvg:svgBlip xmlns:asvg="http://schemas.microsoft.com/office/drawing/2016/SVG/main" r:embed="rId72"/>
                </a:ext>
              </a:extLst>
            </a:blip>
            <a:stretch>
              <a:fillRect/>
            </a:stretch>
          </p:blipFill>
          <p:spPr>
            <a:xfrm>
              <a:off x="18233958" y="7166186"/>
              <a:ext cx="119044" cy="119025"/>
            </a:xfrm>
            <a:prstGeom prst="rect">
              <a:avLst/>
            </a:prstGeom>
          </p:spPr>
        </p:pic>
        <p:pic>
          <p:nvPicPr>
            <p:cNvPr id="221" name="Image 198" descr=" "/>
            <p:cNvPicPr>
              <a:picLocks noChangeAspect="1"/>
            </p:cNvPicPr>
            <p:nvPr/>
          </p:nvPicPr>
          <p:blipFill>
            <a:blip r:embed="rId63">
              <a:extLst>
                <a:ext uri="{96DAC541-7B7A-43D3-8B79-37D633B846F1}">
                  <asvg:svgBlip xmlns:asvg="http://schemas.microsoft.com/office/drawing/2016/SVG/main" r:embed="rId80"/>
                </a:ext>
              </a:extLst>
            </a:blip>
            <a:stretch>
              <a:fillRect/>
            </a:stretch>
          </p:blipFill>
          <p:spPr>
            <a:xfrm>
              <a:off x="18137867" y="11137900"/>
              <a:ext cx="304838" cy="304800"/>
            </a:xfrm>
            <a:prstGeom prst="rect">
              <a:avLst/>
            </a:prstGeom>
          </p:spPr>
        </p:pic>
        <p:pic>
          <p:nvPicPr>
            <p:cNvPr id="223" name="Image 200" descr=" "/>
            <p:cNvPicPr>
              <a:picLocks noChangeAspect="1"/>
            </p:cNvPicPr>
            <p:nvPr/>
          </p:nvPicPr>
          <p:blipFill>
            <a:blip r:embed="rId65">
              <a:extLst>
                <a:ext uri="{96DAC541-7B7A-43D3-8B79-37D633B846F1}">
                  <asvg:svgBlip xmlns:asvg="http://schemas.microsoft.com/office/drawing/2016/SVG/main" r:embed="rId72"/>
                </a:ext>
              </a:extLst>
            </a:blip>
            <a:stretch>
              <a:fillRect/>
            </a:stretch>
          </p:blipFill>
          <p:spPr>
            <a:xfrm>
              <a:off x="18233958" y="11230186"/>
              <a:ext cx="119044" cy="119025"/>
            </a:xfrm>
            <a:prstGeom prst="rect">
              <a:avLst/>
            </a:prstGeom>
          </p:spPr>
        </p:pic>
        <p:pic>
          <p:nvPicPr>
            <p:cNvPr id="224" name="Image 201" descr=" "/>
            <p:cNvPicPr>
              <a:picLocks noChangeAspect="1"/>
            </p:cNvPicPr>
            <p:nvPr/>
          </p:nvPicPr>
          <p:blipFill>
            <a:blip r:embed="rId63">
              <a:extLst>
                <a:ext uri="{96DAC541-7B7A-43D3-8B79-37D633B846F1}">
                  <asvg:svgBlip xmlns:asvg="http://schemas.microsoft.com/office/drawing/2016/SVG/main" r:embed="rId81"/>
                </a:ext>
              </a:extLst>
            </a:blip>
            <a:stretch>
              <a:fillRect/>
            </a:stretch>
          </p:blipFill>
          <p:spPr>
            <a:xfrm>
              <a:off x="21186248" y="11137900"/>
              <a:ext cx="304838" cy="304800"/>
            </a:xfrm>
            <a:prstGeom prst="rect">
              <a:avLst/>
            </a:prstGeom>
          </p:spPr>
        </p:pic>
        <p:pic>
          <p:nvPicPr>
            <p:cNvPr id="226" name="Image 203"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21282339" y="11230186"/>
              <a:ext cx="119044" cy="119025"/>
            </a:xfrm>
            <a:prstGeom prst="rect">
              <a:avLst/>
            </a:prstGeom>
          </p:spPr>
        </p:pic>
        <p:pic>
          <p:nvPicPr>
            <p:cNvPr id="227" name="Image 204" descr=" "/>
            <p:cNvPicPr>
              <a:picLocks noChangeAspect="1"/>
            </p:cNvPicPr>
            <p:nvPr/>
          </p:nvPicPr>
          <p:blipFill>
            <a:blip r:embed="rId63">
              <a:extLst>
                <a:ext uri="{96DAC541-7B7A-43D3-8B79-37D633B846F1}">
                  <asvg:svgBlip xmlns:asvg="http://schemas.microsoft.com/office/drawing/2016/SVG/main" r:embed="rId82"/>
                </a:ext>
              </a:extLst>
            </a:blip>
            <a:stretch>
              <a:fillRect/>
            </a:stretch>
          </p:blipFill>
          <p:spPr>
            <a:xfrm>
              <a:off x="8992724" y="10350500"/>
              <a:ext cx="304838" cy="304800"/>
            </a:xfrm>
            <a:prstGeom prst="rect">
              <a:avLst/>
            </a:prstGeom>
          </p:spPr>
        </p:pic>
        <p:pic>
          <p:nvPicPr>
            <p:cNvPr id="229" name="Image 206"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9088815" y="10442786"/>
              <a:ext cx="119044" cy="119025"/>
            </a:xfrm>
            <a:prstGeom prst="rect">
              <a:avLst/>
            </a:prstGeom>
          </p:spPr>
        </p:pic>
        <p:pic>
          <p:nvPicPr>
            <p:cNvPr id="230" name="Image 207" descr=" "/>
            <p:cNvPicPr>
              <a:picLocks noChangeAspect="1"/>
            </p:cNvPicPr>
            <p:nvPr/>
          </p:nvPicPr>
          <p:blipFill>
            <a:blip r:embed="rId63">
              <a:extLst>
                <a:ext uri="{96DAC541-7B7A-43D3-8B79-37D633B846F1}">
                  <asvg:svgBlip xmlns:asvg="http://schemas.microsoft.com/office/drawing/2016/SVG/main" r:embed="rId83"/>
                </a:ext>
              </a:extLst>
            </a:blip>
            <a:stretch>
              <a:fillRect/>
            </a:stretch>
          </p:blipFill>
          <p:spPr>
            <a:xfrm>
              <a:off x="12041105" y="10350500"/>
              <a:ext cx="304838" cy="304800"/>
            </a:xfrm>
            <a:prstGeom prst="rect">
              <a:avLst/>
            </a:prstGeom>
          </p:spPr>
        </p:pic>
        <p:pic>
          <p:nvPicPr>
            <p:cNvPr id="232" name="Image 209"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12137196" y="10442786"/>
              <a:ext cx="119044" cy="119025"/>
            </a:xfrm>
            <a:prstGeom prst="rect">
              <a:avLst/>
            </a:prstGeom>
          </p:spPr>
        </p:pic>
      </p:grpSp>
      <p:sp>
        <p:nvSpPr>
          <p:cNvPr id="233" name="Text 21"/>
          <p:cNvSpPr/>
          <p:nvPr/>
        </p:nvSpPr>
        <p:spPr>
          <a:xfrm>
            <a:off x="1524191" y="1524000"/>
            <a:ext cx="8069742"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Activation Connectors Matrix</a:t>
            </a:r>
            <a:endParaRPr lang="en-US" sz="6400" dirty="0"/>
          </a:p>
        </p:txBody>
      </p:sp>
      <p:sp>
        <p:nvSpPr>
          <p:cNvPr id="234" name="Text 22"/>
          <p:cNvSpPr/>
          <p:nvPr/>
        </p:nvSpPr>
        <p:spPr>
          <a:xfrm>
            <a:off x="12231629" y="1524000"/>
            <a:ext cx="7345751" cy="12869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The Activation Connectors Matrix is a comprehensive tool designed to streamline the integration of various systems and applications.</a:t>
            </a:r>
            <a:r>
              <a:rPr lang="en-US" sz="1600" dirty="0">
                <a:solidFill>
                  <a:srgbClr val="454545">
                    <a:alpha val="100000"/>
                  </a:srgbClr>
                </a:solidFill>
                <a:latin typeface="Inter Regular" pitchFamily="34" charset="0"/>
                <a:ea typeface="Inter Regular" pitchFamily="34" charset="-122"/>
                <a:cs typeface="Inter Regular" pitchFamily="34" charset="-120"/>
              </a:rPr>
              <a:t> It provides a visual representation of how different components connect and interact, making it easier for teams to manage workflows and optimize processes.</a:t>
            </a:r>
            <a:endParaRPr lang="en-US" sz="1600" dirty="0"/>
          </a:p>
        </p:txBody>
      </p:sp>
      <p:sp>
        <p:nvSpPr>
          <p:cNvPr id="235" name="Text 23"/>
          <p:cNvSpPr/>
          <p:nvPr/>
        </p:nvSpPr>
        <p:spPr>
          <a:xfrm>
            <a:off x="22375963" y="1524000"/>
            <a:ext cx="529233"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016</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536892" y="4445000"/>
            <a:ext cx="4001000" cy="4000500"/>
          </a:xfrm>
          <a:prstGeom prst="rect">
            <a:avLst/>
          </a:prstGeom>
          <a:noFill/>
          <a:ln/>
        </p:spPr>
      </p:sp>
      <p:pic>
        <p:nvPicPr>
          <p:cNvPr id="3"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36892" y="4445000"/>
            <a:ext cx="4001000" cy="4000500"/>
          </a:xfrm>
          <a:prstGeom prst="rect">
            <a:avLst/>
          </a:prstGeom>
        </p:spPr>
      </p:pic>
      <p:pic>
        <p:nvPicPr>
          <p:cNvPr id="4"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81448" y="4889500"/>
            <a:ext cx="3124591" cy="3124200"/>
          </a:xfrm>
          <a:prstGeom prst="rect">
            <a:avLst/>
          </a:prstGeom>
        </p:spPr>
      </p:pic>
      <p:sp>
        <p:nvSpPr>
          <p:cNvPr id="5" name="Text 1"/>
          <p:cNvSpPr/>
          <p:nvPr/>
        </p:nvSpPr>
        <p:spPr>
          <a:xfrm>
            <a:off x="2718140" y="6172200"/>
            <a:ext cx="1638505" cy="558800"/>
          </a:xfrm>
          <a:prstGeom prst="rect">
            <a:avLst/>
          </a:prstGeom>
          <a:noFill/>
          <a:ln/>
        </p:spPr>
        <p:txBody>
          <a:bodyPr wrap="square" lIns="0" tIns="0" rIns="0" bIns="0" rtlCol="0" anchor="ctr"/>
          <a:lstStyle/>
          <a:p>
            <a:pPr marL="0" indent="0" algn="ctr">
              <a:lnSpc>
                <a:spcPts val="3600"/>
              </a:lnSpc>
              <a:buNone/>
            </a:pPr>
            <a:r>
              <a:rPr lang="en-US" sz="2400" kern="0" spc="-24" dirty="0">
                <a:solidFill>
                  <a:srgbClr val="FFFFFF">
                    <a:alpha val="100000"/>
                  </a:srgbClr>
                </a:solidFill>
                <a:latin typeface="Inter Regular" pitchFamily="34" charset="0"/>
                <a:ea typeface="Inter Regular" pitchFamily="34" charset="-122"/>
                <a:cs typeface="Inter Regular" pitchFamily="34" charset="-120"/>
              </a:rPr>
              <a:t>Browse</a:t>
            </a:r>
            <a:endParaRPr lang="en-US" sz="2400" dirty="0"/>
          </a:p>
        </p:txBody>
      </p:sp>
      <p:sp>
        <p:nvSpPr>
          <p:cNvPr id="6" name="Shape 2"/>
          <p:cNvSpPr/>
          <p:nvPr/>
        </p:nvSpPr>
        <p:spPr>
          <a:xfrm>
            <a:off x="5868133" y="4445000"/>
            <a:ext cx="4001000" cy="4000500"/>
          </a:xfrm>
          <a:prstGeom prst="rect">
            <a:avLst/>
          </a:prstGeom>
          <a:noFill/>
          <a:ln/>
        </p:spPr>
      </p:sp>
      <p:sp>
        <p:nvSpPr>
          <p:cNvPr id="7" name="Shape 3"/>
          <p:cNvSpPr/>
          <p:nvPr/>
        </p:nvSpPr>
        <p:spPr>
          <a:xfrm>
            <a:off x="5868133" y="4445000"/>
            <a:ext cx="4001000" cy="4000500"/>
          </a:xfrm>
          <a:prstGeom prst="ellipse">
            <a:avLst/>
          </a:prstGeom>
          <a:solidFill>
            <a:srgbClr val="242424">
              <a:alpha val="100000"/>
            </a:srgbClr>
          </a:solidFill>
          <a:ln w="12700">
            <a:solidFill>
              <a:srgbClr val="4F4F4F"/>
            </a:solidFill>
            <a:prstDash val="solid"/>
          </a:ln>
        </p:spPr>
      </p:sp>
      <p:sp>
        <p:nvSpPr>
          <p:cNvPr id="8" name="Shape 4"/>
          <p:cNvSpPr/>
          <p:nvPr/>
        </p:nvSpPr>
        <p:spPr>
          <a:xfrm>
            <a:off x="6312689" y="4889500"/>
            <a:ext cx="3124591" cy="3124200"/>
          </a:xfrm>
          <a:prstGeom prst="ellipse">
            <a:avLst/>
          </a:prstGeom>
          <a:solidFill>
            <a:srgbClr val="242424">
              <a:alpha val="100000"/>
            </a:srgbClr>
          </a:solidFill>
          <a:ln w="12700">
            <a:solidFill>
              <a:srgbClr val="4F4F4F"/>
            </a:solidFill>
            <a:prstDash val="solid"/>
          </a:ln>
        </p:spPr>
      </p:sp>
      <p:sp>
        <p:nvSpPr>
          <p:cNvPr id="9" name="Text 5"/>
          <p:cNvSpPr/>
          <p:nvPr/>
        </p:nvSpPr>
        <p:spPr>
          <a:xfrm>
            <a:off x="7049381" y="5943600"/>
            <a:ext cx="1638505" cy="1016000"/>
          </a:xfrm>
          <a:prstGeom prst="rect">
            <a:avLst/>
          </a:prstGeom>
          <a:noFill/>
          <a:ln/>
        </p:spPr>
        <p:txBody>
          <a:bodyPr wrap="square" lIns="0" tIns="0" rIns="0" bIns="0" rtlCol="0" anchor="ctr"/>
          <a:lstStyle/>
          <a:p>
            <a:pPr marL="0" indent="0" algn="ctr">
              <a:lnSpc>
                <a:spcPts val="3600"/>
              </a:lnSpc>
              <a:buNone/>
            </a:pPr>
            <a:r>
              <a:rPr lang="en-US" sz="2400" kern="0" spc="-24" dirty="0">
                <a:solidFill>
                  <a:srgbClr val="FFF6EC">
                    <a:alpha val="100000"/>
                  </a:srgbClr>
                </a:solidFill>
                <a:latin typeface="Inter Regular" pitchFamily="34" charset="0"/>
                <a:ea typeface="Inter Regular" pitchFamily="34" charset="-122"/>
                <a:cs typeface="Inter Regular" pitchFamily="34" charset="-120"/>
              </a:rPr>
              <a:t>Add to Cart</a:t>
            </a:r>
            <a:endParaRPr lang="en-US" sz="2400" dirty="0"/>
          </a:p>
        </p:txBody>
      </p:sp>
      <p:sp>
        <p:nvSpPr>
          <p:cNvPr id="10" name="Shape 6"/>
          <p:cNvSpPr/>
          <p:nvPr/>
        </p:nvSpPr>
        <p:spPr>
          <a:xfrm>
            <a:off x="10199375" y="4445000"/>
            <a:ext cx="4001000" cy="4000500"/>
          </a:xfrm>
          <a:prstGeom prst="rect">
            <a:avLst/>
          </a:prstGeom>
          <a:noFill/>
          <a:ln/>
        </p:spPr>
      </p:sp>
      <p:sp>
        <p:nvSpPr>
          <p:cNvPr id="11" name="Shape 7"/>
          <p:cNvSpPr/>
          <p:nvPr/>
        </p:nvSpPr>
        <p:spPr>
          <a:xfrm>
            <a:off x="10199375" y="4445000"/>
            <a:ext cx="4001000" cy="4000500"/>
          </a:xfrm>
          <a:prstGeom prst="ellipse">
            <a:avLst/>
          </a:prstGeom>
          <a:solidFill>
            <a:srgbClr val="242424">
              <a:alpha val="100000"/>
            </a:srgbClr>
          </a:solidFill>
          <a:ln w="12700">
            <a:solidFill>
              <a:srgbClr val="4F4F4F"/>
            </a:solidFill>
            <a:prstDash val="solid"/>
          </a:ln>
        </p:spPr>
      </p:sp>
      <p:sp>
        <p:nvSpPr>
          <p:cNvPr id="12" name="Shape 8"/>
          <p:cNvSpPr/>
          <p:nvPr/>
        </p:nvSpPr>
        <p:spPr>
          <a:xfrm>
            <a:off x="10643930" y="4889500"/>
            <a:ext cx="3124591" cy="3124200"/>
          </a:xfrm>
          <a:prstGeom prst="ellipse">
            <a:avLst/>
          </a:prstGeom>
          <a:solidFill>
            <a:srgbClr val="242424">
              <a:alpha val="100000"/>
            </a:srgbClr>
          </a:solidFill>
          <a:ln w="12700">
            <a:solidFill>
              <a:srgbClr val="4F4F4F"/>
            </a:solidFill>
            <a:prstDash val="solid"/>
          </a:ln>
        </p:spPr>
      </p:sp>
      <p:sp>
        <p:nvSpPr>
          <p:cNvPr id="13" name="Text 9"/>
          <p:cNvSpPr/>
          <p:nvPr/>
        </p:nvSpPr>
        <p:spPr>
          <a:xfrm>
            <a:off x="11380622" y="6172200"/>
            <a:ext cx="1638505" cy="558800"/>
          </a:xfrm>
          <a:prstGeom prst="rect">
            <a:avLst/>
          </a:prstGeom>
          <a:noFill/>
          <a:ln/>
        </p:spPr>
        <p:txBody>
          <a:bodyPr wrap="square" lIns="0" tIns="0" rIns="0" bIns="0" rtlCol="0" anchor="ctr"/>
          <a:lstStyle/>
          <a:p>
            <a:pPr marL="0" indent="0" algn="ctr">
              <a:lnSpc>
                <a:spcPts val="3600"/>
              </a:lnSpc>
              <a:buNone/>
            </a:pPr>
            <a:r>
              <a:rPr lang="en-US" sz="2400" kern="0" spc="-24" dirty="0">
                <a:solidFill>
                  <a:srgbClr val="FFF6EC">
                    <a:alpha val="100000"/>
                  </a:srgbClr>
                </a:solidFill>
                <a:latin typeface="Inter Regular" pitchFamily="34" charset="0"/>
                <a:ea typeface="Inter Regular" pitchFamily="34" charset="-122"/>
                <a:cs typeface="Inter Regular" pitchFamily="34" charset="-120"/>
              </a:rPr>
              <a:t>Abandon</a:t>
            </a:r>
            <a:endParaRPr lang="en-US" sz="2400" dirty="0"/>
          </a:p>
        </p:txBody>
      </p:sp>
      <p:sp>
        <p:nvSpPr>
          <p:cNvPr id="14" name="Shape 10"/>
          <p:cNvSpPr/>
          <p:nvPr/>
        </p:nvSpPr>
        <p:spPr>
          <a:xfrm>
            <a:off x="14530616" y="4445000"/>
            <a:ext cx="4001000" cy="4000500"/>
          </a:xfrm>
          <a:prstGeom prst="rect">
            <a:avLst/>
          </a:prstGeom>
          <a:noFill/>
          <a:ln/>
        </p:spPr>
      </p:sp>
      <p:sp>
        <p:nvSpPr>
          <p:cNvPr id="15" name="Shape 11"/>
          <p:cNvSpPr/>
          <p:nvPr/>
        </p:nvSpPr>
        <p:spPr>
          <a:xfrm>
            <a:off x="14530616" y="4445000"/>
            <a:ext cx="4001000" cy="4000500"/>
          </a:xfrm>
          <a:prstGeom prst="ellipse">
            <a:avLst/>
          </a:prstGeom>
          <a:solidFill>
            <a:srgbClr val="242424">
              <a:alpha val="100000"/>
            </a:srgbClr>
          </a:solidFill>
          <a:ln w="12700">
            <a:solidFill>
              <a:srgbClr val="4F4F4F"/>
            </a:solidFill>
            <a:prstDash val="solid"/>
          </a:ln>
        </p:spPr>
      </p:sp>
      <p:sp>
        <p:nvSpPr>
          <p:cNvPr id="16" name="Shape 12"/>
          <p:cNvSpPr/>
          <p:nvPr/>
        </p:nvSpPr>
        <p:spPr>
          <a:xfrm>
            <a:off x="14975172" y="4889500"/>
            <a:ext cx="3124591" cy="3124200"/>
          </a:xfrm>
          <a:prstGeom prst="ellipse">
            <a:avLst/>
          </a:prstGeom>
          <a:solidFill>
            <a:srgbClr val="242424">
              <a:alpha val="100000"/>
            </a:srgbClr>
          </a:solidFill>
          <a:ln w="12700">
            <a:solidFill>
              <a:srgbClr val="4F4F4F"/>
            </a:solidFill>
            <a:prstDash val="solid"/>
          </a:ln>
        </p:spPr>
      </p:sp>
      <p:sp>
        <p:nvSpPr>
          <p:cNvPr id="17" name="Text 13"/>
          <p:cNvSpPr/>
          <p:nvPr/>
        </p:nvSpPr>
        <p:spPr>
          <a:xfrm>
            <a:off x="15711864" y="5943600"/>
            <a:ext cx="1638505" cy="1016000"/>
          </a:xfrm>
          <a:prstGeom prst="rect">
            <a:avLst/>
          </a:prstGeom>
          <a:noFill/>
          <a:ln/>
        </p:spPr>
        <p:txBody>
          <a:bodyPr wrap="square" lIns="0" tIns="0" rIns="0" bIns="0" rtlCol="0" anchor="ctr"/>
          <a:lstStyle/>
          <a:p>
            <a:pPr marL="0" indent="0" algn="ctr">
              <a:lnSpc>
                <a:spcPts val="3600"/>
              </a:lnSpc>
              <a:buNone/>
            </a:pPr>
            <a:r>
              <a:rPr lang="en-US" sz="2400" kern="0" spc="-24" dirty="0">
                <a:solidFill>
                  <a:srgbClr val="FFF6EC">
                    <a:alpha val="100000"/>
                  </a:srgbClr>
                </a:solidFill>
                <a:latin typeface="Inter Regular" pitchFamily="34" charset="0"/>
                <a:ea typeface="Inter Regular" pitchFamily="34" charset="-122"/>
                <a:cs typeface="Inter Regular" pitchFamily="34" charset="-120"/>
              </a:rPr>
              <a:t>Triggered Action</a:t>
            </a:r>
            <a:endParaRPr lang="en-US" sz="2400" dirty="0"/>
          </a:p>
        </p:txBody>
      </p:sp>
      <p:sp>
        <p:nvSpPr>
          <p:cNvPr id="37" name="Text 25">
            <a:extLst>
              <a:ext uri="{FF2B5EF4-FFF2-40B4-BE49-F238E27FC236}">
                <a16:creationId xmlns:a16="http://schemas.microsoft.com/office/drawing/2014/main" id="{45074B67-B700-49F0-BC83-B3FBF6BDBDC3}"/>
              </a:ext>
            </a:extLst>
          </p:cNvPr>
          <p:cNvSpPr/>
          <p:nvPr/>
        </p:nvSpPr>
        <p:spPr>
          <a:xfrm>
            <a:off x="13451761" y="10726420"/>
            <a:ext cx="3483823" cy="1496598"/>
          </a:xfrm>
          <a:prstGeom prst="rect">
            <a:avLst/>
          </a:prstGeom>
          <a:noFill/>
          <a:ln/>
        </p:spPr>
        <p:txBody>
          <a:bodyPr wrap="square" lIns="0" tIns="0" rIns="0" bIns="0" rtlCol="0" anchor="t"/>
          <a:lstStyle/>
          <a:p>
            <a:pPr marL="0" indent="0" algn="l">
              <a:buNone/>
            </a:pPr>
            <a:r>
              <a:rPr lang="en-US" sz="4800" kern="0" spc="-96" dirty="0">
                <a:gradFill>
                  <a:gsLst>
                    <a:gs pos="0">
                      <a:srgbClr val="A12B0B"/>
                    </a:gs>
                    <a:gs pos="100000">
                      <a:srgbClr val="2B0B03"/>
                    </a:gs>
                  </a:gsLst>
                  <a:lin ang="5400000" scaled="1"/>
                </a:gradFill>
                <a:latin typeface="Inter Bold" pitchFamily="34" charset="0"/>
                <a:ea typeface="Inter Bold" pitchFamily="34" charset="-122"/>
              </a:rPr>
              <a:t>Fallback to email or ads</a:t>
            </a:r>
            <a:endParaRPr lang="en-US" sz="4800" dirty="0">
              <a:gradFill>
                <a:gsLst>
                  <a:gs pos="0">
                    <a:srgbClr val="A12B0B"/>
                  </a:gs>
                  <a:gs pos="100000">
                    <a:srgbClr val="2B0B03"/>
                  </a:gs>
                </a:gsLst>
                <a:lin ang="5400000" scaled="1"/>
              </a:gradFill>
            </a:endParaRPr>
          </a:p>
        </p:txBody>
      </p:sp>
      <p:sp>
        <p:nvSpPr>
          <p:cNvPr id="18" name="Shape 14"/>
          <p:cNvSpPr/>
          <p:nvPr/>
        </p:nvSpPr>
        <p:spPr>
          <a:xfrm>
            <a:off x="18861857" y="4445000"/>
            <a:ext cx="4001000" cy="4000500"/>
          </a:xfrm>
          <a:prstGeom prst="rect">
            <a:avLst/>
          </a:prstGeom>
          <a:noFill/>
          <a:ln/>
        </p:spPr>
      </p:sp>
      <p:sp>
        <p:nvSpPr>
          <p:cNvPr id="19" name="Shape 15"/>
          <p:cNvSpPr/>
          <p:nvPr/>
        </p:nvSpPr>
        <p:spPr>
          <a:xfrm>
            <a:off x="18861857" y="4445000"/>
            <a:ext cx="4001000" cy="4000500"/>
          </a:xfrm>
          <a:prstGeom prst="ellipse">
            <a:avLst/>
          </a:prstGeom>
          <a:solidFill>
            <a:srgbClr val="242424">
              <a:alpha val="100000"/>
            </a:srgbClr>
          </a:solidFill>
          <a:ln w="12700">
            <a:solidFill>
              <a:srgbClr val="4F4F4F"/>
            </a:solidFill>
            <a:prstDash val="solid"/>
          </a:ln>
        </p:spPr>
      </p:sp>
      <p:sp>
        <p:nvSpPr>
          <p:cNvPr id="20" name="Shape 16"/>
          <p:cNvSpPr/>
          <p:nvPr/>
        </p:nvSpPr>
        <p:spPr>
          <a:xfrm>
            <a:off x="19306413" y="4889500"/>
            <a:ext cx="3124591" cy="3124200"/>
          </a:xfrm>
          <a:prstGeom prst="ellipse">
            <a:avLst/>
          </a:prstGeom>
          <a:solidFill>
            <a:srgbClr val="242424">
              <a:alpha val="100000"/>
            </a:srgbClr>
          </a:solidFill>
          <a:ln w="12700">
            <a:solidFill>
              <a:srgbClr val="4F4F4F"/>
            </a:solidFill>
            <a:prstDash val="solid"/>
          </a:ln>
        </p:spPr>
      </p:sp>
      <p:sp>
        <p:nvSpPr>
          <p:cNvPr id="21" name="Text 17"/>
          <p:cNvSpPr/>
          <p:nvPr/>
        </p:nvSpPr>
        <p:spPr>
          <a:xfrm>
            <a:off x="20043105" y="5943600"/>
            <a:ext cx="1638505" cy="1016000"/>
          </a:xfrm>
          <a:prstGeom prst="rect">
            <a:avLst/>
          </a:prstGeom>
          <a:noFill/>
          <a:ln/>
        </p:spPr>
        <p:txBody>
          <a:bodyPr wrap="square" lIns="0" tIns="0" rIns="0" bIns="0" rtlCol="0" anchor="ctr"/>
          <a:lstStyle/>
          <a:p>
            <a:pPr marL="0" indent="0" algn="ctr">
              <a:lnSpc>
                <a:spcPts val="3600"/>
              </a:lnSpc>
              <a:buNone/>
            </a:pPr>
            <a:r>
              <a:rPr lang="en-US" sz="2400" kern="0" spc="-24" dirty="0">
                <a:solidFill>
                  <a:srgbClr val="FFF6EC">
                    <a:alpha val="100000"/>
                  </a:srgbClr>
                </a:solidFill>
                <a:latin typeface="Inter Regular" pitchFamily="34" charset="0"/>
                <a:ea typeface="Inter Regular" pitchFamily="34" charset="-122"/>
                <a:cs typeface="Inter Regular" pitchFamily="34" charset="-120"/>
              </a:rPr>
              <a:t>Convert / Churn</a:t>
            </a:r>
            <a:endParaRPr lang="en-US" sz="2400" dirty="0"/>
          </a:p>
        </p:txBody>
      </p:sp>
      <p:sp>
        <p:nvSpPr>
          <p:cNvPr id="22" name="Text 18"/>
          <p:cNvSpPr/>
          <p:nvPr/>
        </p:nvSpPr>
        <p:spPr>
          <a:xfrm>
            <a:off x="1536892" y="1524000"/>
            <a:ext cx="9098571"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FFFFFF">
                    <a:alpha val="100000"/>
                  </a:srgbClr>
                </a:solidFill>
                <a:latin typeface="Inter Semi Bold" pitchFamily="34" charset="0"/>
                <a:ea typeface="Inter Semi Bold" pitchFamily="34" charset="-122"/>
                <a:cs typeface="Inter Semi Bold" pitchFamily="34" charset="-120"/>
              </a:rPr>
              <a:t>Journey Orchestration </a:t>
            </a:r>
            <a:r>
              <a:rPr lang="en-US" sz="6400" kern="0" spc="-64" dirty="0">
                <a:solidFill>
                  <a:srgbClr val="FF5102">
                    <a:alpha val="100000"/>
                  </a:srgbClr>
                </a:solidFill>
                <a:latin typeface="Inter Semi Bold" pitchFamily="34" charset="0"/>
                <a:ea typeface="Inter Semi Bold" pitchFamily="34" charset="-122"/>
                <a:cs typeface="Inter Semi Bold" pitchFamily="34" charset="-120"/>
              </a:rPr>
              <a:t>(Event-Driven)</a:t>
            </a:r>
            <a:endParaRPr lang="en-US" sz="6400" dirty="0"/>
          </a:p>
        </p:txBody>
      </p:sp>
      <p:sp>
        <p:nvSpPr>
          <p:cNvPr id="23" name="Text 19"/>
          <p:cNvSpPr/>
          <p:nvPr/>
        </p:nvSpPr>
        <p:spPr>
          <a:xfrm>
            <a:off x="12485661" y="1524000"/>
            <a:ext cx="7891920" cy="12869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Journey Orchestration in an event-driven context manages customer interactions across touchpoints. It allows businesses to respond to customer actions, creating a personalized experience. </a:t>
            </a:r>
            <a:r>
              <a:rPr lang="en-US" sz="1600" dirty="0">
                <a:solidFill>
                  <a:srgbClr val="B0B0B0">
                    <a:alpha val="100000"/>
                  </a:srgbClr>
                </a:solidFill>
                <a:latin typeface="Inter Regular" pitchFamily="34" charset="0"/>
                <a:ea typeface="Inter Regular" pitchFamily="34" charset="-122"/>
                <a:cs typeface="Inter Regular" pitchFamily="34" charset="-120"/>
              </a:rPr>
              <a:t>By using real-time data and automation, organizations can adapt journeys to individual needs, enhancing engagement.</a:t>
            </a:r>
            <a:endParaRPr lang="en-US" sz="1600" dirty="0"/>
          </a:p>
        </p:txBody>
      </p:sp>
      <p:sp>
        <p:nvSpPr>
          <p:cNvPr id="24" name="Text 20"/>
          <p:cNvSpPr/>
          <p:nvPr/>
        </p:nvSpPr>
        <p:spPr>
          <a:xfrm>
            <a:off x="22388665" y="1524000"/>
            <a:ext cx="516531" cy="364067"/>
          </a:xfrm>
          <a:prstGeom prst="rect">
            <a:avLst/>
          </a:prstGeom>
          <a:noFill/>
          <a:ln/>
        </p:spPr>
        <p:txBody>
          <a:bodyPr wrap="square" lIns="0" tIns="0" rIns="0" bIns="0" rtlCol="0" anchor="t"/>
          <a:lstStyle/>
          <a:p>
            <a:pPr marL="0" indent="0" algn="ctr">
              <a:lnSpc>
                <a:spcPts val="2200"/>
              </a:lnSpc>
              <a:buNone/>
            </a:pPr>
            <a:r>
              <a:rPr lang="en-US" sz="2000" dirty="0">
                <a:solidFill>
                  <a:srgbClr val="FFFFFF">
                    <a:alpha val="100000"/>
                  </a:srgbClr>
                </a:solidFill>
                <a:latin typeface="Inter Regular" pitchFamily="34" charset="0"/>
                <a:ea typeface="Inter Regular" pitchFamily="34" charset="-122"/>
                <a:cs typeface="Inter Regular" pitchFamily="34" charset="-120"/>
              </a:rPr>
              <a:t>017</a:t>
            </a:r>
            <a:endParaRPr lang="en-US" sz="2000" dirty="0"/>
          </a:p>
        </p:txBody>
      </p:sp>
      <p:sp>
        <p:nvSpPr>
          <p:cNvPr id="25" name="Shape 21"/>
          <p:cNvSpPr/>
          <p:nvPr/>
        </p:nvSpPr>
        <p:spPr>
          <a:xfrm>
            <a:off x="1536892" y="9956800"/>
            <a:ext cx="2527616" cy="533400"/>
          </a:xfrm>
          <a:prstGeom prst="roundRect">
            <a:avLst>
              <a:gd name="adj" fmla="val 96000"/>
            </a:avLst>
          </a:prstGeom>
          <a:solidFill>
            <a:srgbClr val="FF8B32">
              <a:alpha val="100000"/>
            </a:srgbClr>
          </a:solidFill>
          <a:ln w="12700">
            <a:solidFill>
              <a:srgbClr val="FF5102"/>
            </a:solidFill>
            <a:prstDash val="solid"/>
          </a:ln>
        </p:spPr>
      </p:sp>
      <p:sp>
        <p:nvSpPr>
          <p:cNvPr id="26" name="Text 22"/>
          <p:cNvSpPr/>
          <p:nvPr/>
        </p:nvSpPr>
        <p:spPr>
          <a:xfrm>
            <a:off x="2006851" y="10071100"/>
            <a:ext cx="1642739"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Frequency Caps</a:t>
            </a:r>
            <a:endParaRPr lang="en-US" sz="1600" dirty="0"/>
          </a:p>
        </p:txBody>
      </p:sp>
      <p:sp>
        <p:nvSpPr>
          <p:cNvPr id="27" name="Text 23"/>
          <p:cNvSpPr/>
          <p:nvPr/>
        </p:nvSpPr>
        <p:spPr>
          <a:xfrm>
            <a:off x="2540318" y="10934700"/>
            <a:ext cx="973788" cy="618067"/>
          </a:xfrm>
          <a:prstGeom prst="rect">
            <a:avLst/>
          </a:prstGeom>
          <a:noFill/>
          <a:ln/>
        </p:spPr>
        <p:txBody>
          <a:bodyPr wrap="square" lIns="0" tIns="0" rIns="0" bIns="0" rtlCol="0" anchor="t"/>
          <a:lstStyle/>
          <a:p>
            <a:pPr marL="0" indent="0" algn="l">
              <a:lnSpc>
                <a:spcPts val="3840"/>
              </a:lnSpc>
              <a:buNone/>
            </a:pPr>
            <a:r>
              <a:rPr lang="en-US" sz="3200" kern="0" spc="-32" dirty="0">
                <a:solidFill>
                  <a:srgbClr val="82260C">
                    <a:alpha val="100000"/>
                  </a:srgbClr>
                </a:solidFill>
                <a:latin typeface="Inter Bold" pitchFamily="34" charset="0"/>
                <a:ea typeface="Inter Bold" pitchFamily="34" charset="-122"/>
                <a:cs typeface="Inter Bold" pitchFamily="34" charset="-120"/>
              </a:rPr>
              <a:t>Max</a:t>
            </a:r>
            <a:endParaRPr lang="en-US" sz="3200" dirty="0"/>
          </a:p>
        </p:txBody>
      </p:sp>
      <p:sp>
        <p:nvSpPr>
          <p:cNvPr id="28" name="Text 24"/>
          <p:cNvSpPr/>
          <p:nvPr/>
        </p:nvSpPr>
        <p:spPr>
          <a:xfrm>
            <a:off x="2540318" y="11493500"/>
            <a:ext cx="1528424" cy="296333"/>
          </a:xfrm>
          <a:prstGeom prst="rect">
            <a:avLst/>
          </a:prstGeom>
          <a:noFill/>
          <a:ln/>
        </p:spPr>
        <p:txBody>
          <a:bodyPr wrap="square" lIns="0" tIns="0" rIns="0" bIns="0" rtlCol="0" anchor="t"/>
          <a:lstStyle/>
          <a:p>
            <a:pPr marL="0" indent="0" algn="l">
              <a:lnSpc>
                <a:spcPts val="1760"/>
              </a:lnSpc>
              <a:buNone/>
            </a:pPr>
            <a:r>
              <a:rPr lang="en-US" sz="1600" dirty="0">
                <a:solidFill>
                  <a:srgbClr val="82260C">
                    <a:alpha val="100000"/>
                  </a:srgbClr>
                </a:solidFill>
                <a:latin typeface="Inter Regular" pitchFamily="34" charset="0"/>
                <a:ea typeface="Inter Regular" pitchFamily="34" charset="-122"/>
                <a:cs typeface="Inter Regular" pitchFamily="34" charset="-120"/>
              </a:rPr>
              <a:t>messages/day</a:t>
            </a:r>
            <a:endParaRPr lang="en-US" sz="1600" dirty="0"/>
          </a:p>
        </p:txBody>
      </p:sp>
      <p:sp>
        <p:nvSpPr>
          <p:cNvPr id="29" name="Text 25"/>
          <p:cNvSpPr/>
          <p:nvPr/>
        </p:nvSpPr>
        <p:spPr>
          <a:xfrm>
            <a:off x="1536892" y="10744200"/>
            <a:ext cx="1219352" cy="1752600"/>
          </a:xfrm>
          <a:prstGeom prst="rect">
            <a:avLst/>
          </a:prstGeom>
          <a:noFill/>
          <a:ln/>
        </p:spPr>
        <p:txBody>
          <a:bodyPr wrap="square" lIns="0" tIns="0" rIns="0" bIns="0" rtlCol="0" anchor="t"/>
          <a:lstStyle/>
          <a:p>
            <a:pPr marL="0" indent="0" algn="l">
              <a:lnSpc>
                <a:spcPts val="10560"/>
              </a:lnSpc>
              <a:buNone/>
            </a:pPr>
            <a:r>
              <a:rPr lang="en-US" sz="9600" kern="0" spc="-96" dirty="0">
                <a:solidFill>
                  <a:srgbClr val="A12B0B">
                    <a:alpha val="100000"/>
                  </a:srgbClr>
                </a:solidFill>
                <a:latin typeface="Inter Bold" pitchFamily="34" charset="0"/>
                <a:ea typeface="Inter Bold" pitchFamily="34" charset="-122"/>
                <a:cs typeface="Inter Bold" pitchFamily="34" charset="-120"/>
              </a:rPr>
              <a:t>3</a:t>
            </a:r>
            <a:endParaRPr lang="en-US" sz="9600" dirty="0"/>
          </a:p>
        </p:txBody>
      </p:sp>
      <p:sp>
        <p:nvSpPr>
          <p:cNvPr id="30" name="Shape 26"/>
          <p:cNvSpPr/>
          <p:nvPr/>
        </p:nvSpPr>
        <p:spPr>
          <a:xfrm>
            <a:off x="6922365" y="9956800"/>
            <a:ext cx="2019552" cy="533400"/>
          </a:xfrm>
          <a:prstGeom prst="roundRect">
            <a:avLst>
              <a:gd name="adj" fmla="val 48000"/>
            </a:avLst>
          </a:prstGeom>
          <a:solidFill>
            <a:srgbClr val="242424">
              <a:alpha val="100000"/>
            </a:srgbClr>
          </a:solidFill>
          <a:ln w="12700">
            <a:solidFill>
              <a:srgbClr val="4F4F4F"/>
            </a:solidFill>
            <a:prstDash val="solid"/>
          </a:ln>
        </p:spPr>
      </p:sp>
      <p:sp>
        <p:nvSpPr>
          <p:cNvPr id="31" name="Text 27"/>
          <p:cNvSpPr/>
          <p:nvPr/>
        </p:nvSpPr>
        <p:spPr>
          <a:xfrm>
            <a:off x="7366921" y="10071100"/>
            <a:ext cx="1185482" cy="372533"/>
          </a:xfrm>
          <a:prstGeom prst="rect">
            <a:avLst/>
          </a:prstGeom>
          <a:noFill/>
          <a:ln/>
        </p:spPr>
        <p:txBody>
          <a:bodyPr wrap="square" lIns="0" tIns="0" rIns="0" bIns="0" rtlCol="0" anchor="t"/>
          <a:lstStyle/>
          <a:p>
            <a:pPr marL="0" indent="0" algn="l">
              <a:lnSpc>
                <a:spcPts val="2400"/>
              </a:lnSpc>
              <a:buNone/>
            </a:pPr>
            <a:r>
              <a:rPr lang="en-US" sz="1600" dirty="0">
                <a:solidFill>
                  <a:srgbClr val="F6F6F6">
                    <a:alpha val="100000"/>
                  </a:srgbClr>
                </a:solidFill>
                <a:latin typeface="Inter Regular" pitchFamily="34" charset="0"/>
                <a:ea typeface="Inter Regular" pitchFamily="34" charset="-122"/>
                <a:cs typeface="Inter Regular" pitchFamily="34" charset="-120"/>
              </a:rPr>
              <a:t>Quite hours</a:t>
            </a:r>
            <a:endParaRPr lang="en-US" sz="1600" dirty="0"/>
          </a:p>
        </p:txBody>
      </p:sp>
      <p:sp>
        <p:nvSpPr>
          <p:cNvPr id="32" name="Shape 28"/>
          <p:cNvSpPr/>
          <p:nvPr/>
        </p:nvSpPr>
        <p:spPr>
          <a:xfrm>
            <a:off x="13412876" y="9956800"/>
            <a:ext cx="1778222" cy="533400"/>
          </a:xfrm>
          <a:prstGeom prst="roundRect">
            <a:avLst>
              <a:gd name="adj" fmla="val 48000"/>
            </a:avLst>
          </a:prstGeom>
          <a:solidFill>
            <a:srgbClr val="242424">
              <a:alpha val="100000"/>
            </a:srgbClr>
          </a:solidFill>
          <a:ln w="12700">
            <a:solidFill>
              <a:srgbClr val="4F4F4F"/>
            </a:solidFill>
            <a:prstDash val="solid"/>
          </a:ln>
        </p:spPr>
      </p:sp>
      <p:sp>
        <p:nvSpPr>
          <p:cNvPr id="36" name="Text 25">
            <a:extLst>
              <a:ext uri="{FF2B5EF4-FFF2-40B4-BE49-F238E27FC236}">
                <a16:creationId xmlns:a16="http://schemas.microsoft.com/office/drawing/2014/main" id="{3537571B-646A-46CD-A729-5CBA54EF7EB8}"/>
              </a:ext>
            </a:extLst>
          </p:cNvPr>
          <p:cNvSpPr/>
          <p:nvPr/>
        </p:nvSpPr>
        <p:spPr>
          <a:xfrm>
            <a:off x="6980240" y="10706977"/>
            <a:ext cx="3483823" cy="1496598"/>
          </a:xfrm>
          <a:prstGeom prst="rect">
            <a:avLst/>
          </a:prstGeom>
          <a:noFill/>
          <a:ln/>
        </p:spPr>
        <p:txBody>
          <a:bodyPr wrap="square" lIns="0" tIns="0" rIns="0" bIns="0" rtlCol="0" anchor="t"/>
          <a:lstStyle/>
          <a:p>
            <a:pPr marL="0" indent="0" algn="l">
              <a:buNone/>
            </a:pPr>
            <a:r>
              <a:rPr lang="en-US" sz="4800" kern="0" spc="-96" dirty="0">
                <a:gradFill>
                  <a:gsLst>
                    <a:gs pos="0">
                      <a:srgbClr val="A12B0B"/>
                    </a:gs>
                    <a:gs pos="100000">
                      <a:srgbClr val="2B0B03"/>
                    </a:gs>
                  </a:gsLst>
                  <a:lin ang="5400000" scaled="1"/>
                </a:gradFill>
                <a:latin typeface="Inter Bold" pitchFamily="34" charset="0"/>
                <a:ea typeface="Inter Bold" pitchFamily="34" charset="-122"/>
              </a:rPr>
              <a:t>10 PM-7AM</a:t>
            </a:r>
          </a:p>
          <a:p>
            <a:pPr marL="0" indent="0" algn="l">
              <a:buNone/>
            </a:pPr>
            <a:r>
              <a:rPr lang="en-US" sz="4800" kern="0" spc="-96" dirty="0">
                <a:gradFill>
                  <a:gsLst>
                    <a:gs pos="0">
                      <a:srgbClr val="A12B0B"/>
                    </a:gs>
                    <a:gs pos="100000">
                      <a:srgbClr val="2B0B03"/>
                    </a:gs>
                  </a:gsLst>
                  <a:lin ang="5400000" scaled="1"/>
                </a:gradFill>
                <a:latin typeface="Inter Bold" pitchFamily="34" charset="0"/>
                <a:ea typeface="Inter Bold" pitchFamily="34" charset="-122"/>
              </a:rPr>
              <a:t>local time</a:t>
            </a:r>
            <a:endParaRPr lang="en-US" sz="4800" dirty="0">
              <a:gradFill>
                <a:gsLst>
                  <a:gs pos="0">
                    <a:srgbClr val="A12B0B"/>
                  </a:gs>
                  <a:gs pos="100000">
                    <a:srgbClr val="2B0B03"/>
                  </a:gs>
                </a:gsLst>
                <a:lin ang="5400000" scaled="1"/>
              </a:gradFill>
            </a:endParaRPr>
          </a:p>
        </p:txBody>
      </p:sp>
      <p:sp>
        <p:nvSpPr>
          <p:cNvPr id="33" name="Text 29"/>
          <p:cNvSpPr/>
          <p:nvPr/>
        </p:nvSpPr>
        <p:spPr>
          <a:xfrm>
            <a:off x="13895537" y="10071100"/>
            <a:ext cx="867942" cy="372533"/>
          </a:xfrm>
          <a:prstGeom prst="rect">
            <a:avLst/>
          </a:prstGeom>
          <a:noFill/>
          <a:ln/>
        </p:spPr>
        <p:txBody>
          <a:bodyPr wrap="square" lIns="0" tIns="0" rIns="0" bIns="0" rtlCol="0" anchor="t"/>
          <a:lstStyle/>
          <a:p>
            <a:pPr marL="0" indent="0" algn="l">
              <a:lnSpc>
                <a:spcPts val="2400"/>
              </a:lnSpc>
              <a:buNone/>
            </a:pPr>
            <a:r>
              <a:rPr lang="en-US" sz="1600" dirty="0">
                <a:solidFill>
                  <a:srgbClr val="F6F6F6">
                    <a:alpha val="100000"/>
                  </a:srgbClr>
                </a:solidFill>
                <a:latin typeface="Inter Regular" pitchFamily="34" charset="0"/>
                <a:ea typeface="Inter Regular" pitchFamily="34" charset="-122"/>
                <a:cs typeface="Inter Regular" pitchFamily="34" charset="-120"/>
              </a:rPr>
              <a:t>Fallback</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graphicFrame>
        <p:nvGraphicFramePr>
          <p:cNvPr id="45" name="Chart 44">
            <a:extLst>
              <a:ext uri="{FF2B5EF4-FFF2-40B4-BE49-F238E27FC236}">
                <a16:creationId xmlns:a16="http://schemas.microsoft.com/office/drawing/2014/main" id="{0214B379-DEE7-466C-8872-CEEBC3697F9A}"/>
              </a:ext>
            </a:extLst>
          </p:cNvPr>
          <p:cNvGraphicFramePr/>
          <p:nvPr>
            <p:extLst>
              <p:ext uri="{D42A27DB-BD31-4B8C-83A1-F6EECF244321}">
                <p14:modId xmlns:p14="http://schemas.microsoft.com/office/powerpoint/2010/main" val="3372819659"/>
              </p:ext>
            </p:extLst>
          </p:nvPr>
        </p:nvGraphicFramePr>
        <p:xfrm>
          <a:off x="1302252" y="6388100"/>
          <a:ext cx="11134675" cy="6870112"/>
        </p:xfrm>
        <a:graphic>
          <a:graphicData uri="http://schemas.openxmlformats.org/drawingml/2006/chart">
            <c:chart xmlns:c="http://schemas.openxmlformats.org/drawingml/2006/chart" xmlns:r="http://schemas.openxmlformats.org/officeDocument/2006/relationships" r:id="rId3"/>
          </a:graphicData>
        </a:graphic>
      </p:graphicFrame>
      <p:sp>
        <p:nvSpPr>
          <p:cNvPr id="2" name="Shape 0"/>
          <p:cNvSpPr/>
          <p:nvPr/>
        </p:nvSpPr>
        <p:spPr>
          <a:xfrm>
            <a:off x="1524191" y="5397500"/>
            <a:ext cx="11012276" cy="12103100"/>
          </a:xfrm>
          <a:prstGeom prst="rect">
            <a:avLst/>
          </a:prstGeom>
          <a:noFill/>
          <a:ln/>
        </p:spPr>
      </p:sp>
      <p:sp>
        <p:nvSpPr>
          <p:cNvPr id="6" name="Shape 1"/>
          <p:cNvSpPr/>
          <p:nvPr/>
        </p:nvSpPr>
        <p:spPr>
          <a:xfrm>
            <a:off x="2039825" y="7399541"/>
            <a:ext cx="1219352" cy="457200"/>
          </a:xfrm>
          <a:prstGeom prst="roundRect">
            <a:avLst>
              <a:gd name="adj" fmla="val 112000"/>
            </a:avLst>
          </a:prstGeom>
          <a:solidFill>
            <a:srgbClr val="FFD4A5">
              <a:alpha val="100000"/>
            </a:srgbClr>
          </a:solidFill>
          <a:ln w="12700">
            <a:solidFill>
              <a:srgbClr val="FF8B32"/>
            </a:solidFill>
            <a:prstDash val="solid"/>
          </a:ln>
        </p:spPr>
      </p:sp>
      <p:sp>
        <p:nvSpPr>
          <p:cNvPr id="7" name="Text 2"/>
          <p:cNvSpPr/>
          <p:nvPr/>
        </p:nvSpPr>
        <p:spPr>
          <a:xfrm>
            <a:off x="2378533" y="7488441"/>
            <a:ext cx="516531"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Email</a:t>
            </a:r>
            <a:endParaRPr lang="en-US" sz="1400" dirty="0"/>
          </a:p>
        </p:txBody>
      </p:sp>
      <p:sp>
        <p:nvSpPr>
          <p:cNvPr id="8" name="Text 3"/>
          <p:cNvSpPr/>
          <p:nvPr/>
        </p:nvSpPr>
        <p:spPr>
          <a:xfrm>
            <a:off x="2084764" y="7932941"/>
            <a:ext cx="1236288" cy="931333"/>
          </a:xfrm>
          <a:prstGeom prst="rect">
            <a:avLst/>
          </a:prstGeom>
          <a:noFill/>
          <a:ln/>
        </p:spPr>
        <p:txBody>
          <a:bodyPr wrap="square" lIns="0" tIns="0" rIns="0" bIns="0" rtlCol="0" anchor="t"/>
          <a:lstStyle/>
          <a:p>
            <a:pPr marL="0" indent="0" algn="l">
              <a:lnSpc>
                <a:spcPts val="6000"/>
              </a:lnSpc>
              <a:buNone/>
            </a:pPr>
            <a:r>
              <a:rPr lang="en-US" sz="4000" kern="0" spc="-40" dirty="0">
                <a:solidFill>
                  <a:srgbClr val="000000">
                    <a:alpha val="100000"/>
                  </a:srgbClr>
                </a:solidFill>
                <a:latin typeface="Inter Bold" pitchFamily="34" charset="0"/>
                <a:ea typeface="Inter Bold" pitchFamily="34" charset="-122"/>
                <a:cs typeface="Inter Bold" pitchFamily="34" charset="-120"/>
              </a:rPr>
              <a:t>+7%</a:t>
            </a:r>
            <a:endParaRPr lang="en-US" sz="4000" dirty="0"/>
          </a:p>
        </p:txBody>
      </p:sp>
      <p:sp>
        <p:nvSpPr>
          <p:cNvPr id="9" name="Text 4"/>
          <p:cNvSpPr/>
          <p:nvPr/>
        </p:nvSpPr>
        <p:spPr>
          <a:xfrm>
            <a:off x="3284580" y="8047241"/>
            <a:ext cx="1075401" cy="5926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incremental lift</a:t>
            </a:r>
            <a:endParaRPr lang="en-US" sz="1400" dirty="0"/>
          </a:p>
        </p:txBody>
      </p:sp>
      <p:sp>
        <p:nvSpPr>
          <p:cNvPr id="13" name="Shape 5"/>
          <p:cNvSpPr/>
          <p:nvPr/>
        </p:nvSpPr>
        <p:spPr>
          <a:xfrm>
            <a:off x="4445556" y="9567333"/>
            <a:ext cx="1219352" cy="457200"/>
          </a:xfrm>
          <a:prstGeom prst="roundRect">
            <a:avLst>
              <a:gd name="adj" fmla="val 112000"/>
            </a:avLst>
          </a:prstGeom>
          <a:solidFill>
            <a:srgbClr val="FFD4A5">
              <a:alpha val="100000"/>
            </a:srgbClr>
          </a:solidFill>
          <a:ln w="12700">
            <a:solidFill>
              <a:srgbClr val="FF8B32"/>
            </a:solidFill>
            <a:prstDash val="solid"/>
          </a:ln>
        </p:spPr>
      </p:sp>
      <p:sp>
        <p:nvSpPr>
          <p:cNvPr id="14" name="Text 6"/>
          <p:cNvSpPr/>
          <p:nvPr/>
        </p:nvSpPr>
        <p:spPr>
          <a:xfrm>
            <a:off x="4809668" y="9656233"/>
            <a:ext cx="478426"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Push</a:t>
            </a:r>
            <a:endParaRPr lang="en-US" sz="1400" dirty="0"/>
          </a:p>
        </p:txBody>
      </p:sp>
      <p:sp>
        <p:nvSpPr>
          <p:cNvPr id="15" name="Text 7"/>
          <p:cNvSpPr/>
          <p:nvPr/>
        </p:nvSpPr>
        <p:spPr>
          <a:xfrm>
            <a:off x="4490495" y="10100733"/>
            <a:ext cx="1274393" cy="931333"/>
          </a:xfrm>
          <a:prstGeom prst="rect">
            <a:avLst/>
          </a:prstGeom>
          <a:noFill/>
          <a:ln/>
        </p:spPr>
        <p:txBody>
          <a:bodyPr wrap="square" lIns="0" tIns="0" rIns="0" bIns="0" rtlCol="0" anchor="t"/>
          <a:lstStyle/>
          <a:p>
            <a:pPr marL="0" indent="0" algn="l">
              <a:lnSpc>
                <a:spcPts val="6000"/>
              </a:lnSpc>
              <a:buNone/>
            </a:pPr>
            <a:r>
              <a:rPr lang="en-US" sz="4000" kern="0" spc="-40" dirty="0">
                <a:solidFill>
                  <a:srgbClr val="000000">
                    <a:alpha val="100000"/>
                  </a:srgbClr>
                </a:solidFill>
                <a:latin typeface="Inter Bold" pitchFamily="34" charset="0"/>
                <a:ea typeface="Inter Bold" pitchFamily="34" charset="-122"/>
                <a:cs typeface="Inter Bold" pitchFamily="34" charset="-120"/>
              </a:rPr>
              <a:t>+3%</a:t>
            </a:r>
            <a:endParaRPr lang="en-US" sz="4000" dirty="0"/>
          </a:p>
        </p:txBody>
      </p:sp>
      <p:sp>
        <p:nvSpPr>
          <p:cNvPr id="16" name="Text 8"/>
          <p:cNvSpPr/>
          <p:nvPr/>
        </p:nvSpPr>
        <p:spPr>
          <a:xfrm>
            <a:off x="5690311" y="10215033"/>
            <a:ext cx="1075401" cy="5926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incremental lift</a:t>
            </a:r>
            <a:endParaRPr lang="en-US" sz="1400" dirty="0"/>
          </a:p>
        </p:txBody>
      </p:sp>
      <p:sp>
        <p:nvSpPr>
          <p:cNvPr id="20" name="Shape 9"/>
          <p:cNvSpPr/>
          <p:nvPr/>
        </p:nvSpPr>
        <p:spPr>
          <a:xfrm>
            <a:off x="7366921" y="539750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21" name="Text 10"/>
          <p:cNvSpPr/>
          <p:nvPr/>
        </p:nvSpPr>
        <p:spPr>
          <a:xfrm>
            <a:off x="7477001" y="5486400"/>
            <a:ext cx="986490"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Paid Social</a:t>
            </a:r>
            <a:endParaRPr lang="en-US" sz="1400" dirty="0"/>
          </a:p>
        </p:txBody>
      </p:sp>
      <p:sp>
        <p:nvSpPr>
          <p:cNvPr id="22" name="Text 11"/>
          <p:cNvSpPr/>
          <p:nvPr/>
        </p:nvSpPr>
        <p:spPr>
          <a:xfrm>
            <a:off x="7411860" y="5930900"/>
            <a:ext cx="1439513" cy="931333"/>
          </a:xfrm>
          <a:prstGeom prst="rect">
            <a:avLst/>
          </a:prstGeom>
          <a:noFill/>
          <a:ln/>
        </p:spPr>
        <p:txBody>
          <a:bodyPr wrap="square" lIns="0" tIns="0" rIns="0" bIns="0" rtlCol="0" anchor="t"/>
          <a:lstStyle/>
          <a:p>
            <a:pPr marL="0" indent="0" algn="l">
              <a:lnSpc>
                <a:spcPts val="6000"/>
              </a:lnSpc>
              <a:buNone/>
            </a:pPr>
            <a:r>
              <a:rPr lang="en-US" sz="4000" kern="0" spc="-40" dirty="0">
                <a:solidFill>
                  <a:srgbClr val="000000">
                    <a:alpha val="100000"/>
                  </a:srgbClr>
                </a:solidFill>
                <a:latin typeface="Inter Bold" pitchFamily="34" charset="0"/>
                <a:ea typeface="Inter Bold" pitchFamily="34" charset="-122"/>
                <a:cs typeface="Inter Bold" pitchFamily="34" charset="-120"/>
              </a:rPr>
              <a:t>+11%</a:t>
            </a:r>
            <a:endParaRPr lang="en-US" sz="4000" dirty="0"/>
          </a:p>
        </p:txBody>
      </p:sp>
      <p:sp>
        <p:nvSpPr>
          <p:cNvPr id="23" name="Text 12"/>
          <p:cNvSpPr/>
          <p:nvPr/>
        </p:nvSpPr>
        <p:spPr>
          <a:xfrm>
            <a:off x="8764095" y="6045200"/>
            <a:ext cx="1075401" cy="5926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incremental lift</a:t>
            </a:r>
            <a:endParaRPr lang="en-US" sz="1400" dirty="0"/>
          </a:p>
        </p:txBody>
      </p:sp>
      <p:sp>
        <p:nvSpPr>
          <p:cNvPr id="27" name="Shape 13"/>
          <p:cNvSpPr/>
          <p:nvPr/>
        </p:nvSpPr>
        <p:spPr>
          <a:xfrm>
            <a:off x="9959705" y="8479367"/>
            <a:ext cx="1219352" cy="457200"/>
          </a:xfrm>
          <a:prstGeom prst="roundRect">
            <a:avLst>
              <a:gd name="adj" fmla="val 112000"/>
            </a:avLst>
          </a:prstGeom>
          <a:solidFill>
            <a:srgbClr val="FFD4A5">
              <a:alpha val="100000"/>
            </a:srgbClr>
          </a:solidFill>
          <a:ln w="12700">
            <a:solidFill>
              <a:srgbClr val="FF8B32"/>
            </a:solidFill>
            <a:prstDash val="solid"/>
          </a:ln>
        </p:spPr>
      </p:sp>
      <p:sp>
        <p:nvSpPr>
          <p:cNvPr id="28" name="Text 14"/>
          <p:cNvSpPr/>
          <p:nvPr/>
        </p:nvSpPr>
        <p:spPr>
          <a:xfrm>
            <a:off x="10209503" y="8568267"/>
            <a:ext cx="694353"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On-site</a:t>
            </a:r>
            <a:endParaRPr lang="en-US" sz="1400" dirty="0"/>
          </a:p>
        </p:txBody>
      </p:sp>
      <p:sp>
        <p:nvSpPr>
          <p:cNvPr id="29" name="Text 15"/>
          <p:cNvSpPr/>
          <p:nvPr/>
        </p:nvSpPr>
        <p:spPr>
          <a:xfrm>
            <a:off x="10004645" y="9012767"/>
            <a:ext cx="1274393" cy="931333"/>
          </a:xfrm>
          <a:prstGeom prst="rect">
            <a:avLst/>
          </a:prstGeom>
          <a:noFill/>
          <a:ln/>
        </p:spPr>
        <p:txBody>
          <a:bodyPr wrap="square" lIns="0" tIns="0" rIns="0" bIns="0" rtlCol="0" anchor="t"/>
          <a:lstStyle/>
          <a:p>
            <a:pPr marL="0" indent="0" algn="l">
              <a:lnSpc>
                <a:spcPts val="6000"/>
              </a:lnSpc>
              <a:buNone/>
            </a:pPr>
            <a:r>
              <a:rPr lang="en-US" sz="4000" kern="0" spc="-40" dirty="0">
                <a:solidFill>
                  <a:srgbClr val="000000">
                    <a:alpha val="100000"/>
                  </a:srgbClr>
                </a:solidFill>
                <a:latin typeface="Inter Bold" pitchFamily="34" charset="0"/>
                <a:ea typeface="Inter Bold" pitchFamily="34" charset="-122"/>
                <a:cs typeface="Inter Bold" pitchFamily="34" charset="-120"/>
              </a:rPr>
              <a:t>+5%</a:t>
            </a:r>
            <a:endParaRPr lang="en-US" sz="4000" dirty="0"/>
          </a:p>
        </p:txBody>
      </p:sp>
      <p:sp>
        <p:nvSpPr>
          <p:cNvPr id="30" name="Text 16"/>
          <p:cNvSpPr/>
          <p:nvPr/>
        </p:nvSpPr>
        <p:spPr>
          <a:xfrm>
            <a:off x="11204461" y="9127067"/>
            <a:ext cx="1075401" cy="5926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incremental lift</a:t>
            </a:r>
            <a:endParaRPr lang="en-US" sz="1400" dirty="0"/>
          </a:p>
        </p:txBody>
      </p:sp>
      <p:sp>
        <p:nvSpPr>
          <p:cNvPr id="31" name="Text 17"/>
          <p:cNvSpPr/>
          <p:nvPr/>
        </p:nvSpPr>
        <p:spPr>
          <a:xfrm>
            <a:off x="22375963" y="1524000"/>
            <a:ext cx="529233"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018</a:t>
            </a:r>
            <a:endParaRPr lang="en-US" sz="2000" dirty="0"/>
          </a:p>
        </p:txBody>
      </p:sp>
      <p:pic>
        <p:nvPicPr>
          <p:cNvPr id="32" name="Image 12" descr=" "/>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24191" y="1524000"/>
            <a:ext cx="444556" cy="622300"/>
          </a:xfrm>
          <a:prstGeom prst="rect">
            <a:avLst/>
          </a:prstGeom>
        </p:spPr>
      </p:pic>
      <p:sp>
        <p:nvSpPr>
          <p:cNvPr id="33" name="Text 18"/>
          <p:cNvSpPr/>
          <p:nvPr/>
        </p:nvSpPr>
        <p:spPr>
          <a:xfrm>
            <a:off x="2032254" y="1549400"/>
            <a:ext cx="1117740" cy="698500"/>
          </a:xfrm>
          <a:prstGeom prst="rect">
            <a:avLst/>
          </a:prstGeom>
          <a:noFill/>
          <a:ln/>
        </p:spPr>
        <p:txBody>
          <a:bodyPr wrap="square" lIns="0" tIns="0" rIns="0" bIns="0" rtlCol="0" anchor="t"/>
          <a:lstStyle/>
          <a:p>
            <a:pPr marL="0" indent="0" algn="ctr">
              <a:lnSpc>
                <a:spcPts val="4500"/>
              </a:lnSpc>
              <a:buNone/>
            </a:pPr>
            <a:r>
              <a:rPr lang="en-US" sz="3000" kern="0" spc="-120" dirty="0">
                <a:solidFill>
                  <a:srgbClr val="000000">
                    <a:alpha val="100000"/>
                  </a:srgbClr>
                </a:solidFill>
                <a:latin typeface="Funnel Display Bold" pitchFamily="34" charset="0"/>
                <a:ea typeface="Funnel Display Bold" pitchFamily="34" charset="-122"/>
                <a:cs typeface="Funnel Display Bold" pitchFamily="34" charset="-120"/>
              </a:rPr>
              <a:t>Clario</a:t>
            </a:r>
            <a:endParaRPr lang="en-US" sz="3000" dirty="0"/>
          </a:p>
        </p:txBody>
      </p:sp>
      <p:sp>
        <p:nvSpPr>
          <p:cNvPr id="34" name="Text 19"/>
          <p:cNvSpPr/>
          <p:nvPr/>
        </p:nvSpPr>
        <p:spPr>
          <a:xfrm>
            <a:off x="1524191" y="2908300"/>
            <a:ext cx="8069742"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Measurement &amp; Attribution</a:t>
            </a:r>
            <a:endParaRPr lang="en-US" sz="6400" dirty="0"/>
          </a:p>
        </p:txBody>
      </p:sp>
      <p:sp>
        <p:nvSpPr>
          <p:cNvPr id="35" name="Text 20"/>
          <p:cNvSpPr/>
          <p:nvPr/>
        </p:nvSpPr>
        <p:spPr>
          <a:xfrm>
            <a:off x="15025978" y="3187700"/>
            <a:ext cx="7904621" cy="12869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Measurement and Attribution are key in understanding marketing's impact on business success. </a:t>
            </a:r>
            <a:r>
              <a:rPr lang="en-US" sz="1600" dirty="0">
                <a:solidFill>
                  <a:srgbClr val="454545">
                    <a:alpha val="100000"/>
                  </a:srgbClr>
                </a:solidFill>
                <a:latin typeface="Inter Regular" pitchFamily="34" charset="0"/>
                <a:ea typeface="Inter Regular" pitchFamily="34" charset="-122"/>
                <a:cs typeface="Inter Regular" pitchFamily="34" charset="-120"/>
              </a:rPr>
              <a:t>Measurement tracks campaign performance, while attribution credits specific channels for conversions. Together, they help optimize strategies and allocate resources.</a:t>
            </a:r>
            <a:endParaRPr lang="en-US" sz="1600" dirty="0"/>
          </a:p>
        </p:txBody>
      </p:sp>
      <p:sp>
        <p:nvSpPr>
          <p:cNvPr id="36" name="Shape 21"/>
          <p:cNvSpPr/>
          <p:nvPr/>
        </p:nvSpPr>
        <p:spPr>
          <a:xfrm>
            <a:off x="15025978" y="6070600"/>
            <a:ext cx="7836879" cy="4838700"/>
          </a:xfrm>
          <a:prstGeom prst="rect">
            <a:avLst/>
          </a:prstGeom>
          <a:noFill/>
          <a:ln/>
        </p:spPr>
      </p:sp>
      <p:pic>
        <p:nvPicPr>
          <p:cNvPr id="37" name="Image 13" descr=" "/>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025978" y="6070600"/>
            <a:ext cx="4852006" cy="4838700"/>
          </a:xfrm>
          <a:prstGeom prst="rect">
            <a:avLst/>
          </a:prstGeom>
        </p:spPr>
      </p:pic>
      <p:sp>
        <p:nvSpPr>
          <p:cNvPr id="38" name="Text 22"/>
          <p:cNvSpPr/>
          <p:nvPr/>
        </p:nvSpPr>
        <p:spPr>
          <a:xfrm>
            <a:off x="15838880" y="8572500"/>
            <a:ext cx="2099996" cy="6773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macro-level trends, seasonal effects</a:t>
            </a:r>
            <a:endParaRPr lang="en-US" sz="1600" dirty="0"/>
          </a:p>
        </p:txBody>
      </p:sp>
      <p:sp>
        <p:nvSpPr>
          <p:cNvPr id="39" name="Text 23"/>
          <p:cNvSpPr/>
          <p:nvPr/>
        </p:nvSpPr>
        <p:spPr>
          <a:xfrm>
            <a:off x="15838880" y="7810500"/>
            <a:ext cx="2099996" cy="6773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MMM (Marketing Mix Modeling)</a:t>
            </a:r>
            <a:endParaRPr lang="en-US" sz="1600" dirty="0"/>
          </a:p>
        </p:txBody>
      </p:sp>
      <p:sp>
        <p:nvSpPr>
          <p:cNvPr id="40" name="Shape 24"/>
          <p:cNvSpPr/>
          <p:nvPr/>
        </p:nvSpPr>
        <p:spPr>
          <a:xfrm>
            <a:off x="18010851" y="6070600"/>
            <a:ext cx="4852006" cy="4838700"/>
          </a:xfrm>
          <a:prstGeom prst="ellipse">
            <a:avLst/>
          </a:prstGeom>
          <a:solidFill>
            <a:srgbClr val="F6F6F6">
              <a:alpha val="100000"/>
            </a:srgbClr>
          </a:solidFill>
          <a:ln w="12700">
            <a:solidFill>
              <a:srgbClr val="D1D1D1"/>
            </a:solidFill>
            <a:prstDash val="solid"/>
          </a:ln>
        </p:spPr>
      </p:sp>
      <p:sp>
        <p:nvSpPr>
          <p:cNvPr id="41" name="Text 25"/>
          <p:cNvSpPr/>
          <p:nvPr/>
        </p:nvSpPr>
        <p:spPr>
          <a:xfrm>
            <a:off x="20170121" y="8572500"/>
            <a:ext cx="2099996" cy="677333"/>
          </a:xfrm>
          <a:prstGeom prst="rect">
            <a:avLst/>
          </a:prstGeom>
          <a:noFill/>
          <a:ln/>
        </p:spPr>
        <p:txBody>
          <a:bodyPr wrap="square" lIns="0" tIns="0" rIns="0" bIns="0" rtlCol="0" anchor="t"/>
          <a:lstStyle/>
          <a:p>
            <a:pPr marL="0" indent="0" algn="l">
              <a:lnSpc>
                <a:spcPts val="2400"/>
              </a:lnSpc>
              <a:buNone/>
            </a:pPr>
            <a:r>
              <a:rPr lang="en-US" sz="1600" dirty="0">
                <a:solidFill>
                  <a:srgbClr val="454545">
                    <a:alpha val="100000"/>
                  </a:srgbClr>
                </a:solidFill>
                <a:latin typeface="Inter Regular" pitchFamily="34" charset="0"/>
                <a:ea typeface="Inter Regular" pitchFamily="34" charset="-122"/>
                <a:cs typeface="Inter Regular" pitchFamily="34" charset="-120"/>
              </a:rPr>
              <a:t>micro-level, digital channels</a:t>
            </a:r>
            <a:endParaRPr lang="en-US" sz="1600" dirty="0"/>
          </a:p>
        </p:txBody>
      </p:sp>
      <p:sp>
        <p:nvSpPr>
          <p:cNvPr id="42" name="Text 26"/>
          <p:cNvSpPr/>
          <p:nvPr/>
        </p:nvSpPr>
        <p:spPr>
          <a:xfrm>
            <a:off x="20170121" y="7810500"/>
            <a:ext cx="2099996" cy="677333"/>
          </a:xfrm>
          <a:prstGeom prst="rect">
            <a:avLst/>
          </a:prstGeom>
          <a:noFill/>
          <a:ln/>
        </p:spPr>
        <p:txBody>
          <a:bodyPr wrap="square" lIns="0" tIns="0" rIns="0" bIns="0" rtlCol="0" anchor="t"/>
          <a:lstStyle/>
          <a:p>
            <a:pPr marL="0" indent="0" algn="l">
              <a:lnSpc>
                <a:spcPts val="2400"/>
              </a:lnSpc>
              <a:buNone/>
            </a:pPr>
            <a:r>
              <a:rPr lang="en-US" sz="1600" dirty="0">
                <a:solidFill>
                  <a:srgbClr val="454545">
                    <a:alpha val="100000"/>
                  </a:srgbClr>
                </a:solidFill>
                <a:latin typeface="Inter Bold" pitchFamily="34" charset="0"/>
                <a:ea typeface="Inter Bold" pitchFamily="34" charset="-122"/>
                <a:cs typeface="Inter Bold" pitchFamily="34" charset="-120"/>
              </a:rPr>
              <a:t>MTA (Multi-Touch Attribution)</a:t>
            </a:r>
            <a:endParaRPr lang="en-US" sz="1600" dirty="0"/>
          </a:p>
        </p:txBody>
      </p:sp>
      <p:pic>
        <p:nvPicPr>
          <p:cNvPr id="43" name="Image 14" descr=" "/>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006460" y="6576752"/>
            <a:ext cx="1875903" cy="3826396"/>
          </a:xfrm>
          <a:prstGeom prst="rect">
            <a:avLst/>
          </a:prstGeom>
        </p:spPr>
      </p:pic>
      <p:sp>
        <p:nvSpPr>
          <p:cNvPr id="44" name="Text 27"/>
          <p:cNvSpPr/>
          <p:nvPr/>
        </p:nvSpPr>
        <p:spPr>
          <a:xfrm>
            <a:off x="18785648" y="8420100"/>
            <a:ext cx="359878"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Bold" pitchFamily="34" charset="0"/>
                <a:ea typeface="Inter Bold" pitchFamily="34" charset="-122"/>
                <a:cs typeface="Inter Bold" pitchFamily="34" charset="-120"/>
              </a:rPr>
              <a:t>VS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5524500"/>
            <a:ext cx="24387048" cy="952500"/>
          </a:xfrm>
          <a:prstGeom prst="rect">
            <a:avLst/>
          </a:prstGeom>
          <a:noFill/>
          <a:ln/>
        </p:spPr>
      </p:sp>
      <p:pic>
        <p:nvPicPr>
          <p:cNvPr id="3"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5988050"/>
            <a:ext cx="24387048" cy="38100"/>
          </a:xfrm>
          <a:prstGeom prst="rect">
            <a:avLst/>
          </a:prstGeom>
        </p:spPr>
      </p:pic>
      <p:pic>
        <p:nvPicPr>
          <p:cNvPr id="4"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4191" y="5524500"/>
            <a:ext cx="3302413" cy="952500"/>
          </a:xfrm>
          <a:prstGeom prst="rect">
            <a:avLst/>
          </a:prstGeom>
        </p:spPr>
      </p:pic>
      <p:sp>
        <p:nvSpPr>
          <p:cNvPr id="5" name="Text 1"/>
          <p:cNvSpPr/>
          <p:nvPr/>
        </p:nvSpPr>
        <p:spPr>
          <a:xfrm>
            <a:off x="1934875" y="5778500"/>
            <a:ext cx="2468342" cy="524933"/>
          </a:xfrm>
          <a:prstGeom prst="rect">
            <a:avLst/>
          </a:prstGeom>
          <a:noFill/>
          <a:ln/>
        </p:spPr>
        <p:txBody>
          <a:bodyPr wrap="square" lIns="0" tIns="0" rIns="0" bIns="0" rtlCol="0" anchor="t"/>
          <a:lstStyle/>
          <a:p>
            <a:pPr marL="0" indent="0" algn="ctr">
              <a:lnSpc>
                <a:spcPts val="176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Boxes for Partner A hashed data</a:t>
            </a:r>
            <a:endParaRPr lang="en-US" sz="1600" dirty="0"/>
          </a:p>
        </p:txBody>
      </p:sp>
      <p:pic>
        <p:nvPicPr>
          <p:cNvPr id="6"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93337" y="5524500"/>
            <a:ext cx="3302413" cy="952500"/>
          </a:xfrm>
          <a:prstGeom prst="rect">
            <a:avLst/>
          </a:prstGeom>
        </p:spPr>
      </p:pic>
      <p:sp>
        <p:nvSpPr>
          <p:cNvPr id="7" name="Text 2"/>
          <p:cNvSpPr/>
          <p:nvPr/>
        </p:nvSpPr>
        <p:spPr>
          <a:xfrm>
            <a:off x="5504021" y="5892800"/>
            <a:ext cx="2468342" cy="296333"/>
          </a:xfrm>
          <a:prstGeom prst="rect">
            <a:avLst/>
          </a:prstGeom>
          <a:noFill/>
          <a:ln/>
        </p:spPr>
        <p:txBody>
          <a:bodyPr wrap="square" lIns="0" tIns="0" rIns="0" bIns="0" rtlCol="0" anchor="t"/>
          <a:lstStyle/>
          <a:p>
            <a:pPr marL="0" indent="0" algn="ctr">
              <a:lnSpc>
                <a:spcPts val="176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Partner B hashed data</a:t>
            </a:r>
            <a:endParaRPr lang="en-US" sz="1600" dirty="0"/>
          </a:p>
        </p:txBody>
      </p:sp>
      <p:pic>
        <p:nvPicPr>
          <p:cNvPr id="8" name="Image 3" descr=" "/>
          <p:cNvPicPr>
            <a:picLocks noChangeAspect="1"/>
          </p:cNvPicPr>
          <p:nvPr/>
        </p:nvPicPr>
        <p:blipFill>
          <a:blip r:embed="rId7">
            <a:extLst>
              <a:ext uri="{96DAC541-7B7A-43D3-8B79-37D633B846F1}">
                <asvg:svgBlip xmlns:asvg="http://schemas.microsoft.com/office/drawing/2016/SVG/main" r:embed="rId9"/>
              </a:ext>
            </a:extLst>
          </a:blip>
          <a:stretch>
            <a:fillRect/>
          </a:stretch>
        </p:blipFill>
        <p:spPr>
          <a:xfrm>
            <a:off x="8662483" y="5524500"/>
            <a:ext cx="3302413" cy="952500"/>
          </a:xfrm>
          <a:prstGeom prst="rect">
            <a:avLst/>
          </a:prstGeom>
        </p:spPr>
      </p:pic>
      <p:sp>
        <p:nvSpPr>
          <p:cNvPr id="9" name="Text 3"/>
          <p:cNvSpPr/>
          <p:nvPr/>
        </p:nvSpPr>
        <p:spPr>
          <a:xfrm>
            <a:off x="9073167" y="5892800"/>
            <a:ext cx="2468342" cy="296333"/>
          </a:xfrm>
          <a:prstGeom prst="rect">
            <a:avLst/>
          </a:prstGeom>
          <a:noFill/>
          <a:ln/>
        </p:spPr>
        <p:txBody>
          <a:bodyPr wrap="square" lIns="0" tIns="0" rIns="0" bIns="0" rtlCol="0" anchor="t"/>
          <a:lstStyle/>
          <a:p>
            <a:pPr marL="0" indent="0" algn="ctr">
              <a:lnSpc>
                <a:spcPts val="176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Secure Join</a:t>
            </a:r>
            <a:endParaRPr lang="en-US" sz="1600" dirty="0"/>
          </a:p>
        </p:txBody>
      </p:sp>
      <p:pic>
        <p:nvPicPr>
          <p:cNvPr id="10" name="Image 4" descr=" "/>
          <p:cNvPicPr>
            <a:picLocks noChangeAspect="1"/>
          </p:cNvPicPr>
          <p:nvPr/>
        </p:nvPicPr>
        <p:blipFill>
          <a:blip r:embed="rId7">
            <a:extLst>
              <a:ext uri="{96DAC541-7B7A-43D3-8B79-37D633B846F1}">
                <asvg:svgBlip xmlns:asvg="http://schemas.microsoft.com/office/drawing/2016/SVG/main" r:embed="rId10"/>
              </a:ext>
            </a:extLst>
          </a:blip>
          <a:stretch>
            <a:fillRect/>
          </a:stretch>
        </p:blipFill>
        <p:spPr>
          <a:xfrm>
            <a:off x="12231629" y="5524500"/>
            <a:ext cx="3302413" cy="952500"/>
          </a:xfrm>
          <a:prstGeom prst="rect">
            <a:avLst/>
          </a:prstGeom>
        </p:spPr>
      </p:pic>
      <p:sp>
        <p:nvSpPr>
          <p:cNvPr id="11" name="Text 4"/>
          <p:cNvSpPr/>
          <p:nvPr/>
        </p:nvSpPr>
        <p:spPr>
          <a:xfrm>
            <a:off x="12642313" y="5892800"/>
            <a:ext cx="2468342" cy="296333"/>
          </a:xfrm>
          <a:prstGeom prst="rect">
            <a:avLst/>
          </a:prstGeom>
          <a:noFill/>
          <a:ln/>
        </p:spPr>
        <p:txBody>
          <a:bodyPr wrap="square" lIns="0" tIns="0" rIns="0" bIns="0" rtlCol="0" anchor="t"/>
          <a:lstStyle/>
          <a:p>
            <a:pPr marL="0" indent="0" algn="ctr">
              <a:lnSpc>
                <a:spcPts val="176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 Aggregate</a:t>
            </a:r>
            <a:endParaRPr lang="en-US" sz="1600" dirty="0"/>
          </a:p>
        </p:txBody>
      </p:sp>
      <p:pic>
        <p:nvPicPr>
          <p:cNvPr id="12" name="Image 5" descr=" "/>
          <p:cNvPicPr>
            <a:picLocks noChangeAspect="1"/>
          </p:cNvPicPr>
          <p:nvPr/>
        </p:nvPicPr>
        <p:blipFill>
          <a:blip r:embed="rId7">
            <a:extLst>
              <a:ext uri="{96DAC541-7B7A-43D3-8B79-37D633B846F1}">
                <asvg:svgBlip xmlns:asvg="http://schemas.microsoft.com/office/drawing/2016/SVG/main" r:embed="rId11"/>
              </a:ext>
            </a:extLst>
          </a:blip>
          <a:stretch>
            <a:fillRect/>
          </a:stretch>
        </p:blipFill>
        <p:spPr>
          <a:xfrm>
            <a:off x="15800775" y="5524500"/>
            <a:ext cx="3302413" cy="952500"/>
          </a:xfrm>
          <a:prstGeom prst="rect">
            <a:avLst/>
          </a:prstGeom>
        </p:spPr>
      </p:pic>
      <p:sp>
        <p:nvSpPr>
          <p:cNvPr id="13" name="Text 5"/>
          <p:cNvSpPr/>
          <p:nvPr/>
        </p:nvSpPr>
        <p:spPr>
          <a:xfrm>
            <a:off x="16211460" y="5892800"/>
            <a:ext cx="2468342" cy="296333"/>
          </a:xfrm>
          <a:prstGeom prst="rect">
            <a:avLst/>
          </a:prstGeom>
          <a:noFill/>
          <a:ln/>
        </p:spPr>
        <p:txBody>
          <a:bodyPr wrap="square" lIns="0" tIns="0" rIns="0" bIns="0" rtlCol="0" anchor="t"/>
          <a:lstStyle/>
          <a:p>
            <a:pPr marL="0" indent="0" algn="ctr">
              <a:lnSpc>
                <a:spcPts val="176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Query</a:t>
            </a:r>
            <a:endParaRPr lang="en-US" sz="1600" dirty="0"/>
          </a:p>
        </p:txBody>
      </p:sp>
      <p:pic>
        <p:nvPicPr>
          <p:cNvPr id="14" name="Image 6" descr=" "/>
          <p:cNvPicPr>
            <a:picLocks noChangeAspect="1"/>
          </p:cNvPicPr>
          <p:nvPr/>
        </p:nvPicPr>
        <p:blipFill>
          <a:blip r:embed="rId7">
            <a:extLst>
              <a:ext uri="{96DAC541-7B7A-43D3-8B79-37D633B846F1}">
                <asvg:svgBlip xmlns:asvg="http://schemas.microsoft.com/office/drawing/2016/SVG/main" r:embed="rId12"/>
              </a:ext>
            </a:extLst>
          </a:blip>
          <a:stretch>
            <a:fillRect/>
          </a:stretch>
        </p:blipFill>
        <p:spPr>
          <a:xfrm>
            <a:off x="19369921" y="5524500"/>
            <a:ext cx="3302413" cy="952500"/>
          </a:xfrm>
          <a:prstGeom prst="rect">
            <a:avLst/>
          </a:prstGeom>
        </p:spPr>
      </p:pic>
      <p:sp>
        <p:nvSpPr>
          <p:cNvPr id="15" name="Text 6"/>
          <p:cNvSpPr/>
          <p:nvPr/>
        </p:nvSpPr>
        <p:spPr>
          <a:xfrm>
            <a:off x="19780606" y="5892800"/>
            <a:ext cx="2468342" cy="296333"/>
          </a:xfrm>
          <a:prstGeom prst="rect">
            <a:avLst/>
          </a:prstGeom>
          <a:noFill/>
          <a:ln/>
        </p:spPr>
        <p:txBody>
          <a:bodyPr wrap="square" lIns="0" tIns="0" rIns="0" bIns="0" rtlCol="0" anchor="t"/>
          <a:lstStyle/>
          <a:p>
            <a:pPr marL="0" indent="0" algn="ctr">
              <a:lnSpc>
                <a:spcPts val="176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Export Audiences.</a:t>
            </a:r>
            <a:endParaRPr lang="en-US" sz="1600" dirty="0"/>
          </a:p>
        </p:txBody>
      </p:sp>
      <p:sp>
        <p:nvSpPr>
          <p:cNvPr id="47" name="Shape 8">
            <a:extLst>
              <a:ext uri="{FF2B5EF4-FFF2-40B4-BE49-F238E27FC236}">
                <a16:creationId xmlns:a16="http://schemas.microsoft.com/office/drawing/2014/main" id="{444E2B79-56FC-484D-BED7-FD4D6151F5F6}"/>
              </a:ext>
            </a:extLst>
          </p:cNvPr>
          <p:cNvSpPr/>
          <p:nvPr/>
        </p:nvSpPr>
        <p:spPr>
          <a:xfrm>
            <a:off x="1507796" y="8641708"/>
            <a:ext cx="21338667" cy="812800"/>
          </a:xfrm>
          <a:prstGeom prst="rect">
            <a:avLst/>
          </a:prstGeom>
          <a:solidFill>
            <a:srgbClr val="242424">
              <a:alpha val="100000"/>
            </a:srgbClr>
          </a:solidFill>
          <a:ln/>
        </p:spPr>
      </p:sp>
      <p:sp>
        <p:nvSpPr>
          <p:cNvPr id="16" name="Shape 7"/>
          <p:cNvSpPr/>
          <p:nvPr/>
        </p:nvSpPr>
        <p:spPr>
          <a:xfrm>
            <a:off x="1524191" y="7823200"/>
            <a:ext cx="21338667" cy="3263900"/>
          </a:xfrm>
          <a:prstGeom prst="rect">
            <a:avLst/>
          </a:prstGeom>
          <a:noFill/>
          <a:ln/>
        </p:spPr>
      </p:sp>
      <p:sp>
        <p:nvSpPr>
          <p:cNvPr id="17" name="Shape 8"/>
          <p:cNvSpPr/>
          <p:nvPr/>
        </p:nvSpPr>
        <p:spPr>
          <a:xfrm>
            <a:off x="1524191" y="9448800"/>
            <a:ext cx="21338667" cy="812800"/>
          </a:xfrm>
          <a:prstGeom prst="rect">
            <a:avLst/>
          </a:prstGeom>
          <a:solidFill>
            <a:srgbClr val="242424">
              <a:alpha val="100000"/>
            </a:srgbClr>
          </a:solidFill>
          <a:ln/>
        </p:spPr>
      </p:sp>
      <p:sp>
        <p:nvSpPr>
          <p:cNvPr id="18" name="Shape 9"/>
          <p:cNvSpPr/>
          <p:nvPr/>
        </p:nvSpPr>
        <p:spPr>
          <a:xfrm>
            <a:off x="1524191" y="10261600"/>
            <a:ext cx="21338667" cy="812800"/>
          </a:xfrm>
          <a:prstGeom prst="rect">
            <a:avLst/>
          </a:prstGeom>
          <a:solidFill>
            <a:srgbClr val="242424">
              <a:alpha val="100000"/>
            </a:srgbClr>
          </a:solidFill>
          <a:ln/>
        </p:spPr>
      </p:sp>
      <p:pic>
        <p:nvPicPr>
          <p:cNvPr id="19" name="Image 7"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24191" y="10261600"/>
            <a:ext cx="21338667" cy="812800"/>
          </a:xfrm>
          <a:prstGeom prst="rect">
            <a:avLst/>
          </a:prstGeom>
        </p:spPr>
      </p:pic>
      <p:pic>
        <p:nvPicPr>
          <p:cNvPr id="20" name="Image 8"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687386" y="8731250"/>
            <a:ext cx="12702" cy="577143"/>
          </a:xfrm>
          <a:prstGeom prst="rect">
            <a:avLst/>
          </a:prstGeom>
        </p:spPr>
      </p:pic>
      <p:pic>
        <p:nvPicPr>
          <p:cNvPr id="21" name="Image 9"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687386" y="9559106"/>
            <a:ext cx="12702" cy="577143"/>
          </a:xfrm>
          <a:prstGeom prst="rect">
            <a:avLst/>
          </a:prstGeom>
        </p:spPr>
      </p:pic>
      <p:pic>
        <p:nvPicPr>
          <p:cNvPr id="22" name="Image 10"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687386" y="10386950"/>
            <a:ext cx="12702" cy="577143"/>
          </a:xfrm>
          <a:prstGeom prst="rect">
            <a:avLst/>
          </a:prstGeom>
        </p:spPr>
      </p:pic>
      <p:pic>
        <p:nvPicPr>
          <p:cNvPr id="23" name="Image 11"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712364" y="8731250"/>
            <a:ext cx="12702" cy="577143"/>
          </a:xfrm>
          <a:prstGeom prst="rect">
            <a:avLst/>
          </a:prstGeom>
        </p:spPr>
      </p:pic>
      <p:pic>
        <p:nvPicPr>
          <p:cNvPr id="24" name="Image 12"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712364" y="9559106"/>
            <a:ext cx="12702" cy="577143"/>
          </a:xfrm>
          <a:prstGeom prst="rect">
            <a:avLst/>
          </a:prstGeom>
        </p:spPr>
      </p:pic>
      <p:pic>
        <p:nvPicPr>
          <p:cNvPr id="25" name="Image 13"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7712364" y="10386950"/>
            <a:ext cx="12702" cy="577143"/>
          </a:xfrm>
          <a:prstGeom prst="rect">
            <a:avLst/>
          </a:prstGeom>
        </p:spPr>
      </p:pic>
      <p:pic>
        <p:nvPicPr>
          <p:cNvPr id="26" name="Image 14"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076710" y="9455150"/>
            <a:ext cx="20462257" cy="12700"/>
          </a:xfrm>
          <a:prstGeom prst="rect">
            <a:avLst/>
          </a:prstGeom>
        </p:spPr>
      </p:pic>
      <p:pic>
        <p:nvPicPr>
          <p:cNvPr id="27" name="Image 15"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076710" y="10255250"/>
            <a:ext cx="20462257" cy="12700"/>
          </a:xfrm>
          <a:prstGeom prst="rect">
            <a:avLst/>
          </a:prstGeom>
        </p:spPr>
      </p:pic>
      <p:sp>
        <p:nvSpPr>
          <p:cNvPr id="28" name="Text 10"/>
          <p:cNvSpPr/>
          <p:nvPr/>
        </p:nvSpPr>
        <p:spPr>
          <a:xfrm>
            <a:off x="3213502" y="8890000"/>
            <a:ext cx="1706247"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Reach Expansion</a:t>
            </a:r>
            <a:endParaRPr lang="en-US" sz="1600" dirty="0"/>
          </a:p>
        </p:txBody>
      </p:sp>
      <p:sp>
        <p:nvSpPr>
          <p:cNvPr id="29" name="Text 11"/>
          <p:cNvSpPr/>
          <p:nvPr/>
        </p:nvSpPr>
        <p:spPr>
          <a:xfrm>
            <a:off x="3238905" y="9702800"/>
            <a:ext cx="1668142"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Overlap Analysis</a:t>
            </a:r>
            <a:endParaRPr lang="en-US" sz="1600" dirty="0"/>
          </a:p>
        </p:txBody>
      </p:sp>
      <p:sp>
        <p:nvSpPr>
          <p:cNvPr id="30" name="Text 12"/>
          <p:cNvSpPr/>
          <p:nvPr/>
        </p:nvSpPr>
        <p:spPr>
          <a:xfrm>
            <a:off x="3149994" y="10515600"/>
            <a:ext cx="1845964"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Frequency Control </a:t>
            </a:r>
            <a:endParaRPr lang="en-US" sz="1600" dirty="0"/>
          </a:p>
        </p:txBody>
      </p:sp>
      <p:sp>
        <p:nvSpPr>
          <p:cNvPr id="31" name="Text 13"/>
          <p:cNvSpPr/>
          <p:nvPr/>
        </p:nvSpPr>
        <p:spPr>
          <a:xfrm>
            <a:off x="11583848" y="8890000"/>
            <a:ext cx="1299796"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+350K users</a:t>
            </a:r>
            <a:endParaRPr lang="en-US" sz="1600" dirty="0"/>
          </a:p>
        </p:txBody>
      </p:sp>
      <p:sp>
        <p:nvSpPr>
          <p:cNvPr id="32" name="Text 14"/>
          <p:cNvSpPr/>
          <p:nvPr/>
        </p:nvSpPr>
        <p:spPr>
          <a:xfrm>
            <a:off x="11291711" y="9702800"/>
            <a:ext cx="1884069"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200K shared users</a:t>
            </a:r>
            <a:endParaRPr lang="en-US" sz="1600" dirty="0"/>
          </a:p>
        </p:txBody>
      </p:sp>
      <p:sp>
        <p:nvSpPr>
          <p:cNvPr id="33" name="Text 15"/>
          <p:cNvSpPr/>
          <p:nvPr/>
        </p:nvSpPr>
        <p:spPr>
          <a:xfrm>
            <a:off x="11520340" y="10515600"/>
            <a:ext cx="1426812"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98% accuracy</a:t>
            </a:r>
            <a:endParaRPr lang="en-US" sz="1600" dirty="0"/>
          </a:p>
        </p:txBody>
      </p:sp>
      <p:sp>
        <p:nvSpPr>
          <p:cNvPr id="34" name="Text 16"/>
          <p:cNvSpPr/>
          <p:nvPr/>
        </p:nvSpPr>
        <p:spPr>
          <a:xfrm>
            <a:off x="19306413" y="8890000"/>
            <a:ext cx="2036488"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New market insights</a:t>
            </a:r>
            <a:endParaRPr lang="en-US" sz="1600" dirty="0"/>
          </a:p>
        </p:txBody>
      </p:sp>
      <p:sp>
        <p:nvSpPr>
          <p:cNvPr id="35" name="Text 17"/>
          <p:cNvSpPr/>
          <p:nvPr/>
        </p:nvSpPr>
        <p:spPr>
          <a:xfrm>
            <a:off x="19052381" y="9702800"/>
            <a:ext cx="2557253"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Helps avoid overspending</a:t>
            </a:r>
            <a:endParaRPr lang="en-US" sz="1600" dirty="0"/>
          </a:p>
        </p:txBody>
      </p:sp>
      <p:sp>
        <p:nvSpPr>
          <p:cNvPr id="36" name="Text 18"/>
          <p:cNvSpPr/>
          <p:nvPr/>
        </p:nvSpPr>
        <p:spPr>
          <a:xfrm>
            <a:off x="18849156" y="10515600"/>
            <a:ext cx="2951002"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Ensures controlled messaging</a:t>
            </a:r>
            <a:endParaRPr lang="en-US" sz="1600" dirty="0"/>
          </a:p>
        </p:txBody>
      </p:sp>
      <p:pic>
        <p:nvPicPr>
          <p:cNvPr id="37" name="Image 16"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524191" y="7823200"/>
            <a:ext cx="5169546" cy="812800"/>
          </a:xfrm>
          <a:prstGeom prst="rect">
            <a:avLst/>
          </a:prstGeom>
        </p:spPr>
      </p:pic>
      <p:pic>
        <p:nvPicPr>
          <p:cNvPr id="38" name="Image 17"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693737" y="7823200"/>
            <a:ext cx="11024978" cy="812800"/>
          </a:xfrm>
          <a:prstGeom prst="rect">
            <a:avLst/>
          </a:prstGeom>
        </p:spPr>
      </p:pic>
      <p:pic>
        <p:nvPicPr>
          <p:cNvPr id="39" name="Image 18"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7718715" y="7823200"/>
            <a:ext cx="5144143" cy="812800"/>
          </a:xfrm>
          <a:prstGeom prst="rect">
            <a:avLst/>
          </a:prstGeom>
        </p:spPr>
      </p:pic>
      <p:sp>
        <p:nvSpPr>
          <p:cNvPr id="40" name="Text 19"/>
          <p:cNvSpPr/>
          <p:nvPr/>
        </p:nvSpPr>
        <p:spPr>
          <a:xfrm>
            <a:off x="3556445" y="8077200"/>
            <a:ext cx="1033062"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Use-Case</a:t>
            </a:r>
            <a:endParaRPr lang="en-US" sz="1600" dirty="0"/>
          </a:p>
        </p:txBody>
      </p:sp>
      <p:sp>
        <p:nvSpPr>
          <p:cNvPr id="41" name="Text 20"/>
          <p:cNvSpPr/>
          <p:nvPr/>
        </p:nvSpPr>
        <p:spPr>
          <a:xfrm>
            <a:off x="11431429" y="8077200"/>
            <a:ext cx="1604634"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Example Output</a:t>
            </a:r>
            <a:endParaRPr lang="en-US" sz="1600" dirty="0"/>
          </a:p>
        </p:txBody>
      </p:sp>
      <p:sp>
        <p:nvSpPr>
          <p:cNvPr id="42" name="Text 21"/>
          <p:cNvSpPr/>
          <p:nvPr/>
        </p:nvSpPr>
        <p:spPr>
          <a:xfrm>
            <a:off x="20005000" y="8077200"/>
            <a:ext cx="639313"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Notes</a:t>
            </a:r>
            <a:endParaRPr lang="en-US" sz="1600" dirty="0"/>
          </a:p>
        </p:txBody>
      </p:sp>
      <p:pic>
        <p:nvPicPr>
          <p:cNvPr id="43" name="Image 19"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24191" y="7823200"/>
            <a:ext cx="21338667" cy="3263900"/>
          </a:xfrm>
          <a:prstGeom prst="rect">
            <a:avLst/>
          </a:prstGeom>
        </p:spPr>
      </p:pic>
      <p:sp>
        <p:nvSpPr>
          <p:cNvPr id="44" name="Text 22"/>
          <p:cNvSpPr/>
          <p:nvPr/>
        </p:nvSpPr>
        <p:spPr>
          <a:xfrm>
            <a:off x="1524191" y="1524000"/>
            <a:ext cx="8082444" cy="2937933"/>
          </a:xfrm>
          <a:prstGeom prst="rect">
            <a:avLst/>
          </a:prstGeom>
          <a:noFill/>
          <a:ln/>
        </p:spPr>
        <p:txBody>
          <a:bodyPr wrap="square" lIns="0" tIns="0" rIns="0" bIns="0" rtlCol="0" anchor="t"/>
          <a:lstStyle/>
          <a:p>
            <a:pPr marL="0" indent="0" algn="l">
              <a:lnSpc>
                <a:spcPts val="7040"/>
              </a:lnSpc>
              <a:buNone/>
            </a:pPr>
            <a:r>
              <a:rPr lang="en-US" sz="6400" kern="0" spc="-64" dirty="0">
                <a:solidFill>
                  <a:srgbClr val="FFFFFF">
                    <a:alpha val="100000"/>
                  </a:srgbClr>
                </a:solidFill>
                <a:latin typeface="Inter Semi Bold" pitchFamily="34" charset="0"/>
                <a:ea typeface="Inter Semi Bold" pitchFamily="34" charset="-122"/>
                <a:cs typeface="Inter Semi Bold" pitchFamily="34" charset="-120"/>
              </a:rPr>
              <a:t>Clean Rooms &amp; Partnerships </a:t>
            </a:r>
            <a:r>
              <a:rPr lang="en-US" sz="6400" kern="0" spc="-64" dirty="0">
                <a:solidFill>
                  <a:srgbClr val="FF5102">
                    <a:alpha val="100000"/>
                  </a:srgbClr>
                </a:solidFill>
                <a:latin typeface="Inter Semi Bold" pitchFamily="34" charset="0"/>
                <a:ea typeface="Inter Semi Bold" pitchFamily="34" charset="-122"/>
                <a:cs typeface="Inter Semi Bold" pitchFamily="34" charset="-120"/>
              </a:rPr>
              <a:t>(Privacy-Safe)</a:t>
            </a:r>
            <a:endParaRPr lang="en-US" sz="6400" dirty="0"/>
          </a:p>
        </p:txBody>
      </p:sp>
      <p:sp>
        <p:nvSpPr>
          <p:cNvPr id="45" name="Text 23"/>
          <p:cNvSpPr/>
          <p:nvPr/>
        </p:nvSpPr>
        <p:spPr>
          <a:xfrm>
            <a:off x="11914089" y="1524000"/>
            <a:ext cx="7917323" cy="9821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Explore our Clean Rooms &amp; Partnerships for privacy and security while enabling collaboration. </a:t>
            </a:r>
            <a:r>
              <a:rPr lang="en-US" sz="1600" dirty="0">
                <a:solidFill>
                  <a:srgbClr val="D1D1D1">
                    <a:alpha val="100000"/>
                  </a:srgbClr>
                </a:solidFill>
                <a:latin typeface="Inter Regular" pitchFamily="34" charset="0"/>
                <a:ea typeface="Inter Regular" pitchFamily="34" charset="-122"/>
                <a:cs typeface="Inter Regular" pitchFamily="34" charset="-120"/>
              </a:rPr>
              <a:t>Our solutions let organizations work together safely, protecting sensitive data efficiently.</a:t>
            </a:r>
            <a:endParaRPr lang="en-US" sz="1600" dirty="0"/>
          </a:p>
        </p:txBody>
      </p:sp>
      <p:sp>
        <p:nvSpPr>
          <p:cNvPr id="46" name="Text 24"/>
          <p:cNvSpPr/>
          <p:nvPr/>
        </p:nvSpPr>
        <p:spPr>
          <a:xfrm>
            <a:off x="22299754" y="1524000"/>
            <a:ext cx="529233" cy="364067"/>
          </a:xfrm>
          <a:prstGeom prst="rect">
            <a:avLst/>
          </a:prstGeom>
          <a:noFill/>
          <a:ln/>
        </p:spPr>
        <p:txBody>
          <a:bodyPr wrap="square" lIns="0" tIns="0" rIns="0" bIns="0" rtlCol="0" anchor="t"/>
          <a:lstStyle/>
          <a:p>
            <a:pPr marL="0" indent="0" algn="ctr">
              <a:lnSpc>
                <a:spcPts val="2200"/>
              </a:lnSpc>
              <a:buNone/>
            </a:pPr>
            <a:r>
              <a:rPr lang="en-US" sz="2000" dirty="0">
                <a:solidFill>
                  <a:srgbClr val="FFFFFF">
                    <a:alpha val="100000"/>
                  </a:srgbClr>
                </a:solidFill>
                <a:latin typeface="Inter Regular" pitchFamily="34" charset="0"/>
                <a:ea typeface="Inter Regular" pitchFamily="34" charset="-122"/>
                <a:cs typeface="Inter Regular" pitchFamily="34" charset="-120"/>
              </a:rPr>
              <a:t>019</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graphicFrame>
        <p:nvGraphicFramePr>
          <p:cNvPr id="14" name="Chart 13">
            <a:extLst>
              <a:ext uri="{FF2B5EF4-FFF2-40B4-BE49-F238E27FC236}">
                <a16:creationId xmlns:a16="http://schemas.microsoft.com/office/drawing/2014/main" id="{3374EEB9-23EA-4BA8-9E20-9ED820D67D29}"/>
              </a:ext>
            </a:extLst>
          </p:cNvPr>
          <p:cNvGraphicFramePr/>
          <p:nvPr>
            <p:extLst>
              <p:ext uri="{D42A27DB-BD31-4B8C-83A1-F6EECF244321}">
                <p14:modId xmlns:p14="http://schemas.microsoft.com/office/powerpoint/2010/main" val="1826004331"/>
              </p:ext>
            </p:extLst>
          </p:nvPr>
        </p:nvGraphicFramePr>
        <p:xfrm>
          <a:off x="9813196" y="7032030"/>
          <a:ext cx="12614263" cy="5346237"/>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 0"/>
          <p:cNvSpPr/>
          <p:nvPr/>
        </p:nvSpPr>
        <p:spPr>
          <a:xfrm>
            <a:off x="1524191" y="1524000"/>
            <a:ext cx="8069742"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Cost, Scale &amp; TCO Management</a:t>
            </a:r>
            <a:endParaRPr lang="en-US" sz="6400" dirty="0"/>
          </a:p>
        </p:txBody>
      </p:sp>
      <p:sp>
        <p:nvSpPr>
          <p:cNvPr id="3" name="Text 1"/>
          <p:cNvSpPr/>
          <p:nvPr/>
        </p:nvSpPr>
        <p:spPr>
          <a:xfrm>
            <a:off x="11863283" y="1524000"/>
            <a:ext cx="7917323" cy="9821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Understanding Cost and Total Cost of Ownership (TCO) is crucial for businesses to optimize resources. Analyzing expenses related to acquiring and maintaining assets helps organizations make informed decisions that enhance efficiency.</a:t>
            </a:r>
            <a:endParaRPr lang="en-US" sz="1600" dirty="0"/>
          </a:p>
        </p:txBody>
      </p:sp>
      <p:sp>
        <p:nvSpPr>
          <p:cNvPr id="4" name="Text 2"/>
          <p:cNvSpPr/>
          <p:nvPr/>
        </p:nvSpPr>
        <p:spPr>
          <a:xfrm>
            <a:off x="22210843" y="1524000"/>
            <a:ext cx="707055"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2025</a:t>
            </a:r>
            <a:endParaRPr lang="en-US" sz="2000" dirty="0"/>
          </a:p>
        </p:txBody>
      </p:sp>
      <p:sp>
        <p:nvSpPr>
          <p:cNvPr id="5" name="Shape 3"/>
          <p:cNvSpPr/>
          <p:nvPr/>
        </p:nvSpPr>
        <p:spPr>
          <a:xfrm>
            <a:off x="1524191" y="4279900"/>
            <a:ext cx="7379622" cy="7402740"/>
          </a:xfrm>
          <a:prstGeom prst="rect">
            <a:avLst/>
          </a:prstGeom>
          <a:noFill/>
          <a:ln/>
        </p:spPr>
      </p:sp>
      <p:sp>
        <p:nvSpPr>
          <p:cNvPr id="7" name="Text 4"/>
          <p:cNvSpPr/>
          <p:nvPr/>
        </p:nvSpPr>
        <p:spPr>
          <a:xfrm>
            <a:off x="3696162" y="4864100"/>
            <a:ext cx="4233863"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Stream processors, batch jobs, ML scoring.</a:t>
            </a:r>
            <a:endParaRPr lang="en-US" sz="1600" dirty="0"/>
          </a:p>
        </p:txBody>
      </p:sp>
      <p:pic>
        <p:nvPicPr>
          <p:cNvPr id="8" name="Image 1" descr=" "/>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96162" y="4279900"/>
            <a:ext cx="1219352" cy="457200"/>
          </a:xfrm>
          <a:prstGeom prst="rect">
            <a:avLst/>
          </a:prstGeom>
        </p:spPr>
      </p:pic>
      <p:sp>
        <p:nvSpPr>
          <p:cNvPr id="9" name="Text 5"/>
          <p:cNvSpPr/>
          <p:nvPr/>
        </p:nvSpPr>
        <p:spPr>
          <a:xfrm>
            <a:off x="3882452" y="4368800"/>
            <a:ext cx="834071" cy="325967"/>
          </a:xfrm>
          <a:prstGeom prst="rect">
            <a:avLst/>
          </a:prstGeom>
          <a:noFill/>
          <a:ln/>
        </p:spPr>
        <p:txBody>
          <a:bodyPr wrap="square" lIns="0" tIns="0" rIns="0" bIns="0" rtlCol="0" anchor="t"/>
          <a:lstStyle/>
          <a:p>
            <a:pPr marL="0" indent="0" algn="ctr">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Compute</a:t>
            </a:r>
            <a:endParaRPr lang="en-US" sz="1400" dirty="0"/>
          </a:p>
        </p:txBody>
      </p:sp>
      <p:sp>
        <p:nvSpPr>
          <p:cNvPr id="11" name="Text 6"/>
          <p:cNvSpPr/>
          <p:nvPr/>
        </p:nvSpPr>
        <p:spPr>
          <a:xfrm>
            <a:off x="3696162" y="6527800"/>
            <a:ext cx="4665716"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Hot, warm, cold tiers based on access patterns.</a:t>
            </a:r>
            <a:endParaRPr lang="en-US" sz="1600" dirty="0"/>
          </a:p>
        </p:txBody>
      </p:sp>
      <p:sp>
        <p:nvSpPr>
          <p:cNvPr id="12" name="Shape 7"/>
          <p:cNvSpPr/>
          <p:nvPr/>
        </p:nvSpPr>
        <p:spPr>
          <a:xfrm>
            <a:off x="3696162" y="594360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13" name="Text 8"/>
          <p:cNvSpPr/>
          <p:nvPr/>
        </p:nvSpPr>
        <p:spPr>
          <a:xfrm>
            <a:off x="3933258" y="6032500"/>
            <a:ext cx="732458"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Storage</a:t>
            </a:r>
            <a:endParaRPr lang="en-US" sz="1400" dirty="0"/>
          </a:p>
        </p:txBody>
      </p:sp>
      <p:sp>
        <p:nvSpPr>
          <p:cNvPr id="15" name="Text 9"/>
          <p:cNvSpPr/>
          <p:nvPr/>
        </p:nvSpPr>
        <p:spPr>
          <a:xfrm>
            <a:off x="3696162" y="7924800"/>
            <a:ext cx="4068742"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API calls, connectors to external systems.</a:t>
            </a:r>
            <a:endParaRPr lang="en-US" sz="1600" dirty="0"/>
          </a:p>
        </p:txBody>
      </p:sp>
      <p:grpSp>
        <p:nvGrpSpPr>
          <p:cNvPr id="48" name="Group 47">
            <a:extLst>
              <a:ext uri="{FF2B5EF4-FFF2-40B4-BE49-F238E27FC236}">
                <a16:creationId xmlns:a16="http://schemas.microsoft.com/office/drawing/2014/main" id="{4B3D6C18-2396-4AB5-ADB5-79AE22C6BF2F}"/>
              </a:ext>
            </a:extLst>
          </p:cNvPr>
          <p:cNvGrpSpPr/>
          <p:nvPr/>
        </p:nvGrpSpPr>
        <p:grpSpPr>
          <a:xfrm>
            <a:off x="1524190" y="4280437"/>
            <a:ext cx="1901920" cy="7380102"/>
            <a:chOff x="1524190" y="4280437"/>
            <a:chExt cx="1901920" cy="7380102"/>
          </a:xfrm>
        </p:grpSpPr>
        <p:pic>
          <p:nvPicPr>
            <p:cNvPr id="39" name="Graphic 38">
              <a:extLst>
                <a:ext uri="{FF2B5EF4-FFF2-40B4-BE49-F238E27FC236}">
                  <a16:creationId xmlns:a16="http://schemas.microsoft.com/office/drawing/2014/main" id="{D9706DC6-E098-4ACA-AA1C-61BF17A2C6C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33895" y="9780939"/>
              <a:ext cx="1892215" cy="1879600"/>
            </a:xfrm>
            <a:prstGeom prst="rect">
              <a:avLst/>
            </a:prstGeom>
          </p:spPr>
        </p:pic>
        <p:pic>
          <p:nvPicPr>
            <p:cNvPr id="41" name="Graphic 40">
              <a:extLst>
                <a:ext uri="{FF2B5EF4-FFF2-40B4-BE49-F238E27FC236}">
                  <a16:creationId xmlns:a16="http://schemas.microsoft.com/office/drawing/2014/main" id="{EEA735A0-46D2-4BD8-8E3A-B604353EADB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24191" y="5662102"/>
              <a:ext cx="1897417" cy="1897417"/>
            </a:xfrm>
            <a:prstGeom prst="rect">
              <a:avLst/>
            </a:prstGeom>
          </p:spPr>
        </p:pic>
        <p:pic>
          <p:nvPicPr>
            <p:cNvPr id="43" name="Graphic 42">
              <a:extLst>
                <a:ext uri="{FF2B5EF4-FFF2-40B4-BE49-F238E27FC236}">
                  <a16:creationId xmlns:a16="http://schemas.microsoft.com/office/drawing/2014/main" id="{925A56EF-FA6B-47C7-A337-19BF4EAEF49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524191" y="4280437"/>
              <a:ext cx="1897417" cy="1884767"/>
            </a:xfrm>
            <a:prstGeom prst="rect">
              <a:avLst/>
            </a:prstGeom>
          </p:spPr>
        </p:pic>
        <p:pic>
          <p:nvPicPr>
            <p:cNvPr id="47" name="Graphic 46">
              <a:extLst>
                <a:ext uri="{FF2B5EF4-FFF2-40B4-BE49-F238E27FC236}">
                  <a16:creationId xmlns:a16="http://schemas.microsoft.com/office/drawing/2014/main" id="{FB5FFB8E-CC78-4062-9B5C-8AE5D845CB8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24190" y="8413644"/>
              <a:ext cx="1897417" cy="1888306"/>
            </a:xfrm>
            <a:prstGeom prst="rect">
              <a:avLst/>
            </a:prstGeom>
          </p:spPr>
        </p:pic>
        <p:pic>
          <p:nvPicPr>
            <p:cNvPr id="45" name="Graphic 44">
              <a:extLst>
                <a:ext uri="{FF2B5EF4-FFF2-40B4-BE49-F238E27FC236}">
                  <a16:creationId xmlns:a16="http://schemas.microsoft.com/office/drawing/2014/main" id="{B825925B-1D30-4025-AD88-EC45B7CB24E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524191" y="7039878"/>
              <a:ext cx="1897415" cy="1886936"/>
            </a:xfrm>
            <a:prstGeom prst="rect">
              <a:avLst/>
            </a:prstGeom>
          </p:spPr>
        </p:pic>
      </p:grpSp>
      <p:sp>
        <p:nvSpPr>
          <p:cNvPr id="16" name="Shape 10"/>
          <p:cNvSpPr/>
          <p:nvPr/>
        </p:nvSpPr>
        <p:spPr>
          <a:xfrm>
            <a:off x="3696162" y="734060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17" name="Text 11"/>
          <p:cNvSpPr/>
          <p:nvPr/>
        </p:nvSpPr>
        <p:spPr>
          <a:xfrm>
            <a:off x="3984065" y="7429500"/>
            <a:ext cx="630846"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Egress</a:t>
            </a:r>
            <a:endParaRPr lang="en-US" sz="1400" dirty="0"/>
          </a:p>
        </p:txBody>
      </p:sp>
      <p:sp>
        <p:nvSpPr>
          <p:cNvPr id="19" name="Text 12"/>
          <p:cNvSpPr/>
          <p:nvPr/>
        </p:nvSpPr>
        <p:spPr>
          <a:xfrm>
            <a:off x="3696162" y="9309100"/>
            <a:ext cx="5275393"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Third-party tools, ML frameworks, orchestration tools.</a:t>
            </a:r>
            <a:endParaRPr lang="en-US" sz="1600" dirty="0"/>
          </a:p>
        </p:txBody>
      </p:sp>
      <p:sp>
        <p:nvSpPr>
          <p:cNvPr id="20" name="Shape 13"/>
          <p:cNvSpPr/>
          <p:nvPr/>
        </p:nvSpPr>
        <p:spPr>
          <a:xfrm>
            <a:off x="3696162" y="872490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21" name="Text 14"/>
          <p:cNvSpPr/>
          <p:nvPr/>
        </p:nvSpPr>
        <p:spPr>
          <a:xfrm>
            <a:off x="3895154" y="8813800"/>
            <a:ext cx="808668"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Licenses</a:t>
            </a:r>
            <a:endParaRPr lang="en-US" sz="1400" dirty="0"/>
          </a:p>
        </p:txBody>
      </p:sp>
      <p:sp>
        <p:nvSpPr>
          <p:cNvPr id="23" name="Text 15"/>
          <p:cNvSpPr/>
          <p:nvPr/>
        </p:nvSpPr>
        <p:spPr>
          <a:xfrm>
            <a:off x="3696162" y="10680700"/>
            <a:ext cx="4221161" cy="3725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Monitoring, support, engineering overhead.</a:t>
            </a:r>
            <a:endParaRPr lang="en-US" sz="1600" dirty="0"/>
          </a:p>
        </p:txBody>
      </p:sp>
      <p:sp>
        <p:nvSpPr>
          <p:cNvPr id="42" name="Text 2">
            <a:extLst>
              <a:ext uri="{FF2B5EF4-FFF2-40B4-BE49-F238E27FC236}">
                <a16:creationId xmlns:a16="http://schemas.microsoft.com/office/drawing/2014/main" id="{C60B4FBD-FC2E-410F-AC9A-C13E66D859F1}"/>
              </a:ext>
            </a:extLst>
          </p:cNvPr>
          <p:cNvSpPr/>
          <p:nvPr/>
        </p:nvSpPr>
        <p:spPr>
          <a:xfrm>
            <a:off x="17949300" y="5046365"/>
            <a:ext cx="4478160" cy="1752600"/>
          </a:xfrm>
          <a:prstGeom prst="rect">
            <a:avLst/>
          </a:prstGeom>
          <a:noFill/>
          <a:ln/>
        </p:spPr>
        <p:txBody>
          <a:bodyPr wrap="square" lIns="0" tIns="0" rIns="0" bIns="0" rtlCol="0" anchor="t"/>
          <a:lstStyle/>
          <a:p>
            <a:pPr marL="0" indent="0" algn="l">
              <a:lnSpc>
                <a:spcPts val="10560"/>
              </a:lnSpc>
              <a:buNone/>
            </a:pPr>
            <a:r>
              <a:rPr lang="en-US" sz="9600" kern="0" spc="-96" dirty="0">
                <a:gradFill>
                  <a:gsLst>
                    <a:gs pos="52000">
                      <a:srgbClr val="FFB28F"/>
                    </a:gs>
                    <a:gs pos="0">
                      <a:srgbClr val="FF5102"/>
                    </a:gs>
                    <a:gs pos="100000">
                      <a:schemeClr val="bg1">
                        <a:alpha val="7000"/>
                      </a:schemeClr>
                    </a:gs>
                  </a:gsLst>
                  <a:lin ang="5400000" scaled="1"/>
                </a:gradFill>
                <a:latin typeface="Inter Bold" pitchFamily="34" charset="0"/>
                <a:ea typeface="Inter Bold" pitchFamily="34" charset="-122"/>
                <a:cs typeface="Inter Bold" pitchFamily="34" charset="-120"/>
              </a:rPr>
              <a:t>$0.030</a:t>
            </a:r>
            <a:endParaRPr lang="en-US" sz="9600" dirty="0">
              <a:gradFill>
                <a:gsLst>
                  <a:gs pos="52000">
                    <a:srgbClr val="FFB28F"/>
                  </a:gs>
                  <a:gs pos="0">
                    <a:srgbClr val="FF5102"/>
                  </a:gs>
                  <a:gs pos="100000">
                    <a:schemeClr val="bg1">
                      <a:alpha val="7000"/>
                    </a:schemeClr>
                  </a:gs>
                </a:gsLst>
                <a:lin ang="5400000" scaled="1"/>
              </a:gradFill>
            </a:endParaRPr>
          </a:p>
        </p:txBody>
      </p:sp>
      <p:sp>
        <p:nvSpPr>
          <p:cNvPr id="24" name="Shape 16"/>
          <p:cNvSpPr/>
          <p:nvPr/>
        </p:nvSpPr>
        <p:spPr>
          <a:xfrm>
            <a:off x="3696162" y="10096500"/>
            <a:ext cx="1219352" cy="457200"/>
          </a:xfrm>
          <a:prstGeom prst="roundRect">
            <a:avLst>
              <a:gd name="adj" fmla="val 112000"/>
            </a:avLst>
          </a:prstGeom>
          <a:solidFill>
            <a:srgbClr val="FFD4A5">
              <a:alpha val="100000"/>
            </a:srgbClr>
          </a:solidFill>
          <a:ln w="12700">
            <a:solidFill>
              <a:srgbClr val="FF8B32"/>
            </a:solidFill>
            <a:prstDash val="solid"/>
          </a:ln>
        </p:spPr>
      </p:sp>
      <p:sp>
        <p:nvSpPr>
          <p:cNvPr id="25" name="Text 17"/>
          <p:cNvSpPr/>
          <p:nvPr/>
        </p:nvSpPr>
        <p:spPr>
          <a:xfrm>
            <a:off x="4098379" y="10185400"/>
            <a:ext cx="402217" cy="325967"/>
          </a:xfrm>
          <a:prstGeom prst="rect">
            <a:avLst/>
          </a:prstGeom>
          <a:noFill/>
          <a:ln/>
        </p:spPr>
        <p:txBody>
          <a:bodyPr wrap="square" lIns="0" tIns="0" rIns="0" bIns="0" rtlCol="0" anchor="t"/>
          <a:lstStyle/>
          <a:p>
            <a:pPr marL="0" indent="0" algn="ctr">
              <a:lnSpc>
                <a:spcPts val="2100"/>
              </a:lnSpc>
              <a:buNone/>
            </a:pPr>
            <a:r>
              <a:rPr lang="en-US" sz="1400" dirty="0">
                <a:solidFill>
                  <a:srgbClr val="FF5102">
                    <a:alpha val="100000"/>
                  </a:srgbClr>
                </a:solidFill>
                <a:latin typeface="Inter Regular" pitchFamily="34" charset="0"/>
                <a:ea typeface="Inter Regular" pitchFamily="34" charset="-122"/>
                <a:cs typeface="Inter Regular" pitchFamily="34" charset="-120"/>
              </a:rPr>
              <a:t>Ops</a:t>
            </a:r>
            <a:endParaRPr lang="en-US" sz="1400" dirty="0"/>
          </a:p>
        </p:txBody>
      </p:sp>
      <p:sp>
        <p:nvSpPr>
          <p:cNvPr id="26" name="Shape 18"/>
          <p:cNvSpPr/>
          <p:nvPr/>
        </p:nvSpPr>
        <p:spPr>
          <a:xfrm>
            <a:off x="10847156" y="4279900"/>
            <a:ext cx="12015702" cy="7404100"/>
          </a:xfrm>
          <a:prstGeom prst="rect">
            <a:avLst/>
          </a:prstGeom>
          <a:noFill/>
          <a:ln/>
        </p:spPr>
      </p:sp>
      <p:pic>
        <p:nvPicPr>
          <p:cNvPr id="27" name="Image 6"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2314189" y="6934200"/>
            <a:ext cx="12702" cy="3390900"/>
          </a:xfrm>
          <a:prstGeom prst="rect">
            <a:avLst/>
          </a:prstGeom>
        </p:spPr>
      </p:pic>
      <p:pic>
        <p:nvPicPr>
          <p:cNvPr id="28" name="Image 7"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7712364" y="4546600"/>
            <a:ext cx="12702" cy="3251200"/>
          </a:xfrm>
          <a:prstGeom prst="rect">
            <a:avLst/>
          </a:prstGeom>
        </p:spPr>
      </p:pic>
      <p:sp>
        <p:nvSpPr>
          <p:cNvPr id="30" name="Shape 19"/>
          <p:cNvSpPr/>
          <p:nvPr/>
        </p:nvSpPr>
        <p:spPr>
          <a:xfrm>
            <a:off x="17972746" y="4279900"/>
            <a:ext cx="1397175" cy="533400"/>
          </a:xfrm>
          <a:prstGeom prst="roundRect">
            <a:avLst>
              <a:gd name="adj" fmla="val 96000"/>
            </a:avLst>
          </a:prstGeom>
          <a:solidFill>
            <a:srgbClr val="F6F6F6">
              <a:alpha val="100000"/>
            </a:srgbClr>
          </a:solidFill>
          <a:ln w="12700">
            <a:solidFill>
              <a:srgbClr val="D1D1D1"/>
            </a:solidFill>
            <a:prstDash val="solid"/>
          </a:ln>
        </p:spPr>
      </p:sp>
      <p:sp>
        <p:nvSpPr>
          <p:cNvPr id="31" name="Text 20"/>
          <p:cNvSpPr/>
          <p:nvPr/>
        </p:nvSpPr>
        <p:spPr>
          <a:xfrm>
            <a:off x="18353794" y="4381500"/>
            <a:ext cx="690120" cy="372533"/>
          </a:xfrm>
          <a:prstGeom prst="rect">
            <a:avLst/>
          </a:prstGeom>
          <a:noFill/>
          <a:ln/>
        </p:spPr>
        <p:txBody>
          <a:bodyPr wrap="square" lIns="0" tIns="0" rIns="0" bIns="0" rtlCol="0" anchor="t"/>
          <a:lstStyle/>
          <a:p>
            <a:pPr marL="0" indent="0" algn="l">
              <a:lnSpc>
                <a:spcPts val="2400"/>
              </a:lnSpc>
              <a:buNone/>
            </a:pPr>
            <a:r>
              <a:rPr lang="en-US" sz="1600" dirty="0">
                <a:solidFill>
                  <a:srgbClr val="454545">
                    <a:alpha val="100000"/>
                  </a:srgbClr>
                </a:solidFill>
                <a:latin typeface="Inter Regular" pitchFamily="34" charset="0"/>
                <a:ea typeface="Inter Regular" pitchFamily="34" charset="-122"/>
                <a:cs typeface="Inter Regular" pitchFamily="34" charset="-120"/>
              </a:rPr>
              <a:t>Target</a:t>
            </a:r>
            <a:endParaRPr lang="en-US" sz="1600" dirty="0"/>
          </a:p>
        </p:txBody>
      </p:sp>
      <p:sp>
        <p:nvSpPr>
          <p:cNvPr id="32" name="Shape 21"/>
          <p:cNvSpPr/>
          <p:nvPr/>
        </p:nvSpPr>
        <p:spPr>
          <a:xfrm>
            <a:off x="12574572" y="6667500"/>
            <a:ext cx="1308264" cy="533400"/>
          </a:xfrm>
          <a:prstGeom prst="roundRect">
            <a:avLst>
              <a:gd name="adj" fmla="val 96000"/>
            </a:avLst>
          </a:prstGeom>
          <a:solidFill>
            <a:srgbClr val="FF8B32">
              <a:alpha val="100000"/>
            </a:srgbClr>
          </a:solidFill>
          <a:ln w="12700">
            <a:solidFill>
              <a:srgbClr val="FF5102"/>
            </a:solidFill>
            <a:prstDash val="solid"/>
          </a:ln>
        </p:spPr>
      </p:sp>
      <p:sp>
        <p:nvSpPr>
          <p:cNvPr id="33" name="Text 22"/>
          <p:cNvSpPr/>
          <p:nvPr/>
        </p:nvSpPr>
        <p:spPr>
          <a:xfrm>
            <a:off x="12866708" y="6781800"/>
            <a:ext cx="804434"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Current</a:t>
            </a:r>
            <a:endParaRPr lang="en-US" sz="1600" dirty="0"/>
          </a:p>
        </p:txBody>
      </p:sp>
      <p:sp>
        <p:nvSpPr>
          <p:cNvPr id="34" name="Text 23"/>
          <p:cNvSpPr/>
          <p:nvPr/>
        </p:nvSpPr>
        <p:spPr>
          <a:xfrm>
            <a:off x="12574572" y="7327900"/>
            <a:ext cx="4712289" cy="1752600"/>
          </a:xfrm>
          <a:prstGeom prst="rect">
            <a:avLst/>
          </a:prstGeom>
          <a:noFill/>
          <a:ln/>
        </p:spPr>
        <p:txBody>
          <a:bodyPr wrap="square" lIns="0" tIns="0" rIns="0" bIns="0" rtlCol="0" anchor="t"/>
          <a:lstStyle/>
          <a:p>
            <a:pPr marL="0" indent="0" algn="l">
              <a:lnSpc>
                <a:spcPts val="10560"/>
              </a:lnSpc>
              <a:buNone/>
            </a:pPr>
            <a:r>
              <a:rPr lang="en-US" sz="9600" kern="0" spc="-96" dirty="0">
                <a:solidFill>
                  <a:srgbClr val="82260C">
                    <a:alpha val="100000"/>
                  </a:srgbClr>
                </a:solidFill>
                <a:latin typeface="Inter Bold" pitchFamily="34" charset="0"/>
                <a:ea typeface="Inter Bold" pitchFamily="34" charset="-122"/>
                <a:cs typeface="Inter Bold" pitchFamily="34" charset="-120"/>
              </a:rPr>
              <a:t>$0.042</a:t>
            </a:r>
            <a:endParaRPr lang="en-US" sz="9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1879835" y="4381500"/>
            <a:ext cx="228205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Medium" pitchFamily="34" charset="0"/>
                <a:ea typeface="Inter Medium" pitchFamily="34" charset="-122"/>
                <a:cs typeface="Inter Medium" pitchFamily="34" charset="-120"/>
              </a:rPr>
              <a:t>(90/180/365 days)</a:t>
            </a:r>
            <a:endParaRPr lang="en-US" sz="2000" dirty="0"/>
          </a:p>
        </p:txBody>
      </p:sp>
      <p:sp>
        <p:nvSpPr>
          <p:cNvPr id="4" name="Text 1"/>
          <p:cNvSpPr/>
          <p:nvPr/>
        </p:nvSpPr>
        <p:spPr>
          <a:xfrm>
            <a:off x="1981448" y="5295900"/>
            <a:ext cx="61391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0 Day</a:t>
            </a:r>
            <a:endParaRPr lang="en-US" sz="1600" dirty="0"/>
          </a:p>
        </p:txBody>
      </p:sp>
      <p:sp>
        <p:nvSpPr>
          <p:cNvPr id="5" name="Text 2"/>
          <p:cNvSpPr/>
          <p:nvPr/>
        </p:nvSpPr>
        <p:spPr>
          <a:xfrm>
            <a:off x="8294137" y="5295900"/>
            <a:ext cx="84253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90 Days</a:t>
            </a:r>
            <a:endParaRPr lang="en-US" sz="1600" dirty="0"/>
          </a:p>
        </p:txBody>
      </p:sp>
      <p:sp>
        <p:nvSpPr>
          <p:cNvPr id="6" name="Text 3"/>
          <p:cNvSpPr/>
          <p:nvPr/>
        </p:nvSpPr>
        <p:spPr>
          <a:xfrm>
            <a:off x="15178397" y="5295900"/>
            <a:ext cx="93145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180 Days</a:t>
            </a:r>
            <a:endParaRPr lang="en-US" sz="1600" dirty="0"/>
          </a:p>
        </p:txBody>
      </p:sp>
      <p:sp>
        <p:nvSpPr>
          <p:cNvPr id="7" name="Text 4"/>
          <p:cNvSpPr/>
          <p:nvPr/>
        </p:nvSpPr>
        <p:spPr>
          <a:xfrm>
            <a:off x="21618102" y="5295900"/>
            <a:ext cx="96955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365 Days</a:t>
            </a:r>
            <a:endParaRPr lang="en-US" sz="1600" dirty="0"/>
          </a:p>
        </p:txBody>
      </p:sp>
      <p:pic>
        <p:nvPicPr>
          <p:cNvPr id="8"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54532" y="5842000"/>
            <a:ext cx="12702" cy="4953000"/>
          </a:xfrm>
          <a:prstGeom prst="rect">
            <a:avLst/>
          </a:prstGeom>
        </p:spPr>
      </p:pic>
      <p:pic>
        <p:nvPicPr>
          <p:cNvPr id="9" name="Image 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56545" y="5842000"/>
            <a:ext cx="12702" cy="4953000"/>
          </a:xfrm>
          <a:prstGeom prst="rect">
            <a:avLst/>
          </a:prstGeom>
        </p:spPr>
      </p:pic>
      <p:pic>
        <p:nvPicPr>
          <p:cNvPr id="10" name="Image 3"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0735" y="5842000"/>
            <a:ext cx="12702" cy="4953000"/>
          </a:xfrm>
          <a:prstGeom prst="rect">
            <a:avLst/>
          </a:prstGeom>
        </p:spPr>
      </p:pic>
      <p:pic>
        <p:nvPicPr>
          <p:cNvPr id="11" name="Image 4"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43030" y="5842000"/>
            <a:ext cx="12702" cy="4953000"/>
          </a:xfrm>
          <a:prstGeom prst="rect">
            <a:avLst/>
          </a:prstGeom>
        </p:spPr>
      </p:pic>
      <p:pic>
        <p:nvPicPr>
          <p:cNvPr id="12" name="Image 5"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81535" y="5842000"/>
            <a:ext cx="12702" cy="4953000"/>
          </a:xfrm>
          <a:prstGeom prst="rect">
            <a:avLst/>
          </a:prstGeom>
        </p:spPr>
      </p:pic>
      <p:pic>
        <p:nvPicPr>
          <p:cNvPr id="13" name="Image 6"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70846" y="5842000"/>
            <a:ext cx="12702" cy="4953000"/>
          </a:xfrm>
          <a:prstGeom prst="rect">
            <a:avLst/>
          </a:prstGeom>
        </p:spPr>
      </p:pic>
      <p:pic>
        <p:nvPicPr>
          <p:cNvPr id="14" name="Image 7"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71246" y="5842000"/>
            <a:ext cx="12702" cy="4953000"/>
          </a:xfrm>
          <a:prstGeom prst="rect">
            <a:avLst/>
          </a:prstGeom>
        </p:spPr>
      </p:pic>
      <p:pic>
        <p:nvPicPr>
          <p:cNvPr id="15" name="Image 8"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74872" y="5842000"/>
            <a:ext cx="12702" cy="4953000"/>
          </a:xfrm>
          <a:prstGeom prst="rect">
            <a:avLst/>
          </a:prstGeom>
        </p:spPr>
      </p:pic>
      <p:pic>
        <p:nvPicPr>
          <p:cNvPr id="16" name="Image 9"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603900" y="5842000"/>
            <a:ext cx="12702" cy="4953000"/>
          </a:xfrm>
          <a:prstGeom prst="rect">
            <a:avLst/>
          </a:prstGeom>
        </p:spPr>
      </p:pic>
      <p:pic>
        <p:nvPicPr>
          <p:cNvPr id="17" name="Image 1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43605" y="5842000"/>
            <a:ext cx="12702" cy="4953000"/>
          </a:xfrm>
          <a:prstGeom prst="rect">
            <a:avLst/>
          </a:prstGeom>
        </p:spPr>
      </p:pic>
      <p:pic>
        <p:nvPicPr>
          <p:cNvPr id="18" name="Image 1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115389" y="5842000"/>
            <a:ext cx="12702" cy="4953000"/>
          </a:xfrm>
          <a:prstGeom prst="rect">
            <a:avLst/>
          </a:prstGeom>
        </p:spPr>
      </p:pic>
      <p:pic>
        <p:nvPicPr>
          <p:cNvPr id="19" name="Image 1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880910" y="5842000"/>
            <a:ext cx="12702" cy="4953000"/>
          </a:xfrm>
          <a:prstGeom prst="rect">
            <a:avLst/>
          </a:prstGeom>
        </p:spPr>
      </p:pic>
      <p:pic>
        <p:nvPicPr>
          <p:cNvPr id="20" name="Image 13"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532116" y="5842000"/>
            <a:ext cx="12702" cy="4953000"/>
          </a:xfrm>
          <a:prstGeom prst="rect">
            <a:avLst/>
          </a:prstGeom>
        </p:spPr>
      </p:pic>
      <p:pic>
        <p:nvPicPr>
          <p:cNvPr id="21" name="Image 14"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60883" y="5842000"/>
            <a:ext cx="5753819" cy="4267200"/>
          </a:xfrm>
          <a:prstGeom prst="rect">
            <a:avLst/>
          </a:prstGeom>
        </p:spPr>
      </p:pic>
      <p:sp>
        <p:nvSpPr>
          <p:cNvPr id="22" name="Text 5"/>
          <p:cNvSpPr/>
          <p:nvPr/>
        </p:nvSpPr>
        <p:spPr>
          <a:xfrm>
            <a:off x="2514914" y="6096000"/>
            <a:ext cx="117278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Bold" pitchFamily="34" charset="0"/>
                <a:ea typeface="Inter Bold" pitchFamily="34" charset="-122"/>
                <a:cs typeface="Inter Bold" pitchFamily="34" charset="-120"/>
              </a:rPr>
              <a:t>Quick Wins</a:t>
            </a:r>
            <a:endParaRPr lang="en-US" sz="1600" dirty="0"/>
          </a:p>
        </p:txBody>
      </p:sp>
      <p:sp>
        <p:nvSpPr>
          <p:cNvPr id="23" name="Text 6"/>
          <p:cNvSpPr/>
          <p:nvPr/>
        </p:nvSpPr>
        <p:spPr>
          <a:xfrm>
            <a:off x="6757245" y="6096000"/>
            <a:ext cx="107116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0–90 Days</a:t>
            </a:r>
            <a:endParaRPr lang="en-US" sz="1600" dirty="0"/>
          </a:p>
        </p:txBody>
      </p:sp>
      <p:sp>
        <p:nvSpPr>
          <p:cNvPr id="24" name="Text 7"/>
          <p:cNvSpPr/>
          <p:nvPr/>
        </p:nvSpPr>
        <p:spPr>
          <a:xfrm>
            <a:off x="2527616" y="8966200"/>
            <a:ext cx="1278626"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Metrics / KPIs:</a:t>
            </a:r>
            <a:endParaRPr lang="en-US" sz="1400" dirty="0"/>
          </a:p>
        </p:txBody>
      </p:sp>
      <p:sp>
        <p:nvSpPr>
          <p:cNvPr id="25" name="Text 8"/>
          <p:cNvSpPr/>
          <p:nvPr/>
        </p:nvSpPr>
        <p:spPr>
          <a:xfrm>
            <a:off x="2527616" y="7912100"/>
            <a:ext cx="1723182"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Expected Outcome:</a:t>
            </a:r>
            <a:endParaRPr lang="en-US" sz="1400" dirty="0"/>
          </a:p>
        </p:txBody>
      </p:sp>
      <p:sp>
        <p:nvSpPr>
          <p:cNvPr id="26" name="Text 9"/>
          <p:cNvSpPr/>
          <p:nvPr/>
        </p:nvSpPr>
        <p:spPr>
          <a:xfrm>
            <a:off x="2514914" y="6654800"/>
            <a:ext cx="1189715"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Key Activities</a:t>
            </a:r>
            <a:endParaRPr lang="en-US" sz="1400" dirty="0"/>
          </a:p>
        </p:txBody>
      </p:sp>
      <p:sp>
        <p:nvSpPr>
          <p:cNvPr id="27" name="Shape 10"/>
          <p:cNvSpPr/>
          <p:nvPr/>
        </p:nvSpPr>
        <p:spPr>
          <a:xfrm>
            <a:off x="2527616" y="9309100"/>
            <a:ext cx="2044956" cy="533400"/>
          </a:xfrm>
          <a:prstGeom prst="roundRect">
            <a:avLst>
              <a:gd name="adj" fmla="val 96000"/>
            </a:avLst>
          </a:prstGeom>
          <a:solidFill>
            <a:srgbClr val="FFB66D">
              <a:alpha val="100000"/>
            </a:srgbClr>
          </a:solidFill>
          <a:ln w="12700">
            <a:solidFill>
              <a:srgbClr val="FF5102"/>
            </a:solidFill>
            <a:prstDash val="solid"/>
          </a:ln>
        </p:spPr>
      </p:sp>
      <p:sp>
        <p:nvSpPr>
          <p:cNvPr id="28" name="Text 11"/>
          <p:cNvSpPr/>
          <p:nvPr/>
        </p:nvSpPr>
        <p:spPr>
          <a:xfrm>
            <a:off x="2768946" y="9436100"/>
            <a:ext cx="1646973"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 profiles resolved</a:t>
            </a:r>
            <a:endParaRPr lang="en-US" sz="1400" dirty="0"/>
          </a:p>
        </p:txBody>
      </p:sp>
      <p:sp>
        <p:nvSpPr>
          <p:cNvPr id="29" name="Shape 12"/>
          <p:cNvSpPr/>
          <p:nvPr/>
        </p:nvSpPr>
        <p:spPr>
          <a:xfrm>
            <a:off x="2527616" y="8255000"/>
            <a:ext cx="1638505" cy="533400"/>
          </a:xfrm>
          <a:prstGeom prst="roundRect">
            <a:avLst>
              <a:gd name="adj" fmla="val 96000"/>
            </a:avLst>
          </a:prstGeom>
          <a:solidFill>
            <a:srgbClr val="FFB66D">
              <a:alpha val="100000"/>
            </a:srgbClr>
          </a:solidFill>
          <a:ln w="12700">
            <a:solidFill>
              <a:srgbClr val="FF5102"/>
            </a:solidFill>
            <a:prstDash val="solid"/>
          </a:ln>
        </p:spPr>
      </p:sp>
      <p:sp>
        <p:nvSpPr>
          <p:cNvPr id="30" name="Text 13"/>
          <p:cNvSpPr/>
          <p:nvPr/>
        </p:nvSpPr>
        <p:spPr>
          <a:xfrm>
            <a:off x="2768946" y="8382000"/>
            <a:ext cx="1177014"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Early insights</a:t>
            </a:r>
            <a:endParaRPr lang="en-US" sz="1400" dirty="0"/>
          </a:p>
        </p:txBody>
      </p:sp>
      <p:sp>
        <p:nvSpPr>
          <p:cNvPr id="31" name="Shape 14"/>
          <p:cNvSpPr/>
          <p:nvPr/>
        </p:nvSpPr>
        <p:spPr>
          <a:xfrm>
            <a:off x="4216927" y="8255000"/>
            <a:ext cx="1727416" cy="533400"/>
          </a:xfrm>
          <a:prstGeom prst="roundRect">
            <a:avLst>
              <a:gd name="adj" fmla="val 96000"/>
            </a:avLst>
          </a:prstGeom>
          <a:solidFill>
            <a:srgbClr val="FFB66D">
              <a:alpha val="100000"/>
            </a:srgbClr>
          </a:solidFill>
          <a:ln w="12700">
            <a:solidFill>
              <a:srgbClr val="FF5102"/>
            </a:solidFill>
            <a:prstDash val="solid"/>
          </a:ln>
        </p:spPr>
      </p:sp>
      <p:sp>
        <p:nvSpPr>
          <p:cNvPr id="32" name="Text 15"/>
          <p:cNvSpPr/>
          <p:nvPr/>
        </p:nvSpPr>
        <p:spPr>
          <a:xfrm>
            <a:off x="4458257" y="8382000"/>
            <a:ext cx="1367538"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initial activation</a:t>
            </a:r>
            <a:endParaRPr lang="en-US" sz="1400" dirty="0"/>
          </a:p>
        </p:txBody>
      </p:sp>
      <p:sp>
        <p:nvSpPr>
          <p:cNvPr id="33" name="Shape 16"/>
          <p:cNvSpPr/>
          <p:nvPr/>
        </p:nvSpPr>
        <p:spPr>
          <a:xfrm>
            <a:off x="2514914" y="6997700"/>
            <a:ext cx="5233054" cy="736600"/>
          </a:xfrm>
          <a:prstGeom prst="roundRect">
            <a:avLst>
              <a:gd name="adj" fmla="val 13655"/>
            </a:avLst>
          </a:prstGeom>
          <a:solidFill>
            <a:srgbClr val="FFB66D">
              <a:alpha val="100000"/>
            </a:srgbClr>
          </a:solidFill>
          <a:ln w="12700">
            <a:solidFill>
              <a:srgbClr val="FF5102"/>
            </a:solidFill>
            <a:prstDash val="solid"/>
          </a:ln>
        </p:spPr>
      </p:sp>
      <p:sp>
        <p:nvSpPr>
          <p:cNvPr id="34" name="Text 17"/>
          <p:cNvSpPr/>
          <p:nvPr/>
        </p:nvSpPr>
        <p:spPr>
          <a:xfrm>
            <a:off x="2756244" y="7099300"/>
            <a:ext cx="4657249" cy="5926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Ingest top sources, basic ID graph, 3 segments, email activation</a:t>
            </a:r>
            <a:endParaRPr lang="en-US" sz="1400" dirty="0"/>
          </a:p>
        </p:txBody>
      </p:sp>
      <p:sp>
        <p:nvSpPr>
          <p:cNvPr id="35" name="Shape 18"/>
          <p:cNvSpPr/>
          <p:nvPr/>
        </p:nvSpPr>
        <p:spPr>
          <a:xfrm>
            <a:off x="4623378" y="9309100"/>
            <a:ext cx="1384473" cy="533400"/>
          </a:xfrm>
          <a:prstGeom prst="roundRect">
            <a:avLst>
              <a:gd name="adj" fmla="val 96000"/>
            </a:avLst>
          </a:prstGeom>
          <a:solidFill>
            <a:srgbClr val="FFB66D">
              <a:alpha val="100000"/>
            </a:srgbClr>
          </a:solidFill>
          <a:ln w="12700">
            <a:solidFill>
              <a:srgbClr val="FF5102"/>
            </a:solidFill>
            <a:prstDash val="solid"/>
          </a:ln>
        </p:spPr>
      </p:sp>
      <p:sp>
        <p:nvSpPr>
          <p:cNvPr id="36" name="Text 19"/>
          <p:cNvSpPr/>
          <p:nvPr/>
        </p:nvSpPr>
        <p:spPr>
          <a:xfrm>
            <a:off x="4890111" y="9436100"/>
            <a:ext cx="922982"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Email CTR</a:t>
            </a:r>
            <a:endParaRPr lang="en-US" sz="1400" dirty="0"/>
          </a:p>
        </p:txBody>
      </p:sp>
      <p:sp>
        <p:nvSpPr>
          <p:cNvPr id="37" name="Shape 20"/>
          <p:cNvSpPr/>
          <p:nvPr/>
        </p:nvSpPr>
        <p:spPr>
          <a:xfrm>
            <a:off x="6058657" y="9309100"/>
            <a:ext cx="1727416" cy="533400"/>
          </a:xfrm>
          <a:prstGeom prst="roundRect">
            <a:avLst>
              <a:gd name="adj" fmla="val 96000"/>
            </a:avLst>
          </a:prstGeom>
          <a:solidFill>
            <a:srgbClr val="FFB66D">
              <a:alpha val="100000"/>
            </a:srgbClr>
          </a:solidFill>
          <a:ln w="12700">
            <a:solidFill>
              <a:srgbClr val="FF5102"/>
            </a:solidFill>
            <a:prstDash val="solid"/>
          </a:ln>
        </p:spPr>
      </p:sp>
      <p:sp>
        <p:nvSpPr>
          <p:cNvPr id="38" name="Text 21"/>
          <p:cNvSpPr/>
          <p:nvPr/>
        </p:nvSpPr>
        <p:spPr>
          <a:xfrm>
            <a:off x="6299987" y="9436100"/>
            <a:ext cx="1342134"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Segment reach</a:t>
            </a:r>
            <a:endParaRPr lang="en-US" sz="1400" dirty="0"/>
          </a:p>
        </p:txBody>
      </p:sp>
      <p:sp>
        <p:nvSpPr>
          <p:cNvPr id="39" name="Shape 22"/>
          <p:cNvSpPr/>
          <p:nvPr/>
        </p:nvSpPr>
        <p:spPr>
          <a:xfrm>
            <a:off x="9195949" y="5842000"/>
            <a:ext cx="5753819" cy="4267200"/>
          </a:xfrm>
          <a:prstGeom prst="roundRect">
            <a:avLst>
              <a:gd name="adj" fmla="val 4714"/>
            </a:avLst>
          </a:prstGeom>
          <a:solidFill>
            <a:srgbClr val="FF8B32">
              <a:alpha val="100000"/>
            </a:srgbClr>
          </a:solidFill>
          <a:ln w="12700">
            <a:solidFill>
              <a:srgbClr val="FF8B32"/>
            </a:solidFill>
            <a:prstDash val="solid"/>
          </a:ln>
        </p:spPr>
      </p:sp>
      <p:sp>
        <p:nvSpPr>
          <p:cNvPr id="40" name="Text 23"/>
          <p:cNvSpPr/>
          <p:nvPr/>
        </p:nvSpPr>
        <p:spPr>
          <a:xfrm>
            <a:off x="9449981" y="6096000"/>
            <a:ext cx="20872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Bold" pitchFamily="34" charset="0"/>
                <a:ea typeface="Inter Bold" pitchFamily="34" charset="-122"/>
                <a:cs typeface="Inter Bold" pitchFamily="34" charset="-120"/>
              </a:rPr>
              <a:t>Capability Expansion</a:t>
            </a:r>
            <a:endParaRPr lang="en-US" sz="1600" dirty="0"/>
          </a:p>
        </p:txBody>
      </p:sp>
      <p:sp>
        <p:nvSpPr>
          <p:cNvPr id="41" name="Text 24"/>
          <p:cNvSpPr/>
          <p:nvPr/>
        </p:nvSpPr>
        <p:spPr>
          <a:xfrm>
            <a:off x="13476384" y="6096000"/>
            <a:ext cx="127439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90-180 Days</a:t>
            </a:r>
            <a:endParaRPr lang="en-US" sz="1600" dirty="0"/>
          </a:p>
        </p:txBody>
      </p:sp>
      <p:sp>
        <p:nvSpPr>
          <p:cNvPr id="42" name="Text 25"/>
          <p:cNvSpPr/>
          <p:nvPr/>
        </p:nvSpPr>
        <p:spPr>
          <a:xfrm>
            <a:off x="9462683" y="8966200"/>
            <a:ext cx="1278626"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Metrics / KPIs:</a:t>
            </a:r>
            <a:endParaRPr lang="en-US" sz="1400" dirty="0"/>
          </a:p>
        </p:txBody>
      </p:sp>
      <p:sp>
        <p:nvSpPr>
          <p:cNvPr id="43" name="Text 26"/>
          <p:cNvSpPr/>
          <p:nvPr/>
        </p:nvSpPr>
        <p:spPr>
          <a:xfrm>
            <a:off x="9462683" y="7912100"/>
            <a:ext cx="1723182"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Expected Outcome:</a:t>
            </a:r>
            <a:endParaRPr lang="en-US" sz="1400" dirty="0"/>
          </a:p>
        </p:txBody>
      </p:sp>
      <p:sp>
        <p:nvSpPr>
          <p:cNvPr id="44" name="Text 27"/>
          <p:cNvSpPr/>
          <p:nvPr/>
        </p:nvSpPr>
        <p:spPr>
          <a:xfrm>
            <a:off x="9449981" y="6654800"/>
            <a:ext cx="1189715"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Key Activities</a:t>
            </a:r>
            <a:endParaRPr lang="en-US" sz="1400" dirty="0"/>
          </a:p>
        </p:txBody>
      </p:sp>
      <p:sp>
        <p:nvSpPr>
          <p:cNvPr id="45" name="Shape 28"/>
          <p:cNvSpPr/>
          <p:nvPr/>
        </p:nvSpPr>
        <p:spPr>
          <a:xfrm>
            <a:off x="9462683" y="9309100"/>
            <a:ext cx="1702013" cy="533400"/>
          </a:xfrm>
          <a:prstGeom prst="roundRect">
            <a:avLst>
              <a:gd name="adj" fmla="val 96000"/>
            </a:avLst>
          </a:prstGeom>
          <a:solidFill>
            <a:srgbClr val="FFB66D">
              <a:alpha val="100000"/>
            </a:srgbClr>
          </a:solidFill>
          <a:ln w="12700">
            <a:solidFill>
              <a:srgbClr val="FF6A0A"/>
            </a:solidFill>
            <a:prstDash val="solid"/>
          </a:ln>
        </p:spPr>
      </p:sp>
      <p:sp>
        <p:nvSpPr>
          <p:cNvPr id="46" name="Text 29"/>
          <p:cNvSpPr/>
          <p:nvPr/>
        </p:nvSpPr>
        <p:spPr>
          <a:xfrm>
            <a:off x="9704013" y="9436100"/>
            <a:ext cx="1265925"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Lift vs holdout</a:t>
            </a:r>
            <a:endParaRPr lang="en-US" sz="1400" dirty="0"/>
          </a:p>
        </p:txBody>
      </p:sp>
      <p:sp>
        <p:nvSpPr>
          <p:cNvPr id="47" name="Shape 30"/>
          <p:cNvSpPr/>
          <p:nvPr/>
        </p:nvSpPr>
        <p:spPr>
          <a:xfrm>
            <a:off x="9462683" y="8255000"/>
            <a:ext cx="2514914" cy="533400"/>
          </a:xfrm>
          <a:prstGeom prst="roundRect">
            <a:avLst>
              <a:gd name="adj" fmla="val 96000"/>
            </a:avLst>
          </a:prstGeom>
          <a:solidFill>
            <a:srgbClr val="FFB66D">
              <a:alpha val="100000"/>
            </a:srgbClr>
          </a:solidFill>
          <a:ln w="12700">
            <a:solidFill>
              <a:srgbClr val="FF6A0A"/>
            </a:solidFill>
            <a:prstDash val="solid"/>
          </a:ln>
        </p:spPr>
      </p:sp>
      <p:sp>
        <p:nvSpPr>
          <p:cNvPr id="48" name="Text 31"/>
          <p:cNvSpPr/>
          <p:nvPr/>
        </p:nvSpPr>
        <p:spPr>
          <a:xfrm>
            <a:off x="9704013" y="8382000"/>
            <a:ext cx="2104230"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Cross-channel targeting</a:t>
            </a:r>
            <a:endParaRPr lang="en-US" sz="1400" dirty="0"/>
          </a:p>
        </p:txBody>
      </p:sp>
      <p:sp>
        <p:nvSpPr>
          <p:cNvPr id="49" name="Shape 32"/>
          <p:cNvSpPr/>
          <p:nvPr/>
        </p:nvSpPr>
        <p:spPr>
          <a:xfrm>
            <a:off x="12028403" y="8255000"/>
            <a:ext cx="2146568" cy="533400"/>
          </a:xfrm>
          <a:prstGeom prst="roundRect">
            <a:avLst>
              <a:gd name="adj" fmla="val 96000"/>
            </a:avLst>
          </a:prstGeom>
          <a:solidFill>
            <a:srgbClr val="FFB66D">
              <a:alpha val="100000"/>
            </a:srgbClr>
          </a:solidFill>
          <a:ln w="12700">
            <a:solidFill>
              <a:srgbClr val="FF6A0A"/>
            </a:solidFill>
            <a:prstDash val="solid"/>
          </a:ln>
        </p:spPr>
      </p:sp>
      <p:sp>
        <p:nvSpPr>
          <p:cNvPr id="50" name="Text 33"/>
          <p:cNvSpPr/>
          <p:nvPr/>
        </p:nvSpPr>
        <p:spPr>
          <a:xfrm>
            <a:off x="12269734" y="8382000"/>
            <a:ext cx="1786690"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real-time campaigns</a:t>
            </a:r>
            <a:endParaRPr lang="en-US" sz="1400" dirty="0"/>
          </a:p>
        </p:txBody>
      </p:sp>
      <p:sp>
        <p:nvSpPr>
          <p:cNvPr id="51" name="Shape 34"/>
          <p:cNvSpPr/>
          <p:nvPr/>
        </p:nvSpPr>
        <p:spPr>
          <a:xfrm>
            <a:off x="9449981" y="6997700"/>
            <a:ext cx="5233054" cy="736600"/>
          </a:xfrm>
          <a:prstGeom prst="roundRect">
            <a:avLst>
              <a:gd name="adj" fmla="val 13655"/>
            </a:avLst>
          </a:prstGeom>
          <a:solidFill>
            <a:srgbClr val="FFB66D">
              <a:alpha val="100000"/>
            </a:srgbClr>
          </a:solidFill>
          <a:ln w="12700">
            <a:solidFill>
              <a:srgbClr val="FF6A0A"/>
            </a:solidFill>
            <a:prstDash val="solid"/>
          </a:ln>
        </p:spPr>
      </p:sp>
      <p:sp>
        <p:nvSpPr>
          <p:cNvPr id="52" name="Text 35"/>
          <p:cNvSpPr/>
          <p:nvPr/>
        </p:nvSpPr>
        <p:spPr>
          <a:xfrm>
            <a:off x="9691311" y="7099300"/>
            <a:ext cx="4657249" cy="5926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RT lane, propensity model v1, paid media sync, clean-room test</a:t>
            </a:r>
            <a:endParaRPr lang="en-US" sz="1400" dirty="0"/>
          </a:p>
        </p:txBody>
      </p:sp>
      <p:sp>
        <p:nvSpPr>
          <p:cNvPr id="53" name="Shape 36"/>
          <p:cNvSpPr/>
          <p:nvPr/>
        </p:nvSpPr>
        <p:spPr>
          <a:xfrm>
            <a:off x="11215502" y="9309100"/>
            <a:ext cx="1511489" cy="533400"/>
          </a:xfrm>
          <a:prstGeom prst="roundRect">
            <a:avLst>
              <a:gd name="adj" fmla="val 96000"/>
            </a:avLst>
          </a:prstGeom>
          <a:solidFill>
            <a:srgbClr val="FFB66D">
              <a:alpha val="100000"/>
            </a:srgbClr>
          </a:solidFill>
          <a:ln w="12700">
            <a:solidFill>
              <a:srgbClr val="FF6A0A"/>
            </a:solidFill>
            <a:prstDash val="solid"/>
          </a:ln>
        </p:spPr>
      </p:sp>
      <p:sp>
        <p:nvSpPr>
          <p:cNvPr id="54" name="Text 37"/>
          <p:cNvSpPr/>
          <p:nvPr/>
        </p:nvSpPr>
        <p:spPr>
          <a:xfrm>
            <a:off x="11482235" y="9436100"/>
            <a:ext cx="1011893"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model AUC</a:t>
            </a:r>
            <a:endParaRPr lang="en-US" sz="1400" dirty="0"/>
          </a:p>
        </p:txBody>
      </p:sp>
      <p:sp>
        <p:nvSpPr>
          <p:cNvPr id="55" name="Shape 38"/>
          <p:cNvSpPr/>
          <p:nvPr/>
        </p:nvSpPr>
        <p:spPr>
          <a:xfrm>
            <a:off x="12777797" y="9309100"/>
            <a:ext cx="1803625" cy="533400"/>
          </a:xfrm>
          <a:prstGeom prst="roundRect">
            <a:avLst>
              <a:gd name="adj" fmla="val 96000"/>
            </a:avLst>
          </a:prstGeom>
          <a:solidFill>
            <a:srgbClr val="FFB66D">
              <a:alpha val="100000"/>
            </a:srgbClr>
          </a:solidFill>
          <a:ln w="12700">
            <a:solidFill>
              <a:srgbClr val="FF6A0A"/>
            </a:solidFill>
            <a:prstDash val="solid"/>
          </a:ln>
        </p:spPr>
      </p:sp>
      <p:sp>
        <p:nvSpPr>
          <p:cNvPr id="56" name="Text 39"/>
          <p:cNvSpPr/>
          <p:nvPr/>
        </p:nvSpPr>
        <p:spPr>
          <a:xfrm>
            <a:off x="12981022" y="9436100"/>
            <a:ext cx="1456449"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spend efficiency</a:t>
            </a:r>
            <a:endParaRPr lang="en-US" sz="1400" dirty="0"/>
          </a:p>
        </p:txBody>
      </p:sp>
      <p:sp>
        <p:nvSpPr>
          <p:cNvPr id="57" name="Shape 40"/>
          <p:cNvSpPr/>
          <p:nvPr/>
        </p:nvSpPr>
        <p:spPr>
          <a:xfrm>
            <a:off x="16131016" y="5842000"/>
            <a:ext cx="5753819" cy="4267200"/>
          </a:xfrm>
          <a:prstGeom prst="roundRect">
            <a:avLst>
              <a:gd name="adj" fmla="val 4714"/>
            </a:avLst>
          </a:prstGeom>
          <a:solidFill>
            <a:srgbClr val="F6F6F6">
              <a:alpha val="100000"/>
            </a:srgbClr>
          </a:solidFill>
          <a:ln w="12700">
            <a:solidFill>
              <a:srgbClr val="D1D1D1"/>
            </a:solidFill>
            <a:prstDash val="solid"/>
          </a:ln>
        </p:spPr>
      </p:sp>
      <p:sp>
        <p:nvSpPr>
          <p:cNvPr id="58" name="Text 41"/>
          <p:cNvSpPr/>
          <p:nvPr/>
        </p:nvSpPr>
        <p:spPr>
          <a:xfrm>
            <a:off x="16385048" y="6096000"/>
            <a:ext cx="126169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Bold" pitchFamily="34" charset="0"/>
                <a:ea typeface="Inter Bold" pitchFamily="34" charset="-122"/>
                <a:cs typeface="Inter Bold" pitchFamily="34" charset="-120"/>
              </a:rPr>
              <a:t>Full Maturity</a:t>
            </a:r>
            <a:endParaRPr lang="en-US" sz="1600" dirty="0"/>
          </a:p>
        </p:txBody>
      </p:sp>
      <p:sp>
        <p:nvSpPr>
          <p:cNvPr id="59" name="Text 42"/>
          <p:cNvSpPr/>
          <p:nvPr/>
        </p:nvSpPr>
        <p:spPr>
          <a:xfrm>
            <a:off x="20297137" y="6096000"/>
            <a:ext cx="140140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180-365 Days</a:t>
            </a:r>
            <a:endParaRPr lang="en-US" sz="1600" dirty="0"/>
          </a:p>
        </p:txBody>
      </p:sp>
      <p:sp>
        <p:nvSpPr>
          <p:cNvPr id="60" name="Text 43"/>
          <p:cNvSpPr/>
          <p:nvPr/>
        </p:nvSpPr>
        <p:spPr>
          <a:xfrm>
            <a:off x="16397749" y="8966200"/>
            <a:ext cx="1278626" cy="3259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Metrics / KPIs:</a:t>
            </a:r>
            <a:endParaRPr lang="en-US" sz="1400" dirty="0"/>
          </a:p>
        </p:txBody>
      </p:sp>
      <p:sp>
        <p:nvSpPr>
          <p:cNvPr id="61" name="Text 44"/>
          <p:cNvSpPr/>
          <p:nvPr/>
        </p:nvSpPr>
        <p:spPr>
          <a:xfrm>
            <a:off x="16397749" y="7912100"/>
            <a:ext cx="1723182" cy="3259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Expected Outcome:</a:t>
            </a:r>
            <a:endParaRPr lang="en-US" sz="1400" dirty="0"/>
          </a:p>
        </p:txBody>
      </p:sp>
      <p:sp>
        <p:nvSpPr>
          <p:cNvPr id="62" name="Text 45"/>
          <p:cNvSpPr/>
          <p:nvPr/>
        </p:nvSpPr>
        <p:spPr>
          <a:xfrm>
            <a:off x="16385048" y="6654800"/>
            <a:ext cx="1189715" cy="3259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Key Activities</a:t>
            </a:r>
            <a:endParaRPr lang="en-US" sz="1400" dirty="0"/>
          </a:p>
        </p:txBody>
      </p:sp>
      <p:sp>
        <p:nvSpPr>
          <p:cNvPr id="63" name="Shape 46"/>
          <p:cNvSpPr/>
          <p:nvPr/>
        </p:nvSpPr>
        <p:spPr>
          <a:xfrm>
            <a:off x="16397749" y="9309100"/>
            <a:ext cx="1219352" cy="533400"/>
          </a:xfrm>
          <a:prstGeom prst="roundRect">
            <a:avLst>
              <a:gd name="adj" fmla="val 61714"/>
            </a:avLst>
          </a:prstGeom>
          <a:solidFill>
            <a:srgbClr val="F6F6F6">
              <a:alpha val="100000"/>
            </a:srgbClr>
          </a:solidFill>
          <a:ln w="12700">
            <a:solidFill>
              <a:srgbClr val="D1D1D1"/>
            </a:solidFill>
            <a:prstDash val="solid"/>
          </a:ln>
        </p:spPr>
      </p:sp>
      <p:sp>
        <p:nvSpPr>
          <p:cNvPr id="64" name="Text 47"/>
          <p:cNvSpPr/>
          <p:nvPr/>
        </p:nvSpPr>
        <p:spPr>
          <a:xfrm>
            <a:off x="16639080" y="9436100"/>
            <a:ext cx="783265" cy="3259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Revenue</a:t>
            </a:r>
            <a:endParaRPr lang="en-US" sz="1400" dirty="0"/>
          </a:p>
        </p:txBody>
      </p:sp>
      <p:sp>
        <p:nvSpPr>
          <p:cNvPr id="65" name="Shape 48"/>
          <p:cNvSpPr/>
          <p:nvPr/>
        </p:nvSpPr>
        <p:spPr>
          <a:xfrm>
            <a:off x="16397749" y="8255000"/>
            <a:ext cx="4343943" cy="533400"/>
          </a:xfrm>
          <a:prstGeom prst="roundRect">
            <a:avLst>
              <a:gd name="adj" fmla="val 61714"/>
            </a:avLst>
          </a:prstGeom>
          <a:solidFill>
            <a:srgbClr val="F6F6F6">
              <a:alpha val="100000"/>
            </a:srgbClr>
          </a:solidFill>
          <a:ln w="12700">
            <a:solidFill>
              <a:srgbClr val="D1D1D1"/>
            </a:solidFill>
            <a:prstDash val="solid"/>
          </a:ln>
        </p:spPr>
      </p:sp>
      <p:sp>
        <p:nvSpPr>
          <p:cNvPr id="66" name="Text 49"/>
          <p:cNvSpPr/>
          <p:nvPr/>
        </p:nvSpPr>
        <p:spPr>
          <a:xfrm>
            <a:off x="16639080" y="8382000"/>
            <a:ext cx="3971363" cy="325967"/>
          </a:xfrm>
          <a:prstGeom prst="rect">
            <a:avLst/>
          </a:prstGeom>
          <a:noFill/>
          <a:ln/>
        </p:spPr>
        <p:txBody>
          <a:bodyPr wrap="square" lIns="0" tIns="0" rIns="0" bIns="0" rtlCol="0" anchor="t"/>
          <a:lstStyle/>
          <a:p>
            <a:pPr marL="0" indent="0" algn="l">
              <a:lnSpc>
                <a:spcPts val="2100"/>
              </a:lnSpc>
              <a:buNone/>
            </a:pPr>
            <a:r>
              <a:rPr lang="en-US" sz="1400" dirty="0">
                <a:solidFill>
                  <a:srgbClr val="454545">
                    <a:alpha val="100000"/>
                  </a:srgbClr>
                </a:solidFill>
                <a:latin typeface="Inter Regular" pitchFamily="34" charset="0"/>
                <a:ea typeface="Inter Regular" pitchFamily="34" charset="-122"/>
                <a:cs typeface="Inter Regular" pitchFamily="34" charset="-120"/>
              </a:rPr>
              <a:t>Mature CDP with cost efficiency &amp; governance</a:t>
            </a:r>
            <a:endParaRPr lang="en-US" sz="1400" dirty="0"/>
          </a:p>
        </p:txBody>
      </p:sp>
      <p:sp>
        <p:nvSpPr>
          <p:cNvPr id="67" name="Shape 50"/>
          <p:cNvSpPr/>
          <p:nvPr/>
        </p:nvSpPr>
        <p:spPr>
          <a:xfrm>
            <a:off x="16385048" y="6997700"/>
            <a:ext cx="5233054" cy="736600"/>
          </a:xfrm>
          <a:prstGeom prst="roundRect">
            <a:avLst>
              <a:gd name="adj" fmla="val 13655"/>
            </a:avLst>
          </a:prstGeom>
          <a:solidFill>
            <a:srgbClr val="F6F6F6">
              <a:alpha val="100000"/>
            </a:srgbClr>
          </a:solidFill>
          <a:ln w="12700">
            <a:solidFill>
              <a:srgbClr val="D1D1D1"/>
            </a:solidFill>
            <a:prstDash val="solid"/>
          </a:ln>
        </p:spPr>
      </p:sp>
      <p:sp>
        <p:nvSpPr>
          <p:cNvPr id="68" name="Text 51"/>
          <p:cNvSpPr/>
          <p:nvPr/>
        </p:nvSpPr>
        <p:spPr>
          <a:xfrm>
            <a:off x="16626378" y="7099300"/>
            <a:ext cx="4657249" cy="592667"/>
          </a:xfrm>
          <a:prstGeom prst="rect">
            <a:avLst/>
          </a:prstGeom>
          <a:noFill/>
          <a:ln/>
        </p:spPr>
        <p:txBody>
          <a:bodyPr wrap="square" lIns="0" tIns="0" rIns="0" bIns="0" rtlCol="0" anchor="t"/>
          <a:lstStyle/>
          <a:p>
            <a:pPr marL="0" indent="0" algn="l">
              <a:lnSpc>
                <a:spcPts val="2100"/>
              </a:lnSpc>
              <a:buNone/>
            </a:pPr>
            <a:r>
              <a:rPr lang="en-US" sz="1400" dirty="0">
                <a:solidFill>
                  <a:srgbClr val="454545">
                    <a:alpha val="100000"/>
                  </a:srgbClr>
                </a:solidFill>
                <a:latin typeface="Inter Regular" pitchFamily="34" charset="0"/>
                <a:ea typeface="Inter Regular" pitchFamily="34" charset="-122"/>
                <a:cs typeface="Inter Regular" pitchFamily="34" charset="-120"/>
              </a:rPr>
              <a:t>Full catalog/lineage, MMM+MTA, orchestration, cost tuning</a:t>
            </a:r>
            <a:endParaRPr lang="en-US" sz="1400" dirty="0"/>
          </a:p>
        </p:txBody>
      </p:sp>
      <p:sp>
        <p:nvSpPr>
          <p:cNvPr id="69" name="Shape 52"/>
          <p:cNvSpPr/>
          <p:nvPr/>
        </p:nvSpPr>
        <p:spPr>
          <a:xfrm>
            <a:off x="17667908" y="9309100"/>
            <a:ext cx="2006851" cy="533400"/>
          </a:xfrm>
          <a:prstGeom prst="roundRect">
            <a:avLst>
              <a:gd name="adj" fmla="val 61714"/>
            </a:avLst>
          </a:prstGeom>
          <a:solidFill>
            <a:srgbClr val="F6F6F6">
              <a:alpha val="100000"/>
            </a:srgbClr>
          </a:solidFill>
          <a:ln w="12700">
            <a:solidFill>
              <a:srgbClr val="D1D1D1"/>
            </a:solidFill>
            <a:prstDash val="solid"/>
          </a:ln>
        </p:spPr>
      </p:sp>
      <p:sp>
        <p:nvSpPr>
          <p:cNvPr id="70" name="Text 53"/>
          <p:cNvSpPr/>
          <p:nvPr/>
        </p:nvSpPr>
        <p:spPr>
          <a:xfrm>
            <a:off x="17896537" y="9436100"/>
            <a:ext cx="1596166" cy="3259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cost per 1k events</a:t>
            </a:r>
            <a:endParaRPr lang="en-US" sz="1400" dirty="0"/>
          </a:p>
        </p:txBody>
      </p:sp>
      <p:sp>
        <p:nvSpPr>
          <p:cNvPr id="71" name="Shape 54"/>
          <p:cNvSpPr/>
          <p:nvPr/>
        </p:nvSpPr>
        <p:spPr>
          <a:xfrm>
            <a:off x="19725565" y="9309100"/>
            <a:ext cx="1320965" cy="533400"/>
          </a:xfrm>
          <a:prstGeom prst="roundRect">
            <a:avLst>
              <a:gd name="adj" fmla="val 48000"/>
            </a:avLst>
          </a:prstGeom>
          <a:solidFill>
            <a:srgbClr val="F6F6F6">
              <a:alpha val="100000"/>
            </a:srgbClr>
          </a:solidFill>
          <a:ln w="12700">
            <a:solidFill>
              <a:srgbClr val="D1D1D1"/>
            </a:solidFill>
            <a:prstDash val="solid"/>
          </a:ln>
        </p:spPr>
      </p:sp>
      <p:sp>
        <p:nvSpPr>
          <p:cNvPr id="72" name="Text 55"/>
          <p:cNvSpPr/>
          <p:nvPr/>
        </p:nvSpPr>
        <p:spPr>
          <a:xfrm>
            <a:off x="19966896" y="9436100"/>
            <a:ext cx="884877" cy="3259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activation</a:t>
            </a:r>
            <a:endParaRPr lang="en-US" sz="1400" dirty="0"/>
          </a:p>
        </p:txBody>
      </p:sp>
      <p:sp>
        <p:nvSpPr>
          <p:cNvPr id="73" name="Text 56"/>
          <p:cNvSpPr/>
          <p:nvPr/>
        </p:nvSpPr>
        <p:spPr>
          <a:xfrm>
            <a:off x="1879835" y="4381500"/>
            <a:ext cx="228205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6D6D6D">
                    <a:alpha val="100000"/>
                  </a:srgbClr>
                </a:solidFill>
                <a:latin typeface="Inter Medium" pitchFamily="34" charset="0"/>
                <a:ea typeface="Inter Medium" pitchFamily="34" charset="-122"/>
                <a:cs typeface="Inter Medium" pitchFamily="34" charset="-120"/>
              </a:rPr>
              <a:t>(90/180/365 days)</a:t>
            </a:r>
            <a:endParaRPr lang="en-US" sz="2000" dirty="0"/>
          </a:p>
        </p:txBody>
      </p:sp>
      <p:sp>
        <p:nvSpPr>
          <p:cNvPr id="74" name="Text 57"/>
          <p:cNvSpPr/>
          <p:nvPr/>
        </p:nvSpPr>
        <p:spPr>
          <a:xfrm>
            <a:off x="1981448" y="5295900"/>
            <a:ext cx="61391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0 Day</a:t>
            </a:r>
            <a:endParaRPr lang="en-US" sz="1600" dirty="0"/>
          </a:p>
        </p:txBody>
      </p:sp>
      <p:sp>
        <p:nvSpPr>
          <p:cNvPr id="75" name="Text 58"/>
          <p:cNvSpPr/>
          <p:nvPr/>
        </p:nvSpPr>
        <p:spPr>
          <a:xfrm>
            <a:off x="8294137" y="5295900"/>
            <a:ext cx="84253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90 Days</a:t>
            </a:r>
            <a:endParaRPr lang="en-US" sz="1600" dirty="0"/>
          </a:p>
        </p:txBody>
      </p:sp>
      <p:sp>
        <p:nvSpPr>
          <p:cNvPr id="76" name="Text 59"/>
          <p:cNvSpPr/>
          <p:nvPr/>
        </p:nvSpPr>
        <p:spPr>
          <a:xfrm>
            <a:off x="15178397" y="5295900"/>
            <a:ext cx="93145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180 Days</a:t>
            </a:r>
            <a:endParaRPr lang="en-US" sz="1600" dirty="0"/>
          </a:p>
        </p:txBody>
      </p:sp>
      <p:sp>
        <p:nvSpPr>
          <p:cNvPr id="77" name="Text 60"/>
          <p:cNvSpPr/>
          <p:nvPr/>
        </p:nvSpPr>
        <p:spPr>
          <a:xfrm>
            <a:off x="21618102" y="5295900"/>
            <a:ext cx="96955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365 Days</a:t>
            </a:r>
            <a:endParaRPr lang="en-US" sz="1600" dirty="0"/>
          </a:p>
        </p:txBody>
      </p:sp>
      <p:pic>
        <p:nvPicPr>
          <p:cNvPr id="78" name="Image 15"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54532" y="5842000"/>
            <a:ext cx="12702" cy="4953000"/>
          </a:xfrm>
          <a:prstGeom prst="rect">
            <a:avLst/>
          </a:prstGeom>
        </p:spPr>
      </p:pic>
      <p:pic>
        <p:nvPicPr>
          <p:cNvPr id="79" name="Image 16"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56545" y="5842000"/>
            <a:ext cx="12702" cy="4953000"/>
          </a:xfrm>
          <a:prstGeom prst="rect">
            <a:avLst/>
          </a:prstGeom>
        </p:spPr>
      </p:pic>
      <p:pic>
        <p:nvPicPr>
          <p:cNvPr id="80" name="Image 17"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0735" y="5842000"/>
            <a:ext cx="12702" cy="4953000"/>
          </a:xfrm>
          <a:prstGeom prst="rect">
            <a:avLst/>
          </a:prstGeom>
        </p:spPr>
      </p:pic>
      <p:pic>
        <p:nvPicPr>
          <p:cNvPr id="81" name="Image 18"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43030" y="5842000"/>
            <a:ext cx="12702" cy="4953000"/>
          </a:xfrm>
          <a:prstGeom prst="rect">
            <a:avLst/>
          </a:prstGeom>
        </p:spPr>
      </p:pic>
      <p:pic>
        <p:nvPicPr>
          <p:cNvPr id="82" name="Image 19"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81535" y="5842000"/>
            <a:ext cx="12702" cy="4953000"/>
          </a:xfrm>
          <a:prstGeom prst="rect">
            <a:avLst/>
          </a:prstGeom>
        </p:spPr>
      </p:pic>
      <p:pic>
        <p:nvPicPr>
          <p:cNvPr id="83" name="Image 2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70846" y="5842000"/>
            <a:ext cx="12702" cy="4953000"/>
          </a:xfrm>
          <a:prstGeom prst="rect">
            <a:avLst/>
          </a:prstGeom>
        </p:spPr>
      </p:pic>
      <p:pic>
        <p:nvPicPr>
          <p:cNvPr id="84" name="Image 2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71246" y="5842000"/>
            <a:ext cx="12702" cy="4953000"/>
          </a:xfrm>
          <a:prstGeom prst="rect">
            <a:avLst/>
          </a:prstGeom>
        </p:spPr>
      </p:pic>
      <p:pic>
        <p:nvPicPr>
          <p:cNvPr id="85" name="Image 2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74872" y="5842000"/>
            <a:ext cx="12702" cy="4953000"/>
          </a:xfrm>
          <a:prstGeom prst="rect">
            <a:avLst/>
          </a:prstGeom>
        </p:spPr>
      </p:pic>
      <p:pic>
        <p:nvPicPr>
          <p:cNvPr id="86" name="Image 23"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603900" y="5842000"/>
            <a:ext cx="12702" cy="4953000"/>
          </a:xfrm>
          <a:prstGeom prst="rect">
            <a:avLst/>
          </a:prstGeom>
        </p:spPr>
      </p:pic>
      <p:pic>
        <p:nvPicPr>
          <p:cNvPr id="87" name="Image 24"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43605" y="5842000"/>
            <a:ext cx="12702" cy="4953000"/>
          </a:xfrm>
          <a:prstGeom prst="rect">
            <a:avLst/>
          </a:prstGeom>
        </p:spPr>
      </p:pic>
      <p:pic>
        <p:nvPicPr>
          <p:cNvPr id="88" name="Image 25"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115389" y="5842000"/>
            <a:ext cx="12702" cy="4953000"/>
          </a:xfrm>
          <a:prstGeom prst="rect">
            <a:avLst/>
          </a:prstGeom>
        </p:spPr>
      </p:pic>
      <p:pic>
        <p:nvPicPr>
          <p:cNvPr id="89" name="Image 26"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880910" y="5842000"/>
            <a:ext cx="12702" cy="4953000"/>
          </a:xfrm>
          <a:prstGeom prst="rect">
            <a:avLst/>
          </a:prstGeom>
        </p:spPr>
      </p:pic>
      <p:pic>
        <p:nvPicPr>
          <p:cNvPr id="90" name="Image 27"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532116" y="5842000"/>
            <a:ext cx="12702" cy="4953000"/>
          </a:xfrm>
          <a:prstGeom prst="rect">
            <a:avLst/>
          </a:prstGeom>
        </p:spPr>
      </p:pic>
      <p:pic>
        <p:nvPicPr>
          <p:cNvPr id="91" name="Image 28" descr=" "/>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2260883" y="5842000"/>
            <a:ext cx="5753819" cy="4267200"/>
          </a:xfrm>
          <a:prstGeom prst="rect">
            <a:avLst/>
          </a:prstGeom>
        </p:spPr>
      </p:pic>
      <p:sp>
        <p:nvSpPr>
          <p:cNvPr id="92" name="Text 61"/>
          <p:cNvSpPr/>
          <p:nvPr/>
        </p:nvSpPr>
        <p:spPr>
          <a:xfrm>
            <a:off x="2514914" y="6096000"/>
            <a:ext cx="117278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Bold" pitchFamily="34" charset="0"/>
                <a:ea typeface="Inter Bold" pitchFamily="34" charset="-122"/>
                <a:cs typeface="Inter Bold" pitchFamily="34" charset="-120"/>
              </a:rPr>
              <a:t>Quick Wins</a:t>
            </a:r>
            <a:endParaRPr lang="en-US" sz="1600" dirty="0"/>
          </a:p>
        </p:txBody>
      </p:sp>
      <p:sp>
        <p:nvSpPr>
          <p:cNvPr id="93" name="Text 62"/>
          <p:cNvSpPr/>
          <p:nvPr/>
        </p:nvSpPr>
        <p:spPr>
          <a:xfrm>
            <a:off x="6757245" y="6096000"/>
            <a:ext cx="107116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0–90 Days</a:t>
            </a:r>
            <a:endParaRPr lang="en-US" sz="1600" dirty="0"/>
          </a:p>
        </p:txBody>
      </p:sp>
      <p:sp>
        <p:nvSpPr>
          <p:cNvPr id="94" name="Text 63"/>
          <p:cNvSpPr/>
          <p:nvPr/>
        </p:nvSpPr>
        <p:spPr>
          <a:xfrm>
            <a:off x="2527616" y="8966200"/>
            <a:ext cx="1278626"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Metrics / KPIs:</a:t>
            </a:r>
            <a:endParaRPr lang="en-US" sz="1400" dirty="0"/>
          </a:p>
        </p:txBody>
      </p:sp>
      <p:sp>
        <p:nvSpPr>
          <p:cNvPr id="95" name="Text 64"/>
          <p:cNvSpPr/>
          <p:nvPr/>
        </p:nvSpPr>
        <p:spPr>
          <a:xfrm>
            <a:off x="2527616" y="7912100"/>
            <a:ext cx="1723182"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Expected Outcome:</a:t>
            </a:r>
            <a:endParaRPr lang="en-US" sz="1400" dirty="0"/>
          </a:p>
        </p:txBody>
      </p:sp>
      <p:sp>
        <p:nvSpPr>
          <p:cNvPr id="96" name="Text 65"/>
          <p:cNvSpPr/>
          <p:nvPr/>
        </p:nvSpPr>
        <p:spPr>
          <a:xfrm>
            <a:off x="2514914" y="6654800"/>
            <a:ext cx="1189715"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Key Activities</a:t>
            </a:r>
            <a:endParaRPr lang="en-US" sz="1400" dirty="0"/>
          </a:p>
        </p:txBody>
      </p:sp>
      <p:sp>
        <p:nvSpPr>
          <p:cNvPr id="97" name="Shape 66"/>
          <p:cNvSpPr/>
          <p:nvPr/>
        </p:nvSpPr>
        <p:spPr>
          <a:xfrm>
            <a:off x="2527616" y="9309100"/>
            <a:ext cx="2044956" cy="533400"/>
          </a:xfrm>
          <a:prstGeom prst="roundRect">
            <a:avLst>
              <a:gd name="adj" fmla="val 96000"/>
            </a:avLst>
          </a:prstGeom>
          <a:solidFill>
            <a:srgbClr val="FFB66D">
              <a:alpha val="100000"/>
            </a:srgbClr>
          </a:solidFill>
          <a:ln w="12700">
            <a:solidFill>
              <a:srgbClr val="FF5102"/>
            </a:solidFill>
            <a:prstDash val="solid"/>
          </a:ln>
        </p:spPr>
      </p:sp>
      <p:sp>
        <p:nvSpPr>
          <p:cNvPr id="98" name="Text 67"/>
          <p:cNvSpPr/>
          <p:nvPr/>
        </p:nvSpPr>
        <p:spPr>
          <a:xfrm>
            <a:off x="2768946" y="9436100"/>
            <a:ext cx="1646973"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 profiles resolved</a:t>
            </a:r>
            <a:endParaRPr lang="en-US" sz="1400" dirty="0"/>
          </a:p>
        </p:txBody>
      </p:sp>
      <p:sp>
        <p:nvSpPr>
          <p:cNvPr id="99" name="Shape 68"/>
          <p:cNvSpPr/>
          <p:nvPr/>
        </p:nvSpPr>
        <p:spPr>
          <a:xfrm>
            <a:off x="2527616" y="8255000"/>
            <a:ext cx="1638505" cy="533400"/>
          </a:xfrm>
          <a:prstGeom prst="roundRect">
            <a:avLst>
              <a:gd name="adj" fmla="val 96000"/>
            </a:avLst>
          </a:prstGeom>
          <a:solidFill>
            <a:srgbClr val="FFB66D">
              <a:alpha val="100000"/>
            </a:srgbClr>
          </a:solidFill>
          <a:ln w="12700">
            <a:solidFill>
              <a:srgbClr val="FF5102"/>
            </a:solidFill>
            <a:prstDash val="solid"/>
          </a:ln>
        </p:spPr>
      </p:sp>
      <p:sp>
        <p:nvSpPr>
          <p:cNvPr id="100" name="Text 69"/>
          <p:cNvSpPr/>
          <p:nvPr/>
        </p:nvSpPr>
        <p:spPr>
          <a:xfrm>
            <a:off x="2768946" y="8382000"/>
            <a:ext cx="1177014"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Early insights</a:t>
            </a:r>
            <a:endParaRPr lang="en-US" sz="1400" dirty="0"/>
          </a:p>
        </p:txBody>
      </p:sp>
      <p:sp>
        <p:nvSpPr>
          <p:cNvPr id="101" name="Shape 70"/>
          <p:cNvSpPr/>
          <p:nvPr/>
        </p:nvSpPr>
        <p:spPr>
          <a:xfrm>
            <a:off x="4216927" y="8255000"/>
            <a:ext cx="1727416" cy="533400"/>
          </a:xfrm>
          <a:prstGeom prst="roundRect">
            <a:avLst>
              <a:gd name="adj" fmla="val 96000"/>
            </a:avLst>
          </a:prstGeom>
          <a:solidFill>
            <a:srgbClr val="FFB66D">
              <a:alpha val="100000"/>
            </a:srgbClr>
          </a:solidFill>
          <a:ln w="12700">
            <a:solidFill>
              <a:srgbClr val="FF5102"/>
            </a:solidFill>
            <a:prstDash val="solid"/>
          </a:ln>
        </p:spPr>
      </p:sp>
      <p:sp>
        <p:nvSpPr>
          <p:cNvPr id="102" name="Text 71"/>
          <p:cNvSpPr/>
          <p:nvPr/>
        </p:nvSpPr>
        <p:spPr>
          <a:xfrm>
            <a:off x="4458257" y="8382000"/>
            <a:ext cx="1367538"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initial activation</a:t>
            </a:r>
            <a:endParaRPr lang="en-US" sz="1400" dirty="0"/>
          </a:p>
        </p:txBody>
      </p:sp>
      <p:sp>
        <p:nvSpPr>
          <p:cNvPr id="103" name="Shape 72"/>
          <p:cNvSpPr/>
          <p:nvPr/>
        </p:nvSpPr>
        <p:spPr>
          <a:xfrm>
            <a:off x="2514914" y="6997700"/>
            <a:ext cx="5233054" cy="736600"/>
          </a:xfrm>
          <a:prstGeom prst="roundRect">
            <a:avLst>
              <a:gd name="adj" fmla="val 13655"/>
            </a:avLst>
          </a:prstGeom>
          <a:solidFill>
            <a:srgbClr val="FFB66D">
              <a:alpha val="100000"/>
            </a:srgbClr>
          </a:solidFill>
          <a:ln w="12700">
            <a:solidFill>
              <a:srgbClr val="FF5102"/>
            </a:solidFill>
            <a:prstDash val="solid"/>
          </a:ln>
        </p:spPr>
      </p:sp>
      <p:sp>
        <p:nvSpPr>
          <p:cNvPr id="104" name="Text 73"/>
          <p:cNvSpPr/>
          <p:nvPr/>
        </p:nvSpPr>
        <p:spPr>
          <a:xfrm>
            <a:off x="2756244" y="7099300"/>
            <a:ext cx="4657249" cy="5926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Ingest top sources, basic ID graph, 3 segments, email activation</a:t>
            </a:r>
            <a:endParaRPr lang="en-US" sz="1400" dirty="0"/>
          </a:p>
        </p:txBody>
      </p:sp>
      <p:sp>
        <p:nvSpPr>
          <p:cNvPr id="105" name="Shape 74"/>
          <p:cNvSpPr/>
          <p:nvPr/>
        </p:nvSpPr>
        <p:spPr>
          <a:xfrm>
            <a:off x="4623378" y="9309100"/>
            <a:ext cx="1384473" cy="533400"/>
          </a:xfrm>
          <a:prstGeom prst="roundRect">
            <a:avLst>
              <a:gd name="adj" fmla="val 96000"/>
            </a:avLst>
          </a:prstGeom>
          <a:solidFill>
            <a:srgbClr val="FFB66D">
              <a:alpha val="100000"/>
            </a:srgbClr>
          </a:solidFill>
          <a:ln w="12700">
            <a:solidFill>
              <a:srgbClr val="FF5102"/>
            </a:solidFill>
            <a:prstDash val="solid"/>
          </a:ln>
        </p:spPr>
      </p:sp>
      <p:sp>
        <p:nvSpPr>
          <p:cNvPr id="106" name="Text 75"/>
          <p:cNvSpPr/>
          <p:nvPr/>
        </p:nvSpPr>
        <p:spPr>
          <a:xfrm>
            <a:off x="4890111" y="9436100"/>
            <a:ext cx="922982"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Email CTR</a:t>
            </a:r>
            <a:endParaRPr lang="en-US" sz="1400" dirty="0"/>
          </a:p>
        </p:txBody>
      </p:sp>
      <p:sp>
        <p:nvSpPr>
          <p:cNvPr id="107" name="Shape 76"/>
          <p:cNvSpPr/>
          <p:nvPr/>
        </p:nvSpPr>
        <p:spPr>
          <a:xfrm>
            <a:off x="6058657" y="9309100"/>
            <a:ext cx="1727416" cy="533400"/>
          </a:xfrm>
          <a:prstGeom prst="roundRect">
            <a:avLst>
              <a:gd name="adj" fmla="val 96000"/>
            </a:avLst>
          </a:prstGeom>
          <a:solidFill>
            <a:srgbClr val="FFB66D">
              <a:alpha val="100000"/>
            </a:srgbClr>
          </a:solidFill>
          <a:ln w="12700">
            <a:solidFill>
              <a:srgbClr val="FF5102"/>
            </a:solidFill>
            <a:prstDash val="solid"/>
          </a:ln>
        </p:spPr>
      </p:sp>
      <p:sp>
        <p:nvSpPr>
          <p:cNvPr id="108" name="Text 77"/>
          <p:cNvSpPr/>
          <p:nvPr/>
        </p:nvSpPr>
        <p:spPr>
          <a:xfrm>
            <a:off x="6299987" y="9436100"/>
            <a:ext cx="1342134"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Segment reach</a:t>
            </a:r>
            <a:endParaRPr lang="en-US" sz="1400" dirty="0"/>
          </a:p>
        </p:txBody>
      </p:sp>
      <p:sp>
        <p:nvSpPr>
          <p:cNvPr id="109" name="Shape 78"/>
          <p:cNvSpPr/>
          <p:nvPr/>
        </p:nvSpPr>
        <p:spPr>
          <a:xfrm>
            <a:off x="9195949" y="5842000"/>
            <a:ext cx="5753819" cy="4267200"/>
          </a:xfrm>
          <a:prstGeom prst="roundRect">
            <a:avLst>
              <a:gd name="adj" fmla="val 4714"/>
            </a:avLst>
          </a:prstGeom>
          <a:solidFill>
            <a:srgbClr val="FF8B32">
              <a:alpha val="100000"/>
            </a:srgbClr>
          </a:solidFill>
          <a:ln w="12700">
            <a:solidFill>
              <a:srgbClr val="FF8B32"/>
            </a:solidFill>
            <a:prstDash val="solid"/>
          </a:ln>
        </p:spPr>
      </p:sp>
      <p:sp>
        <p:nvSpPr>
          <p:cNvPr id="110" name="Text 79"/>
          <p:cNvSpPr/>
          <p:nvPr/>
        </p:nvSpPr>
        <p:spPr>
          <a:xfrm>
            <a:off x="9449981" y="6096000"/>
            <a:ext cx="20872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Bold" pitchFamily="34" charset="0"/>
                <a:ea typeface="Inter Bold" pitchFamily="34" charset="-122"/>
                <a:cs typeface="Inter Bold" pitchFamily="34" charset="-120"/>
              </a:rPr>
              <a:t>Capability Expansion</a:t>
            </a:r>
            <a:endParaRPr lang="en-US" sz="1600" dirty="0"/>
          </a:p>
        </p:txBody>
      </p:sp>
      <p:sp>
        <p:nvSpPr>
          <p:cNvPr id="111" name="Text 80"/>
          <p:cNvSpPr/>
          <p:nvPr/>
        </p:nvSpPr>
        <p:spPr>
          <a:xfrm>
            <a:off x="13476384" y="6096000"/>
            <a:ext cx="127439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90-180 Days</a:t>
            </a:r>
            <a:endParaRPr lang="en-US" sz="1600" dirty="0"/>
          </a:p>
        </p:txBody>
      </p:sp>
      <p:sp>
        <p:nvSpPr>
          <p:cNvPr id="112" name="Text 81"/>
          <p:cNvSpPr/>
          <p:nvPr/>
        </p:nvSpPr>
        <p:spPr>
          <a:xfrm>
            <a:off x="9462683" y="8966200"/>
            <a:ext cx="1278626"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Metrics / KPIs:</a:t>
            </a:r>
            <a:endParaRPr lang="en-US" sz="1400" dirty="0"/>
          </a:p>
        </p:txBody>
      </p:sp>
      <p:sp>
        <p:nvSpPr>
          <p:cNvPr id="113" name="Text 82"/>
          <p:cNvSpPr/>
          <p:nvPr/>
        </p:nvSpPr>
        <p:spPr>
          <a:xfrm>
            <a:off x="9462683" y="7912100"/>
            <a:ext cx="1723182"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Expected Outcome:</a:t>
            </a:r>
            <a:endParaRPr lang="en-US" sz="1400" dirty="0"/>
          </a:p>
        </p:txBody>
      </p:sp>
      <p:sp>
        <p:nvSpPr>
          <p:cNvPr id="114" name="Text 83"/>
          <p:cNvSpPr/>
          <p:nvPr/>
        </p:nvSpPr>
        <p:spPr>
          <a:xfrm>
            <a:off x="9449981" y="6654800"/>
            <a:ext cx="1189715"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Key Activities</a:t>
            </a:r>
            <a:endParaRPr lang="en-US" sz="1400" dirty="0"/>
          </a:p>
        </p:txBody>
      </p:sp>
      <p:sp>
        <p:nvSpPr>
          <p:cNvPr id="115" name="Shape 84"/>
          <p:cNvSpPr/>
          <p:nvPr/>
        </p:nvSpPr>
        <p:spPr>
          <a:xfrm>
            <a:off x="9462683" y="9309100"/>
            <a:ext cx="1702013" cy="533400"/>
          </a:xfrm>
          <a:prstGeom prst="roundRect">
            <a:avLst>
              <a:gd name="adj" fmla="val 96000"/>
            </a:avLst>
          </a:prstGeom>
          <a:solidFill>
            <a:srgbClr val="FFB66D">
              <a:alpha val="100000"/>
            </a:srgbClr>
          </a:solidFill>
          <a:ln w="12700">
            <a:solidFill>
              <a:srgbClr val="FF6A0A"/>
            </a:solidFill>
            <a:prstDash val="solid"/>
          </a:ln>
        </p:spPr>
      </p:sp>
      <p:sp>
        <p:nvSpPr>
          <p:cNvPr id="116" name="Text 85"/>
          <p:cNvSpPr/>
          <p:nvPr/>
        </p:nvSpPr>
        <p:spPr>
          <a:xfrm>
            <a:off x="9704013" y="9436100"/>
            <a:ext cx="1265925"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Lift vs holdout</a:t>
            </a:r>
            <a:endParaRPr lang="en-US" sz="1400" dirty="0"/>
          </a:p>
        </p:txBody>
      </p:sp>
      <p:sp>
        <p:nvSpPr>
          <p:cNvPr id="117" name="Shape 86"/>
          <p:cNvSpPr/>
          <p:nvPr/>
        </p:nvSpPr>
        <p:spPr>
          <a:xfrm>
            <a:off x="9462683" y="8255000"/>
            <a:ext cx="2514914" cy="533400"/>
          </a:xfrm>
          <a:prstGeom prst="roundRect">
            <a:avLst>
              <a:gd name="adj" fmla="val 96000"/>
            </a:avLst>
          </a:prstGeom>
          <a:solidFill>
            <a:srgbClr val="FFB66D">
              <a:alpha val="100000"/>
            </a:srgbClr>
          </a:solidFill>
          <a:ln w="12700">
            <a:solidFill>
              <a:srgbClr val="FF6A0A"/>
            </a:solidFill>
            <a:prstDash val="solid"/>
          </a:ln>
        </p:spPr>
      </p:sp>
      <p:sp>
        <p:nvSpPr>
          <p:cNvPr id="118" name="Text 87"/>
          <p:cNvSpPr/>
          <p:nvPr/>
        </p:nvSpPr>
        <p:spPr>
          <a:xfrm>
            <a:off x="9704013" y="8382000"/>
            <a:ext cx="2104230"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Cross-channel targeting</a:t>
            </a:r>
            <a:endParaRPr lang="en-US" sz="1400" dirty="0"/>
          </a:p>
        </p:txBody>
      </p:sp>
      <p:sp>
        <p:nvSpPr>
          <p:cNvPr id="119" name="Shape 88"/>
          <p:cNvSpPr/>
          <p:nvPr/>
        </p:nvSpPr>
        <p:spPr>
          <a:xfrm>
            <a:off x="12028403" y="8255000"/>
            <a:ext cx="2146568" cy="533400"/>
          </a:xfrm>
          <a:prstGeom prst="roundRect">
            <a:avLst>
              <a:gd name="adj" fmla="val 96000"/>
            </a:avLst>
          </a:prstGeom>
          <a:solidFill>
            <a:srgbClr val="FFB66D">
              <a:alpha val="100000"/>
            </a:srgbClr>
          </a:solidFill>
          <a:ln w="12700">
            <a:solidFill>
              <a:srgbClr val="FF6A0A"/>
            </a:solidFill>
            <a:prstDash val="solid"/>
          </a:ln>
        </p:spPr>
      </p:sp>
      <p:sp>
        <p:nvSpPr>
          <p:cNvPr id="120" name="Text 89"/>
          <p:cNvSpPr/>
          <p:nvPr/>
        </p:nvSpPr>
        <p:spPr>
          <a:xfrm>
            <a:off x="12269734" y="8382000"/>
            <a:ext cx="1786690"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real-time campaigns</a:t>
            </a:r>
            <a:endParaRPr lang="en-US" sz="1400" dirty="0"/>
          </a:p>
        </p:txBody>
      </p:sp>
      <p:sp>
        <p:nvSpPr>
          <p:cNvPr id="121" name="Shape 90"/>
          <p:cNvSpPr/>
          <p:nvPr/>
        </p:nvSpPr>
        <p:spPr>
          <a:xfrm>
            <a:off x="9449981" y="6997700"/>
            <a:ext cx="5233054" cy="736600"/>
          </a:xfrm>
          <a:prstGeom prst="roundRect">
            <a:avLst>
              <a:gd name="adj" fmla="val 13655"/>
            </a:avLst>
          </a:prstGeom>
          <a:solidFill>
            <a:srgbClr val="FFB66D">
              <a:alpha val="100000"/>
            </a:srgbClr>
          </a:solidFill>
          <a:ln w="12700">
            <a:solidFill>
              <a:srgbClr val="FF6A0A"/>
            </a:solidFill>
            <a:prstDash val="solid"/>
          </a:ln>
        </p:spPr>
      </p:sp>
      <p:sp>
        <p:nvSpPr>
          <p:cNvPr id="122" name="Text 91"/>
          <p:cNvSpPr/>
          <p:nvPr/>
        </p:nvSpPr>
        <p:spPr>
          <a:xfrm>
            <a:off x="9691311" y="7099300"/>
            <a:ext cx="4657249" cy="5926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RT lane, propensity model v1, paid media sync, clean-room test</a:t>
            </a:r>
            <a:endParaRPr lang="en-US" sz="1400" dirty="0"/>
          </a:p>
        </p:txBody>
      </p:sp>
      <p:sp>
        <p:nvSpPr>
          <p:cNvPr id="123" name="Shape 92"/>
          <p:cNvSpPr/>
          <p:nvPr/>
        </p:nvSpPr>
        <p:spPr>
          <a:xfrm>
            <a:off x="11215502" y="9309100"/>
            <a:ext cx="1511489" cy="533400"/>
          </a:xfrm>
          <a:prstGeom prst="roundRect">
            <a:avLst>
              <a:gd name="adj" fmla="val 96000"/>
            </a:avLst>
          </a:prstGeom>
          <a:solidFill>
            <a:srgbClr val="FFB66D">
              <a:alpha val="100000"/>
            </a:srgbClr>
          </a:solidFill>
          <a:ln w="12700">
            <a:solidFill>
              <a:srgbClr val="FF6A0A"/>
            </a:solidFill>
            <a:prstDash val="solid"/>
          </a:ln>
        </p:spPr>
      </p:sp>
      <p:sp>
        <p:nvSpPr>
          <p:cNvPr id="124" name="Text 93"/>
          <p:cNvSpPr/>
          <p:nvPr/>
        </p:nvSpPr>
        <p:spPr>
          <a:xfrm>
            <a:off x="11482235" y="9436100"/>
            <a:ext cx="1011893"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model AUC</a:t>
            </a:r>
            <a:endParaRPr lang="en-US" sz="1400" dirty="0"/>
          </a:p>
        </p:txBody>
      </p:sp>
      <p:sp>
        <p:nvSpPr>
          <p:cNvPr id="125" name="Shape 94"/>
          <p:cNvSpPr/>
          <p:nvPr/>
        </p:nvSpPr>
        <p:spPr>
          <a:xfrm>
            <a:off x="12777797" y="9309100"/>
            <a:ext cx="1803625" cy="533400"/>
          </a:xfrm>
          <a:prstGeom prst="roundRect">
            <a:avLst>
              <a:gd name="adj" fmla="val 96000"/>
            </a:avLst>
          </a:prstGeom>
          <a:solidFill>
            <a:srgbClr val="FFB66D">
              <a:alpha val="100000"/>
            </a:srgbClr>
          </a:solidFill>
          <a:ln w="12700">
            <a:solidFill>
              <a:srgbClr val="FF6A0A"/>
            </a:solidFill>
            <a:prstDash val="solid"/>
          </a:ln>
        </p:spPr>
      </p:sp>
      <p:sp>
        <p:nvSpPr>
          <p:cNvPr id="126" name="Text 95"/>
          <p:cNvSpPr/>
          <p:nvPr/>
        </p:nvSpPr>
        <p:spPr>
          <a:xfrm>
            <a:off x="12981022" y="9436100"/>
            <a:ext cx="1456449" cy="325967"/>
          </a:xfrm>
          <a:prstGeom prst="rect">
            <a:avLst/>
          </a:prstGeom>
          <a:noFill/>
          <a:ln/>
        </p:spPr>
        <p:txBody>
          <a:bodyPr wrap="square" lIns="0" tIns="0" rIns="0" bIns="0" rtlCol="0" anchor="t"/>
          <a:lstStyle/>
          <a:p>
            <a:pPr marL="0" indent="0" algn="l">
              <a:lnSpc>
                <a:spcPts val="2100"/>
              </a:lnSpc>
              <a:buNone/>
            </a:pPr>
            <a:r>
              <a:rPr lang="en-US" sz="1400" dirty="0">
                <a:solidFill>
                  <a:srgbClr val="FFFFFF">
                    <a:alpha val="100000"/>
                  </a:srgbClr>
                </a:solidFill>
                <a:latin typeface="Inter Regular" pitchFamily="34" charset="0"/>
                <a:ea typeface="Inter Regular" pitchFamily="34" charset="-122"/>
                <a:cs typeface="Inter Regular" pitchFamily="34" charset="-120"/>
              </a:rPr>
              <a:t>spend efficiency</a:t>
            </a:r>
            <a:endParaRPr lang="en-US" sz="1400" dirty="0"/>
          </a:p>
        </p:txBody>
      </p:sp>
      <p:sp>
        <p:nvSpPr>
          <p:cNvPr id="127" name="Shape 96"/>
          <p:cNvSpPr/>
          <p:nvPr/>
        </p:nvSpPr>
        <p:spPr>
          <a:xfrm>
            <a:off x="16131016" y="5842000"/>
            <a:ext cx="5753819" cy="4267200"/>
          </a:xfrm>
          <a:prstGeom prst="roundRect">
            <a:avLst>
              <a:gd name="adj" fmla="val 4714"/>
            </a:avLst>
          </a:prstGeom>
          <a:solidFill>
            <a:srgbClr val="F6F6F6">
              <a:alpha val="100000"/>
            </a:srgbClr>
          </a:solidFill>
          <a:ln w="12700">
            <a:solidFill>
              <a:srgbClr val="D1D1D1"/>
            </a:solidFill>
            <a:prstDash val="solid"/>
          </a:ln>
        </p:spPr>
      </p:sp>
      <p:sp>
        <p:nvSpPr>
          <p:cNvPr id="128" name="Text 97"/>
          <p:cNvSpPr/>
          <p:nvPr/>
        </p:nvSpPr>
        <p:spPr>
          <a:xfrm>
            <a:off x="16385048" y="6096000"/>
            <a:ext cx="126169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Bold" pitchFamily="34" charset="0"/>
                <a:ea typeface="Inter Bold" pitchFamily="34" charset="-122"/>
                <a:cs typeface="Inter Bold" pitchFamily="34" charset="-120"/>
              </a:rPr>
              <a:t>Full Maturity</a:t>
            </a:r>
            <a:endParaRPr lang="en-US" sz="1600" dirty="0"/>
          </a:p>
        </p:txBody>
      </p:sp>
      <p:sp>
        <p:nvSpPr>
          <p:cNvPr id="129" name="Text 98"/>
          <p:cNvSpPr/>
          <p:nvPr/>
        </p:nvSpPr>
        <p:spPr>
          <a:xfrm>
            <a:off x="20297137" y="6096000"/>
            <a:ext cx="140140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180-365 Days</a:t>
            </a:r>
            <a:endParaRPr lang="en-US" sz="1600" dirty="0"/>
          </a:p>
        </p:txBody>
      </p:sp>
      <p:sp>
        <p:nvSpPr>
          <p:cNvPr id="130" name="Text 99"/>
          <p:cNvSpPr/>
          <p:nvPr/>
        </p:nvSpPr>
        <p:spPr>
          <a:xfrm>
            <a:off x="16397749" y="8966200"/>
            <a:ext cx="1278626" cy="3259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Metrics / KPIs:</a:t>
            </a:r>
            <a:endParaRPr lang="en-US" sz="1400" dirty="0"/>
          </a:p>
        </p:txBody>
      </p:sp>
      <p:sp>
        <p:nvSpPr>
          <p:cNvPr id="131" name="Text 100"/>
          <p:cNvSpPr/>
          <p:nvPr/>
        </p:nvSpPr>
        <p:spPr>
          <a:xfrm>
            <a:off x="16397749" y="7912100"/>
            <a:ext cx="1723182" cy="3259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Expected Outcome:</a:t>
            </a:r>
            <a:endParaRPr lang="en-US" sz="1400" dirty="0"/>
          </a:p>
        </p:txBody>
      </p:sp>
      <p:sp>
        <p:nvSpPr>
          <p:cNvPr id="132" name="Text 101"/>
          <p:cNvSpPr/>
          <p:nvPr/>
        </p:nvSpPr>
        <p:spPr>
          <a:xfrm>
            <a:off x="16385048" y="6654800"/>
            <a:ext cx="1189715" cy="3259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Key Activities</a:t>
            </a:r>
            <a:endParaRPr lang="en-US" sz="1400" dirty="0"/>
          </a:p>
        </p:txBody>
      </p:sp>
      <p:sp>
        <p:nvSpPr>
          <p:cNvPr id="133" name="Shape 102"/>
          <p:cNvSpPr/>
          <p:nvPr/>
        </p:nvSpPr>
        <p:spPr>
          <a:xfrm>
            <a:off x="16397749" y="9309100"/>
            <a:ext cx="1219352" cy="533400"/>
          </a:xfrm>
          <a:prstGeom prst="roundRect">
            <a:avLst>
              <a:gd name="adj" fmla="val 61714"/>
            </a:avLst>
          </a:prstGeom>
          <a:solidFill>
            <a:srgbClr val="F6F6F6">
              <a:alpha val="100000"/>
            </a:srgbClr>
          </a:solidFill>
          <a:ln w="12700">
            <a:solidFill>
              <a:srgbClr val="D1D1D1"/>
            </a:solidFill>
            <a:prstDash val="solid"/>
          </a:ln>
        </p:spPr>
      </p:sp>
      <p:sp>
        <p:nvSpPr>
          <p:cNvPr id="134" name="Text 103"/>
          <p:cNvSpPr/>
          <p:nvPr/>
        </p:nvSpPr>
        <p:spPr>
          <a:xfrm>
            <a:off x="16639080" y="9436100"/>
            <a:ext cx="783265" cy="3259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Revenue</a:t>
            </a:r>
            <a:endParaRPr lang="en-US" sz="1400" dirty="0"/>
          </a:p>
        </p:txBody>
      </p:sp>
      <p:sp>
        <p:nvSpPr>
          <p:cNvPr id="135" name="Shape 104"/>
          <p:cNvSpPr/>
          <p:nvPr/>
        </p:nvSpPr>
        <p:spPr>
          <a:xfrm>
            <a:off x="16397749" y="8255000"/>
            <a:ext cx="4343943" cy="533400"/>
          </a:xfrm>
          <a:prstGeom prst="roundRect">
            <a:avLst>
              <a:gd name="adj" fmla="val 61714"/>
            </a:avLst>
          </a:prstGeom>
          <a:solidFill>
            <a:srgbClr val="F6F6F6">
              <a:alpha val="100000"/>
            </a:srgbClr>
          </a:solidFill>
          <a:ln w="12700">
            <a:solidFill>
              <a:srgbClr val="D1D1D1"/>
            </a:solidFill>
            <a:prstDash val="solid"/>
          </a:ln>
        </p:spPr>
      </p:sp>
      <p:sp>
        <p:nvSpPr>
          <p:cNvPr id="136" name="Text 105"/>
          <p:cNvSpPr/>
          <p:nvPr/>
        </p:nvSpPr>
        <p:spPr>
          <a:xfrm>
            <a:off x="16639080" y="8382000"/>
            <a:ext cx="3971363" cy="325967"/>
          </a:xfrm>
          <a:prstGeom prst="rect">
            <a:avLst/>
          </a:prstGeom>
          <a:noFill/>
          <a:ln/>
        </p:spPr>
        <p:txBody>
          <a:bodyPr wrap="square" lIns="0" tIns="0" rIns="0" bIns="0" rtlCol="0" anchor="t"/>
          <a:lstStyle/>
          <a:p>
            <a:pPr marL="0" indent="0" algn="l">
              <a:lnSpc>
                <a:spcPts val="2100"/>
              </a:lnSpc>
              <a:buNone/>
            </a:pPr>
            <a:r>
              <a:rPr lang="en-US" sz="1400" dirty="0">
                <a:solidFill>
                  <a:srgbClr val="454545">
                    <a:alpha val="100000"/>
                  </a:srgbClr>
                </a:solidFill>
                <a:latin typeface="Inter Regular" pitchFamily="34" charset="0"/>
                <a:ea typeface="Inter Regular" pitchFamily="34" charset="-122"/>
                <a:cs typeface="Inter Regular" pitchFamily="34" charset="-120"/>
              </a:rPr>
              <a:t>Mature CDP with cost efficiency &amp; governance</a:t>
            </a:r>
            <a:endParaRPr lang="en-US" sz="1400" dirty="0"/>
          </a:p>
        </p:txBody>
      </p:sp>
      <p:sp>
        <p:nvSpPr>
          <p:cNvPr id="137" name="Shape 106"/>
          <p:cNvSpPr/>
          <p:nvPr/>
        </p:nvSpPr>
        <p:spPr>
          <a:xfrm>
            <a:off x="16385048" y="6997700"/>
            <a:ext cx="5233054" cy="736600"/>
          </a:xfrm>
          <a:prstGeom prst="roundRect">
            <a:avLst>
              <a:gd name="adj" fmla="val 13655"/>
            </a:avLst>
          </a:prstGeom>
          <a:solidFill>
            <a:srgbClr val="F6F6F6">
              <a:alpha val="100000"/>
            </a:srgbClr>
          </a:solidFill>
          <a:ln w="12700">
            <a:solidFill>
              <a:srgbClr val="D1D1D1"/>
            </a:solidFill>
            <a:prstDash val="solid"/>
          </a:ln>
        </p:spPr>
      </p:sp>
      <p:sp>
        <p:nvSpPr>
          <p:cNvPr id="138" name="Text 107"/>
          <p:cNvSpPr/>
          <p:nvPr/>
        </p:nvSpPr>
        <p:spPr>
          <a:xfrm>
            <a:off x="16626378" y="7099300"/>
            <a:ext cx="4657249" cy="592667"/>
          </a:xfrm>
          <a:prstGeom prst="rect">
            <a:avLst/>
          </a:prstGeom>
          <a:noFill/>
          <a:ln/>
        </p:spPr>
        <p:txBody>
          <a:bodyPr wrap="square" lIns="0" tIns="0" rIns="0" bIns="0" rtlCol="0" anchor="t"/>
          <a:lstStyle/>
          <a:p>
            <a:pPr marL="0" indent="0" algn="l">
              <a:lnSpc>
                <a:spcPts val="2100"/>
              </a:lnSpc>
              <a:buNone/>
            </a:pPr>
            <a:r>
              <a:rPr lang="en-US" sz="1400" dirty="0">
                <a:solidFill>
                  <a:srgbClr val="454545">
                    <a:alpha val="100000"/>
                  </a:srgbClr>
                </a:solidFill>
                <a:latin typeface="Inter Regular" pitchFamily="34" charset="0"/>
                <a:ea typeface="Inter Regular" pitchFamily="34" charset="-122"/>
                <a:cs typeface="Inter Regular" pitchFamily="34" charset="-120"/>
              </a:rPr>
              <a:t>Full catalog/lineage, MMM+MTA, orchestration, cost tuning</a:t>
            </a:r>
            <a:endParaRPr lang="en-US" sz="1400" dirty="0"/>
          </a:p>
        </p:txBody>
      </p:sp>
      <p:sp>
        <p:nvSpPr>
          <p:cNvPr id="139" name="Shape 108"/>
          <p:cNvSpPr/>
          <p:nvPr/>
        </p:nvSpPr>
        <p:spPr>
          <a:xfrm>
            <a:off x="17667908" y="9309100"/>
            <a:ext cx="2006851" cy="533400"/>
          </a:xfrm>
          <a:prstGeom prst="roundRect">
            <a:avLst>
              <a:gd name="adj" fmla="val 61714"/>
            </a:avLst>
          </a:prstGeom>
          <a:solidFill>
            <a:srgbClr val="F6F6F6">
              <a:alpha val="100000"/>
            </a:srgbClr>
          </a:solidFill>
          <a:ln w="12700">
            <a:solidFill>
              <a:srgbClr val="D1D1D1"/>
            </a:solidFill>
            <a:prstDash val="solid"/>
          </a:ln>
        </p:spPr>
      </p:sp>
      <p:sp>
        <p:nvSpPr>
          <p:cNvPr id="140" name="Text 109"/>
          <p:cNvSpPr/>
          <p:nvPr/>
        </p:nvSpPr>
        <p:spPr>
          <a:xfrm>
            <a:off x="17896537" y="9436100"/>
            <a:ext cx="1596166" cy="3259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cost per 1k events</a:t>
            </a:r>
            <a:endParaRPr lang="en-US" sz="1400" dirty="0"/>
          </a:p>
        </p:txBody>
      </p:sp>
      <p:sp>
        <p:nvSpPr>
          <p:cNvPr id="141" name="Shape 110"/>
          <p:cNvSpPr/>
          <p:nvPr/>
        </p:nvSpPr>
        <p:spPr>
          <a:xfrm>
            <a:off x="19725565" y="9309100"/>
            <a:ext cx="1320965" cy="533400"/>
          </a:xfrm>
          <a:prstGeom prst="roundRect">
            <a:avLst>
              <a:gd name="adj" fmla="val 48000"/>
            </a:avLst>
          </a:prstGeom>
          <a:solidFill>
            <a:srgbClr val="F6F6F6">
              <a:alpha val="100000"/>
            </a:srgbClr>
          </a:solidFill>
          <a:ln w="12700">
            <a:solidFill>
              <a:srgbClr val="D1D1D1"/>
            </a:solidFill>
            <a:prstDash val="solid"/>
          </a:ln>
        </p:spPr>
      </p:sp>
      <p:sp>
        <p:nvSpPr>
          <p:cNvPr id="142" name="Text 111"/>
          <p:cNvSpPr/>
          <p:nvPr/>
        </p:nvSpPr>
        <p:spPr>
          <a:xfrm>
            <a:off x="19966896" y="9436100"/>
            <a:ext cx="884877" cy="325967"/>
          </a:xfrm>
          <a:prstGeom prst="rect">
            <a:avLst/>
          </a:prstGeom>
          <a:noFill/>
          <a:ln/>
        </p:spPr>
        <p:txBody>
          <a:bodyPr wrap="square" lIns="0" tIns="0" rIns="0" bIns="0" rtlCol="0" anchor="t"/>
          <a:lstStyle/>
          <a:p>
            <a:pPr marL="0" indent="0" algn="l">
              <a:lnSpc>
                <a:spcPts val="2100"/>
              </a:lnSpc>
              <a:buNone/>
            </a:pPr>
            <a:r>
              <a:rPr lang="en-US" sz="1400" dirty="0">
                <a:solidFill>
                  <a:srgbClr val="000000">
                    <a:alpha val="100000"/>
                  </a:srgbClr>
                </a:solidFill>
                <a:latin typeface="Inter Regular" pitchFamily="34" charset="0"/>
                <a:ea typeface="Inter Regular" pitchFamily="34" charset="-122"/>
                <a:cs typeface="Inter Regular" pitchFamily="34" charset="-120"/>
              </a:rPr>
              <a:t>activation</a:t>
            </a:r>
            <a:endParaRPr lang="en-US" sz="1400" dirty="0"/>
          </a:p>
        </p:txBody>
      </p:sp>
      <p:sp>
        <p:nvSpPr>
          <p:cNvPr id="143" name="Text 112"/>
          <p:cNvSpPr/>
          <p:nvPr/>
        </p:nvSpPr>
        <p:spPr>
          <a:xfrm>
            <a:off x="1524191" y="1524000"/>
            <a:ext cx="8069742"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Implementation Playbook</a:t>
            </a:r>
            <a:endParaRPr lang="en-US" sz="6400" dirty="0"/>
          </a:p>
        </p:txBody>
      </p:sp>
      <p:sp>
        <p:nvSpPr>
          <p:cNvPr id="144" name="Text 113"/>
          <p:cNvSpPr/>
          <p:nvPr/>
        </p:nvSpPr>
        <p:spPr>
          <a:xfrm>
            <a:off x="11952194" y="1524000"/>
            <a:ext cx="7904621" cy="12869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The Activation Connectors Matrix is a comprehensive tool designed to streamline the integration of various systems and applications.</a:t>
            </a:r>
            <a:r>
              <a:rPr lang="en-US" sz="1600" dirty="0">
                <a:solidFill>
                  <a:srgbClr val="454545">
                    <a:alpha val="100000"/>
                  </a:srgbClr>
                </a:solidFill>
                <a:latin typeface="Inter Regular" pitchFamily="34" charset="0"/>
                <a:ea typeface="Inter Regular" pitchFamily="34" charset="-122"/>
                <a:cs typeface="Inter Regular" pitchFamily="34" charset="-120"/>
              </a:rPr>
              <a:t> It provides a visual representation of how different components connect and interact, making it easier for teams to manage workflows and optimize processes.</a:t>
            </a:r>
            <a:endParaRPr lang="en-US" sz="1600" dirty="0"/>
          </a:p>
        </p:txBody>
      </p:sp>
      <p:sp>
        <p:nvSpPr>
          <p:cNvPr id="145" name="Text 114"/>
          <p:cNvSpPr/>
          <p:nvPr/>
        </p:nvSpPr>
        <p:spPr>
          <a:xfrm>
            <a:off x="22375963" y="1524000"/>
            <a:ext cx="529233"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016</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8A983A0-73E2-4C16-A375-94FDE8174E2C}"/>
              </a:ext>
            </a:extLst>
          </p:cNvPr>
          <p:cNvSpPr>
            <a:spLocks noGrp="1"/>
          </p:cNvSpPr>
          <p:nvPr>
            <p:ph type="pic" sz="quarter" idx="10"/>
          </p:nvPr>
        </p:nvSpPr>
        <p:spPr>
          <a:xfrm>
            <a:off x="1" y="0"/>
            <a:ext cx="9593932" cy="13716000"/>
          </a:xfrm>
          <a:solidFill>
            <a:schemeClr val="bg2">
              <a:lumMod val="50000"/>
            </a:schemeClr>
          </a:solidFill>
        </p:spPr>
      </p:sp>
      <p:sp>
        <p:nvSpPr>
          <p:cNvPr id="45" name="Text 28">
            <a:extLst>
              <a:ext uri="{FF2B5EF4-FFF2-40B4-BE49-F238E27FC236}">
                <a16:creationId xmlns:a16="http://schemas.microsoft.com/office/drawing/2014/main" id="{FD21D3E2-2995-43ED-8AC8-020E47D6A943}"/>
              </a:ext>
            </a:extLst>
          </p:cNvPr>
          <p:cNvSpPr/>
          <p:nvPr/>
        </p:nvSpPr>
        <p:spPr>
          <a:xfrm>
            <a:off x="1524191" y="1524000"/>
            <a:ext cx="8069742" cy="2937933"/>
          </a:xfrm>
          <a:prstGeom prst="rect">
            <a:avLst/>
          </a:prstGeom>
          <a:noFill/>
          <a:ln/>
        </p:spPr>
        <p:txBody>
          <a:bodyPr wrap="square" lIns="0" tIns="0" rIns="0" bIns="0" rtlCol="0" anchor="t"/>
          <a:lstStyle/>
          <a:p>
            <a:pPr marL="0" indent="0" algn="l">
              <a:lnSpc>
                <a:spcPts val="7040"/>
              </a:lnSpc>
              <a:buNone/>
            </a:pPr>
            <a:r>
              <a:rPr lang="en-US" sz="6400" kern="0" spc="-64" dirty="0">
                <a:solidFill>
                  <a:srgbClr val="F6F6F6">
                    <a:alpha val="100000"/>
                  </a:srgbClr>
                </a:solidFill>
                <a:latin typeface="Inter Semi Bold" pitchFamily="34" charset="0"/>
                <a:ea typeface="Inter Semi Bold" pitchFamily="34" charset="-122"/>
                <a:cs typeface="Inter Semi Bold" pitchFamily="34" charset="-120"/>
              </a:rPr>
              <a:t>Risks, Dependencies &amp; Mitigation</a:t>
            </a:r>
            <a:endParaRPr lang="en-US" sz="6400" dirty="0"/>
          </a:p>
        </p:txBody>
      </p:sp>
      <p:sp>
        <p:nvSpPr>
          <p:cNvPr id="46" name="Text 29">
            <a:extLst>
              <a:ext uri="{FF2B5EF4-FFF2-40B4-BE49-F238E27FC236}">
                <a16:creationId xmlns:a16="http://schemas.microsoft.com/office/drawing/2014/main" id="{C89885E0-B33B-4B87-B500-7DC2D468A8CD}"/>
              </a:ext>
            </a:extLst>
          </p:cNvPr>
          <p:cNvSpPr/>
          <p:nvPr/>
        </p:nvSpPr>
        <p:spPr>
          <a:xfrm>
            <a:off x="1524191" y="4648200"/>
            <a:ext cx="7345751" cy="12869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The Activation Connectors Matrix is a comprehensive tool designed to streamline the integration of various systems and applications.</a:t>
            </a:r>
            <a:r>
              <a:rPr lang="en-US" sz="1600" dirty="0">
                <a:solidFill>
                  <a:srgbClr val="D1D1D1">
                    <a:alpha val="100000"/>
                  </a:srgbClr>
                </a:solidFill>
                <a:latin typeface="Inter Regular" pitchFamily="34" charset="0"/>
                <a:ea typeface="Inter Regular" pitchFamily="34" charset="-122"/>
                <a:cs typeface="Inter Regular" pitchFamily="34" charset="-120"/>
              </a:rPr>
              <a:t> It provides a visual representation of how different components connect and interact, making it easier for teams to manage workflows and optimize processes.</a:t>
            </a:r>
            <a:endParaRPr lang="en-US" sz="1600" dirty="0"/>
          </a:p>
        </p:txBody>
      </p:sp>
      <p:sp>
        <p:nvSpPr>
          <p:cNvPr id="48" name="Shape 31">
            <a:extLst>
              <a:ext uri="{FF2B5EF4-FFF2-40B4-BE49-F238E27FC236}">
                <a16:creationId xmlns:a16="http://schemas.microsoft.com/office/drawing/2014/main" id="{4EB66CB3-5318-4DD2-8B04-94FEA674FE77}"/>
              </a:ext>
            </a:extLst>
          </p:cNvPr>
          <p:cNvSpPr/>
          <p:nvPr/>
        </p:nvSpPr>
        <p:spPr>
          <a:xfrm>
            <a:off x="1524191" y="11036300"/>
            <a:ext cx="6172972" cy="1066800"/>
          </a:xfrm>
          <a:prstGeom prst="roundRect">
            <a:avLst>
              <a:gd name="adj" fmla="val 14571"/>
            </a:avLst>
          </a:prstGeom>
          <a:solidFill>
            <a:srgbClr val="F6F6F6">
              <a:alpha val="100000"/>
            </a:srgbClr>
          </a:solidFill>
          <a:ln w="12700">
            <a:solidFill>
              <a:srgbClr val="D1D1D1"/>
            </a:solidFill>
            <a:prstDash val="solid"/>
          </a:ln>
        </p:spPr>
      </p:sp>
      <p:sp>
        <p:nvSpPr>
          <p:cNvPr id="49" name="Text 32">
            <a:extLst>
              <a:ext uri="{FF2B5EF4-FFF2-40B4-BE49-F238E27FC236}">
                <a16:creationId xmlns:a16="http://schemas.microsoft.com/office/drawing/2014/main" id="{6304426E-07AA-4246-8961-70AFBC03A874}"/>
              </a:ext>
            </a:extLst>
          </p:cNvPr>
          <p:cNvSpPr/>
          <p:nvPr/>
        </p:nvSpPr>
        <p:spPr>
          <a:xfrm>
            <a:off x="2146568" y="11264900"/>
            <a:ext cx="5618336" cy="6773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Consider identifying potential challenges and how to address them effectively.</a:t>
            </a:r>
            <a:endParaRPr lang="en-US" sz="1600" dirty="0"/>
          </a:p>
        </p:txBody>
      </p:sp>
      <p:pic>
        <p:nvPicPr>
          <p:cNvPr id="51" name="Image 13" descr=" ">
            <a:extLst>
              <a:ext uri="{FF2B5EF4-FFF2-40B4-BE49-F238E27FC236}">
                <a16:creationId xmlns:a16="http://schemas.microsoft.com/office/drawing/2014/main" id="{D831110A-AB6D-4ED0-A13E-8807C35FF7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46468" y="11283950"/>
            <a:ext cx="190524" cy="190500"/>
          </a:xfrm>
          <a:prstGeom prst="rect">
            <a:avLst/>
          </a:prstGeom>
        </p:spPr>
      </p:pic>
      <p:sp>
        <p:nvSpPr>
          <p:cNvPr id="52" name="Shape 0">
            <a:extLst>
              <a:ext uri="{FF2B5EF4-FFF2-40B4-BE49-F238E27FC236}">
                <a16:creationId xmlns:a16="http://schemas.microsoft.com/office/drawing/2014/main" id="{D935DB85-5E11-4DD4-BB60-25C1EA4E3257}"/>
              </a:ext>
            </a:extLst>
          </p:cNvPr>
          <p:cNvSpPr/>
          <p:nvPr/>
        </p:nvSpPr>
        <p:spPr>
          <a:xfrm>
            <a:off x="9627803" y="0"/>
            <a:ext cx="14759245" cy="13716000"/>
          </a:xfrm>
          <a:prstGeom prst="rect">
            <a:avLst/>
          </a:prstGeom>
          <a:solidFill>
            <a:srgbClr val="F6F6F6">
              <a:alpha val="40000"/>
            </a:srgbClr>
          </a:solidFill>
          <a:ln/>
        </p:spPr>
      </p:sp>
      <p:sp>
        <p:nvSpPr>
          <p:cNvPr id="53" name="Shape 1">
            <a:extLst>
              <a:ext uri="{FF2B5EF4-FFF2-40B4-BE49-F238E27FC236}">
                <a16:creationId xmlns:a16="http://schemas.microsoft.com/office/drawing/2014/main" id="{A7F39FC8-5805-4757-8A44-4EE6021069E4}"/>
              </a:ext>
            </a:extLst>
          </p:cNvPr>
          <p:cNvSpPr/>
          <p:nvPr/>
        </p:nvSpPr>
        <p:spPr>
          <a:xfrm>
            <a:off x="12130016" y="1765300"/>
            <a:ext cx="9742118" cy="10337800"/>
          </a:xfrm>
          <a:prstGeom prst="rect">
            <a:avLst/>
          </a:prstGeom>
          <a:noFill/>
          <a:ln/>
        </p:spPr>
      </p:sp>
      <p:pic>
        <p:nvPicPr>
          <p:cNvPr id="54" name="Image 0" descr=" ">
            <a:extLst>
              <a:ext uri="{FF2B5EF4-FFF2-40B4-BE49-F238E27FC236}">
                <a16:creationId xmlns:a16="http://schemas.microsoft.com/office/drawing/2014/main" id="{8E5E87BC-7364-4573-8255-14774A8A3D5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013776" y="2286000"/>
            <a:ext cx="12702" cy="8636000"/>
          </a:xfrm>
          <a:prstGeom prst="rect">
            <a:avLst/>
          </a:prstGeom>
        </p:spPr>
      </p:pic>
      <p:pic>
        <p:nvPicPr>
          <p:cNvPr id="55" name="Image 2" descr=" ">
            <a:extLst>
              <a:ext uri="{FF2B5EF4-FFF2-40B4-BE49-F238E27FC236}">
                <a16:creationId xmlns:a16="http://schemas.microsoft.com/office/drawing/2014/main" id="{EAF53636-2A35-4068-88A7-BA38FE43842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01650" y="6597712"/>
            <a:ext cx="8637080" cy="12700"/>
          </a:xfrm>
          <a:prstGeom prst="rect">
            <a:avLst/>
          </a:prstGeom>
        </p:spPr>
      </p:pic>
      <p:sp>
        <p:nvSpPr>
          <p:cNvPr id="56" name="Text 2">
            <a:extLst>
              <a:ext uri="{FF2B5EF4-FFF2-40B4-BE49-F238E27FC236}">
                <a16:creationId xmlns:a16="http://schemas.microsoft.com/office/drawing/2014/main" id="{1C1B8250-03B4-4FB0-B0A3-B71CF5992004}"/>
              </a:ext>
            </a:extLst>
          </p:cNvPr>
          <p:cNvSpPr/>
          <p:nvPr/>
        </p:nvSpPr>
        <p:spPr>
          <a:xfrm rot="5400000">
            <a:off x="21363602" y="6463978"/>
            <a:ext cx="829837" cy="334433"/>
          </a:xfrm>
          <a:prstGeom prst="rect">
            <a:avLst/>
          </a:prstGeom>
          <a:noFill/>
          <a:ln/>
        </p:spPr>
        <p:txBody>
          <a:bodyPr wrap="square" lIns="0" tIns="0" rIns="0" bIns="0" rtlCol="0" anchor="t"/>
          <a:lstStyle/>
          <a:p>
            <a:pPr marL="0" indent="0" algn="l">
              <a:lnSpc>
                <a:spcPts val="208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Medium</a:t>
            </a:r>
            <a:endParaRPr lang="en-US" sz="1600" dirty="0"/>
          </a:p>
        </p:txBody>
      </p:sp>
      <p:sp>
        <p:nvSpPr>
          <p:cNvPr id="57" name="Text 3">
            <a:extLst>
              <a:ext uri="{FF2B5EF4-FFF2-40B4-BE49-F238E27FC236}">
                <a16:creationId xmlns:a16="http://schemas.microsoft.com/office/drawing/2014/main" id="{96E97F32-4B9B-45D3-B244-6C4CA7525CF2}"/>
              </a:ext>
            </a:extLst>
          </p:cNvPr>
          <p:cNvSpPr/>
          <p:nvPr/>
        </p:nvSpPr>
        <p:spPr>
          <a:xfrm rot="16200000">
            <a:off x="11876453" y="6464622"/>
            <a:ext cx="829837" cy="334433"/>
          </a:xfrm>
          <a:prstGeom prst="rect">
            <a:avLst/>
          </a:prstGeom>
          <a:noFill/>
          <a:ln/>
        </p:spPr>
        <p:txBody>
          <a:bodyPr wrap="square" lIns="0" tIns="0" rIns="0" bIns="0" rtlCol="0" anchor="t"/>
          <a:lstStyle/>
          <a:p>
            <a:pPr marL="0" indent="0" algn="l">
              <a:lnSpc>
                <a:spcPts val="208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Medium</a:t>
            </a:r>
            <a:endParaRPr lang="en-US" sz="1600" dirty="0"/>
          </a:p>
        </p:txBody>
      </p:sp>
      <p:sp>
        <p:nvSpPr>
          <p:cNvPr id="58" name="Text 4">
            <a:extLst>
              <a:ext uri="{FF2B5EF4-FFF2-40B4-BE49-F238E27FC236}">
                <a16:creationId xmlns:a16="http://schemas.microsoft.com/office/drawing/2014/main" id="{CCAC12D2-F66D-4798-8148-3DFD7C0D4E55}"/>
              </a:ext>
            </a:extLst>
          </p:cNvPr>
          <p:cNvSpPr/>
          <p:nvPr/>
        </p:nvSpPr>
        <p:spPr>
          <a:xfrm>
            <a:off x="16816902" y="11176000"/>
            <a:ext cx="461491" cy="334433"/>
          </a:xfrm>
          <a:prstGeom prst="rect">
            <a:avLst/>
          </a:prstGeom>
          <a:noFill/>
          <a:ln/>
        </p:spPr>
        <p:txBody>
          <a:bodyPr wrap="square" lIns="0" tIns="0" rIns="0" bIns="0" rtlCol="0" anchor="t"/>
          <a:lstStyle/>
          <a:p>
            <a:pPr marL="0" indent="0" algn="l">
              <a:lnSpc>
                <a:spcPts val="208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Low</a:t>
            </a:r>
            <a:endParaRPr lang="en-US" sz="1600" dirty="0"/>
          </a:p>
        </p:txBody>
      </p:sp>
      <p:sp>
        <p:nvSpPr>
          <p:cNvPr id="59" name="Shape 5">
            <a:extLst>
              <a:ext uri="{FF2B5EF4-FFF2-40B4-BE49-F238E27FC236}">
                <a16:creationId xmlns:a16="http://schemas.microsoft.com/office/drawing/2014/main" id="{0BDC9F5B-7922-46D1-B0BC-3C08F6CE3584}"/>
              </a:ext>
            </a:extLst>
          </p:cNvPr>
          <p:cNvSpPr/>
          <p:nvPr/>
        </p:nvSpPr>
        <p:spPr>
          <a:xfrm>
            <a:off x="15711864" y="11836400"/>
            <a:ext cx="2616527" cy="266700"/>
          </a:xfrm>
          <a:prstGeom prst="rect">
            <a:avLst/>
          </a:prstGeom>
          <a:noFill/>
          <a:ln/>
        </p:spPr>
      </p:sp>
      <p:sp>
        <p:nvSpPr>
          <p:cNvPr id="60" name="Shape 6">
            <a:extLst>
              <a:ext uri="{FF2B5EF4-FFF2-40B4-BE49-F238E27FC236}">
                <a16:creationId xmlns:a16="http://schemas.microsoft.com/office/drawing/2014/main" id="{D0A99711-39A9-457E-8B3D-B08631A940B7}"/>
              </a:ext>
            </a:extLst>
          </p:cNvPr>
          <p:cNvSpPr/>
          <p:nvPr/>
        </p:nvSpPr>
        <p:spPr>
          <a:xfrm>
            <a:off x="15711864" y="11836400"/>
            <a:ext cx="711289" cy="266700"/>
          </a:xfrm>
          <a:prstGeom prst="rect">
            <a:avLst/>
          </a:prstGeom>
          <a:noFill/>
          <a:ln/>
        </p:spPr>
      </p:sp>
      <p:sp>
        <p:nvSpPr>
          <p:cNvPr id="61" name="Shape 7">
            <a:extLst>
              <a:ext uri="{FF2B5EF4-FFF2-40B4-BE49-F238E27FC236}">
                <a16:creationId xmlns:a16="http://schemas.microsoft.com/office/drawing/2014/main" id="{4066E39E-494D-414B-926E-10AE7947C3A4}"/>
              </a:ext>
            </a:extLst>
          </p:cNvPr>
          <p:cNvSpPr/>
          <p:nvPr/>
        </p:nvSpPr>
        <p:spPr>
          <a:xfrm>
            <a:off x="15711864" y="11880850"/>
            <a:ext cx="177822" cy="177800"/>
          </a:xfrm>
          <a:prstGeom prst="ellipse">
            <a:avLst/>
          </a:prstGeom>
          <a:solidFill>
            <a:srgbClr val="C22C0C">
              <a:alpha val="100000"/>
            </a:srgbClr>
          </a:solidFill>
          <a:ln/>
        </p:spPr>
      </p:sp>
      <p:sp>
        <p:nvSpPr>
          <p:cNvPr id="62" name="Text 8">
            <a:extLst>
              <a:ext uri="{FF2B5EF4-FFF2-40B4-BE49-F238E27FC236}">
                <a16:creationId xmlns:a16="http://schemas.microsoft.com/office/drawing/2014/main" id="{7A92DF6C-90A2-436B-83E6-C1CD672D3E45}"/>
              </a:ext>
            </a:extLst>
          </p:cNvPr>
          <p:cNvSpPr/>
          <p:nvPr/>
        </p:nvSpPr>
        <p:spPr>
          <a:xfrm>
            <a:off x="15991299" y="11836400"/>
            <a:ext cx="499596" cy="334433"/>
          </a:xfrm>
          <a:prstGeom prst="rect">
            <a:avLst/>
          </a:prstGeom>
          <a:noFill/>
          <a:ln/>
        </p:spPr>
        <p:txBody>
          <a:bodyPr wrap="square" lIns="0" tIns="0" rIns="0" bIns="0" rtlCol="0" anchor="t"/>
          <a:lstStyle/>
          <a:p>
            <a:pPr marL="0" indent="0" algn="l">
              <a:lnSpc>
                <a:spcPts val="208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High</a:t>
            </a:r>
            <a:endParaRPr lang="en-US" sz="1600" dirty="0"/>
          </a:p>
        </p:txBody>
      </p:sp>
      <p:sp>
        <p:nvSpPr>
          <p:cNvPr id="63" name="Shape 9">
            <a:extLst>
              <a:ext uri="{FF2B5EF4-FFF2-40B4-BE49-F238E27FC236}">
                <a16:creationId xmlns:a16="http://schemas.microsoft.com/office/drawing/2014/main" id="{4C46CB52-568F-432F-8C92-5A0AABD536D4}"/>
              </a:ext>
            </a:extLst>
          </p:cNvPr>
          <p:cNvSpPr/>
          <p:nvPr/>
        </p:nvSpPr>
        <p:spPr>
          <a:xfrm>
            <a:off x="16524765" y="11836400"/>
            <a:ext cx="1028829" cy="266700"/>
          </a:xfrm>
          <a:prstGeom prst="rect">
            <a:avLst/>
          </a:prstGeom>
          <a:noFill/>
          <a:ln/>
        </p:spPr>
      </p:sp>
      <p:sp>
        <p:nvSpPr>
          <p:cNvPr id="64" name="Shape 10">
            <a:extLst>
              <a:ext uri="{FF2B5EF4-FFF2-40B4-BE49-F238E27FC236}">
                <a16:creationId xmlns:a16="http://schemas.microsoft.com/office/drawing/2014/main" id="{7F66EFCA-A8A2-4CBD-BF98-DD3214835A7B}"/>
              </a:ext>
            </a:extLst>
          </p:cNvPr>
          <p:cNvSpPr/>
          <p:nvPr/>
        </p:nvSpPr>
        <p:spPr>
          <a:xfrm>
            <a:off x="16524765" y="11880850"/>
            <a:ext cx="177822" cy="177800"/>
          </a:xfrm>
          <a:prstGeom prst="ellipse">
            <a:avLst/>
          </a:prstGeom>
          <a:solidFill>
            <a:srgbClr val="FB7C3C">
              <a:alpha val="100000"/>
            </a:srgbClr>
          </a:solidFill>
          <a:ln/>
        </p:spPr>
      </p:sp>
      <p:sp>
        <p:nvSpPr>
          <p:cNvPr id="65" name="Text 11">
            <a:extLst>
              <a:ext uri="{FF2B5EF4-FFF2-40B4-BE49-F238E27FC236}">
                <a16:creationId xmlns:a16="http://schemas.microsoft.com/office/drawing/2014/main" id="{0E4D9EDF-EA1D-4D1F-9985-3C481AD990F5}"/>
              </a:ext>
            </a:extLst>
          </p:cNvPr>
          <p:cNvSpPr/>
          <p:nvPr/>
        </p:nvSpPr>
        <p:spPr>
          <a:xfrm>
            <a:off x="16804200" y="11836400"/>
            <a:ext cx="817135" cy="334433"/>
          </a:xfrm>
          <a:prstGeom prst="rect">
            <a:avLst/>
          </a:prstGeom>
          <a:noFill/>
          <a:ln/>
        </p:spPr>
        <p:txBody>
          <a:bodyPr wrap="square" lIns="0" tIns="0" rIns="0" bIns="0" rtlCol="0" anchor="t"/>
          <a:lstStyle/>
          <a:p>
            <a:pPr marL="0" indent="0" algn="l">
              <a:lnSpc>
                <a:spcPts val="208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Medium</a:t>
            </a:r>
            <a:endParaRPr lang="en-US" sz="1600" dirty="0"/>
          </a:p>
        </p:txBody>
      </p:sp>
      <p:sp>
        <p:nvSpPr>
          <p:cNvPr id="66" name="Shape 12">
            <a:extLst>
              <a:ext uri="{FF2B5EF4-FFF2-40B4-BE49-F238E27FC236}">
                <a16:creationId xmlns:a16="http://schemas.microsoft.com/office/drawing/2014/main" id="{35B42B79-F000-4009-ADBB-AB512C906BDA}"/>
              </a:ext>
            </a:extLst>
          </p:cNvPr>
          <p:cNvSpPr/>
          <p:nvPr/>
        </p:nvSpPr>
        <p:spPr>
          <a:xfrm>
            <a:off x="17655207" y="11836400"/>
            <a:ext cx="673184" cy="266700"/>
          </a:xfrm>
          <a:prstGeom prst="rect">
            <a:avLst/>
          </a:prstGeom>
          <a:noFill/>
          <a:ln/>
        </p:spPr>
      </p:sp>
      <p:sp>
        <p:nvSpPr>
          <p:cNvPr id="67" name="Shape 13">
            <a:extLst>
              <a:ext uri="{FF2B5EF4-FFF2-40B4-BE49-F238E27FC236}">
                <a16:creationId xmlns:a16="http://schemas.microsoft.com/office/drawing/2014/main" id="{D17CCDEE-98FF-4209-B421-E36A2173D116}"/>
              </a:ext>
            </a:extLst>
          </p:cNvPr>
          <p:cNvSpPr/>
          <p:nvPr/>
        </p:nvSpPr>
        <p:spPr>
          <a:xfrm>
            <a:off x="17655207" y="11880850"/>
            <a:ext cx="177822" cy="177800"/>
          </a:xfrm>
          <a:prstGeom prst="ellipse">
            <a:avLst/>
          </a:prstGeom>
          <a:solidFill>
            <a:srgbClr val="FDAA74">
              <a:alpha val="100000"/>
            </a:srgbClr>
          </a:solidFill>
          <a:ln/>
        </p:spPr>
      </p:sp>
      <p:sp>
        <p:nvSpPr>
          <p:cNvPr id="68" name="Text 14">
            <a:extLst>
              <a:ext uri="{FF2B5EF4-FFF2-40B4-BE49-F238E27FC236}">
                <a16:creationId xmlns:a16="http://schemas.microsoft.com/office/drawing/2014/main" id="{C4432114-A504-4DF3-8233-23082526EFFD}"/>
              </a:ext>
            </a:extLst>
          </p:cNvPr>
          <p:cNvSpPr/>
          <p:nvPr/>
        </p:nvSpPr>
        <p:spPr>
          <a:xfrm>
            <a:off x="17934642" y="11836400"/>
            <a:ext cx="461491" cy="334433"/>
          </a:xfrm>
          <a:prstGeom prst="rect">
            <a:avLst/>
          </a:prstGeom>
          <a:noFill/>
          <a:ln/>
        </p:spPr>
        <p:txBody>
          <a:bodyPr wrap="square" lIns="0" tIns="0" rIns="0" bIns="0" rtlCol="0" anchor="t"/>
          <a:lstStyle/>
          <a:p>
            <a:pPr marL="0" indent="0" algn="l">
              <a:lnSpc>
                <a:spcPts val="208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Low</a:t>
            </a:r>
            <a:endParaRPr lang="en-US" sz="1600" dirty="0"/>
          </a:p>
        </p:txBody>
      </p:sp>
      <p:sp>
        <p:nvSpPr>
          <p:cNvPr id="69" name="Shape 15">
            <a:extLst>
              <a:ext uri="{FF2B5EF4-FFF2-40B4-BE49-F238E27FC236}">
                <a16:creationId xmlns:a16="http://schemas.microsoft.com/office/drawing/2014/main" id="{FA488782-8C96-403E-B2AA-68DA74C3BC5E}"/>
              </a:ext>
            </a:extLst>
          </p:cNvPr>
          <p:cNvSpPr/>
          <p:nvPr/>
        </p:nvSpPr>
        <p:spPr>
          <a:xfrm>
            <a:off x="12701588" y="2286000"/>
            <a:ext cx="8611676" cy="8636000"/>
          </a:xfrm>
          <a:prstGeom prst="rect">
            <a:avLst/>
          </a:prstGeom>
          <a:noFill/>
          <a:ln/>
        </p:spPr>
      </p:sp>
      <p:pic>
        <p:nvPicPr>
          <p:cNvPr id="70" name="Image 3" descr=" ">
            <a:extLst>
              <a:ext uri="{FF2B5EF4-FFF2-40B4-BE49-F238E27FC236}">
                <a16:creationId xmlns:a16="http://schemas.microsoft.com/office/drawing/2014/main" id="{287408EB-F06C-4814-A54C-404BBB517B5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695237" y="2286000"/>
            <a:ext cx="12702" cy="8636000"/>
          </a:xfrm>
          <a:prstGeom prst="rect">
            <a:avLst/>
          </a:prstGeom>
        </p:spPr>
      </p:pic>
      <p:pic>
        <p:nvPicPr>
          <p:cNvPr id="71" name="Image 4" descr=" ">
            <a:extLst>
              <a:ext uri="{FF2B5EF4-FFF2-40B4-BE49-F238E27FC236}">
                <a16:creationId xmlns:a16="http://schemas.microsoft.com/office/drawing/2014/main" id="{44797622-7357-453B-8307-004689E9F29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130516" y="2286000"/>
            <a:ext cx="12702" cy="8636000"/>
          </a:xfrm>
          <a:prstGeom prst="rect">
            <a:avLst/>
          </a:prstGeom>
        </p:spPr>
      </p:pic>
      <p:pic>
        <p:nvPicPr>
          <p:cNvPr id="72" name="Image 5" descr=" ">
            <a:extLst>
              <a:ext uri="{FF2B5EF4-FFF2-40B4-BE49-F238E27FC236}">
                <a16:creationId xmlns:a16="http://schemas.microsoft.com/office/drawing/2014/main" id="{6603B0B3-F0C0-48CF-9F4E-C5CD5D52A39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565795" y="2286000"/>
            <a:ext cx="12702" cy="8636000"/>
          </a:xfrm>
          <a:prstGeom prst="rect">
            <a:avLst/>
          </a:prstGeom>
        </p:spPr>
      </p:pic>
      <p:pic>
        <p:nvPicPr>
          <p:cNvPr id="73" name="Image 6" descr=" ">
            <a:extLst>
              <a:ext uri="{FF2B5EF4-FFF2-40B4-BE49-F238E27FC236}">
                <a16:creationId xmlns:a16="http://schemas.microsoft.com/office/drawing/2014/main" id="{08B9F370-A454-4760-B023-39AEABBB5BF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001075" y="2286000"/>
            <a:ext cx="12702" cy="8636000"/>
          </a:xfrm>
          <a:prstGeom prst="rect">
            <a:avLst/>
          </a:prstGeom>
        </p:spPr>
      </p:pic>
      <p:pic>
        <p:nvPicPr>
          <p:cNvPr id="74" name="Image 7" descr=" ">
            <a:extLst>
              <a:ext uri="{FF2B5EF4-FFF2-40B4-BE49-F238E27FC236}">
                <a16:creationId xmlns:a16="http://schemas.microsoft.com/office/drawing/2014/main" id="{596B1D0D-8077-4E1F-82B5-062176E1C75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436354" y="2286000"/>
            <a:ext cx="12702" cy="8636000"/>
          </a:xfrm>
          <a:prstGeom prst="rect">
            <a:avLst/>
          </a:prstGeom>
        </p:spPr>
      </p:pic>
      <p:pic>
        <p:nvPicPr>
          <p:cNvPr id="75" name="Image 8" descr=" ">
            <a:extLst>
              <a:ext uri="{FF2B5EF4-FFF2-40B4-BE49-F238E27FC236}">
                <a16:creationId xmlns:a16="http://schemas.microsoft.com/office/drawing/2014/main" id="{218C47CA-B944-4036-841F-94F55416E50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871634" y="2286000"/>
            <a:ext cx="12702" cy="8636000"/>
          </a:xfrm>
          <a:prstGeom prst="rect">
            <a:avLst/>
          </a:prstGeom>
        </p:spPr>
      </p:pic>
      <p:pic>
        <p:nvPicPr>
          <p:cNvPr id="76" name="Image 9" descr=" ">
            <a:extLst>
              <a:ext uri="{FF2B5EF4-FFF2-40B4-BE49-F238E27FC236}">
                <a16:creationId xmlns:a16="http://schemas.microsoft.com/office/drawing/2014/main" id="{3460055D-DDF3-49DB-B980-54A3AFFF706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1306913" y="2286000"/>
            <a:ext cx="12702" cy="8636000"/>
          </a:xfrm>
          <a:prstGeom prst="rect">
            <a:avLst/>
          </a:prstGeom>
        </p:spPr>
      </p:pic>
      <p:sp>
        <p:nvSpPr>
          <p:cNvPr id="77" name="Text 16">
            <a:extLst>
              <a:ext uri="{FF2B5EF4-FFF2-40B4-BE49-F238E27FC236}">
                <a16:creationId xmlns:a16="http://schemas.microsoft.com/office/drawing/2014/main" id="{A8135B37-6C1B-429D-8947-85B165EC4E0B}"/>
              </a:ext>
            </a:extLst>
          </p:cNvPr>
          <p:cNvSpPr/>
          <p:nvPr/>
        </p:nvSpPr>
        <p:spPr>
          <a:xfrm>
            <a:off x="16791499" y="1765300"/>
            <a:ext cx="512297" cy="334433"/>
          </a:xfrm>
          <a:prstGeom prst="rect">
            <a:avLst/>
          </a:prstGeom>
          <a:noFill/>
          <a:ln/>
        </p:spPr>
        <p:txBody>
          <a:bodyPr wrap="square" lIns="0" tIns="0" rIns="0" bIns="0" rtlCol="0" anchor="t"/>
          <a:lstStyle/>
          <a:p>
            <a:pPr marL="0" indent="0" algn="l">
              <a:lnSpc>
                <a:spcPts val="208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High</a:t>
            </a:r>
            <a:endParaRPr lang="en-US" sz="1600" dirty="0"/>
          </a:p>
        </p:txBody>
      </p:sp>
      <p:sp>
        <p:nvSpPr>
          <p:cNvPr id="78" name="Shape 17">
            <a:extLst>
              <a:ext uri="{FF2B5EF4-FFF2-40B4-BE49-F238E27FC236}">
                <a16:creationId xmlns:a16="http://schemas.microsoft.com/office/drawing/2014/main" id="{057E11EF-BDCB-4A23-ADB0-CDA8E340CDB9}"/>
              </a:ext>
            </a:extLst>
          </p:cNvPr>
          <p:cNvSpPr/>
          <p:nvPr/>
        </p:nvSpPr>
        <p:spPr>
          <a:xfrm>
            <a:off x="18455407" y="3949700"/>
            <a:ext cx="2502213" cy="266700"/>
          </a:xfrm>
          <a:prstGeom prst="rect">
            <a:avLst/>
          </a:prstGeom>
          <a:noFill/>
          <a:ln/>
        </p:spPr>
      </p:sp>
      <p:sp>
        <p:nvSpPr>
          <p:cNvPr id="79" name="Shape 18">
            <a:extLst>
              <a:ext uri="{FF2B5EF4-FFF2-40B4-BE49-F238E27FC236}">
                <a16:creationId xmlns:a16="http://schemas.microsoft.com/office/drawing/2014/main" id="{210D3E33-F60B-4229-A574-B5E3700B6E1C}"/>
              </a:ext>
            </a:extLst>
          </p:cNvPr>
          <p:cNvSpPr/>
          <p:nvPr/>
        </p:nvSpPr>
        <p:spPr>
          <a:xfrm>
            <a:off x="18455407" y="3994150"/>
            <a:ext cx="177822" cy="177800"/>
          </a:xfrm>
          <a:prstGeom prst="ellipse">
            <a:avLst/>
          </a:prstGeom>
          <a:solidFill>
            <a:srgbClr val="C22C0C">
              <a:alpha val="100000"/>
            </a:srgbClr>
          </a:solidFill>
          <a:ln/>
        </p:spPr>
      </p:sp>
      <p:sp>
        <p:nvSpPr>
          <p:cNvPr id="80" name="Text 19">
            <a:extLst>
              <a:ext uri="{FF2B5EF4-FFF2-40B4-BE49-F238E27FC236}">
                <a16:creationId xmlns:a16="http://schemas.microsoft.com/office/drawing/2014/main" id="{48693FD9-4A43-4EB6-99E2-0702F425E7FA}"/>
              </a:ext>
            </a:extLst>
          </p:cNvPr>
          <p:cNvSpPr/>
          <p:nvPr/>
        </p:nvSpPr>
        <p:spPr>
          <a:xfrm>
            <a:off x="18734842" y="3949700"/>
            <a:ext cx="2290520" cy="334433"/>
          </a:xfrm>
          <a:prstGeom prst="rect">
            <a:avLst/>
          </a:prstGeom>
          <a:noFill/>
          <a:ln/>
        </p:spPr>
        <p:txBody>
          <a:bodyPr wrap="square" lIns="0" tIns="0" rIns="0" bIns="0" rtlCol="0" anchor="t"/>
          <a:lstStyle/>
          <a:p>
            <a:pPr marL="0" indent="0" algn="l">
              <a:lnSpc>
                <a:spcPts val="2080"/>
              </a:lnSpc>
              <a:buNone/>
            </a:pPr>
            <a:r>
              <a:rPr lang="en-US" sz="1600" kern="0" spc="-32" dirty="0">
                <a:solidFill>
                  <a:srgbClr val="000000">
                    <a:alpha val="50000"/>
                  </a:srgbClr>
                </a:solidFill>
                <a:latin typeface="Inter Regular" pitchFamily="34" charset="0"/>
                <a:ea typeface="Inter Regular" pitchFamily="34" charset="-122"/>
                <a:cs typeface="Inter Regular" pitchFamily="34" charset="-120"/>
              </a:rPr>
              <a:t>Supply Chain Disruption</a:t>
            </a:r>
            <a:endParaRPr lang="en-US" sz="1600" dirty="0"/>
          </a:p>
        </p:txBody>
      </p:sp>
      <p:sp>
        <p:nvSpPr>
          <p:cNvPr id="81" name="Shape 20">
            <a:extLst>
              <a:ext uri="{FF2B5EF4-FFF2-40B4-BE49-F238E27FC236}">
                <a16:creationId xmlns:a16="http://schemas.microsoft.com/office/drawing/2014/main" id="{ADB9BB60-42AF-4FBC-BD9E-9BE80FFF2A3B}"/>
              </a:ext>
            </a:extLst>
          </p:cNvPr>
          <p:cNvSpPr/>
          <p:nvPr/>
        </p:nvSpPr>
        <p:spPr>
          <a:xfrm>
            <a:off x="13552594" y="8966200"/>
            <a:ext cx="1790924" cy="266700"/>
          </a:xfrm>
          <a:prstGeom prst="rect">
            <a:avLst/>
          </a:prstGeom>
          <a:noFill/>
          <a:ln/>
        </p:spPr>
      </p:sp>
      <p:sp>
        <p:nvSpPr>
          <p:cNvPr id="82" name="Shape 21">
            <a:extLst>
              <a:ext uri="{FF2B5EF4-FFF2-40B4-BE49-F238E27FC236}">
                <a16:creationId xmlns:a16="http://schemas.microsoft.com/office/drawing/2014/main" id="{4CA78117-4D40-41A4-BDB9-476F3E8F8CBA}"/>
              </a:ext>
            </a:extLst>
          </p:cNvPr>
          <p:cNvSpPr/>
          <p:nvPr/>
        </p:nvSpPr>
        <p:spPr>
          <a:xfrm>
            <a:off x="13552594" y="9010650"/>
            <a:ext cx="177822" cy="177800"/>
          </a:xfrm>
          <a:prstGeom prst="ellipse">
            <a:avLst/>
          </a:prstGeom>
          <a:solidFill>
            <a:srgbClr val="FB7C3C">
              <a:alpha val="100000"/>
            </a:srgbClr>
          </a:solidFill>
          <a:ln/>
        </p:spPr>
      </p:sp>
      <p:sp>
        <p:nvSpPr>
          <p:cNvPr id="83" name="Text 22">
            <a:extLst>
              <a:ext uri="{FF2B5EF4-FFF2-40B4-BE49-F238E27FC236}">
                <a16:creationId xmlns:a16="http://schemas.microsoft.com/office/drawing/2014/main" id="{CBA4DE2A-C9FB-4D92-9D5A-E51C6C0BD269}"/>
              </a:ext>
            </a:extLst>
          </p:cNvPr>
          <p:cNvSpPr/>
          <p:nvPr/>
        </p:nvSpPr>
        <p:spPr>
          <a:xfrm>
            <a:off x="13832029" y="8966200"/>
            <a:ext cx="1579231" cy="334433"/>
          </a:xfrm>
          <a:prstGeom prst="rect">
            <a:avLst/>
          </a:prstGeom>
          <a:noFill/>
          <a:ln/>
        </p:spPr>
        <p:txBody>
          <a:bodyPr wrap="square" lIns="0" tIns="0" rIns="0" bIns="0" rtlCol="0" anchor="t"/>
          <a:lstStyle/>
          <a:p>
            <a:pPr marL="0" indent="0" algn="l">
              <a:lnSpc>
                <a:spcPts val="2080"/>
              </a:lnSpc>
              <a:buNone/>
            </a:pPr>
            <a:r>
              <a:rPr lang="en-US" sz="1600" kern="0" spc="-32" dirty="0">
                <a:solidFill>
                  <a:srgbClr val="000000">
                    <a:alpha val="50000"/>
                  </a:srgbClr>
                </a:solidFill>
                <a:latin typeface="Inter Regular" pitchFamily="34" charset="0"/>
                <a:ea typeface="Inter Regular" pitchFamily="34" charset="-122"/>
                <a:cs typeface="Inter Regular" pitchFamily="34" charset="-120"/>
              </a:rPr>
              <a:t>Talent Retention</a:t>
            </a:r>
            <a:endParaRPr lang="en-US" sz="1600" dirty="0"/>
          </a:p>
        </p:txBody>
      </p:sp>
      <p:sp>
        <p:nvSpPr>
          <p:cNvPr id="84" name="Shape 23">
            <a:extLst>
              <a:ext uri="{FF2B5EF4-FFF2-40B4-BE49-F238E27FC236}">
                <a16:creationId xmlns:a16="http://schemas.microsoft.com/office/drawing/2014/main" id="{4F88386E-A1CC-49AB-8389-C24712DB332D}"/>
              </a:ext>
            </a:extLst>
          </p:cNvPr>
          <p:cNvSpPr/>
          <p:nvPr/>
        </p:nvSpPr>
        <p:spPr>
          <a:xfrm>
            <a:off x="13552594" y="3949700"/>
            <a:ext cx="2603825" cy="266700"/>
          </a:xfrm>
          <a:prstGeom prst="rect">
            <a:avLst/>
          </a:prstGeom>
          <a:noFill/>
          <a:ln/>
        </p:spPr>
      </p:sp>
      <p:sp>
        <p:nvSpPr>
          <p:cNvPr id="85" name="Shape 24">
            <a:extLst>
              <a:ext uri="{FF2B5EF4-FFF2-40B4-BE49-F238E27FC236}">
                <a16:creationId xmlns:a16="http://schemas.microsoft.com/office/drawing/2014/main" id="{5D89D923-F90A-4BB9-822C-C8F2BDC91163}"/>
              </a:ext>
            </a:extLst>
          </p:cNvPr>
          <p:cNvSpPr/>
          <p:nvPr/>
        </p:nvSpPr>
        <p:spPr>
          <a:xfrm>
            <a:off x="13552594" y="3994150"/>
            <a:ext cx="177822" cy="177800"/>
          </a:xfrm>
          <a:prstGeom prst="ellipse">
            <a:avLst/>
          </a:prstGeom>
          <a:solidFill>
            <a:srgbClr val="C22C0C">
              <a:alpha val="100000"/>
            </a:srgbClr>
          </a:solidFill>
          <a:ln/>
        </p:spPr>
      </p:sp>
      <p:sp>
        <p:nvSpPr>
          <p:cNvPr id="86" name="Text 25">
            <a:extLst>
              <a:ext uri="{FF2B5EF4-FFF2-40B4-BE49-F238E27FC236}">
                <a16:creationId xmlns:a16="http://schemas.microsoft.com/office/drawing/2014/main" id="{88CB1F3B-EEBC-4893-BC49-436695EC3D63}"/>
              </a:ext>
            </a:extLst>
          </p:cNvPr>
          <p:cNvSpPr/>
          <p:nvPr/>
        </p:nvSpPr>
        <p:spPr>
          <a:xfrm>
            <a:off x="13832029" y="3949700"/>
            <a:ext cx="2392132" cy="334433"/>
          </a:xfrm>
          <a:prstGeom prst="rect">
            <a:avLst/>
          </a:prstGeom>
          <a:noFill/>
          <a:ln/>
        </p:spPr>
        <p:txBody>
          <a:bodyPr wrap="square" lIns="0" tIns="0" rIns="0" bIns="0" rtlCol="0" anchor="t"/>
          <a:lstStyle/>
          <a:p>
            <a:pPr marL="0" indent="0" algn="l">
              <a:lnSpc>
                <a:spcPts val="2080"/>
              </a:lnSpc>
              <a:buNone/>
            </a:pPr>
            <a:r>
              <a:rPr lang="en-US" sz="1600" kern="0" spc="-32" dirty="0">
                <a:solidFill>
                  <a:srgbClr val="000000">
                    <a:alpha val="50000"/>
                  </a:srgbClr>
                </a:solidFill>
                <a:latin typeface="Inter Regular" pitchFamily="34" charset="0"/>
                <a:ea typeface="Inter Regular" pitchFamily="34" charset="-122"/>
                <a:cs typeface="Inter Regular" pitchFamily="34" charset="-120"/>
              </a:rPr>
              <a:t>Data Privacy/Compliance</a:t>
            </a:r>
            <a:endParaRPr lang="en-US" sz="1600" dirty="0"/>
          </a:p>
        </p:txBody>
      </p:sp>
      <p:sp>
        <p:nvSpPr>
          <p:cNvPr id="87" name="Shape 26">
            <a:extLst>
              <a:ext uri="{FF2B5EF4-FFF2-40B4-BE49-F238E27FC236}">
                <a16:creationId xmlns:a16="http://schemas.microsoft.com/office/drawing/2014/main" id="{1282EAB7-C8AE-4CC7-956A-B12C954F9913}"/>
              </a:ext>
            </a:extLst>
          </p:cNvPr>
          <p:cNvSpPr/>
          <p:nvPr/>
        </p:nvSpPr>
        <p:spPr>
          <a:xfrm>
            <a:off x="18353794" y="8966200"/>
            <a:ext cx="2540318" cy="266700"/>
          </a:xfrm>
          <a:prstGeom prst="rect">
            <a:avLst/>
          </a:prstGeom>
          <a:noFill/>
          <a:ln/>
        </p:spPr>
      </p:sp>
      <p:sp>
        <p:nvSpPr>
          <p:cNvPr id="88" name="Shape 27">
            <a:extLst>
              <a:ext uri="{FF2B5EF4-FFF2-40B4-BE49-F238E27FC236}">
                <a16:creationId xmlns:a16="http://schemas.microsoft.com/office/drawing/2014/main" id="{D1A14D41-F39A-4BED-A3EB-073C6210CF2F}"/>
              </a:ext>
            </a:extLst>
          </p:cNvPr>
          <p:cNvSpPr/>
          <p:nvPr/>
        </p:nvSpPr>
        <p:spPr>
          <a:xfrm>
            <a:off x="18353794" y="9010650"/>
            <a:ext cx="177822" cy="177800"/>
          </a:xfrm>
          <a:prstGeom prst="ellipse">
            <a:avLst/>
          </a:prstGeom>
          <a:solidFill>
            <a:srgbClr val="FDAA74">
              <a:alpha val="100000"/>
            </a:srgbClr>
          </a:solidFill>
          <a:ln/>
        </p:spPr>
      </p:sp>
      <p:sp>
        <p:nvSpPr>
          <p:cNvPr id="89" name="Text 28">
            <a:extLst>
              <a:ext uri="{FF2B5EF4-FFF2-40B4-BE49-F238E27FC236}">
                <a16:creationId xmlns:a16="http://schemas.microsoft.com/office/drawing/2014/main" id="{14A1FC94-94F3-4D65-BA7B-36B3224EC06D}"/>
              </a:ext>
            </a:extLst>
          </p:cNvPr>
          <p:cNvSpPr/>
          <p:nvPr/>
        </p:nvSpPr>
        <p:spPr>
          <a:xfrm>
            <a:off x="18633229" y="8966200"/>
            <a:ext cx="2328624" cy="334433"/>
          </a:xfrm>
          <a:prstGeom prst="rect">
            <a:avLst/>
          </a:prstGeom>
          <a:noFill/>
          <a:ln/>
        </p:spPr>
        <p:txBody>
          <a:bodyPr wrap="square" lIns="0" tIns="0" rIns="0" bIns="0" rtlCol="0" anchor="t"/>
          <a:lstStyle/>
          <a:p>
            <a:pPr marL="0" indent="0" algn="l">
              <a:lnSpc>
                <a:spcPts val="2080"/>
              </a:lnSpc>
              <a:buNone/>
            </a:pPr>
            <a:r>
              <a:rPr lang="en-US" sz="1600" kern="0" spc="-32" dirty="0">
                <a:solidFill>
                  <a:srgbClr val="000000">
                    <a:alpha val="50000"/>
                  </a:srgbClr>
                </a:solidFill>
                <a:latin typeface="Inter Regular" pitchFamily="34" charset="0"/>
                <a:ea typeface="Inter Regular" pitchFamily="34" charset="-122"/>
                <a:cs typeface="Inter Regular" pitchFamily="34" charset="-120"/>
              </a:rPr>
              <a:t>Market Regulation Shifts</a:t>
            </a:r>
            <a:endParaRPr lang="en-US" sz="1600" dirty="0"/>
          </a:p>
        </p:txBody>
      </p:sp>
      <p:sp>
        <p:nvSpPr>
          <p:cNvPr id="90" name="Text 31">
            <a:extLst>
              <a:ext uri="{FF2B5EF4-FFF2-40B4-BE49-F238E27FC236}">
                <a16:creationId xmlns:a16="http://schemas.microsoft.com/office/drawing/2014/main" id="{A979D420-BFEC-4AA8-9CBB-A901E96A3017}"/>
              </a:ext>
            </a:extLst>
          </p:cNvPr>
          <p:cNvSpPr/>
          <p:nvPr/>
        </p:nvSpPr>
        <p:spPr>
          <a:xfrm>
            <a:off x="22375963" y="1651000"/>
            <a:ext cx="529233"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016</a:t>
            </a:r>
            <a:endParaRPr lang="en-US" sz="2000" dirty="0"/>
          </a:p>
        </p:txBody>
      </p:sp>
    </p:spTree>
    <p:extLst>
      <p:ext uri="{BB962C8B-B14F-4D97-AF65-F5344CB8AC3E}">
        <p14:creationId xmlns:p14="http://schemas.microsoft.com/office/powerpoint/2010/main" val="2838785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22198141" y="1524000"/>
            <a:ext cx="707055" cy="364067"/>
          </a:xfrm>
          <a:prstGeom prst="rect">
            <a:avLst/>
          </a:prstGeom>
          <a:noFill/>
          <a:ln/>
        </p:spPr>
        <p:txBody>
          <a:bodyPr wrap="square" lIns="0" tIns="0" rIns="0" bIns="0" rtlCol="0" anchor="t"/>
          <a:lstStyle/>
          <a:p>
            <a:pPr marL="0" indent="0" algn="ctr">
              <a:lnSpc>
                <a:spcPts val="2200"/>
              </a:lnSpc>
              <a:buNone/>
            </a:pPr>
            <a:r>
              <a:rPr lang="en-US" sz="2000" dirty="0">
                <a:solidFill>
                  <a:srgbClr val="FFFFFF">
                    <a:alpha val="100000"/>
                  </a:srgbClr>
                </a:solidFill>
                <a:latin typeface="Inter Regular" pitchFamily="34" charset="0"/>
                <a:ea typeface="Inter Regular" pitchFamily="34" charset="-122"/>
                <a:cs typeface="Inter Regular" pitchFamily="34" charset="-120"/>
              </a:rPr>
              <a:t>2025</a:t>
            </a:r>
            <a:endParaRPr lang="en-US" sz="2000" dirty="0"/>
          </a:p>
        </p:txBody>
      </p:sp>
      <p:sp>
        <p:nvSpPr>
          <p:cNvPr id="3" name="Text 1"/>
          <p:cNvSpPr/>
          <p:nvPr/>
        </p:nvSpPr>
        <p:spPr>
          <a:xfrm>
            <a:off x="1524191" y="1524000"/>
            <a:ext cx="7282244" cy="2048933"/>
          </a:xfrm>
          <a:prstGeom prst="rect">
            <a:avLst/>
          </a:prstGeom>
          <a:noFill/>
          <a:ln/>
        </p:spPr>
        <p:txBody>
          <a:bodyPr wrap="square" lIns="0" tIns="0" rIns="0" bIns="0" rtlCol="0" anchor="t"/>
          <a:lstStyle/>
          <a:p>
            <a:pPr marL="0" indent="0" algn="l">
              <a:lnSpc>
                <a:spcPts val="7040"/>
              </a:lnSpc>
              <a:buNone/>
            </a:pPr>
            <a:r>
              <a:rPr lang="en-US" sz="6400" kern="0" spc="-64" dirty="0">
                <a:solidFill>
                  <a:srgbClr val="FF5102">
                    <a:alpha val="100000"/>
                  </a:srgbClr>
                </a:solidFill>
                <a:latin typeface="Inter Semi Bold" pitchFamily="34" charset="0"/>
                <a:ea typeface="Inter Semi Bold" pitchFamily="34" charset="-122"/>
                <a:cs typeface="Inter Semi Bold" pitchFamily="34" charset="-120"/>
              </a:rPr>
              <a:t>Operating</a:t>
            </a:r>
            <a:r>
              <a:rPr lang="en-US" sz="6400" kern="0" spc="-64" dirty="0">
                <a:solidFill>
                  <a:srgbClr val="FFFFFF">
                    <a:alpha val="100000"/>
                  </a:srgbClr>
                </a:solidFill>
                <a:latin typeface="Inter Semi Bold" pitchFamily="34" charset="0"/>
                <a:ea typeface="Inter Semi Bold" pitchFamily="34" charset="-122"/>
                <a:cs typeface="Inter Semi Bold" pitchFamily="34" charset="-120"/>
              </a:rPr>
              <a:t> Model &amp; Roles</a:t>
            </a:r>
            <a:endParaRPr lang="en-US" sz="6400" dirty="0"/>
          </a:p>
        </p:txBody>
      </p:sp>
      <p:sp>
        <p:nvSpPr>
          <p:cNvPr id="4" name="Text 2"/>
          <p:cNvSpPr/>
          <p:nvPr/>
        </p:nvSpPr>
        <p:spPr>
          <a:xfrm>
            <a:off x="1524191" y="3797300"/>
            <a:ext cx="6926599" cy="1210733"/>
          </a:xfrm>
          <a:prstGeom prst="rect">
            <a:avLst/>
          </a:prstGeom>
          <a:noFill/>
          <a:ln/>
        </p:spPr>
        <p:txBody>
          <a:bodyPr wrap="square" lIns="0" tIns="0" rIns="0" bIns="0" rtlCol="0" anchor="t"/>
          <a:lstStyle/>
          <a:p>
            <a:pPr marL="0" indent="0" algn="l">
              <a:lnSpc>
                <a:spcPts val="176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Customer data is often scattered across various platforms, leading to inefficiencies and a lack of cohesive insights. </a:t>
            </a:r>
            <a:r>
              <a:rPr lang="en-US" sz="1600" dirty="0">
                <a:solidFill>
                  <a:srgbClr val="B0B0B0">
                    <a:alpha val="100000"/>
                  </a:srgbClr>
                </a:solidFill>
                <a:latin typeface="Inter Regular" pitchFamily="34" charset="0"/>
                <a:ea typeface="Inter Regular" pitchFamily="34" charset="-122"/>
                <a:cs typeface="Inter Regular" pitchFamily="34" charset="-120"/>
              </a:rPr>
              <a:t>This fragmentation makes it challenging for businesses to understand their customers fully and deliver personalized experiences. Addressing this issue is crucial for enhancing customer relationships and driving growth.</a:t>
            </a:r>
            <a:endParaRPr lang="en-US" sz="1600" dirty="0"/>
          </a:p>
        </p:txBody>
      </p:sp>
      <p:sp>
        <p:nvSpPr>
          <p:cNvPr id="5" name="Shape 3"/>
          <p:cNvSpPr/>
          <p:nvPr/>
        </p:nvSpPr>
        <p:spPr>
          <a:xfrm>
            <a:off x="1524191" y="10960100"/>
            <a:ext cx="6363495" cy="1079500"/>
          </a:xfrm>
          <a:prstGeom prst="rect">
            <a:avLst/>
          </a:prstGeom>
          <a:noFill/>
          <a:ln/>
        </p:spPr>
      </p:sp>
      <p:sp>
        <p:nvSpPr>
          <p:cNvPr id="6" name="Shape 4"/>
          <p:cNvSpPr/>
          <p:nvPr/>
        </p:nvSpPr>
        <p:spPr>
          <a:xfrm>
            <a:off x="1524191" y="10960100"/>
            <a:ext cx="6363495" cy="1079500"/>
          </a:xfrm>
          <a:prstGeom prst="roundRect">
            <a:avLst>
              <a:gd name="adj" fmla="val 14400"/>
            </a:avLst>
          </a:prstGeom>
          <a:solidFill>
            <a:srgbClr val="242424">
              <a:alpha val="100000"/>
            </a:srgbClr>
          </a:solidFill>
          <a:ln w="12700">
            <a:solidFill>
              <a:srgbClr val="4F4F4F"/>
            </a:solidFill>
            <a:prstDash val="solid"/>
          </a:ln>
        </p:spPr>
      </p:sp>
      <p:sp>
        <p:nvSpPr>
          <p:cNvPr id="7" name="Text 5"/>
          <p:cNvSpPr/>
          <p:nvPr/>
        </p:nvSpPr>
        <p:spPr>
          <a:xfrm>
            <a:off x="2222778" y="11201400"/>
            <a:ext cx="5427812" cy="677333"/>
          </a:xfrm>
          <a:prstGeom prst="rect">
            <a:avLst/>
          </a:prstGeom>
          <a:noFill/>
          <a:ln/>
        </p:spPr>
        <p:txBody>
          <a:bodyPr wrap="square" lIns="0" tIns="0" rIns="0" bIns="0" rtlCol="0" anchor="t"/>
          <a:lstStyle/>
          <a:p>
            <a:pPr marL="0" indent="0" algn="l">
              <a:lnSpc>
                <a:spcPts val="2400"/>
              </a:lnSpc>
              <a:buNone/>
            </a:pPr>
            <a:r>
              <a:rPr lang="en-US" sz="1600" dirty="0">
                <a:solidFill>
                  <a:srgbClr val="888888">
                    <a:alpha val="100000"/>
                  </a:srgbClr>
                </a:solidFill>
                <a:latin typeface="Inter Regular" pitchFamily="34" charset="0"/>
                <a:ea typeface="Inter Regular" pitchFamily="34" charset="-122"/>
                <a:cs typeface="Inter Regular" pitchFamily="34" charset="-120"/>
              </a:rPr>
              <a:t>Clarify ownership and accountability in the CDP ecosystem, ensuring centralized governance.</a:t>
            </a:r>
            <a:endParaRPr lang="en-US" sz="1600" dirty="0"/>
          </a:p>
        </p:txBody>
      </p:sp>
      <p:pic>
        <p:nvPicPr>
          <p:cNvPr id="9"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48069" y="11268075"/>
            <a:ext cx="139739" cy="196850"/>
          </a:xfrm>
          <a:prstGeom prst="rect">
            <a:avLst/>
          </a:prstGeom>
        </p:spPr>
      </p:pic>
      <p:sp>
        <p:nvSpPr>
          <p:cNvPr id="10" name="Shape 6"/>
          <p:cNvSpPr/>
          <p:nvPr/>
        </p:nvSpPr>
        <p:spPr>
          <a:xfrm>
            <a:off x="10593124" y="1905000"/>
            <a:ext cx="10208082" cy="10138352"/>
          </a:xfrm>
          <a:prstGeom prst="rect">
            <a:avLst/>
          </a:prstGeom>
          <a:noFill/>
          <a:ln/>
        </p:spPr>
      </p:sp>
      <p:pic>
        <p:nvPicPr>
          <p:cNvPr id="11"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3650" y="1905000"/>
            <a:ext cx="8808849" cy="8807748"/>
          </a:xfrm>
          <a:prstGeom prst="rect">
            <a:avLst/>
          </a:prstGeom>
        </p:spPr>
      </p:pic>
      <p:pic>
        <p:nvPicPr>
          <p:cNvPr id="12"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51485" y="1922686"/>
            <a:ext cx="17688" cy="9621614"/>
          </a:xfrm>
          <a:prstGeom prst="rect">
            <a:avLst/>
          </a:prstGeom>
        </p:spPr>
      </p:pic>
      <p:pic>
        <p:nvPicPr>
          <p:cNvPr id="13" name="Image 4"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160335" y="11535457"/>
            <a:ext cx="9640871" cy="17686"/>
          </a:xfrm>
          <a:prstGeom prst="rect">
            <a:avLst/>
          </a:prstGeom>
        </p:spPr>
      </p:pic>
      <p:pic>
        <p:nvPicPr>
          <p:cNvPr id="14" name="Image 5"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983650" y="3143250"/>
            <a:ext cx="8808849" cy="12700"/>
          </a:xfrm>
          <a:prstGeom prst="rect">
            <a:avLst/>
          </a:prstGeom>
        </p:spPr>
      </p:pic>
      <p:pic>
        <p:nvPicPr>
          <p:cNvPr id="15" name="Image 6"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983650" y="4438650"/>
            <a:ext cx="8808849" cy="12700"/>
          </a:xfrm>
          <a:prstGeom prst="rect">
            <a:avLst/>
          </a:prstGeom>
        </p:spPr>
      </p:pic>
      <p:pic>
        <p:nvPicPr>
          <p:cNvPr id="16" name="Image 7"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983650" y="5734050"/>
            <a:ext cx="8808849" cy="12700"/>
          </a:xfrm>
          <a:prstGeom prst="rect">
            <a:avLst/>
          </a:prstGeom>
        </p:spPr>
      </p:pic>
      <p:pic>
        <p:nvPicPr>
          <p:cNvPr id="17" name="Image 8"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983650" y="7029450"/>
            <a:ext cx="8808849" cy="12700"/>
          </a:xfrm>
          <a:prstGeom prst="rect">
            <a:avLst/>
          </a:prstGeom>
        </p:spPr>
      </p:pic>
      <p:pic>
        <p:nvPicPr>
          <p:cNvPr id="18" name="Image 9"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983650" y="8324850"/>
            <a:ext cx="8808849" cy="12700"/>
          </a:xfrm>
          <a:prstGeom prst="rect">
            <a:avLst/>
          </a:prstGeom>
        </p:spPr>
      </p:pic>
      <p:pic>
        <p:nvPicPr>
          <p:cNvPr id="19" name="Image 10"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983650" y="9620250"/>
            <a:ext cx="8808849" cy="12700"/>
          </a:xfrm>
          <a:prstGeom prst="rect">
            <a:avLst/>
          </a:prstGeom>
        </p:spPr>
      </p:pic>
      <p:pic>
        <p:nvPicPr>
          <p:cNvPr id="20" name="Image 11"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9617602" y="1917700"/>
            <a:ext cx="12702" cy="8807748"/>
          </a:xfrm>
          <a:prstGeom prst="rect">
            <a:avLst/>
          </a:prstGeom>
        </p:spPr>
      </p:pic>
      <p:pic>
        <p:nvPicPr>
          <p:cNvPr id="21" name="Image 12"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8322040" y="1917700"/>
            <a:ext cx="12702" cy="8807748"/>
          </a:xfrm>
          <a:prstGeom prst="rect">
            <a:avLst/>
          </a:prstGeom>
        </p:spPr>
      </p:pic>
      <p:pic>
        <p:nvPicPr>
          <p:cNvPr id="22" name="Image 13"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026478" y="1917700"/>
            <a:ext cx="12702" cy="8807748"/>
          </a:xfrm>
          <a:prstGeom prst="rect">
            <a:avLst/>
          </a:prstGeom>
        </p:spPr>
      </p:pic>
      <p:pic>
        <p:nvPicPr>
          <p:cNvPr id="23" name="Image 14"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730916" y="1917700"/>
            <a:ext cx="12702" cy="8807748"/>
          </a:xfrm>
          <a:prstGeom prst="rect">
            <a:avLst/>
          </a:prstGeom>
        </p:spPr>
      </p:pic>
      <p:pic>
        <p:nvPicPr>
          <p:cNvPr id="24" name="Image 15"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435354" y="1917700"/>
            <a:ext cx="12702" cy="8807748"/>
          </a:xfrm>
          <a:prstGeom prst="rect">
            <a:avLst/>
          </a:prstGeom>
        </p:spPr>
      </p:pic>
      <p:pic>
        <p:nvPicPr>
          <p:cNvPr id="25" name="Image 16"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139792" y="1917700"/>
            <a:ext cx="12702" cy="8807748"/>
          </a:xfrm>
          <a:prstGeom prst="rect">
            <a:avLst/>
          </a:prstGeom>
        </p:spPr>
      </p:pic>
      <p:sp>
        <p:nvSpPr>
          <p:cNvPr id="26" name="Text 7"/>
          <p:cNvSpPr/>
          <p:nvPr/>
        </p:nvSpPr>
        <p:spPr>
          <a:xfrm>
            <a:off x="12968321" y="10845800"/>
            <a:ext cx="453023" cy="325967"/>
          </a:xfrm>
          <a:prstGeom prst="rect">
            <a:avLst/>
          </a:prstGeom>
          <a:noFill/>
          <a:ln/>
        </p:spPr>
        <p:txBody>
          <a:bodyPr wrap="square" lIns="0" tIns="0" rIns="0" bIns="0" rtlCol="0" anchor="t"/>
          <a:lstStyle/>
          <a:p>
            <a:pPr marL="0" indent="0" algn="l">
              <a:lnSpc>
                <a:spcPts val="2100"/>
              </a:lnSpc>
              <a:buNone/>
            </a:pPr>
            <a:r>
              <a:rPr lang="en-US" sz="1400" dirty="0">
                <a:solidFill>
                  <a:srgbClr val="B0B0B0">
                    <a:alpha val="100000"/>
                  </a:srgbClr>
                </a:solidFill>
                <a:latin typeface="Inter Regular" pitchFamily="34" charset="0"/>
                <a:ea typeface="Inter Regular" pitchFamily="34" charset="-122"/>
                <a:cs typeface="Inter Regular" pitchFamily="34" charset="-120"/>
              </a:rPr>
              <a:t>CDO</a:t>
            </a:r>
            <a:endParaRPr lang="en-US" sz="1400" dirty="0"/>
          </a:p>
        </p:txBody>
      </p:sp>
      <p:sp>
        <p:nvSpPr>
          <p:cNvPr id="27" name="Text 8"/>
          <p:cNvSpPr/>
          <p:nvPr/>
        </p:nvSpPr>
        <p:spPr>
          <a:xfrm>
            <a:off x="13929408" y="10845800"/>
            <a:ext cx="1011893" cy="592667"/>
          </a:xfrm>
          <a:prstGeom prst="rect">
            <a:avLst/>
          </a:prstGeom>
          <a:noFill/>
          <a:ln/>
        </p:spPr>
        <p:txBody>
          <a:bodyPr wrap="square" lIns="0" tIns="0" rIns="0" bIns="0" rtlCol="0" anchor="t"/>
          <a:lstStyle/>
          <a:p>
            <a:pPr marL="0" indent="0" algn="ctr">
              <a:lnSpc>
                <a:spcPts val="2100"/>
              </a:lnSpc>
              <a:buNone/>
            </a:pPr>
            <a:r>
              <a:rPr lang="en-US" sz="1400" dirty="0">
                <a:solidFill>
                  <a:srgbClr val="B0B0B0">
                    <a:alpha val="100000"/>
                  </a:srgbClr>
                </a:solidFill>
                <a:latin typeface="Inter Regular" pitchFamily="34" charset="0"/>
                <a:ea typeface="Inter Regular" pitchFamily="34" charset="-122"/>
                <a:cs typeface="Inter Regular" pitchFamily="34" charset="-120"/>
              </a:rPr>
              <a:t>Marketing Ops</a:t>
            </a:r>
            <a:endParaRPr lang="en-US" sz="1400" dirty="0"/>
          </a:p>
        </p:txBody>
      </p:sp>
      <p:sp>
        <p:nvSpPr>
          <p:cNvPr id="28" name="Text 9"/>
          <p:cNvSpPr/>
          <p:nvPr/>
        </p:nvSpPr>
        <p:spPr>
          <a:xfrm>
            <a:off x="15212268" y="10845800"/>
            <a:ext cx="1011893" cy="325967"/>
          </a:xfrm>
          <a:prstGeom prst="rect">
            <a:avLst/>
          </a:prstGeom>
          <a:noFill/>
          <a:ln/>
        </p:spPr>
        <p:txBody>
          <a:bodyPr wrap="square" lIns="0" tIns="0" rIns="0" bIns="0" rtlCol="0" anchor="t"/>
          <a:lstStyle/>
          <a:p>
            <a:pPr marL="0" indent="0" algn="ctr">
              <a:lnSpc>
                <a:spcPts val="2100"/>
              </a:lnSpc>
              <a:buNone/>
            </a:pPr>
            <a:r>
              <a:rPr lang="en-US" sz="1400" dirty="0">
                <a:solidFill>
                  <a:srgbClr val="B0B0B0">
                    <a:alpha val="100000"/>
                  </a:srgbClr>
                </a:solidFill>
                <a:latin typeface="Inter Regular" pitchFamily="34" charset="0"/>
                <a:ea typeface="Inter Regular" pitchFamily="34" charset="-122"/>
                <a:cs typeface="Inter Regular" pitchFamily="34" charset="-120"/>
              </a:rPr>
              <a:t>Data Eng</a:t>
            </a:r>
            <a:endParaRPr lang="en-US" sz="1400" dirty="0"/>
          </a:p>
        </p:txBody>
      </p:sp>
      <p:sp>
        <p:nvSpPr>
          <p:cNvPr id="29" name="Text 10"/>
          <p:cNvSpPr/>
          <p:nvPr/>
        </p:nvSpPr>
        <p:spPr>
          <a:xfrm>
            <a:off x="16495128" y="10845800"/>
            <a:ext cx="1011893" cy="325967"/>
          </a:xfrm>
          <a:prstGeom prst="rect">
            <a:avLst/>
          </a:prstGeom>
          <a:noFill/>
          <a:ln/>
        </p:spPr>
        <p:txBody>
          <a:bodyPr wrap="square" lIns="0" tIns="0" rIns="0" bIns="0" rtlCol="0" anchor="t"/>
          <a:lstStyle/>
          <a:p>
            <a:pPr marL="0" indent="0" algn="ctr">
              <a:lnSpc>
                <a:spcPts val="2100"/>
              </a:lnSpc>
              <a:buNone/>
            </a:pPr>
            <a:r>
              <a:rPr lang="en-US" sz="1400" dirty="0">
                <a:solidFill>
                  <a:srgbClr val="B0B0B0">
                    <a:alpha val="100000"/>
                  </a:srgbClr>
                </a:solidFill>
                <a:latin typeface="Inter Regular" pitchFamily="34" charset="0"/>
                <a:ea typeface="Inter Regular" pitchFamily="34" charset="-122"/>
                <a:cs typeface="Inter Regular" pitchFamily="34" charset="-120"/>
              </a:rPr>
              <a:t>Privacy</a:t>
            </a:r>
            <a:endParaRPr lang="en-US" sz="1400" dirty="0"/>
          </a:p>
        </p:txBody>
      </p:sp>
      <p:sp>
        <p:nvSpPr>
          <p:cNvPr id="30" name="Text 11"/>
          <p:cNvSpPr/>
          <p:nvPr/>
        </p:nvSpPr>
        <p:spPr>
          <a:xfrm>
            <a:off x="17777989" y="10845800"/>
            <a:ext cx="1011893" cy="325967"/>
          </a:xfrm>
          <a:prstGeom prst="rect">
            <a:avLst/>
          </a:prstGeom>
          <a:noFill/>
          <a:ln/>
        </p:spPr>
        <p:txBody>
          <a:bodyPr wrap="square" lIns="0" tIns="0" rIns="0" bIns="0" rtlCol="0" anchor="t"/>
          <a:lstStyle/>
          <a:p>
            <a:pPr marL="0" indent="0" algn="ctr">
              <a:lnSpc>
                <a:spcPts val="2100"/>
              </a:lnSpc>
              <a:buNone/>
            </a:pPr>
            <a:r>
              <a:rPr lang="en-US" sz="1400" dirty="0">
                <a:solidFill>
                  <a:srgbClr val="B0B0B0">
                    <a:alpha val="100000"/>
                  </a:srgbClr>
                </a:solidFill>
                <a:latin typeface="Inter Regular" pitchFamily="34" charset="0"/>
                <a:ea typeface="Inter Regular" pitchFamily="34" charset="-122"/>
                <a:cs typeface="Inter Regular" pitchFamily="34" charset="-120"/>
              </a:rPr>
              <a:t>Analytics</a:t>
            </a:r>
            <a:endParaRPr lang="en-US" sz="1400" dirty="0"/>
          </a:p>
        </p:txBody>
      </p:sp>
      <p:sp>
        <p:nvSpPr>
          <p:cNvPr id="31" name="Text 12"/>
          <p:cNvSpPr/>
          <p:nvPr/>
        </p:nvSpPr>
        <p:spPr>
          <a:xfrm>
            <a:off x="19060849" y="10845800"/>
            <a:ext cx="1011893" cy="325967"/>
          </a:xfrm>
          <a:prstGeom prst="rect">
            <a:avLst/>
          </a:prstGeom>
          <a:noFill/>
          <a:ln/>
        </p:spPr>
        <p:txBody>
          <a:bodyPr wrap="square" lIns="0" tIns="0" rIns="0" bIns="0" rtlCol="0" anchor="t"/>
          <a:lstStyle/>
          <a:p>
            <a:pPr marL="0" indent="0" algn="ctr">
              <a:lnSpc>
                <a:spcPts val="2100"/>
              </a:lnSpc>
              <a:buNone/>
            </a:pPr>
            <a:r>
              <a:rPr lang="en-US" sz="1400" dirty="0">
                <a:solidFill>
                  <a:srgbClr val="B0B0B0">
                    <a:alpha val="100000"/>
                  </a:srgbClr>
                </a:solidFill>
                <a:latin typeface="Inter Regular" pitchFamily="34" charset="0"/>
                <a:ea typeface="Inter Regular" pitchFamily="34" charset="-122"/>
                <a:cs typeface="Inter Regular" pitchFamily="34" charset="-120"/>
              </a:rPr>
              <a:t>Channels</a:t>
            </a:r>
            <a:endParaRPr lang="en-US" sz="1400" dirty="0"/>
          </a:p>
        </p:txBody>
      </p:sp>
      <p:sp>
        <p:nvSpPr>
          <p:cNvPr id="32" name="Text 13"/>
          <p:cNvSpPr/>
          <p:nvPr/>
        </p:nvSpPr>
        <p:spPr>
          <a:xfrm rot="16200000">
            <a:off x="11227301" y="9499898"/>
            <a:ext cx="745160" cy="325967"/>
          </a:xfrm>
          <a:prstGeom prst="rect">
            <a:avLst/>
          </a:prstGeom>
          <a:noFill/>
          <a:ln/>
        </p:spPr>
        <p:txBody>
          <a:bodyPr wrap="square" lIns="0" tIns="0" rIns="0" bIns="0" rtlCol="0" anchor="t"/>
          <a:lstStyle/>
          <a:p>
            <a:pPr marL="0" indent="0" algn="l">
              <a:lnSpc>
                <a:spcPts val="2100"/>
              </a:lnSpc>
              <a:buNone/>
            </a:pPr>
            <a:r>
              <a:rPr lang="en-US" sz="1400" dirty="0">
                <a:solidFill>
                  <a:srgbClr val="B0B0B0">
                    <a:alpha val="100000"/>
                  </a:srgbClr>
                </a:solidFill>
                <a:latin typeface="Inter Regular" pitchFamily="34" charset="0"/>
                <a:ea typeface="Inter Regular" pitchFamily="34" charset="-122"/>
                <a:cs typeface="Inter Regular" pitchFamily="34" charset="-120"/>
              </a:rPr>
              <a:t>Schema</a:t>
            </a:r>
            <a:endParaRPr lang="en-US" sz="1400" dirty="0"/>
          </a:p>
        </p:txBody>
      </p:sp>
      <p:sp>
        <p:nvSpPr>
          <p:cNvPr id="33" name="Text 14"/>
          <p:cNvSpPr/>
          <p:nvPr/>
        </p:nvSpPr>
        <p:spPr>
          <a:xfrm rot="16200000">
            <a:off x="11162801" y="8118599"/>
            <a:ext cx="910280" cy="325967"/>
          </a:xfrm>
          <a:prstGeom prst="rect">
            <a:avLst/>
          </a:prstGeom>
          <a:noFill/>
          <a:ln/>
        </p:spPr>
        <p:txBody>
          <a:bodyPr wrap="square" lIns="0" tIns="0" rIns="0" bIns="0" rtlCol="0" anchor="t"/>
          <a:lstStyle/>
          <a:p>
            <a:pPr marL="0" indent="0" algn="l">
              <a:lnSpc>
                <a:spcPts val="2100"/>
              </a:lnSpc>
              <a:buNone/>
            </a:pPr>
            <a:r>
              <a:rPr lang="en-US" sz="1400" dirty="0">
                <a:solidFill>
                  <a:srgbClr val="B0B0B0">
                    <a:alpha val="100000"/>
                  </a:srgbClr>
                </a:solidFill>
                <a:latin typeface="Inter Regular" pitchFamily="34" charset="0"/>
                <a:ea typeface="Inter Regular" pitchFamily="34" charset="-122"/>
                <a:cs typeface="Inter Regular" pitchFamily="34" charset="-120"/>
              </a:rPr>
              <a:t>Segments</a:t>
            </a:r>
            <a:endParaRPr lang="en-US" sz="1400" dirty="0"/>
          </a:p>
        </p:txBody>
      </p:sp>
      <p:sp>
        <p:nvSpPr>
          <p:cNvPr id="34" name="Text 15"/>
          <p:cNvSpPr/>
          <p:nvPr/>
        </p:nvSpPr>
        <p:spPr>
          <a:xfrm rot="16200000">
            <a:off x="11264286" y="6919565"/>
            <a:ext cx="707055" cy="325967"/>
          </a:xfrm>
          <a:prstGeom prst="rect">
            <a:avLst/>
          </a:prstGeom>
          <a:noFill/>
          <a:ln/>
        </p:spPr>
        <p:txBody>
          <a:bodyPr wrap="square" lIns="0" tIns="0" rIns="0" bIns="0" rtlCol="0" anchor="t"/>
          <a:lstStyle/>
          <a:p>
            <a:pPr marL="0" indent="0" algn="l">
              <a:lnSpc>
                <a:spcPts val="2100"/>
              </a:lnSpc>
              <a:buNone/>
            </a:pPr>
            <a:r>
              <a:rPr lang="en-US" sz="1400" dirty="0">
                <a:solidFill>
                  <a:srgbClr val="B0B0B0">
                    <a:alpha val="100000"/>
                  </a:srgbClr>
                </a:solidFill>
                <a:latin typeface="Inter Regular" pitchFamily="34" charset="0"/>
                <a:ea typeface="Inter Regular" pitchFamily="34" charset="-122"/>
                <a:cs typeface="Inter Regular" pitchFamily="34" charset="-120"/>
              </a:rPr>
              <a:t>Exports</a:t>
            </a:r>
            <a:endParaRPr lang="en-US" sz="1400" dirty="0"/>
          </a:p>
        </p:txBody>
      </p:sp>
      <p:sp>
        <p:nvSpPr>
          <p:cNvPr id="35" name="Text 16"/>
          <p:cNvSpPr/>
          <p:nvPr/>
        </p:nvSpPr>
        <p:spPr>
          <a:xfrm rot="16200000">
            <a:off x="11262266" y="5627470"/>
            <a:ext cx="707055" cy="325967"/>
          </a:xfrm>
          <a:prstGeom prst="rect">
            <a:avLst/>
          </a:prstGeom>
          <a:noFill/>
          <a:ln/>
        </p:spPr>
        <p:txBody>
          <a:bodyPr wrap="square" lIns="0" tIns="0" rIns="0" bIns="0" rtlCol="0" anchor="t"/>
          <a:lstStyle/>
          <a:p>
            <a:pPr marL="0" indent="0" algn="l">
              <a:lnSpc>
                <a:spcPts val="2100"/>
              </a:lnSpc>
              <a:buNone/>
            </a:pPr>
            <a:r>
              <a:rPr lang="en-US" sz="1400" dirty="0">
                <a:solidFill>
                  <a:srgbClr val="B0B0B0">
                    <a:alpha val="100000"/>
                  </a:srgbClr>
                </a:solidFill>
                <a:latin typeface="Inter Regular" pitchFamily="34" charset="0"/>
                <a:ea typeface="Inter Regular" pitchFamily="34" charset="-122"/>
                <a:cs typeface="Inter Regular" pitchFamily="34" charset="-120"/>
              </a:rPr>
              <a:t>Identity</a:t>
            </a:r>
            <a:endParaRPr lang="en-US" sz="1400" dirty="0"/>
          </a:p>
        </p:txBody>
      </p:sp>
      <p:sp>
        <p:nvSpPr>
          <p:cNvPr id="36" name="Text 17"/>
          <p:cNvSpPr/>
          <p:nvPr/>
        </p:nvSpPr>
        <p:spPr>
          <a:xfrm rot="16200000">
            <a:off x="11214474" y="4300538"/>
            <a:ext cx="770563" cy="325967"/>
          </a:xfrm>
          <a:prstGeom prst="rect">
            <a:avLst/>
          </a:prstGeom>
          <a:noFill/>
          <a:ln/>
        </p:spPr>
        <p:txBody>
          <a:bodyPr wrap="square" lIns="0" tIns="0" rIns="0" bIns="0" rtlCol="0" anchor="t"/>
          <a:lstStyle/>
          <a:p>
            <a:pPr marL="0" indent="0" algn="l">
              <a:lnSpc>
                <a:spcPts val="2100"/>
              </a:lnSpc>
              <a:buNone/>
            </a:pPr>
            <a:r>
              <a:rPr lang="en-US" sz="1400" dirty="0">
                <a:solidFill>
                  <a:srgbClr val="B0B0B0">
                    <a:alpha val="100000"/>
                  </a:srgbClr>
                </a:solidFill>
                <a:latin typeface="Inter Regular" pitchFamily="34" charset="0"/>
                <a:ea typeface="Inter Regular" pitchFamily="34" charset="-122"/>
                <a:cs typeface="Inter Regular" pitchFamily="34" charset="-120"/>
              </a:rPr>
              <a:t>Consent</a:t>
            </a:r>
            <a:endParaRPr lang="en-US" sz="1400" dirty="0"/>
          </a:p>
        </p:txBody>
      </p:sp>
      <p:sp>
        <p:nvSpPr>
          <p:cNvPr id="37" name="Text 18"/>
          <p:cNvSpPr/>
          <p:nvPr/>
        </p:nvSpPr>
        <p:spPr>
          <a:xfrm rot="16200000">
            <a:off x="11143604" y="2944000"/>
            <a:ext cx="910280" cy="325967"/>
          </a:xfrm>
          <a:prstGeom prst="rect">
            <a:avLst/>
          </a:prstGeom>
          <a:noFill/>
          <a:ln/>
        </p:spPr>
        <p:txBody>
          <a:bodyPr wrap="square" lIns="0" tIns="0" rIns="0" bIns="0" rtlCol="0" anchor="t"/>
          <a:lstStyle/>
          <a:p>
            <a:pPr marL="0" indent="0" algn="l">
              <a:lnSpc>
                <a:spcPts val="2100"/>
              </a:lnSpc>
              <a:buNone/>
            </a:pPr>
            <a:r>
              <a:rPr lang="en-US" sz="1400" dirty="0">
                <a:solidFill>
                  <a:srgbClr val="B0B0B0">
                    <a:alpha val="100000"/>
                  </a:srgbClr>
                </a:solidFill>
                <a:latin typeface="Inter Regular" pitchFamily="34" charset="0"/>
                <a:ea typeface="Inter Regular" pitchFamily="34" charset="-122"/>
                <a:cs typeface="Inter Regular" pitchFamily="34" charset="-120"/>
              </a:rPr>
              <a:t>Activation</a:t>
            </a:r>
            <a:endParaRPr lang="en-US" sz="1400" dirty="0"/>
          </a:p>
        </p:txBody>
      </p:sp>
      <p:sp>
        <p:nvSpPr>
          <p:cNvPr id="38" name="Text 19"/>
          <p:cNvSpPr/>
          <p:nvPr/>
        </p:nvSpPr>
        <p:spPr>
          <a:xfrm rot="16200000">
            <a:off x="9978829" y="6578978"/>
            <a:ext cx="1642739"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CDP capabilities</a:t>
            </a:r>
            <a:endParaRPr lang="en-US" sz="1600" dirty="0"/>
          </a:p>
        </p:txBody>
      </p:sp>
      <p:sp>
        <p:nvSpPr>
          <p:cNvPr id="39" name="Text 20"/>
          <p:cNvSpPr/>
          <p:nvPr/>
        </p:nvSpPr>
        <p:spPr>
          <a:xfrm rot="21600000">
            <a:off x="15714287" y="11742006"/>
            <a:ext cx="601208" cy="372533"/>
          </a:xfrm>
          <a:prstGeom prst="rect">
            <a:avLst/>
          </a:prstGeom>
          <a:noFill/>
          <a:ln/>
        </p:spPr>
        <p:txBody>
          <a:bodyPr wrap="square" lIns="0" tIns="0" rIns="0" bIns="0" rtlCol="0" anchor="t"/>
          <a:lstStyle/>
          <a:p>
            <a:pPr marL="0" indent="0" algn="l">
              <a:lnSpc>
                <a:spcPts val="2400"/>
              </a:lnSpc>
              <a:buNone/>
            </a:pPr>
            <a:r>
              <a:rPr lang="en-US" sz="1600" dirty="0">
                <a:solidFill>
                  <a:srgbClr val="FFFFFF">
                    <a:alpha val="100000"/>
                  </a:srgbClr>
                </a:solidFill>
                <a:latin typeface="Inter Regular" pitchFamily="34" charset="0"/>
                <a:ea typeface="Inter Regular" pitchFamily="34" charset="-122"/>
                <a:cs typeface="Inter Regular" pitchFamily="34" charset="-120"/>
              </a:rPr>
              <a:t>Roles</a:t>
            </a:r>
            <a:endParaRPr lang="en-US" sz="1600" dirty="0"/>
          </a:p>
        </p:txBody>
      </p:sp>
      <p:sp>
        <p:nvSpPr>
          <p:cNvPr id="40" name="Text 21"/>
          <p:cNvSpPr/>
          <p:nvPr/>
        </p:nvSpPr>
        <p:spPr>
          <a:xfrm>
            <a:off x="18490274" y="3011984"/>
            <a:ext cx="1978095" cy="677333"/>
          </a:xfrm>
          <a:prstGeom prst="rect">
            <a:avLst/>
          </a:prstGeom>
          <a:noFill/>
          <a:ln/>
        </p:spPr>
        <p:txBody>
          <a:bodyPr wrap="square" lIns="0" tIns="0" rIns="0" bIns="0" rtlCol="0" anchor="t"/>
          <a:lstStyle/>
          <a:p>
            <a:pPr marL="0" indent="0" algn="l">
              <a:lnSpc>
                <a:spcPts val="2400"/>
              </a:lnSpc>
              <a:buNone/>
            </a:pPr>
            <a:r>
              <a:rPr lang="en-US" sz="1600" dirty="0">
                <a:solidFill>
                  <a:srgbClr val="F6F2FF">
                    <a:alpha val="100000"/>
                  </a:srgbClr>
                </a:solidFill>
                <a:latin typeface="Inter Regular" pitchFamily="34" charset="0"/>
                <a:ea typeface="Inter Regular" pitchFamily="34" charset="-122"/>
                <a:cs typeface="Inter Regular" pitchFamily="34" charset="-120"/>
              </a:rPr>
              <a:t>Supply Chain Disruptions</a:t>
            </a:r>
            <a:endParaRPr lang="en-US" sz="1600" dirty="0"/>
          </a:p>
        </p:txBody>
      </p:sp>
      <p:sp>
        <p:nvSpPr>
          <p:cNvPr id="41" name="Shape 22"/>
          <p:cNvSpPr/>
          <p:nvPr/>
        </p:nvSpPr>
        <p:spPr>
          <a:xfrm>
            <a:off x="18235386" y="3072284"/>
            <a:ext cx="176885" cy="176862"/>
          </a:xfrm>
          <a:prstGeom prst="ellipse">
            <a:avLst/>
          </a:prstGeom>
          <a:solidFill>
            <a:srgbClr val="FF8B32">
              <a:alpha val="100000"/>
            </a:srgbClr>
          </a:solidFill>
          <a:ln/>
        </p:spPr>
      </p:sp>
      <p:sp>
        <p:nvSpPr>
          <p:cNvPr id="42" name="Text 23"/>
          <p:cNvSpPr/>
          <p:nvPr/>
        </p:nvSpPr>
        <p:spPr>
          <a:xfrm>
            <a:off x="18502976" y="5580162"/>
            <a:ext cx="1978095" cy="372533"/>
          </a:xfrm>
          <a:prstGeom prst="rect">
            <a:avLst/>
          </a:prstGeom>
          <a:noFill/>
          <a:ln/>
        </p:spPr>
        <p:txBody>
          <a:bodyPr wrap="square" lIns="0" tIns="0" rIns="0" bIns="0" rtlCol="0" anchor="t"/>
          <a:lstStyle/>
          <a:p>
            <a:pPr marL="0" indent="0" algn="l">
              <a:lnSpc>
                <a:spcPts val="2400"/>
              </a:lnSpc>
              <a:buNone/>
            </a:pPr>
            <a:r>
              <a:rPr lang="en-US" sz="1600" dirty="0">
                <a:solidFill>
                  <a:srgbClr val="F6F2FF">
                    <a:alpha val="100000"/>
                  </a:srgbClr>
                </a:solidFill>
                <a:latin typeface="Inter Regular" pitchFamily="34" charset="0"/>
                <a:ea typeface="Inter Regular" pitchFamily="34" charset="-122"/>
                <a:cs typeface="Inter Regular" pitchFamily="34" charset="-120"/>
              </a:rPr>
              <a:t>Machine Downtime</a:t>
            </a:r>
            <a:endParaRPr lang="en-US" sz="1600" dirty="0"/>
          </a:p>
        </p:txBody>
      </p:sp>
      <p:sp>
        <p:nvSpPr>
          <p:cNvPr id="43" name="Shape 24"/>
          <p:cNvSpPr/>
          <p:nvPr/>
        </p:nvSpPr>
        <p:spPr>
          <a:xfrm>
            <a:off x="18248088" y="5632748"/>
            <a:ext cx="176885" cy="176862"/>
          </a:xfrm>
          <a:prstGeom prst="ellipse">
            <a:avLst/>
          </a:prstGeom>
          <a:solidFill>
            <a:srgbClr val="FF8B32">
              <a:alpha val="100000"/>
            </a:srgbClr>
          </a:solidFill>
          <a:ln/>
        </p:spPr>
      </p:sp>
      <p:sp>
        <p:nvSpPr>
          <p:cNvPr id="44" name="Text 25"/>
          <p:cNvSpPr/>
          <p:nvPr/>
        </p:nvSpPr>
        <p:spPr>
          <a:xfrm>
            <a:off x="15253205" y="2999284"/>
            <a:ext cx="2084225" cy="677333"/>
          </a:xfrm>
          <a:prstGeom prst="rect">
            <a:avLst/>
          </a:prstGeom>
          <a:noFill/>
          <a:ln/>
        </p:spPr>
        <p:txBody>
          <a:bodyPr wrap="square" lIns="0" tIns="0" rIns="0" bIns="0" rtlCol="0" anchor="t"/>
          <a:lstStyle/>
          <a:p>
            <a:pPr marL="0" indent="0" algn="l">
              <a:lnSpc>
                <a:spcPts val="2400"/>
              </a:lnSpc>
              <a:buNone/>
            </a:pPr>
            <a:r>
              <a:rPr lang="en-US" sz="1600" dirty="0">
                <a:solidFill>
                  <a:srgbClr val="F6F2FF">
                    <a:alpha val="100000"/>
                  </a:srgbClr>
                </a:solidFill>
                <a:latin typeface="Inter Regular" pitchFamily="34" charset="0"/>
                <a:ea typeface="Inter Regular" pitchFamily="34" charset="-122"/>
                <a:cs typeface="Inter Regular" pitchFamily="34" charset="-120"/>
              </a:rPr>
              <a:t>Quality Control Failures</a:t>
            </a:r>
            <a:endParaRPr lang="en-US" sz="1600" dirty="0"/>
          </a:p>
        </p:txBody>
      </p:sp>
      <p:sp>
        <p:nvSpPr>
          <p:cNvPr id="45" name="Shape 26"/>
          <p:cNvSpPr/>
          <p:nvPr/>
        </p:nvSpPr>
        <p:spPr>
          <a:xfrm>
            <a:off x="14987876" y="3072284"/>
            <a:ext cx="176885" cy="176862"/>
          </a:xfrm>
          <a:prstGeom prst="ellipse">
            <a:avLst/>
          </a:prstGeom>
          <a:solidFill>
            <a:srgbClr val="FF8B32">
              <a:alpha val="100000"/>
            </a:srgbClr>
          </a:solidFill>
          <a:ln/>
        </p:spPr>
      </p:sp>
      <p:sp>
        <p:nvSpPr>
          <p:cNvPr id="46" name="Text 27"/>
          <p:cNvSpPr/>
          <p:nvPr/>
        </p:nvSpPr>
        <p:spPr>
          <a:xfrm>
            <a:off x="18508433" y="6887146"/>
            <a:ext cx="1978095" cy="677333"/>
          </a:xfrm>
          <a:prstGeom prst="rect">
            <a:avLst/>
          </a:prstGeom>
          <a:noFill/>
          <a:ln/>
        </p:spPr>
        <p:txBody>
          <a:bodyPr wrap="square" lIns="0" tIns="0" rIns="0" bIns="0" rtlCol="0" anchor="t"/>
          <a:lstStyle/>
          <a:p>
            <a:pPr marL="0" indent="0" algn="l">
              <a:lnSpc>
                <a:spcPts val="2400"/>
              </a:lnSpc>
              <a:buNone/>
            </a:pPr>
            <a:r>
              <a:rPr lang="en-US" sz="1600" dirty="0">
                <a:solidFill>
                  <a:srgbClr val="EDE8FF">
                    <a:alpha val="100000"/>
                  </a:srgbClr>
                </a:solidFill>
                <a:latin typeface="Inter Regular" pitchFamily="34" charset="0"/>
                <a:ea typeface="Inter Regular" pitchFamily="34" charset="-122"/>
                <a:cs typeface="Inter Regular" pitchFamily="34" charset="-120"/>
              </a:rPr>
              <a:t>Cybersecurity Threats</a:t>
            </a:r>
            <a:endParaRPr lang="en-US" sz="1600" dirty="0"/>
          </a:p>
        </p:txBody>
      </p:sp>
      <p:sp>
        <p:nvSpPr>
          <p:cNvPr id="47" name="Shape 28"/>
          <p:cNvSpPr/>
          <p:nvPr/>
        </p:nvSpPr>
        <p:spPr>
          <a:xfrm>
            <a:off x="18248088" y="6939731"/>
            <a:ext cx="176885" cy="176862"/>
          </a:xfrm>
          <a:prstGeom prst="ellipse">
            <a:avLst/>
          </a:prstGeom>
          <a:solidFill>
            <a:srgbClr val="FF8B32">
              <a:alpha val="100000"/>
            </a:srgbClr>
          </a:solidFill>
          <a:ln/>
        </p:spPr>
      </p:sp>
      <p:sp>
        <p:nvSpPr>
          <p:cNvPr id="48" name="Text 29"/>
          <p:cNvSpPr/>
          <p:nvPr/>
        </p:nvSpPr>
        <p:spPr>
          <a:xfrm>
            <a:off x="18470329" y="9121453"/>
            <a:ext cx="1978095" cy="372533"/>
          </a:xfrm>
          <a:prstGeom prst="rect">
            <a:avLst/>
          </a:prstGeom>
          <a:noFill/>
          <a:ln/>
        </p:spPr>
        <p:txBody>
          <a:bodyPr wrap="square" lIns="0" tIns="0" rIns="0" bIns="0" rtlCol="0" anchor="t"/>
          <a:lstStyle/>
          <a:p>
            <a:pPr marL="0" indent="0" algn="l">
              <a:lnSpc>
                <a:spcPts val="2400"/>
              </a:lnSpc>
              <a:buNone/>
            </a:pPr>
            <a:r>
              <a:rPr lang="en-US" sz="1600" dirty="0">
                <a:solidFill>
                  <a:srgbClr val="F6F2FF">
                    <a:alpha val="100000"/>
                  </a:srgbClr>
                </a:solidFill>
                <a:latin typeface="Inter Regular" pitchFamily="34" charset="0"/>
                <a:ea typeface="Inter Regular" pitchFamily="34" charset="-122"/>
                <a:cs typeface="Inter Regular" pitchFamily="34" charset="-120"/>
              </a:rPr>
              <a:t>Labor Strikes</a:t>
            </a:r>
            <a:endParaRPr lang="en-US" sz="1600" dirty="0"/>
          </a:p>
        </p:txBody>
      </p:sp>
      <p:sp>
        <p:nvSpPr>
          <p:cNvPr id="49" name="Shape 30"/>
          <p:cNvSpPr/>
          <p:nvPr/>
        </p:nvSpPr>
        <p:spPr>
          <a:xfrm>
            <a:off x="18209983" y="9174051"/>
            <a:ext cx="176885" cy="176862"/>
          </a:xfrm>
          <a:prstGeom prst="ellipse">
            <a:avLst/>
          </a:prstGeom>
          <a:solidFill>
            <a:srgbClr val="FF8B32">
              <a:alpha val="100000"/>
            </a:srgbClr>
          </a:solidFill>
          <a:ln/>
        </p:spPr>
      </p:sp>
      <p:sp>
        <p:nvSpPr>
          <p:cNvPr id="50" name="Text 31"/>
          <p:cNvSpPr/>
          <p:nvPr/>
        </p:nvSpPr>
        <p:spPr>
          <a:xfrm>
            <a:off x="15910959" y="8909224"/>
            <a:ext cx="1659703" cy="677333"/>
          </a:xfrm>
          <a:prstGeom prst="rect">
            <a:avLst/>
          </a:prstGeom>
          <a:noFill/>
          <a:ln/>
        </p:spPr>
        <p:txBody>
          <a:bodyPr wrap="square" lIns="0" tIns="0" rIns="0" bIns="0" rtlCol="0" anchor="t"/>
          <a:lstStyle/>
          <a:p>
            <a:pPr marL="0" indent="0" algn="l">
              <a:lnSpc>
                <a:spcPts val="2400"/>
              </a:lnSpc>
              <a:buNone/>
            </a:pPr>
            <a:r>
              <a:rPr lang="en-US" sz="1600" dirty="0">
                <a:solidFill>
                  <a:srgbClr val="F6F2FF">
                    <a:alpha val="100000"/>
                  </a:srgbClr>
                </a:solidFill>
                <a:latin typeface="Inter Regular" pitchFamily="34" charset="0"/>
                <a:ea typeface="Inter Regular" pitchFamily="34" charset="-122"/>
                <a:cs typeface="Inter Regular" pitchFamily="34" charset="-120"/>
              </a:rPr>
              <a:t>Regulatory Changes</a:t>
            </a:r>
            <a:endParaRPr lang="en-US" sz="1600" dirty="0"/>
          </a:p>
        </p:txBody>
      </p:sp>
      <p:sp>
        <p:nvSpPr>
          <p:cNvPr id="51" name="Shape 32"/>
          <p:cNvSpPr/>
          <p:nvPr/>
        </p:nvSpPr>
        <p:spPr>
          <a:xfrm>
            <a:off x="15648356" y="8961810"/>
            <a:ext cx="176885" cy="176862"/>
          </a:xfrm>
          <a:prstGeom prst="ellipse">
            <a:avLst/>
          </a:prstGeom>
          <a:solidFill>
            <a:srgbClr val="FF8B32">
              <a:alpha val="100000"/>
            </a:srgbClr>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905238" y="6184900"/>
            <a:ext cx="20678184" cy="5422900"/>
          </a:xfrm>
          <a:prstGeom prst="rect">
            <a:avLst/>
          </a:prstGeom>
          <a:noFill/>
          <a:ln/>
        </p:spPr>
      </p:sp>
      <p:pic>
        <p:nvPicPr>
          <p:cNvPr id="3"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98887" y="6184900"/>
            <a:ext cx="12702" cy="5422900"/>
          </a:xfrm>
          <a:prstGeom prst="rect">
            <a:avLst/>
          </a:prstGeom>
        </p:spPr>
      </p:pic>
      <p:pic>
        <p:nvPicPr>
          <p:cNvPr id="4"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78722" y="6184900"/>
            <a:ext cx="12702" cy="5422900"/>
          </a:xfrm>
          <a:prstGeom prst="rect">
            <a:avLst/>
          </a:prstGeom>
        </p:spPr>
      </p:pic>
      <p:pic>
        <p:nvPicPr>
          <p:cNvPr id="5" name="Image 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58557" y="6184900"/>
            <a:ext cx="12702" cy="5422900"/>
          </a:xfrm>
          <a:prstGeom prst="rect">
            <a:avLst/>
          </a:prstGeom>
        </p:spPr>
      </p:pic>
      <p:pic>
        <p:nvPicPr>
          <p:cNvPr id="6" name="Image 3"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38392" y="6184900"/>
            <a:ext cx="12702" cy="5422900"/>
          </a:xfrm>
          <a:prstGeom prst="rect">
            <a:avLst/>
          </a:prstGeom>
        </p:spPr>
      </p:pic>
      <p:pic>
        <p:nvPicPr>
          <p:cNvPr id="7" name="Image 4"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18227" y="6184900"/>
            <a:ext cx="12702" cy="5422900"/>
          </a:xfrm>
          <a:prstGeom prst="rect">
            <a:avLst/>
          </a:prstGeom>
        </p:spPr>
      </p:pic>
      <p:pic>
        <p:nvPicPr>
          <p:cNvPr id="8" name="Image 5"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98062" y="6184900"/>
            <a:ext cx="12702" cy="5422900"/>
          </a:xfrm>
          <a:prstGeom prst="rect">
            <a:avLst/>
          </a:prstGeom>
        </p:spPr>
      </p:pic>
      <p:pic>
        <p:nvPicPr>
          <p:cNvPr id="9" name="Image 6"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177897" y="6184900"/>
            <a:ext cx="12702" cy="5422900"/>
          </a:xfrm>
          <a:prstGeom prst="rect">
            <a:avLst/>
          </a:prstGeom>
        </p:spPr>
      </p:pic>
      <p:pic>
        <p:nvPicPr>
          <p:cNvPr id="10" name="Image 7"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057732" y="6184900"/>
            <a:ext cx="12702" cy="5422900"/>
          </a:xfrm>
          <a:prstGeom prst="rect">
            <a:avLst/>
          </a:prstGeom>
        </p:spPr>
      </p:pic>
      <p:pic>
        <p:nvPicPr>
          <p:cNvPr id="11" name="Image 8"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937567" y="6184900"/>
            <a:ext cx="12702" cy="5422900"/>
          </a:xfrm>
          <a:prstGeom prst="rect">
            <a:avLst/>
          </a:prstGeom>
        </p:spPr>
      </p:pic>
      <p:pic>
        <p:nvPicPr>
          <p:cNvPr id="12" name="Image 9"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817402" y="6184900"/>
            <a:ext cx="12702" cy="5422900"/>
          </a:xfrm>
          <a:prstGeom prst="rect">
            <a:avLst/>
          </a:prstGeom>
        </p:spPr>
      </p:pic>
      <p:pic>
        <p:nvPicPr>
          <p:cNvPr id="13" name="Image 1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697237" y="6184900"/>
            <a:ext cx="12702" cy="5422900"/>
          </a:xfrm>
          <a:prstGeom prst="rect">
            <a:avLst/>
          </a:prstGeom>
        </p:spPr>
      </p:pic>
      <p:pic>
        <p:nvPicPr>
          <p:cNvPr id="14" name="Image 1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577072" y="6184900"/>
            <a:ext cx="12702" cy="5422900"/>
          </a:xfrm>
          <a:prstGeom prst="rect">
            <a:avLst/>
          </a:prstGeom>
        </p:spPr>
      </p:pic>
      <p:pic>
        <p:nvPicPr>
          <p:cNvPr id="15" name="Image 1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5238" y="6184900"/>
            <a:ext cx="10161270" cy="1638300"/>
          </a:xfrm>
          <a:prstGeom prst="rect">
            <a:avLst/>
          </a:prstGeom>
        </p:spPr>
      </p:pic>
      <p:sp>
        <p:nvSpPr>
          <p:cNvPr id="16" name="Text 1"/>
          <p:cNvSpPr/>
          <p:nvPr/>
        </p:nvSpPr>
        <p:spPr>
          <a:xfrm>
            <a:off x="2159270" y="6438900"/>
            <a:ext cx="77903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Analyst</a:t>
            </a:r>
            <a:endParaRPr lang="en-US" sz="1600" dirty="0"/>
          </a:p>
        </p:txBody>
      </p:sp>
      <p:sp>
        <p:nvSpPr>
          <p:cNvPr id="17" name="Shape 2"/>
          <p:cNvSpPr/>
          <p:nvPr/>
        </p:nvSpPr>
        <p:spPr>
          <a:xfrm>
            <a:off x="2159270" y="7264400"/>
            <a:ext cx="3708864" cy="304800"/>
          </a:xfrm>
          <a:prstGeom prst="rect">
            <a:avLst/>
          </a:prstGeom>
          <a:noFill/>
          <a:ln/>
        </p:spPr>
      </p:sp>
      <p:sp>
        <p:nvSpPr>
          <p:cNvPr id="18" name="Shape 3"/>
          <p:cNvSpPr/>
          <p:nvPr/>
        </p:nvSpPr>
        <p:spPr>
          <a:xfrm>
            <a:off x="2159270" y="7315200"/>
            <a:ext cx="203225" cy="203200"/>
          </a:xfrm>
          <a:prstGeom prst="ellipse">
            <a:avLst/>
          </a:prstGeom>
          <a:solidFill>
            <a:srgbClr val="CC3702">
              <a:alpha val="100000"/>
            </a:srgbClr>
          </a:solidFill>
          <a:ln/>
        </p:spPr>
      </p:sp>
      <p:sp>
        <p:nvSpPr>
          <p:cNvPr id="19" name="Text 4"/>
          <p:cNvSpPr/>
          <p:nvPr/>
        </p:nvSpPr>
        <p:spPr>
          <a:xfrm>
            <a:off x="2489511" y="7264400"/>
            <a:ext cx="344636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D4A5">
                    <a:alpha val="100000"/>
                  </a:srgbClr>
                </a:solidFill>
                <a:latin typeface="Inter Regular" pitchFamily="34" charset="0"/>
                <a:ea typeface="Inter Regular" pitchFamily="34" charset="-122"/>
                <a:cs typeface="Inter Regular" pitchFamily="34" charset="-120"/>
              </a:rPr>
              <a:t>Querying profiles, building segments</a:t>
            </a:r>
            <a:endParaRPr lang="en-US" sz="1600" dirty="0"/>
          </a:p>
        </p:txBody>
      </p:sp>
      <p:sp>
        <p:nvSpPr>
          <p:cNvPr id="20" name="Text 5"/>
          <p:cNvSpPr/>
          <p:nvPr/>
        </p:nvSpPr>
        <p:spPr>
          <a:xfrm>
            <a:off x="8052806" y="6438900"/>
            <a:ext cx="370039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D4A5">
                    <a:alpha val="100000"/>
                  </a:srgbClr>
                </a:solidFill>
                <a:latin typeface="Inter Regular" pitchFamily="34" charset="0"/>
                <a:ea typeface="Inter Regular" pitchFamily="34" charset="-122"/>
                <a:cs typeface="Inter Regular" pitchFamily="34" charset="-120"/>
              </a:rPr>
              <a:t># of segments created, query accuracy</a:t>
            </a:r>
            <a:endParaRPr lang="en-US" sz="1600" dirty="0"/>
          </a:p>
        </p:txBody>
      </p:sp>
      <p:sp>
        <p:nvSpPr>
          <p:cNvPr id="21" name="Shape 6"/>
          <p:cNvSpPr/>
          <p:nvPr/>
        </p:nvSpPr>
        <p:spPr>
          <a:xfrm>
            <a:off x="6452406" y="7137400"/>
            <a:ext cx="1917940" cy="431800"/>
          </a:xfrm>
          <a:prstGeom prst="roundRect">
            <a:avLst>
              <a:gd name="adj" fmla="val 59294"/>
            </a:avLst>
          </a:prstGeom>
          <a:solidFill>
            <a:srgbClr val="FFB66D">
              <a:alpha val="100000"/>
            </a:srgbClr>
          </a:solidFill>
          <a:ln w="12700">
            <a:solidFill>
              <a:srgbClr val="FF5102"/>
            </a:solidFill>
            <a:prstDash val="solid"/>
          </a:ln>
        </p:spPr>
      </p:sp>
      <p:sp>
        <p:nvSpPr>
          <p:cNvPr id="22" name="Text 7"/>
          <p:cNvSpPr/>
          <p:nvPr/>
        </p:nvSpPr>
        <p:spPr>
          <a:xfrm>
            <a:off x="6693737" y="7213600"/>
            <a:ext cx="1494553" cy="325967"/>
          </a:xfrm>
          <a:prstGeom prst="rect">
            <a:avLst/>
          </a:prstGeom>
          <a:noFill/>
          <a:ln/>
        </p:spPr>
        <p:txBody>
          <a:bodyPr wrap="square" lIns="0" tIns="0" rIns="0" bIns="0" rtlCol="0" anchor="t"/>
          <a:lstStyle/>
          <a:p>
            <a:pPr marL="0" indent="0" algn="l">
              <a:lnSpc>
                <a:spcPts val="2100"/>
              </a:lnSpc>
              <a:buNone/>
            </a:pPr>
            <a:r>
              <a:rPr lang="en-US" sz="1400" dirty="0">
                <a:solidFill>
                  <a:srgbClr val="82260C">
                    <a:alpha val="100000"/>
                  </a:srgbClr>
                </a:solidFill>
                <a:latin typeface="Inter Regular" pitchFamily="34" charset="0"/>
                <a:ea typeface="Inter Regular" pitchFamily="34" charset="-122"/>
                <a:cs typeface="Inter Regular" pitchFamily="34" charset="-120"/>
              </a:rPr>
              <a:t>Segment catalog</a:t>
            </a:r>
            <a:endParaRPr lang="en-US" sz="1400" dirty="0"/>
          </a:p>
        </p:txBody>
      </p:sp>
      <p:sp>
        <p:nvSpPr>
          <p:cNvPr id="23" name="Shape 8"/>
          <p:cNvSpPr/>
          <p:nvPr/>
        </p:nvSpPr>
        <p:spPr>
          <a:xfrm>
            <a:off x="9983448" y="7137400"/>
            <a:ext cx="1702013" cy="431800"/>
          </a:xfrm>
          <a:prstGeom prst="roundRect">
            <a:avLst>
              <a:gd name="adj" fmla="val 59294"/>
            </a:avLst>
          </a:prstGeom>
          <a:solidFill>
            <a:srgbClr val="FF8B32">
              <a:alpha val="100000"/>
            </a:srgbClr>
          </a:solidFill>
          <a:ln w="12700">
            <a:solidFill>
              <a:srgbClr val="FF5102"/>
            </a:solidFill>
            <a:prstDash val="solid"/>
          </a:ln>
        </p:spPr>
      </p:sp>
      <p:sp>
        <p:nvSpPr>
          <p:cNvPr id="24" name="Text 9"/>
          <p:cNvSpPr/>
          <p:nvPr/>
        </p:nvSpPr>
        <p:spPr>
          <a:xfrm>
            <a:off x="10224778" y="7200900"/>
            <a:ext cx="129979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ECD3">
                    <a:alpha val="100000"/>
                  </a:srgbClr>
                </a:solidFill>
                <a:latin typeface="Inter Regular" pitchFamily="34" charset="0"/>
                <a:ea typeface="Inter Regular" pitchFamily="34" charset="-122"/>
                <a:cs typeface="Inter Regular" pitchFamily="34" charset="-120"/>
              </a:rPr>
              <a:t>cheat-sheets</a:t>
            </a:r>
            <a:endParaRPr lang="en-US" sz="1600" dirty="0"/>
          </a:p>
        </p:txBody>
      </p:sp>
      <p:sp>
        <p:nvSpPr>
          <p:cNvPr id="25" name="Shape 10"/>
          <p:cNvSpPr/>
          <p:nvPr/>
        </p:nvSpPr>
        <p:spPr>
          <a:xfrm>
            <a:off x="8471959" y="7137400"/>
            <a:ext cx="1435279" cy="431800"/>
          </a:xfrm>
          <a:prstGeom prst="roundRect">
            <a:avLst>
              <a:gd name="adj" fmla="val 59294"/>
            </a:avLst>
          </a:prstGeom>
          <a:solidFill>
            <a:srgbClr val="FF8B32">
              <a:alpha val="100000"/>
            </a:srgbClr>
          </a:solidFill>
          <a:ln w="12700">
            <a:solidFill>
              <a:srgbClr val="FF5102"/>
            </a:solidFill>
            <a:prstDash val="solid"/>
          </a:ln>
        </p:spPr>
      </p:sp>
      <p:sp>
        <p:nvSpPr>
          <p:cNvPr id="26" name="Text 11"/>
          <p:cNvSpPr/>
          <p:nvPr/>
        </p:nvSpPr>
        <p:spPr>
          <a:xfrm>
            <a:off x="8713289" y="7213600"/>
            <a:ext cx="1075401" cy="325967"/>
          </a:xfrm>
          <a:prstGeom prst="rect">
            <a:avLst/>
          </a:prstGeom>
          <a:noFill/>
          <a:ln/>
        </p:spPr>
        <p:txBody>
          <a:bodyPr wrap="square" lIns="0" tIns="0" rIns="0" bIns="0" rtlCol="0" anchor="t"/>
          <a:lstStyle/>
          <a:p>
            <a:pPr marL="0" indent="0" algn="l">
              <a:lnSpc>
                <a:spcPts val="2100"/>
              </a:lnSpc>
              <a:buNone/>
            </a:pPr>
            <a:r>
              <a:rPr lang="en-US" sz="1400" dirty="0">
                <a:solidFill>
                  <a:srgbClr val="FFECD3">
                    <a:alpha val="100000"/>
                  </a:srgbClr>
                </a:solidFill>
                <a:latin typeface="Inter Regular" pitchFamily="34" charset="0"/>
                <a:ea typeface="Inter Regular" pitchFamily="34" charset="-122"/>
                <a:cs typeface="Inter Regular" pitchFamily="34" charset="-120"/>
              </a:rPr>
              <a:t>Dashboards</a:t>
            </a:r>
            <a:endParaRPr lang="en-US" sz="1400" dirty="0"/>
          </a:p>
        </p:txBody>
      </p:sp>
      <p:sp>
        <p:nvSpPr>
          <p:cNvPr id="27" name="Shape 12"/>
          <p:cNvSpPr/>
          <p:nvPr/>
        </p:nvSpPr>
        <p:spPr>
          <a:xfrm>
            <a:off x="5423578" y="8077200"/>
            <a:ext cx="10161270" cy="1638300"/>
          </a:xfrm>
          <a:prstGeom prst="roundRect">
            <a:avLst>
              <a:gd name="adj" fmla="val 12279"/>
            </a:avLst>
          </a:prstGeom>
          <a:solidFill>
            <a:srgbClr val="FFB66D">
              <a:alpha val="100000"/>
            </a:srgbClr>
          </a:solidFill>
          <a:ln w="12700">
            <a:solidFill>
              <a:srgbClr val="FF8B32"/>
            </a:solidFill>
            <a:prstDash val="solid"/>
          </a:ln>
        </p:spPr>
      </p:sp>
      <p:sp>
        <p:nvSpPr>
          <p:cNvPr id="28" name="Text 13"/>
          <p:cNvSpPr/>
          <p:nvPr/>
        </p:nvSpPr>
        <p:spPr>
          <a:xfrm>
            <a:off x="5677610" y="8331200"/>
            <a:ext cx="91874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Marketer</a:t>
            </a:r>
            <a:endParaRPr lang="en-US" sz="1600" dirty="0"/>
          </a:p>
        </p:txBody>
      </p:sp>
      <p:sp>
        <p:nvSpPr>
          <p:cNvPr id="29" name="Shape 14"/>
          <p:cNvSpPr/>
          <p:nvPr/>
        </p:nvSpPr>
        <p:spPr>
          <a:xfrm>
            <a:off x="5677610" y="9156700"/>
            <a:ext cx="3873984" cy="304800"/>
          </a:xfrm>
          <a:prstGeom prst="rect">
            <a:avLst/>
          </a:prstGeom>
          <a:noFill/>
          <a:ln/>
        </p:spPr>
      </p:sp>
      <p:sp>
        <p:nvSpPr>
          <p:cNvPr id="30" name="Shape 15"/>
          <p:cNvSpPr/>
          <p:nvPr/>
        </p:nvSpPr>
        <p:spPr>
          <a:xfrm>
            <a:off x="5677610" y="9207500"/>
            <a:ext cx="203225" cy="203200"/>
          </a:xfrm>
          <a:prstGeom prst="ellipse">
            <a:avLst/>
          </a:prstGeom>
          <a:solidFill>
            <a:srgbClr val="CC3702">
              <a:alpha val="100000"/>
            </a:srgbClr>
          </a:solidFill>
          <a:ln/>
        </p:spPr>
      </p:sp>
      <p:sp>
        <p:nvSpPr>
          <p:cNvPr id="31" name="Text 16"/>
          <p:cNvSpPr/>
          <p:nvPr/>
        </p:nvSpPr>
        <p:spPr>
          <a:xfrm>
            <a:off x="6007851" y="9156700"/>
            <a:ext cx="361148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5102">
                    <a:alpha val="100000"/>
                  </a:srgbClr>
                </a:solidFill>
                <a:latin typeface="Inter Regular" pitchFamily="34" charset="0"/>
                <a:ea typeface="Inter Regular" pitchFamily="34" charset="-122"/>
                <a:cs typeface="Inter Regular" pitchFamily="34" charset="-120"/>
              </a:rPr>
              <a:t>Campaign orchestration, channel sync</a:t>
            </a:r>
            <a:endParaRPr lang="en-US" sz="1600" dirty="0"/>
          </a:p>
        </p:txBody>
      </p:sp>
      <p:sp>
        <p:nvSpPr>
          <p:cNvPr id="32" name="Text 17"/>
          <p:cNvSpPr/>
          <p:nvPr/>
        </p:nvSpPr>
        <p:spPr>
          <a:xfrm>
            <a:off x="11990299" y="8331200"/>
            <a:ext cx="328124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5102">
                    <a:alpha val="100000"/>
                  </a:srgbClr>
                </a:solidFill>
                <a:latin typeface="Inter Regular" pitchFamily="34" charset="0"/>
                <a:ea typeface="Inter Regular" pitchFamily="34" charset="-122"/>
                <a:cs typeface="Inter Regular" pitchFamily="34" charset="-120"/>
              </a:rPr>
              <a:t>Campaign lift, active user adoption</a:t>
            </a:r>
            <a:endParaRPr lang="en-US" sz="1600" dirty="0"/>
          </a:p>
        </p:txBody>
      </p:sp>
      <p:sp>
        <p:nvSpPr>
          <p:cNvPr id="33" name="Shape 18"/>
          <p:cNvSpPr/>
          <p:nvPr/>
        </p:nvSpPr>
        <p:spPr>
          <a:xfrm>
            <a:off x="9970746" y="9029700"/>
            <a:ext cx="1346368" cy="431800"/>
          </a:xfrm>
          <a:prstGeom prst="roundRect">
            <a:avLst>
              <a:gd name="adj" fmla="val 118588"/>
            </a:avLst>
          </a:prstGeom>
          <a:solidFill>
            <a:srgbClr val="FFD4A5">
              <a:alpha val="100000"/>
            </a:srgbClr>
          </a:solidFill>
          <a:ln w="12700">
            <a:solidFill>
              <a:srgbClr val="FF8B32"/>
            </a:solidFill>
            <a:prstDash val="solid"/>
          </a:ln>
        </p:spPr>
      </p:sp>
      <p:sp>
        <p:nvSpPr>
          <p:cNvPr id="34" name="Text 19"/>
          <p:cNvSpPr/>
          <p:nvPr/>
        </p:nvSpPr>
        <p:spPr>
          <a:xfrm>
            <a:off x="10212076" y="9105900"/>
            <a:ext cx="922982" cy="325967"/>
          </a:xfrm>
          <a:prstGeom prst="rect">
            <a:avLst/>
          </a:prstGeom>
          <a:noFill/>
          <a:ln/>
        </p:spPr>
        <p:txBody>
          <a:bodyPr wrap="square" lIns="0" tIns="0" rIns="0" bIns="0" rtlCol="0" anchor="t"/>
          <a:lstStyle/>
          <a:p>
            <a:pPr marL="0" indent="0" algn="l">
              <a:lnSpc>
                <a:spcPts val="2100"/>
              </a:lnSpc>
              <a:buNone/>
            </a:pPr>
            <a:r>
              <a:rPr lang="en-US" sz="1400" dirty="0">
                <a:solidFill>
                  <a:srgbClr val="6D6D6D">
                    <a:alpha val="100000"/>
                  </a:srgbClr>
                </a:solidFill>
                <a:latin typeface="Inter Regular" pitchFamily="34" charset="0"/>
                <a:ea typeface="Inter Regular" pitchFamily="34" charset="-122"/>
                <a:cs typeface="Inter Regular" pitchFamily="34" charset="-120"/>
              </a:rPr>
              <a:t>Playbooks</a:t>
            </a:r>
            <a:endParaRPr lang="en-US" sz="1400" dirty="0"/>
          </a:p>
        </p:txBody>
      </p:sp>
      <p:sp>
        <p:nvSpPr>
          <p:cNvPr id="35" name="Shape 20"/>
          <p:cNvSpPr/>
          <p:nvPr/>
        </p:nvSpPr>
        <p:spPr>
          <a:xfrm>
            <a:off x="13501788" y="9029700"/>
            <a:ext cx="1702013" cy="431800"/>
          </a:xfrm>
          <a:prstGeom prst="roundRect">
            <a:avLst>
              <a:gd name="adj" fmla="val 118588"/>
            </a:avLst>
          </a:prstGeom>
          <a:solidFill>
            <a:srgbClr val="FF8B32">
              <a:alpha val="100000"/>
            </a:srgbClr>
          </a:solidFill>
          <a:ln w="12700">
            <a:solidFill>
              <a:srgbClr val="FF8B32"/>
            </a:solidFill>
            <a:prstDash val="solid"/>
          </a:ln>
        </p:spPr>
      </p:sp>
      <p:sp>
        <p:nvSpPr>
          <p:cNvPr id="36" name="Text 21"/>
          <p:cNvSpPr/>
          <p:nvPr/>
        </p:nvSpPr>
        <p:spPr>
          <a:xfrm>
            <a:off x="13743118" y="9093200"/>
            <a:ext cx="129979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D4A5">
                    <a:alpha val="100000"/>
                  </a:srgbClr>
                </a:solidFill>
                <a:latin typeface="Inter Regular" pitchFamily="34" charset="0"/>
                <a:ea typeface="Inter Regular" pitchFamily="34" charset="-122"/>
                <a:cs typeface="Inter Regular" pitchFamily="34" charset="-120"/>
              </a:rPr>
              <a:t>cheat-sheets</a:t>
            </a:r>
            <a:endParaRPr lang="en-US" sz="1600" dirty="0"/>
          </a:p>
        </p:txBody>
      </p:sp>
      <p:sp>
        <p:nvSpPr>
          <p:cNvPr id="37" name="Shape 22"/>
          <p:cNvSpPr/>
          <p:nvPr/>
        </p:nvSpPr>
        <p:spPr>
          <a:xfrm>
            <a:off x="11494937" y="9029700"/>
            <a:ext cx="1816327" cy="431800"/>
          </a:xfrm>
          <a:prstGeom prst="roundRect">
            <a:avLst>
              <a:gd name="adj" fmla="val 118588"/>
            </a:avLst>
          </a:prstGeom>
          <a:solidFill>
            <a:srgbClr val="FF8B32">
              <a:alpha val="100000"/>
            </a:srgbClr>
          </a:solidFill>
          <a:ln w="12700">
            <a:solidFill>
              <a:srgbClr val="FF8B32"/>
            </a:solidFill>
            <a:prstDash val="solid"/>
          </a:ln>
        </p:spPr>
      </p:sp>
      <p:sp>
        <p:nvSpPr>
          <p:cNvPr id="38" name="Text 23"/>
          <p:cNvSpPr/>
          <p:nvPr/>
        </p:nvSpPr>
        <p:spPr>
          <a:xfrm>
            <a:off x="11736267" y="9105900"/>
            <a:ext cx="1392941" cy="325967"/>
          </a:xfrm>
          <a:prstGeom prst="rect">
            <a:avLst/>
          </a:prstGeom>
          <a:noFill/>
          <a:ln/>
        </p:spPr>
        <p:txBody>
          <a:bodyPr wrap="square" lIns="0" tIns="0" rIns="0" bIns="0" rtlCol="0" anchor="t"/>
          <a:lstStyle/>
          <a:p>
            <a:pPr marL="0" indent="0" algn="l">
              <a:lnSpc>
                <a:spcPts val="2100"/>
              </a:lnSpc>
              <a:buNone/>
            </a:pPr>
            <a:r>
              <a:rPr lang="en-US" sz="1400" dirty="0">
                <a:solidFill>
                  <a:srgbClr val="FFD4A5">
                    <a:alpha val="100000"/>
                  </a:srgbClr>
                </a:solidFill>
                <a:latin typeface="Inter Regular" pitchFamily="34" charset="0"/>
                <a:ea typeface="Inter Regular" pitchFamily="34" charset="-122"/>
                <a:cs typeface="Inter Regular" pitchFamily="34" charset="-120"/>
              </a:rPr>
              <a:t>Email templates</a:t>
            </a:r>
            <a:endParaRPr lang="en-US" sz="1400" dirty="0"/>
          </a:p>
        </p:txBody>
      </p:sp>
      <p:sp>
        <p:nvSpPr>
          <p:cNvPr id="39" name="Shape 24"/>
          <p:cNvSpPr/>
          <p:nvPr/>
        </p:nvSpPr>
        <p:spPr>
          <a:xfrm>
            <a:off x="12384048" y="9969500"/>
            <a:ext cx="10161270" cy="1638300"/>
          </a:xfrm>
          <a:prstGeom prst="roundRect">
            <a:avLst>
              <a:gd name="adj" fmla="val 12279"/>
            </a:avLst>
          </a:prstGeom>
          <a:solidFill>
            <a:srgbClr val="F6F6F6">
              <a:alpha val="100000"/>
            </a:srgbClr>
          </a:solidFill>
          <a:ln w="12700">
            <a:solidFill>
              <a:srgbClr val="D1D1D1"/>
            </a:solidFill>
            <a:prstDash val="solid"/>
          </a:ln>
        </p:spPr>
      </p:sp>
      <p:sp>
        <p:nvSpPr>
          <p:cNvPr id="40" name="Text 25"/>
          <p:cNvSpPr/>
          <p:nvPr/>
        </p:nvSpPr>
        <p:spPr>
          <a:xfrm>
            <a:off x="12638080" y="10223500"/>
            <a:ext cx="90604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454545">
                    <a:alpha val="100000"/>
                  </a:srgbClr>
                </a:solidFill>
                <a:latin typeface="Inter Medium" pitchFamily="34" charset="0"/>
                <a:ea typeface="Inter Medium" pitchFamily="34" charset="-122"/>
                <a:cs typeface="Inter Medium" pitchFamily="34" charset="-120"/>
              </a:rPr>
              <a:t>Engineer</a:t>
            </a:r>
            <a:endParaRPr lang="en-US" sz="1600" dirty="0"/>
          </a:p>
        </p:txBody>
      </p:sp>
      <p:sp>
        <p:nvSpPr>
          <p:cNvPr id="41" name="Shape 26"/>
          <p:cNvSpPr/>
          <p:nvPr/>
        </p:nvSpPr>
        <p:spPr>
          <a:xfrm>
            <a:off x="12638080" y="11049000"/>
            <a:ext cx="3708864" cy="304800"/>
          </a:xfrm>
          <a:prstGeom prst="rect">
            <a:avLst/>
          </a:prstGeom>
          <a:noFill/>
          <a:ln/>
        </p:spPr>
      </p:sp>
      <p:sp>
        <p:nvSpPr>
          <p:cNvPr id="42" name="Shape 27"/>
          <p:cNvSpPr/>
          <p:nvPr/>
        </p:nvSpPr>
        <p:spPr>
          <a:xfrm>
            <a:off x="12638080" y="11099800"/>
            <a:ext cx="203225" cy="203200"/>
          </a:xfrm>
          <a:prstGeom prst="ellipse">
            <a:avLst/>
          </a:prstGeom>
          <a:solidFill>
            <a:srgbClr val="CC3702">
              <a:alpha val="100000"/>
            </a:srgbClr>
          </a:solidFill>
          <a:ln/>
        </p:spPr>
      </p:sp>
      <p:sp>
        <p:nvSpPr>
          <p:cNvPr id="43" name="Text 28"/>
          <p:cNvSpPr/>
          <p:nvPr/>
        </p:nvSpPr>
        <p:spPr>
          <a:xfrm>
            <a:off x="12968321" y="11049000"/>
            <a:ext cx="344636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Querying profiles, building segments</a:t>
            </a:r>
            <a:endParaRPr lang="en-US" sz="1600" dirty="0"/>
          </a:p>
        </p:txBody>
      </p:sp>
      <p:sp>
        <p:nvSpPr>
          <p:cNvPr id="44" name="Text 29"/>
          <p:cNvSpPr/>
          <p:nvPr/>
        </p:nvSpPr>
        <p:spPr>
          <a:xfrm>
            <a:off x="18201375" y="10223500"/>
            <a:ext cx="415765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Onboarding time, data freshness, error rates</a:t>
            </a:r>
            <a:endParaRPr lang="en-US" sz="1600" dirty="0"/>
          </a:p>
        </p:txBody>
      </p:sp>
      <p:sp>
        <p:nvSpPr>
          <p:cNvPr id="45" name="Shape 30"/>
          <p:cNvSpPr/>
          <p:nvPr/>
        </p:nvSpPr>
        <p:spPr>
          <a:xfrm>
            <a:off x="18023553" y="10922000"/>
            <a:ext cx="2083060" cy="431800"/>
          </a:xfrm>
          <a:prstGeom prst="roundRect">
            <a:avLst>
              <a:gd name="adj" fmla="val 59294"/>
            </a:avLst>
          </a:prstGeom>
          <a:solidFill>
            <a:srgbClr val="F6F6F6">
              <a:alpha val="100000"/>
            </a:srgbClr>
          </a:solidFill>
          <a:ln w="12700">
            <a:solidFill>
              <a:srgbClr val="D1D1D1"/>
            </a:solidFill>
            <a:prstDash val="solid"/>
          </a:ln>
        </p:spPr>
      </p:sp>
      <p:sp>
        <p:nvSpPr>
          <p:cNvPr id="46" name="Text 31"/>
          <p:cNvSpPr/>
          <p:nvPr/>
        </p:nvSpPr>
        <p:spPr>
          <a:xfrm>
            <a:off x="18264883" y="10998200"/>
            <a:ext cx="1659674" cy="325967"/>
          </a:xfrm>
          <a:prstGeom prst="rect">
            <a:avLst/>
          </a:prstGeom>
          <a:noFill/>
          <a:ln/>
        </p:spPr>
        <p:txBody>
          <a:bodyPr wrap="square" lIns="0" tIns="0" rIns="0" bIns="0" rtlCol="0" anchor="t"/>
          <a:lstStyle/>
          <a:p>
            <a:pPr marL="0" indent="0" algn="l">
              <a:lnSpc>
                <a:spcPts val="2100"/>
              </a:lnSpc>
              <a:buNone/>
            </a:pPr>
            <a:r>
              <a:rPr lang="en-US" sz="1400" dirty="0">
                <a:solidFill>
                  <a:srgbClr val="6D6D6D">
                    <a:alpha val="100000"/>
                  </a:srgbClr>
                </a:solidFill>
                <a:latin typeface="Inter Regular" pitchFamily="34" charset="0"/>
                <a:ea typeface="Inter Regular" pitchFamily="34" charset="-122"/>
                <a:cs typeface="Inter Regular" pitchFamily="34" charset="-120"/>
              </a:rPr>
              <a:t>API documentation</a:t>
            </a:r>
            <a:endParaRPr lang="en-US" sz="1400" dirty="0"/>
          </a:p>
        </p:txBody>
      </p:sp>
      <p:sp>
        <p:nvSpPr>
          <p:cNvPr id="47" name="Shape 32"/>
          <p:cNvSpPr/>
          <p:nvPr/>
        </p:nvSpPr>
        <p:spPr>
          <a:xfrm>
            <a:off x="20182823" y="10922000"/>
            <a:ext cx="2108464" cy="431800"/>
          </a:xfrm>
          <a:prstGeom prst="roundRect">
            <a:avLst>
              <a:gd name="adj" fmla="val 59294"/>
            </a:avLst>
          </a:prstGeom>
          <a:solidFill>
            <a:srgbClr val="F6F6F6">
              <a:alpha val="100000"/>
            </a:srgbClr>
          </a:solidFill>
          <a:ln w="12700">
            <a:solidFill>
              <a:srgbClr val="D1D1D1"/>
            </a:solidFill>
            <a:prstDash val="solid"/>
          </a:ln>
        </p:spPr>
      </p:sp>
      <p:sp>
        <p:nvSpPr>
          <p:cNvPr id="48" name="Text 33"/>
          <p:cNvSpPr/>
          <p:nvPr/>
        </p:nvSpPr>
        <p:spPr>
          <a:xfrm>
            <a:off x="20424153" y="10985500"/>
            <a:ext cx="170624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888888">
                    <a:alpha val="100000"/>
                  </a:srgbClr>
                </a:solidFill>
                <a:latin typeface="Inter Regular" pitchFamily="34" charset="0"/>
                <a:ea typeface="Inter Regular" pitchFamily="34" charset="-122"/>
                <a:cs typeface="Inter Regular" pitchFamily="34" charset="-120"/>
              </a:rPr>
              <a:t>Pipeline diagrams</a:t>
            </a:r>
            <a:endParaRPr lang="en-US" sz="1600" dirty="0"/>
          </a:p>
        </p:txBody>
      </p:sp>
      <p:sp>
        <p:nvSpPr>
          <p:cNvPr id="49" name="Text 34"/>
          <p:cNvSpPr/>
          <p:nvPr/>
        </p:nvSpPr>
        <p:spPr>
          <a:xfrm>
            <a:off x="1524191" y="1524000"/>
            <a:ext cx="8069742" cy="2937933"/>
          </a:xfrm>
          <a:prstGeom prst="rect">
            <a:avLst/>
          </a:prstGeom>
          <a:noFill/>
          <a:ln/>
        </p:spPr>
        <p:txBody>
          <a:bodyPr wrap="square" lIns="0" tIns="0" rIns="0" bIns="0" rtlCol="0" anchor="t"/>
          <a:lstStyle/>
          <a:p>
            <a:pPr marL="0" indent="0" algn="l">
              <a:lnSpc>
                <a:spcPts val="7040"/>
              </a:lnSpc>
              <a:buNone/>
            </a:pPr>
            <a:r>
              <a:rPr lang="en-US" sz="6400" kern="0" spc="-64" dirty="0">
                <a:solidFill>
                  <a:srgbClr val="000000">
                    <a:alpha val="100000"/>
                  </a:srgbClr>
                </a:solidFill>
                <a:latin typeface="Inter Semi Bold" pitchFamily="34" charset="0"/>
                <a:ea typeface="Inter Semi Bold" pitchFamily="34" charset="-122"/>
                <a:cs typeface="Inter Semi Bold" pitchFamily="34" charset="-120"/>
              </a:rPr>
              <a:t>Change Management &amp; Adoption</a:t>
            </a:r>
            <a:endParaRPr lang="en-US" sz="6400" dirty="0"/>
          </a:p>
        </p:txBody>
      </p:sp>
      <p:sp>
        <p:nvSpPr>
          <p:cNvPr id="50" name="Text 35"/>
          <p:cNvSpPr/>
          <p:nvPr/>
        </p:nvSpPr>
        <p:spPr>
          <a:xfrm>
            <a:off x="11952194" y="1524000"/>
            <a:ext cx="7904621" cy="1286933"/>
          </a:xfrm>
          <a:prstGeom prst="rect">
            <a:avLst/>
          </a:prstGeom>
          <a:noFill/>
          <a:ln/>
        </p:spPr>
        <p:txBody>
          <a:bodyPr wrap="square" lIns="0" tIns="0" rIns="0" bIns="0" rtlCol="0" anchor="t"/>
          <a:lstStyle/>
          <a:p>
            <a:pPr marL="0" indent="0" algn="l">
              <a:lnSpc>
                <a:spcPts val="2400"/>
              </a:lnSpc>
              <a:buNone/>
            </a:pPr>
            <a:r>
              <a:rPr lang="en-US" sz="1600" dirty="0">
                <a:solidFill>
                  <a:srgbClr val="000000">
                    <a:alpha val="100000"/>
                  </a:srgbClr>
                </a:solidFill>
                <a:latin typeface="Inter Regular" pitchFamily="34" charset="0"/>
                <a:ea typeface="Inter Regular" pitchFamily="34" charset="-122"/>
                <a:cs typeface="Inter Regular" pitchFamily="34" charset="-120"/>
              </a:rPr>
              <a:t>The Activation Connectors Matrix is a comprehensive tool designed to streamline the integration of various systems and applications.</a:t>
            </a:r>
            <a:r>
              <a:rPr lang="en-US" sz="1600" dirty="0">
                <a:solidFill>
                  <a:srgbClr val="454545">
                    <a:alpha val="100000"/>
                  </a:srgbClr>
                </a:solidFill>
                <a:latin typeface="Inter Regular" pitchFamily="34" charset="0"/>
                <a:ea typeface="Inter Regular" pitchFamily="34" charset="-122"/>
                <a:cs typeface="Inter Regular" pitchFamily="34" charset="-120"/>
              </a:rPr>
              <a:t> It provides a visual representation of how different components connect and interact, making it easier for teams to manage workflows and optimize processes.</a:t>
            </a:r>
            <a:endParaRPr lang="en-US" sz="1600" dirty="0"/>
          </a:p>
        </p:txBody>
      </p:sp>
      <p:sp>
        <p:nvSpPr>
          <p:cNvPr id="51" name="Text 36"/>
          <p:cNvSpPr/>
          <p:nvPr/>
        </p:nvSpPr>
        <p:spPr>
          <a:xfrm>
            <a:off x="22375963" y="1524000"/>
            <a:ext cx="529233" cy="364067"/>
          </a:xfrm>
          <a:prstGeom prst="rect">
            <a:avLst/>
          </a:prstGeom>
          <a:noFill/>
          <a:ln/>
        </p:spPr>
        <p:txBody>
          <a:bodyPr wrap="square" lIns="0" tIns="0" rIns="0" bIns="0" rtlCol="0" anchor="t"/>
          <a:lstStyle/>
          <a:p>
            <a:pPr marL="0" indent="0" algn="ctr">
              <a:lnSpc>
                <a:spcPts val="2200"/>
              </a:lnSpc>
              <a:buNone/>
            </a:pPr>
            <a:r>
              <a:rPr lang="en-US" sz="2000" dirty="0">
                <a:solidFill>
                  <a:srgbClr val="000000">
                    <a:alpha val="100000"/>
                  </a:srgbClr>
                </a:solidFill>
                <a:latin typeface="Inter Regular" pitchFamily="34" charset="0"/>
                <a:ea typeface="Inter Regular" pitchFamily="34" charset="-122"/>
                <a:cs typeface="Inter Regular" pitchFamily="34" charset="-120"/>
              </a:rPr>
              <a:t>016</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32254" y="2032000"/>
            <a:ext cx="444556" cy="622300"/>
          </a:xfrm>
          <a:prstGeom prst="rect">
            <a:avLst/>
          </a:prstGeom>
        </p:spPr>
      </p:pic>
      <p:sp>
        <p:nvSpPr>
          <p:cNvPr id="3" name="Text 0"/>
          <p:cNvSpPr/>
          <p:nvPr/>
        </p:nvSpPr>
        <p:spPr>
          <a:xfrm>
            <a:off x="2540318" y="2057400"/>
            <a:ext cx="1117740" cy="698500"/>
          </a:xfrm>
          <a:prstGeom prst="rect">
            <a:avLst/>
          </a:prstGeom>
          <a:noFill/>
          <a:ln/>
        </p:spPr>
        <p:txBody>
          <a:bodyPr wrap="square" lIns="0" tIns="0" rIns="0" bIns="0" rtlCol="0" anchor="t"/>
          <a:lstStyle/>
          <a:p>
            <a:pPr marL="0" indent="0" algn="ctr">
              <a:lnSpc>
                <a:spcPts val="4500"/>
              </a:lnSpc>
              <a:buNone/>
            </a:pPr>
            <a:r>
              <a:rPr lang="en-US" sz="3000" kern="0" spc="-120" dirty="0">
                <a:solidFill>
                  <a:srgbClr val="FFFFFF">
                    <a:alpha val="100000"/>
                  </a:srgbClr>
                </a:solidFill>
                <a:latin typeface="Funnel Display Bold" pitchFamily="34" charset="0"/>
                <a:ea typeface="Funnel Display Bold" pitchFamily="34" charset="-122"/>
                <a:cs typeface="Funnel Display Bold" pitchFamily="34" charset="-120"/>
              </a:rPr>
              <a:t>Clario</a:t>
            </a:r>
            <a:endParaRPr lang="en-US" sz="3000" dirty="0"/>
          </a:p>
        </p:txBody>
      </p:sp>
      <p:sp>
        <p:nvSpPr>
          <p:cNvPr id="4" name="Text 1"/>
          <p:cNvSpPr/>
          <p:nvPr/>
        </p:nvSpPr>
        <p:spPr>
          <a:xfrm>
            <a:off x="2032254" y="3835400"/>
            <a:ext cx="11262074" cy="5075767"/>
          </a:xfrm>
          <a:prstGeom prst="rect">
            <a:avLst/>
          </a:prstGeom>
          <a:noFill/>
          <a:ln/>
        </p:spPr>
        <p:txBody>
          <a:bodyPr wrap="square" lIns="0" tIns="0" rIns="0" bIns="0" rtlCol="0" anchor="t"/>
          <a:lstStyle/>
          <a:p>
            <a:pPr marL="0" indent="0" algn="l">
              <a:lnSpc>
                <a:spcPts val="12100"/>
              </a:lnSpc>
              <a:buNone/>
            </a:pPr>
            <a:r>
              <a:rPr lang="en-US" sz="11000" kern="0" spc="-110" dirty="0">
                <a:solidFill>
                  <a:srgbClr val="FFB66D">
                    <a:alpha val="100000"/>
                  </a:srgbClr>
                </a:solidFill>
                <a:latin typeface="IBM Plex Sans Medium" pitchFamily="34" charset="0"/>
                <a:ea typeface="IBM Plex Sans Medium" pitchFamily="34" charset="-122"/>
                <a:cs typeface="IBM Plex Sans Medium" pitchFamily="34" charset="-120"/>
              </a:rPr>
              <a:t>“</a:t>
            </a:r>
            <a:r>
              <a:rPr lang="en-US" sz="11000" kern="0" spc="-110" dirty="0">
                <a:solidFill>
                  <a:srgbClr val="FF6A0A">
                    <a:alpha val="100000"/>
                  </a:srgbClr>
                </a:solidFill>
                <a:latin typeface="IBM Plex Sans Medium" pitchFamily="34" charset="0"/>
                <a:ea typeface="IBM Plex Sans Medium" pitchFamily="34" charset="-122"/>
                <a:cs typeface="IBM Plex Sans Medium" pitchFamily="34" charset="-120"/>
              </a:rPr>
              <a:t>Thank you</a:t>
            </a:r>
            <a:r>
              <a:rPr lang="en-US" sz="11000" kern="0" spc="-110" dirty="0">
                <a:solidFill>
                  <a:srgbClr val="FFFFFF">
                    <a:alpha val="100000"/>
                  </a:srgbClr>
                </a:solidFill>
                <a:latin typeface="IBM Plex Sans Medium" pitchFamily="34" charset="0"/>
                <a:ea typeface="IBM Plex Sans Medium" pitchFamily="34" charset="-122"/>
                <a:cs typeface="IBM Plex Sans Medium" pitchFamily="34" charset="-120"/>
              </a:rPr>
              <a:t> </a:t>
            </a:r>
            <a:r>
              <a:rPr lang="en-US" sz="11000" kern="0" spc="-110" dirty="0">
                <a:solidFill>
                  <a:srgbClr val="FFB66D">
                    <a:alpha val="100000"/>
                  </a:srgbClr>
                </a:solidFill>
                <a:latin typeface="IBM Plex Sans Medium" pitchFamily="34" charset="0"/>
                <a:ea typeface="IBM Plex Sans Medium" pitchFamily="34" charset="-122"/>
                <a:cs typeface="IBM Plex Sans Medium" pitchFamily="34" charset="-120"/>
              </a:rPr>
              <a:t>for your time and stewardship.”</a:t>
            </a:r>
            <a:endParaRPr lang="en-US" sz="11000" dirty="0"/>
          </a:p>
        </p:txBody>
      </p:sp>
      <p:sp>
        <p:nvSpPr>
          <p:cNvPr id="5" name="Text 2"/>
          <p:cNvSpPr/>
          <p:nvPr/>
        </p:nvSpPr>
        <p:spPr>
          <a:xfrm>
            <a:off x="2032254" y="8699500"/>
            <a:ext cx="1088102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B9B9B9">
                    <a:alpha val="100000"/>
                  </a:srgbClr>
                </a:solidFill>
                <a:latin typeface="Inter Medium" pitchFamily="34" charset="0"/>
                <a:ea typeface="Inter Medium" pitchFamily="34" charset="-122"/>
                <a:cs typeface="Inter Medium" pitchFamily="34" charset="-120"/>
              </a:rPr>
              <a:t>Achieving Our Meeting Goals Effectively</a:t>
            </a:r>
            <a:endParaRPr lang="en-US" sz="2000" dirty="0"/>
          </a:p>
        </p:txBody>
      </p:sp>
      <p:pic>
        <p:nvPicPr>
          <p:cNvPr id="6"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168121" y="1524000"/>
            <a:ext cx="10694737" cy="10693400"/>
          </a:xfrm>
          <a:prstGeom prst="rect">
            <a:avLst/>
          </a:prstGeom>
        </p:spPr>
      </p:pic>
      <p:pic>
        <p:nvPicPr>
          <p:cNvPr id="7"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1" y="12211050"/>
            <a:ext cx="24380697" cy="12700"/>
          </a:xfrm>
          <a:prstGeom prst="rect">
            <a:avLst/>
          </a:prstGeom>
        </p:spPr>
      </p:pic>
      <p:pic>
        <p:nvPicPr>
          <p:cNvPr id="8"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1" y="1517650"/>
            <a:ext cx="24380697" cy="12700"/>
          </a:xfrm>
          <a:prstGeom prst="rect">
            <a:avLst/>
          </a:prstGeom>
        </p:spPr>
      </p:pic>
      <p:pic>
        <p:nvPicPr>
          <p:cNvPr id="9" name="Image 4"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168121" y="6851650"/>
            <a:ext cx="10682035" cy="12700"/>
          </a:xfrm>
          <a:prstGeom prst="rect">
            <a:avLst/>
          </a:prstGeom>
        </p:spPr>
      </p:pic>
      <p:pic>
        <p:nvPicPr>
          <p:cNvPr id="10" name="Image 5"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17840" y="25400"/>
            <a:ext cx="12702" cy="13690600"/>
          </a:xfrm>
          <a:prstGeom prst="rect">
            <a:avLst/>
          </a:prstGeom>
        </p:spPr>
      </p:pic>
      <p:pic>
        <p:nvPicPr>
          <p:cNvPr id="11" name="Image 6"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2856507" y="25400"/>
            <a:ext cx="12702" cy="13690600"/>
          </a:xfrm>
          <a:prstGeom prst="rect">
            <a:avLst/>
          </a:prstGeom>
        </p:spPr>
      </p:pic>
      <p:pic>
        <p:nvPicPr>
          <p:cNvPr id="12" name="Image 7"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161770" y="25400"/>
            <a:ext cx="12702" cy="13690600"/>
          </a:xfrm>
          <a:prstGeom prst="rect">
            <a:avLst/>
          </a:prstGeom>
        </p:spPr>
      </p:pic>
      <p:sp>
        <p:nvSpPr>
          <p:cNvPr id="13" name="Shape 3"/>
          <p:cNvSpPr/>
          <p:nvPr/>
        </p:nvSpPr>
        <p:spPr>
          <a:xfrm>
            <a:off x="12168121" y="1524000"/>
            <a:ext cx="10694737" cy="10693400"/>
          </a:xfrm>
          <a:prstGeom prst="ellipse">
            <a:avLst/>
          </a:prstGeom>
          <a:noFill/>
          <a:ln w="12700">
            <a:solidFill>
              <a:srgbClr val="461004"/>
            </a:solidFill>
            <a:prstDash val="solid"/>
          </a:ln>
        </p:spPr>
      </p:sp>
      <p:sp>
        <p:nvSpPr>
          <p:cNvPr id="14" name="Text 4"/>
          <p:cNvSpPr/>
          <p:nvPr/>
        </p:nvSpPr>
        <p:spPr>
          <a:xfrm>
            <a:off x="2413302" y="10744200"/>
            <a:ext cx="183326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888888">
                    <a:alpha val="100000"/>
                  </a:srgbClr>
                </a:solidFill>
                <a:latin typeface="Inter Regular" pitchFamily="34" charset="0"/>
                <a:ea typeface="Inter Regular" pitchFamily="34" charset="-122"/>
                <a:cs typeface="Inter Regular" pitchFamily="34" charset="-120"/>
              </a:rPr>
              <a:t>Report@clario.com </a:t>
            </a:r>
            <a:endParaRPr lang="en-US" sz="1600" dirty="0"/>
          </a:p>
        </p:txBody>
      </p:sp>
      <p:pic>
        <p:nvPicPr>
          <p:cNvPr id="15" name="Image 8"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092587" y="10801350"/>
            <a:ext cx="209576" cy="190500"/>
          </a:xfrm>
          <a:prstGeom prst="rect">
            <a:avLst/>
          </a:prstGeom>
        </p:spPr>
      </p:pic>
      <p:sp>
        <p:nvSpPr>
          <p:cNvPr id="16" name="Text 5"/>
          <p:cNvSpPr/>
          <p:nvPr/>
        </p:nvSpPr>
        <p:spPr>
          <a:xfrm>
            <a:off x="2413302" y="11074400"/>
            <a:ext cx="312882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888888">
                    <a:alpha val="100000"/>
                  </a:srgbClr>
                </a:solidFill>
                <a:latin typeface="Inter Regular" pitchFamily="34" charset="0"/>
                <a:ea typeface="Inter Regular" pitchFamily="34" charset="-122"/>
                <a:cs typeface="Inter Regular" pitchFamily="34" charset="-120"/>
              </a:rPr>
              <a:t>www.clario.com/customer-report</a:t>
            </a:r>
            <a:endParaRPr lang="en-US" sz="1600" dirty="0"/>
          </a:p>
        </p:txBody>
      </p:sp>
      <p:pic>
        <p:nvPicPr>
          <p:cNvPr id="17" name="Image 9"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083042" y="11112500"/>
            <a:ext cx="228660" cy="228637"/>
          </a:xfrm>
          <a:prstGeom prst="rect">
            <a:avLst/>
          </a:prstGeom>
        </p:spPr>
      </p:pic>
      <p:sp>
        <p:nvSpPr>
          <p:cNvPr id="18" name="Text 6"/>
          <p:cNvSpPr/>
          <p:nvPr/>
        </p:nvSpPr>
        <p:spPr>
          <a:xfrm>
            <a:off x="2413302" y="11404600"/>
            <a:ext cx="531349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888888">
                    <a:alpha val="100000"/>
                  </a:srgbClr>
                </a:solidFill>
                <a:latin typeface="Inter Regular" pitchFamily="34" charset="0"/>
                <a:ea typeface="Inter Regular" pitchFamily="34" charset="-122"/>
                <a:cs typeface="Inter Regular" pitchFamily="34" charset="-120"/>
              </a:rPr>
              <a:t>Access full board packet: presentations, budget, minutes</a:t>
            </a:r>
            <a:endParaRPr lang="en-US" sz="1600" dirty="0"/>
          </a:p>
        </p:txBody>
      </p:sp>
      <p:pic>
        <p:nvPicPr>
          <p:cNvPr id="19" name="Image 10"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102113" y="11471275"/>
            <a:ext cx="190524" cy="1619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TotalTime>
  <Words>2580</Words>
  <Application>Microsoft Office PowerPoint</Application>
  <PresentationFormat>Custom</PresentationFormat>
  <Paragraphs>522</Paragraphs>
  <Slides>25</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Funnel Display Bold</vt:lpstr>
      <vt:lpstr>IBM Plex Sans Medium</vt:lpstr>
      <vt:lpstr>Inter Bold</vt:lpstr>
      <vt:lpstr>Inter Medium</vt:lpstr>
      <vt:lpstr>Inter Regular</vt:lpstr>
      <vt:lpstr>Inter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heykiyou.std@gmail.com</cp:lastModifiedBy>
  <cp:revision>37</cp:revision>
  <dcterms:created xsi:type="dcterms:W3CDTF">2025-09-02T04:49:00Z</dcterms:created>
  <dcterms:modified xsi:type="dcterms:W3CDTF">2025-12-30T07:45:14Z</dcterms:modified>
</cp:coreProperties>
</file>